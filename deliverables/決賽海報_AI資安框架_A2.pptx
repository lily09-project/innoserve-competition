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0000" cy="2138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>
                <a:latin typeface="Times New Roman"/>
                <a:ea typeface="DFKai-SB"/>
                <a:cs typeface="Times New Roman"/>
              </a:rPr>
              <a:t>Click to edit Master title style</a:t>
            </a:r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>
                <a:latin typeface="Times New Roman"/>
                <a:ea typeface="DFKai-SB"/>
                <a:cs typeface="Times New Roman"/>
              </a:rPr>
              <a:t>Click to edit Master text styles</a:t>
            </a:r>
          </a:p>
          <a:p>
            <a:pPr lvl="1"/>
            <a:r>
              <a:rPr lang="en-US" smtClean="0">
                <a:latin typeface="Times New Roman"/>
                <a:ea typeface="DFKai-SB"/>
                <a:cs typeface="Times New Roman"/>
              </a:rPr>
              <a:t>Second level</a:t>
            </a:r>
          </a:p>
          <a:p>
            <a:pPr lvl="2"/>
            <a:r>
              <a:rPr lang="en-US" smtClean="0">
                <a:latin typeface="Times New Roman"/>
                <a:ea typeface="DFKai-SB"/>
                <a:cs typeface="Times New Roman"/>
              </a:rPr>
              <a:t>Third level</a:t>
            </a:r>
          </a:p>
          <a:p>
            <a:pPr lvl="3"/>
            <a:r>
              <a:rPr lang="en-US" smtClean="0">
                <a:latin typeface="Times New Roman"/>
                <a:ea typeface="DFKai-SB"/>
                <a:cs typeface="Times New Roman"/>
              </a:rPr>
              <a:t>Fourth level</a:t>
            </a:r>
          </a:p>
          <a:p>
            <a:pPr lvl="4"/>
            <a:r>
              <a:rPr lang="en-US" smtClean="0">
                <a:latin typeface="Times New Roman"/>
                <a:ea typeface="DFKai-SB"/>
                <a:cs typeface="Times New Roman"/>
              </a:rPr>
              <a:t>Fifth level</a:t>
            </a:r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5BCAD085-E8A6-8845-BD4E-CB4CCA059FC4}" type="datetimeFigureOut">
              <a:rPr lang="en-US" smtClean="0">
                <a:latin typeface="Times New Roman"/>
                <a:ea typeface="DFKai-SB"/>
                <a:cs typeface="Times New Roman"/>
              </a:rPr>
              <a:t>1/27/13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endParaRPr lang="en-US">
              <a:latin typeface="Times New Roman"/>
              <a:ea typeface="DFKai-SB"/>
              <a:cs typeface="Times New Roman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Times New Roman"/>
                <a:ea typeface="DFKai-SB"/>
                <a:cs typeface="Times New Roman"/>
              </a:defRPr>
            </a:lvl1pPr>
          </a:lstStyle>
          <a:p>
            <a:fld id="{C1FF6DA9-008F-8B48-92A6-B652298478BF}" type="slidenum">
              <a:rPr lang="en-US" smtClean="0">
                <a:latin typeface="Times New Roman"/>
                <a:ea typeface="DFKai-SB"/>
                <a:cs typeface="Times New Roman"/>
              </a:rPr>
              <a:t>‹#›</a:t>
            </a:fld>
            <a:endParaRPr lang="en-US">
              <a:latin typeface="Times New Roman"/>
              <a:ea typeface="DFKai-SB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Times New Roman"/>
          <a:ea typeface="DFKai-SB"/>
          <a:cs typeface="Times New Roman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bodyStyle>
    <p:otherStyle>
      <a:defPPr>
        <a:defRPr lang="en-US">
          <a:latin typeface="Times New Roman"/>
          <a:ea typeface="DFKai-SB"/>
          <a:cs typeface="Times New Roman"/>
        </a:defRPr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Times New Roman"/>
          <a:ea typeface="DFKai-SB"/>
          <a:cs typeface="Times New Rom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540000"/>
            <a:ext cx="1396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資安技術組決賽作品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864000"/>
            <a:ext cx="13968000" cy="165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融合新型內容相依時序方向模型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入侵偵測與任務導向檢索增強稽核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之</a:t>
            </a:r>
            <a:r>
              <a:rPr sz="32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 AI </a:t>
            </a:r>
            <a:r>
              <a:rPr sz="32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資安框架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2628000"/>
            <a:ext cx="1396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同一事件串起流量判定、案例證據與可回復的處置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3132000"/>
            <a:ext cx="13968000" cy="0"/>
          </a:xfrm>
          <a:prstGeom prst="line">
            <a:avLst/>
          </a:prstGeom>
          <a:ln w="12700">
            <a:solidFill>
              <a:srgbClr val="CCDC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con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3384000"/>
            <a:ext cx="972000" cy="9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800000" y="3384000"/>
            <a:ext cx="1274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從辨識告警，走到可查核的資安處理流程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0000" y="3852000"/>
            <a:ext cx="12744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面向校園與中小型組織的資安管理需求，協助管理者核對事件依據。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4644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000" y="4644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四階段方法，以同一事件銜接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00" y="5220000"/>
            <a:ext cx="6624000" cy="3276000"/>
          </a:xfrm>
          <a:prstGeom prst="rect">
            <a:avLst/>
          </a:prstGeom>
          <a:solidFill>
            <a:srgbClr val="F5F8FC"/>
          </a:solidFill>
          <a:ln w="10160">
            <a:solidFill>
              <a:srgbClr val="CC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00" y="5220000"/>
            <a:ext cx="6624000" cy="46800"/>
          </a:xfrm>
          <a:prstGeom prst="rect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4000" y="5400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4000" y="5400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互補模型判定</a:t>
            </a:r>
          </a:p>
        </p:txBody>
      </p:sp>
      <p:pic>
        <p:nvPicPr>
          <p:cNvPr id="15" name="Picture 14" descr="icon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000" y="6012000"/>
            <a:ext cx="900000" cy="90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16000" y="6048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CTBM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：內容、時間差、方向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6000" y="6552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PBCNN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：短窗位元組模式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528000" y="7200000"/>
            <a:ext cx="648000" cy="252000"/>
          </a:xfrm>
          <a:prstGeom prst="downArrow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000" y="7596000"/>
            <a:ext cx="604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校準＋</a:t>
            </a:r>
            <a:r>
              <a:rPr sz="20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OOF Gate </a:t>
            </a:r>
            <a:r>
              <a:rPr sz="20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融合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4000" y="8100000"/>
            <a:ext cx="6048000" cy="25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輸出：</a:t>
            </a: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類判定、信心與</a:t>
            </a: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512</a:t>
            </a: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維表徵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0" y="5220000"/>
            <a:ext cx="6624000" cy="3276000"/>
          </a:xfrm>
          <a:prstGeom prst="rect">
            <a:avLst/>
          </a:prstGeom>
          <a:solidFill>
            <a:srgbClr val="F5F8FC"/>
          </a:solidFill>
          <a:ln w="10160">
            <a:solidFill>
              <a:srgbClr val="CC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20000" y="5220000"/>
            <a:ext cx="6624000" cy="46800"/>
          </a:xfrm>
          <a:prstGeom prst="rect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8000" y="5400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48000" y="5400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任務導向案例檢索</a:t>
            </a:r>
          </a:p>
        </p:txBody>
      </p:sp>
      <p:pic>
        <p:nvPicPr>
          <p:cNvPr id="25" name="Picture 24" descr="icon-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8000" y="6012000"/>
            <a:ext cx="900000" cy="90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360000" y="6048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512</a:t>
            </a:r>
            <a:r>
              <a:rPr sz="20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維表徵＋</a:t>
            </a:r>
            <a:r>
              <a:rPr sz="20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20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維機率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60000" y="6552000"/>
            <a:ext cx="4932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529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維任務向量，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L2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正規化</a:t>
            </a:r>
          </a:p>
        </p:txBody>
      </p:sp>
      <p:sp>
        <p:nvSpPr>
          <p:cNvPr id="28" name="Down Arrow 27"/>
          <p:cNvSpPr/>
          <p:nvPr/>
        </p:nvSpPr>
        <p:spPr>
          <a:xfrm>
            <a:off x="10872000" y="7200000"/>
            <a:ext cx="648000" cy="252000"/>
          </a:xfrm>
          <a:prstGeom prst="downArrow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8000" y="7596000"/>
            <a:ext cx="604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Top-5 </a:t>
            </a:r>
            <a:r>
              <a:rPr sz="20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訓練案例證據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8000" y="8100000"/>
            <a:ext cx="6048000" cy="25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案例庫僅由訓練資料建立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272000" y="6588000"/>
            <a:ext cx="576000" cy="288000"/>
          </a:xfrm>
          <a:prstGeom prst="rightArrow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wn Arrow 31"/>
          <p:cNvSpPr/>
          <p:nvPr/>
        </p:nvSpPr>
        <p:spPr>
          <a:xfrm>
            <a:off x="11052000" y="8568000"/>
            <a:ext cx="360000" cy="468000"/>
          </a:xfrm>
          <a:prstGeom prst="downArrow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20000" y="9108000"/>
            <a:ext cx="6624000" cy="3276000"/>
          </a:xfrm>
          <a:prstGeom prst="rect">
            <a:avLst/>
          </a:prstGeom>
          <a:solidFill>
            <a:srgbClr val="F5F8FC"/>
          </a:solidFill>
          <a:ln w="10160">
            <a:solidFill>
              <a:srgbClr val="CC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20000" y="9108000"/>
            <a:ext cx="6624000" cy="46800"/>
          </a:xfrm>
          <a:prstGeom prst="rect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08000" y="928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8000" y="9288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本機</a:t>
            </a:r>
            <a:r>
              <a:rPr sz="23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AI</a:t>
            </a:r>
            <a:r>
              <a:rPr sz="23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證據稽核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52000" y="9972000"/>
            <a:ext cx="648000" cy="79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0070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8460000" y="10152000"/>
            <a:ext cx="360000" cy="0"/>
          </a:xfrm>
          <a:prstGeom prst="line">
            <a:avLst/>
          </a:prstGeom>
          <a:ln w="12700">
            <a:solidFill>
              <a:srgbClr val="0070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60000" y="10332000"/>
            <a:ext cx="360000" cy="0"/>
          </a:xfrm>
          <a:prstGeom prst="line">
            <a:avLst/>
          </a:prstGeom>
          <a:ln w="12700">
            <a:solidFill>
              <a:srgbClr val="0070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460000" y="10512000"/>
            <a:ext cx="360000" cy="0"/>
          </a:xfrm>
          <a:prstGeom prst="line">
            <a:avLst/>
          </a:prstGeom>
          <a:ln w="12700">
            <a:solidFill>
              <a:srgbClr val="0070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820000" y="10620000"/>
            <a:ext cx="144000" cy="144000"/>
          </a:xfrm>
          <a:prstGeom prst="line">
            <a:avLst/>
          </a:prstGeom>
          <a:ln w="25400">
            <a:solidFill>
              <a:srgbClr val="0070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964000" y="10440000"/>
            <a:ext cx="216000" cy="324000"/>
          </a:xfrm>
          <a:prstGeom prst="line">
            <a:avLst/>
          </a:prstGeom>
          <a:ln w="25400">
            <a:solidFill>
              <a:srgbClr val="0070D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360000" y="9900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核對正式判定與相似案例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60000" y="10404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保留分類，附加稽核結論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08000" y="11088000"/>
            <a:ext cx="1836000" cy="540000"/>
          </a:xfrm>
          <a:prstGeom prst="rect">
            <a:avLst/>
          </a:prstGeom>
          <a:solidFill>
            <a:srgbClr val="E2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188000" y="11088000"/>
            <a:ext cx="1836000" cy="540000"/>
          </a:xfrm>
          <a:prstGeom prst="rect">
            <a:avLst/>
          </a:prstGeom>
          <a:solidFill>
            <a:srgbClr val="E2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18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168000" y="11088000"/>
            <a:ext cx="1836000" cy="540000"/>
          </a:xfrm>
          <a:prstGeom prst="rect">
            <a:avLst/>
          </a:prstGeom>
          <a:solidFill>
            <a:srgbClr val="E2E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168000" y="11088000"/>
            <a:ext cx="1836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08000" y="11916000"/>
            <a:ext cx="604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複核與不確定事件保留監測或蒐證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76000" y="9108000"/>
            <a:ext cx="6624000" cy="3276000"/>
          </a:xfrm>
          <a:prstGeom prst="rect">
            <a:avLst/>
          </a:prstGeom>
          <a:solidFill>
            <a:srgbClr val="F5F8FC"/>
          </a:solidFill>
          <a:ln w="10160">
            <a:solidFill>
              <a:srgbClr val="CCDC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76000" y="9108000"/>
            <a:ext cx="6624000" cy="46800"/>
          </a:xfrm>
          <a:prstGeom prst="rect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000" y="928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404000" y="9288000"/>
            <a:ext cx="5256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受控處置與回復</a:t>
            </a:r>
          </a:p>
        </p:txBody>
      </p:sp>
      <p:pic>
        <p:nvPicPr>
          <p:cNvPr id="56" name="Picture 55" descr="icon-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000" y="9900000"/>
            <a:ext cx="900000" cy="900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2016000" y="9900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檢查範圍、白名單與期限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6000" y="10404000"/>
            <a:ext cx="4932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允許的策略才進入執行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4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套用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2484000" y="11232000"/>
            <a:ext cx="324000" cy="180000"/>
          </a:xfrm>
          <a:prstGeom prst="rightArrow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80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讀回</a:t>
            </a:r>
          </a:p>
        </p:txBody>
      </p:sp>
      <p:sp>
        <p:nvSpPr>
          <p:cNvPr id="62" name="Right Arrow 61"/>
          <p:cNvSpPr/>
          <p:nvPr/>
        </p:nvSpPr>
        <p:spPr>
          <a:xfrm>
            <a:off x="4500000" y="11232000"/>
            <a:ext cx="324000" cy="180000"/>
          </a:xfrm>
          <a:prstGeom prst="rightArrow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896000" y="11088000"/>
            <a:ext cx="1584000" cy="54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回復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4000" y="11916000"/>
            <a:ext cx="6048000" cy="28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同次執行回條綁定，規則到期撤銷</a:t>
            </a:r>
          </a:p>
        </p:txBody>
      </p:sp>
      <p:sp>
        <p:nvSpPr>
          <p:cNvPr id="65" name="Left Arrow 64"/>
          <p:cNvSpPr/>
          <p:nvPr/>
        </p:nvSpPr>
        <p:spPr>
          <a:xfrm>
            <a:off x="7272000" y="10476000"/>
            <a:ext cx="576000" cy="288000"/>
          </a:xfrm>
          <a:prstGeom prst="leftArrow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6000" y="12636000"/>
            <a:ext cx="13968000" cy="468000"/>
          </a:xfrm>
          <a:prstGeom prst="rect">
            <a:avLst/>
          </a:prstGeom>
          <a:solidFill>
            <a:srgbClr val="EEF5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20000" y="12636000"/>
            <a:ext cx="13680000" cy="46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同一事件識別碼：正式分類／案例證據／稽核結論／處置回條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76000" y="13536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02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16000" y="13536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創新落在模型互補與證據銜接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76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互補判定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76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時序關係與局部內容共同判斷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由校準與</a:t>
            </a: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Gate</a:t>
            </a: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形成正式分類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5148000" y="14256000"/>
            <a:ext cx="0" cy="1224000"/>
          </a:xfrm>
          <a:prstGeom prst="line">
            <a:avLst/>
          </a:prstGeom>
          <a:ln w="12700">
            <a:solidFill>
              <a:srgbClr val="CCDC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5364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任務證據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64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表徵與類別機率共同檢索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為每個事件找可核對的案例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9936000" y="14256000"/>
            <a:ext cx="0" cy="1224000"/>
          </a:xfrm>
          <a:prstGeom prst="line">
            <a:avLst/>
          </a:prstGeom>
          <a:ln w="12700">
            <a:solidFill>
              <a:srgbClr val="CCDC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10152000" y="14184000"/>
            <a:ext cx="4392000" cy="39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可追溯處置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52000" y="14688000"/>
            <a:ext cx="4464000" cy="828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稽核附回原事件，策略另檢查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讀回與到期回復留下紀錄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76000" y="15948000"/>
            <a:ext cx="432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03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16000" y="15948000"/>
            <a:ext cx="13320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以分階段實測呈現效果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76000" y="1648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相同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18,998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筆測試的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 Macro-F1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76000" y="17136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PBCNN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304000" y="17208000"/>
            <a:ext cx="3384000" cy="21600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2304000" y="17208000"/>
            <a:ext cx="2698671" cy="216000"/>
          </a:xfrm>
          <a:prstGeom prst="rect">
            <a:avLst/>
          </a:prstGeom>
          <a:solidFill>
            <a:srgbClr val="9DB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796000" y="17136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79.75%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76000" y="17748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CTBM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304000" y="17820000"/>
            <a:ext cx="3384000" cy="21600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2304000" y="17820000"/>
            <a:ext cx="3116757" cy="216000"/>
          </a:xfrm>
          <a:prstGeom prst="rect">
            <a:avLst/>
          </a:prstGeom>
          <a:solidFill>
            <a:srgbClr val="9DB5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796000" y="17748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92.10%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76000" y="18360000"/>
            <a:ext cx="158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OOF Gate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304000" y="18432000"/>
            <a:ext cx="3384000" cy="216000"/>
          </a:xfrm>
          <a:prstGeom prst="rect">
            <a:avLst/>
          </a:prstGeom>
          <a:solidFill>
            <a:srgbClr val="E8EE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2304000" y="18432000"/>
            <a:ext cx="3148824" cy="216000"/>
          </a:xfrm>
          <a:prstGeom prst="rect">
            <a:avLst/>
          </a:prstGeom>
          <a:solidFill>
            <a:srgbClr val="007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96000" y="18360000"/>
            <a:ext cx="140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93.05%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76000" y="19080000"/>
            <a:ext cx="6624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融合判定</a:t>
            </a:r>
            <a:r>
              <a:rPr sz="17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 Accuracy 98.08%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76000" y="19512000"/>
            <a:ext cx="6624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比較使用相同資料與</a:t>
            </a: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5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類標籤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7560000" y="16488000"/>
            <a:ext cx="0" cy="3312000"/>
          </a:xfrm>
          <a:prstGeom prst="line">
            <a:avLst/>
          </a:prstGeom>
          <a:ln w="12700">
            <a:solidFill>
              <a:srgbClr val="CCDC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7920000" y="1648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1,550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筆訓練案例／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463</a:t>
            </a: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筆查詢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20000" y="17028000"/>
            <a:ext cx="6624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Top-5  97.62%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920000" y="17568000"/>
            <a:ext cx="6624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MRR@5  93.89%</a:t>
            </a: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　訓練／查詢重疊</a:t>
            </a:r>
            <a:r>
              <a:rPr sz="16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20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415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920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支持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152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52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複核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2384000" y="18180000"/>
            <a:ext cx="2088000" cy="432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35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2384000" y="18720000"/>
            <a:ext cx="2088000" cy="32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21314"/>
                </a:solidFill>
                <a:latin typeface="Times New Roman"/>
                <a:ea typeface="DFKai-SB"/>
                <a:cs typeface="Times New Roman"/>
              </a:rPr>
              <a:t>不確定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920000" y="19332000"/>
            <a:ext cx="6624000" cy="504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30</a:t>
            </a: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筆偵測誤判中</a:t>
            </a: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18</a:t>
            </a: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筆分流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其餘</a:t>
            </a: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12</a:t>
            </a:r>
            <a:r>
              <a:rPr sz="140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筆獲支持，處置另經策略檢查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576000" y="20088000"/>
            <a:ext cx="13968000" cy="0"/>
          </a:xfrm>
          <a:prstGeom prst="line">
            <a:avLst/>
          </a:prstGeom>
          <a:ln w="12700">
            <a:solidFill>
              <a:srgbClr val="CCDC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/>
          <p:cNvSpPr txBox="1"/>
          <p:nvPr/>
        </p:nvSpPr>
        <p:spPr>
          <a:xfrm>
            <a:off x="576000" y="20268000"/>
            <a:ext cx="13968000" cy="360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整合驗證：</a:t>
            </a: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17</a:t>
            </a: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類真實張量重跑；</a:t>
            </a: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6</a:t>
            </a: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種隔離</a:t>
            </a: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TCP</a:t>
            </a: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情境，背景保留與回復皆</a:t>
            </a: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6/6</a:t>
            </a:r>
            <a:r>
              <a:rPr sz="1700" b="0">
                <a:solidFill>
                  <a:srgbClr val="0070D1"/>
                </a:solidFill>
                <a:latin typeface="Times New Roman"/>
                <a:ea typeface="DFKai-SB"/>
                <a:cs typeface="Times New Roman"/>
              </a:rPr>
              <a:t>。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00" y="20628000"/>
            <a:ext cx="13968000" cy="216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6</a:t>
            </a:r>
            <a:r>
              <a:rPr sz="11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種情境含</a:t>
            </a:r>
            <a:r>
              <a:rPr sz="11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4</a:t>
            </a:r>
            <a:r>
              <a:rPr sz="11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種套用規則、</a:t>
            </a:r>
            <a:r>
              <a:rPr sz="11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2</a:t>
            </a:r>
            <a:r>
              <a:rPr sz="11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種監測或蒐證；</a:t>
            </a:r>
            <a:r>
              <a:rPr sz="11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6/6</a:t>
            </a:r>
            <a:r>
              <a:rPr sz="1150" b="0">
                <a:solidFill>
                  <a:srgbClr val="526477"/>
                </a:solidFill>
                <a:latin typeface="Times New Roman"/>
                <a:ea typeface="DFKai-SB"/>
                <a:cs typeface="Times New Roman"/>
              </a:rPr>
              <a:t>為隔離交易與回復結果，非原生攻擊防禦率。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Times New Roman"/>
        <a:ea typeface="DFKai-SB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DFKai-SB"/>
        <a:cs typeface="Times New Roman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AI資安框架｜A2方法海報</dc:title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