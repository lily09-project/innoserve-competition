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93" Type="http://schemas.openxmlformats.org/officeDocument/2006/relationships/image" Target="../media/image2.png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image" Target="../media/image1.png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00" y="360000"/>
            <a:ext cx="13968000" cy="280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553775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4" name="PosterTitle_Centered_210mm"/>
          <p:cNvSpPr txBox="1"/>
          <p:nvPr>
            <p:custDataLst>
              <p:tags r:id="rId2"/>
            </p:custDataLst>
          </p:nvPr>
        </p:nvSpPr>
        <p:spPr>
          <a:xfrm>
            <a:off x="506150" y="864000"/>
            <a:ext cx="13968000" cy="22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0000" y="3132000"/>
            <a:ext cx="1440000" cy="432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6000" y="3240000"/>
            <a:ext cx="13968000" cy="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534725" y="3312000"/>
            <a:ext cx="13968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545838" y="3780000"/>
            <a:ext cx="1396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9" name="TextBox 8"/>
          <p:cNvSpPr txBox="1"/>
          <p:nvPr>
            <p:custDataLst>
              <p:tags r:id="rId5"/>
            </p:custDataLst>
          </p:nvPr>
        </p:nvSpPr>
        <p:spPr>
          <a:xfrm>
            <a:off x="547425" y="4176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17類互補判定  ·  本機證據稽核  ·  同事件追溯  ·  策略受控回復</a:t>
            </a:r>
          </a:p>
        </p:txBody>
      </p:sp>
      <p:sp>
        <p:nvSpPr>
          <p:cNvPr id="10" name="TextBox 9"/>
          <p:cNvSpPr txBox="1"/>
          <p:nvPr>
            <p:custDataLst>
              <p:tags r:id="rId6"/>
            </p:custDataLst>
          </p:nvPr>
        </p:nvSpPr>
        <p:spPr>
          <a:xfrm>
            <a:off x="536312" y="4608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01  四階段方法，串成同一條事件鏈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5220000"/>
            <a:ext cx="13968000" cy="180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TextBox 12"/>
          <p:cNvSpPr txBox="1"/>
          <p:nvPr>
            <p:custDataLst>
              <p:tags r:id="rId7"/>
            </p:custDataLst>
          </p:nvPr>
        </p:nvSpPr>
        <p:spPr>
          <a:xfrm>
            <a:off x="791488" y="5328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01  互補判定</a:t>
            </a: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804188" y="5724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5" name="Picture 14" descr="flat-icon-2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1846600" y="6120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信心與流量表徵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252000" y="7038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76000" y="7236000"/>
            <a:ext cx="13968000" cy="1800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76000" y="7236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TextBox 19"/>
          <p:cNvSpPr txBox="1"/>
          <p:nvPr>
            <p:custDataLst>
              <p:tags r:id="rId10"/>
            </p:custDataLst>
          </p:nvPr>
        </p:nvSpPr>
        <p:spPr>
          <a:xfrm>
            <a:off x="791488" y="7344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02  任務檢索</a:t>
            </a:r>
          </a:p>
        </p:txBody>
      </p:sp>
      <p:sp>
        <p:nvSpPr>
          <p:cNvPr id="21" name="TextBox 20"/>
          <p:cNvSpPr txBox="1"/>
          <p:nvPr>
            <p:custDataLst>
              <p:tags r:id="rId11"/>
            </p:custDataLst>
          </p:nvPr>
        </p:nvSpPr>
        <p:spPr>
          <a:xfrm>
            <a:off x="804188" y="7740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2" name="Picture 21" descr="flat-icon-3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3" name="TextBox 22"/>
          <p:cNvSpPr txBox="1"/>
          <p:nvPr>
            <p:custDataLst>
              <p:tags r:id="rId12"/>
            </p:custDataLst>
          </p:nvPr>
        </p:nvSpPr>
        <p:spPr>
          <a:xfrm>
            <a:off x="1846600" y="8136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附上相似類別證據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252000" y="9054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76000" y="9252000"/>
            <a:ext cx="13968000" cy="1800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76000" y="9252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7" name="TextBox 26"/>
          <p:cNvSpPr txBox="1"/>
          <p:nvPr>
            <p:custDataLst>
              <p:tags r:id="rId13"/>
            </p:custDataLst>
          </p:nvPr>
        </p:nvSpPr>
        <p:spPr>
          <a:xfrm>
            <a:off x="791488" y="9360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03  證據稽核</a:t>
            </a:r>
          </a:p>
        </p:txBody>
      </p:sp>
      <p:sp>
        <p:nvSpPr>
          <p:cNvPr id="28" name="TextBox 27"/>
          <p:cNvSpPr txBox="1"/>
          <p:nvPr>
            <p:custDataLst>
              <p:tags r:id="rId14"/>
            </p:custDataLst>
          </p:nvPr>
        </p:nvSpPr>
        <p:spPr>
          <a:xfrm>
            <a:off x="804188" y="9756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4000" y="10152000"/>
            <a:ext cx="504000" cy="72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245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1152000" y="1029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52000" y="1047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52000" y="1065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>
            <p:custDataLst>
              <p:tags r:id="rId15"/>
            </p:custDataLst>
          </p:nvPr>
        </p:nvSpPr>
        <p:spPr>
          <a:xfrm>
            <a:off x="1846600" y="10152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附加三態稽核結論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252000" y="11070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76000" y="11268000"/>
            <a:ext cx="13968000" cy="180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76000" y="11268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791488" y="11376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04  受控回復</a:t>
            </a:r>
          </a:p>
        </p:txBody>
      </p:sp>
      <p:sp>
        <p:nvSpPr>
          <p:cNvPr id="38" name="TextBox 37"/>
          <p:cNvSpPr txBox="1"/>
          <p:nvPr>
            <p:custDataLst>
              <p:tags r:id="rId17"/>
            </p:custDataLst>
          </p:nvPr>
        </p:nvSpPr>
        <p:spPr>
          <a:xfrm>
            <a:off x="804188" y="11772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39" name="Picture 38" descr="flat-icon-4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0" name="TextBox 39"/>
          <p:cNvSpPr txBox="1"/>
          <p:nvPr>
            <p:custDataLst>
              <p:tags r:id="rId18"/>
            </p:custDataLst>
          </p:nvPr>
        </p:nvSpPr>
        <p:spPr>
          <a:xfrm>
            <a:off x="1846600" y="12168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讀回並確認回復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2" name="TextBox 41"/>
          <p:cNvSpPr txBox="1"/>
          <p:nvPr>
            <p:custDataLst>
              <p:tags r:id="rId19"/>
            </p:custDataLst>
          </p:nvPr>
        </p:nvSpPr>
        <p:spPr>
          <a:xfrm>
            <a:off x="4288250" y="5436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3" name="TextBox 42"/>
          <p:cNvSpPr txBox="1"/>
          <p:nvPr>
            <p:custDataLst>
              <p:tags r:id="rId20"/>
            </p:custDataLst>
          </p:nvPr>
        </p:nvSpPr>
        <p:spPr>
          <a:xfrm>
            <a:off x="4297775" y="5730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5" name="TextBox 44"/>
          <p:cNvSpPr txBox="1"/>
          <p:nvPr>
            <p:custDataLst>
              <p:tags r:id="rId21"/>
            </p:custDataLst>
          </p:nvPr>
        </p:nvSpPr>
        <p:spPr>
          <a:xfrm>
            <a:off x="4288250" y="6264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46" name="TextBox 45"/>
          <p:cNvSpPr txBox="1"/>
          <p:nvPr>
            <p:custDataLst>
              <p:tags r:id="rId22"/>
            </p:custDataLst>
          </p:nvPr>
        </p:nvSpPr>
        <p:spPr>
          <a:xfrm>
            <a:off x="4297775" y="6558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28000" y="5706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128000" y="6534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2000" y="5706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ight Arrow 49"/>
          <p:cNvSpPr/>
          <p:nvPr/>
        </p:nvSpPr>
        <p:spPr>
          <a:xfrm>
            <a:off x="7488000" y="6012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2" name="TextBox 51"/>
          <p:cNvSpPr txBox="1"/>
          <p:nvPr>
            <p:custDataLst>
              <p:tags r:id="rId23"/>
            </p:custDataLst>
          </p:nvPr>
        </p:nvSpPr>
        <p:spPr>
          <a:xfrm>
            <a:off x="7816250" y="5724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3" name="TextBox 52"/>
          <p:cNvSpPr txBox="1"/>
          <p:nvPr>
            <p:custDataLst>
              <p:tags r:id="rId24"/>
            </p:custDataLst>
          </p:nvPr>
        </p:nvSpPr>
        <p:spPr>
          <a:xfrm>
            <a:off x="7825775" y="6174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10980000" y="6012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6" name="TextBox 55"/>
          <p:cNvSpPr txBox="1"/>
          <p:nvPr>
            <p:custDataLst>
              <p:tags r:id="rId25"/>
            </p:custDataLst>
          </p:nvPr>
        </p:nvSpPr>
        <p:spPr>
          <a:xfrm>
            <a:off x="11560251" y="5724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57" name="TextBox 56"/>
          <p:cNvSpPr txBox="1"/>
          <p:nvPr>
            <p:custDataLst>
              <p:tags r:id="rId26"/>
            </p:custDataLst>
          </p:nvPr>
        </p:nvSpPr>
        <p:spPr>
          <a:xfrm>
            <a:off x="11569776" y="6174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9" name="TextBox 58"/>
          <p:cNvSpPr txBox="1"/>
          <p:nvPr>
            <p:custDataLst>
              <p:tags r:id="rId27"/>
            </p:custDataLst>
          </p:nvPr>
        </p:nvSpPr>
        <p:spPr>
          <a:xfrm>
            <a:off x="4288250" y="7416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1" name="TextBox 60"/>
          <p:cNvSpPr txBox="1"/>
          <p:nvPr>
            <p:custDataLst>
              <p:tags r:id="rId28"/>
            </p:custDataLst>
          </p:nvPr>
        </p:nvSpPr>
        <p:spPr>
          <a:xfrm>
            <a:off x="4288250" y="8244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128000" y="7722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128000" y="8550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452000" y="7722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ight Arrow 64"/>
          <p:cNvSpPr/>
          <p:nvPr/>
        </p:nvSpPr>
        <p:spPr>
          <a:xfrm>
            <a:off x="7488000" y="8028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7" name="TextBox 66"/>
          <p:cNvSpPr txBox="1"/>
          <p:nvPr>
            <p:custDataLst>
              <p:tags r:id="rId29"/>
            </p:custDataLst>
          </p:nvPr>
        </p:nvSpPr>
        <p:spPr>
          <a:xfrm>
            <a:off x="7816250" y="7740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68" name="TextBox 67"/>
          <p:cNvSpPr txBox="1"/>
          <p:nvPr>
            <p:custDataLst>
              <p:tags r:id="rId30"/>
            </p:custDataLst>
          </p:nvPr>
        </p:nvSpPr>
        <p:spPr>
          <a:xfrm>
            <a:off x="7825775" y="8190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10980000" y="8028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1" name="TextBox 70"/>
          <p:cNvSpPr txBox="1"/>
          <p:nvPr>
            <p:custDataLst>
              <p:tags r:id="rId31"/>
            </p:custDataLst>
          </p:nvPr>
        </p:nvSpPr>
        <p:spPr>
          <a:xfrm>
            <a:off x="11560250" y="7704000"/>
            <a:ext cx="273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Top-5訓練案例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664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3" name="TextBox 72"/>
          <p:cNvSpPr txBox="1"/>
          <p:nvPr>
            <p:custDataLst>
              <p:tags r:id="rId32"/>
            </p:custDataLst>
          </p:nvPr>
        </p:nvSpPr>
        <p:spPr>
          <a:xfrm>
            <a:off x="11635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186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TextBox 74"/>
          <p:cNvSpPr txBox="1"/>
          <p:nvPr>
            <p:custDataLst>
              <p:tags r:id="rId33"/>
            </p:custDataLst>
          </p:nvPr>
        </p:nvSpPr>
        <p:spPr>
          <a:xfrm>
            <a:off x="12157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708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7" name="TextBox 76"/>
          <p:cNvSpPr txBox="1"/>
          <p:nvPr>
            <p:custDataLst>
              <p:tags r:id="rId34"/>
            </p:custDataLst>
          </p:nvPr>
        </p:nvSpPr>
        <p:spPr>
          <a:xfrm>
            <a:off x="12679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230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9" name="TextBox 78"/>
          <p:cNvSpPr txBox="1"/>
          <p:nvPr>
            <p:custDataLst>
              <p:tags r:id="rId35"/>
            </p:custDataLst>
          </p:nvPr>
        </p:nvSpPr>
        <p:spPr>
          <a:xfrm>
            <a:off x="13201427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752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1" name="TextBox 80"/>
          <p:cNvSpPr txBox="1"/>
          <p:nvPr>
            <p:custDataLst>
              <p:tags r:id="rId36"/>
            </p:custDataLst>
          </p:nvPr>
        </p:nvSpPr>
        <p:spPr>
          <a:xfrm>
            <a:off x="13723423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3" name="TextBox 82"/>
          <p:cNvSpPr txBox="1"/>
          <p:nvPr>
            <p:custDataLst>
              <p:tags r:id="rId37"/>
            </p:custDataLst>
          </p:nvPr>
        </p:nvSpPr>
        <p:spPr>
          <a:xfrm>
            <a:off x="4288250" y="9432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5" name="TextBox 84"/>
          <p:cNvSpPr txBox="1"/>
          <p:nvPr>
            <p:custDataLst>
              <p:tags r:id="rId38"/>
            </p:custDataLst>
          </p:nvPr>
        </p:nvSpPr>
        <p:spPr>
          <a:xfrm>
            <a:off x="4288250" y="10260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128000" y="9738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128000" y="10566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452000" y="9738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ight Arrow 88"/>
          <p:cNvSpPr/>
          <p:nvPr/>
        </p:nvSpPr>
        <p:spPr>
          <a:xfrm>
            <a:off x="7488000" y="10044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1" name="TextBox 90"/>
          <p:cNvSpPr txBox="1"/>
          <p:nvPr>
            <p:custDataLst>
              <p:tags r:id="rId39"/>
            </p:custDataLst>
          </p:nvPr>
        </p:nvSpPr>
        <p:spPr>
          <a:xfrm>
            <a:off x="7816250" y="9756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92" name="TextBox 91"/>
          <p:cNvSpPr txBox="1"/>
          <p:nvPr>
            <p:custDataLst>
              <p:tags r:id="rId40"/>
            </p:custDataLst>
          </p:nvPr>
        </p:nvSpPr>
        <p:spPr>
          <a:xfrm>
            <a:off x="7825775" y="10206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10980000" y="10044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TextBox 94"/>
          <p:cNvSpPr txBox="1"/>
          <p:nvPr>
            <p:custDataLst>
              <p:tags r:id="rId41"/>
            </p:custDataLst>
          </p:nvPr>
        </p:nvSpPr>
        <p:spPr>
          <a:xfrm>
            <a:off x="11560251" y="9396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7" name="TextBox 96"/>
          <p:cNvSpPr txBox="1"/>
          <p:nvPr>
            <p:custDataLst>
              <p:tags r:id="rId42"/>
            </p:custDataLst>
          </p:nvPr>
        </p:nvSpPr>
        <p:spPr>
          <a:xfrm>
            <a:off x="11560251" y="9900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9" name="TextBox 98"/>
          <p:cNvSpPr txBox="1"/>
          <p:nvPr>
            <p:custDataLst>
              <p:tags r:id="rId43"/>
            </p:custDataLst>
          </p:nvPr>
        </p:nvSpPr>
        <p:spPr>
          <a:xfrm>
            <a:off x="11560251" y="10404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0" name="TextBox 99"/>
          <p:cNvSpPr txBox="1"/>
          <p:nvPr>
            <p:custDataLst>
              <p:tags r:id="rId44"/>
            </p:custDataLst>
          </p:nvPr>
        </p:nvSpPr>
        <p:spPr>
          <a:xfrm>
            <a:off x="4291425" y="11412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策略檢查：範圍、動作與期限｜來源限速等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4288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7236000" y="12060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5" name="TextBox 104"/>
          <p:cNvSpPr txBox="1"/>
          <p:nvPr>
            <p:custDataLst>
              <p:tags r:id="rId46"/>
            </p:custDataLst>
          </p:nvPr>
        </p:nvSpPr>
        <p:spPr>
          <a:xfrm>
            <a:off x="7816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10764000" y="12060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8" name="TextBox 107"/>
          <p:cNvSpPr txBox="1"/>
          <p:nvPr>
            <p:custDataLst>
              <p:tags r:id="rId47"/>
            </p:custDataLst>
          </p:nvPr>
        </p:nvSpPr>
        <p:spPr>
          <a:xfrm>
            <a:off x="11344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109" name="TextBox 108"/>
          <p:cNvSpPr txBox="1"/>
          <p:nvPr>
            <p:custDataLst>
              <p:tags r:id="rId48"/>
            </p:custDataLst>
          </p:nvPr>
        </p:nvSpPr>
        <p:spPr>
          <a:xfrm>
            <a:off x="4296187" y="12564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6000" y="13500000"/>
            <a:ext cx="13968000" cy="5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1" name="TextBox 110"/>
          <p:cNvSpPr txBox="1"/>
          <p:nvPr>
            <p:custDataLst>
              <p:tags r:id="rId49"/>
            </p:custDataLst>
          </p:nvPr>
        </p:nvSpPr>
        <p:spPr>
          <a:xfrm>
            <a:off x="691425" y="13500000"/>
            <a:ext cx="1368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12" name="TextBox 111"/>
          <p:cNvSpPr txBox="1"/>
          <p:nvPr>
            <p:custDataLst>
              <p:tags r:id="rId50"/>
            </p:custDataLst>
          </p:nvPr>
        </p:nvSpPr>
        <p:spPr>
          <a:xfrm>
            <a:off x="536312" y="14292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02  三項優勢，從判定走到可追溯處置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76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2376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5" name="TextBox 114"/>
          <p:cNvSpPr txBox="1"/>
          <p:nvPr>
            <p:custDataLst>
              <p:tags r:id="rId51"/>
            </p:custDataLst>
          </p:nvPr>
        </p:nvSpPr>
        <p:spPr>
          <a:xfrm>
            <a:off x="539488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16" name="TextBox 115"/>
          <p:cNvSpPr txBox="1"/>
          <p:nvPr>
            <p:custDataLst>
              <p:tags r:id="rId52"/>
            </p:custDataLst>
          </p:nvPr>
        </p:nvSpPr>
        <p:spPr>
          <a:xfrm>
            <a:off x="621807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Macro-F1達93.05%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364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7164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9" name="TextBox 118"/>
          <p:cNvSpPr txBox="1"/>
          <p:nvPr>
            <p:custDataLst>
              <p:tags r:id="rId53"/>
            </p:custDataLst>
          </p:nvPr>
        </p:nvSpPr>
        <p:spPr>
          <a:xfrm>
            <a:off x="5327488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20" name="TextBox 119"/>
          <p:cNvSpPr txBox="1"/>
          <p:nvPr>
            <p:custDataLst>
              <p:tags r:id="rId54"/>
            </p:custDataLst>
          </p:nvPr>
        </p:nvSpPr>
        <p:spPr>
          <a:xfrm>
            <a:off x="5409806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命中率97.62%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52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11952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3" name="TextBox 122"/>
          <p:cNvSpPr txBox="1"/>
          <p:nvPr>
            <p:custDataLst>
              <p:tags r:id="rId55"/>
            </p:custDataLst>
          </p:nvPr>
        </p:nvSpPr>
        <p:spPr>
          <a:xfrm>
            <a:off x="10115487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受控可追溯</a:t>
            </a:r>
          </a:p>
        </p:txBody>
      </p:sp>
      <p:sp>
        <p:nvSpPr>
          <p:cNvPr id="124" name="TextBox 123"/>
          <p:cNvSpPr txBox="1"/>
          <p:nvPr>
            <p:custDataLst>
              <p:tags r:id="rId56"/>
            </p:custDataLst>
          </p:nvPr>
        </p:nvSpPr>
        <p:spPr>
          <a:xfrm>
            <a:off x="10197807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策略檢查、讀回及到期回復</a:t>
            </a:r>
          </a:p>
        </p:txBody>
      </p:sp>
      <p:sp>
        <p:nvSpPr>
          <p:cNvPr id="125" name="TextBox 124"/>
          <p:cNvSpPr txBox="1"/>
          <p:nvPr>
            <p:custDataLst>
              <p:tags r:id="rId57"/>
            </p:custDataLst>
          </p:nvPr>
        </p:nvSpPr>
        <p:spPr>
          <a:xfrm>
            <a:off x="536312" y="16380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03  以分階段實測呈現效果</a:t>
            </a:r>
          </a:p>
        </p:txBody>
      </p:sp>
      <p:sp>
        <p:nvSpPr>
          <p:cNvPr id="126" name="TextBox 125"/>
          <p:cNvSpPr txBox="1"/>
          <p:nvPr>
            <p:custDataLst>
              <p:tags r:id="rId58"/>
            </p:custDataLst>
          </p:nvPr>
        </p:nvSpPr>
        <p:spPr>
          <a:xfrm>
            <a:off x="549013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27" name="TextBox 126"/>
          <p:cNvSpPr txBox="1"/>
          <p:nvPr>
            <p:custDataLst>
              <p:tags r:id="rId59"/>
            </p:custDataLst>
          </p:nvPr>
        </p:nvSpPr>
        <p:spPr>
          <a:xfrm>
            <a:off x="576000" y="17424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304000" y="17496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2304000" y="17496000"/>
            <a:ext cx="2698671" cy="216000"/>
          </a:xfrm>
          <a:prstGeom prst="rect">
            <a:avLst/>
          </a:prstGeom>
          <a:solidFill>
            <a:srgbClr val="819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0" name="TextBox 129"/>
          <p:cNvSpPr txBox="1"/>
          <p:nvPr>
            <p:custDataLst>
              <p:tags r:id="rId60"/>
            </p:custDataLst>
          </p:nvPr>
        </p:nvSpPr>
        <p:spPr>
          <a:xfrm>
            <a:off x="5729975" y="17424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31" name="TextBox 130"/>
          <p:cNvSpPr txBox="1"/>
          <p:nvPr>
            <p:custDataLst>
              <p:tags r:id="rId61"/>
            </p:custDataLst>
          </p:nvPr>
        </p:nvSpPr>
        <p:spPr>
          <a:xfrm>
            <a:off x="576000" y="1803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304000" y="18108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2304000" y="18108000"/>
            <a:ext cx="3116757" cy="216000"/>
          </a:xfrm>
          <a:prstGeom prst="rect">
            <a:avLst/>
          </a:prstGeom>
          <a:solidFill>
            <a:srgbClr val="819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4" name="TextBox 133"/>
          <p:cNvSpPr txBox="1"/>
          <p:nvPr>
            <p:custDataLst>
              <p:tags r:id="rId62"/>
            </p:custDataLst>
          </p:nvPr>
        </p:nvSpPr>
        <p:spPr>
          <a:xfrm>
            <a:off x="5729975" y="1803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35" name="TextBox 134"/>
          <p:cNvSpPr txBox="1"/>
          <p:nvPr>
            <p:custDataLst>
              <p:tags r:id="rId63"/>
            </p:custDataLst>
          </p:nvPr>
        </p:nvSpPr>
        <p:spPr>
          <a:xfrm>
            <a:off x="576000" y="1864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304000" y="18720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2304000" y="18720000"/>
            <a:ext cx="3148824" cy="216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8" name="TextBox 137"/>
          <p:cNvSpPr txBox="1"/>
          <p:nvPr>
            <p:custDataLst>
              <p:tags r:id="rId64"/>
            </p:custDataLst>
          </p:nvPr>
        </p:nvSpPr>
        <p:spPr>
          <a:xfrm>
            <a:off x="5729975" y="1864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139" name="TextBox 138"/>
          <p:cNvSpPr txBox="1"/>
          <p:nvPr>
            <p:custDataLst>
              <p:tags r:id="rId65"/>
            </p:custDataLst>
          </p:nvPr>
        </p:nvSpPr>
        <p:spPr>
          <a:xfrm>
            <a:off x="550600" y="1926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7560000" y="16920000"/>
            <a:ext cx="0" cy="284400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>
            <p:custDataLst>
              <p:tags r:id="rId66"/>
            </p:custDataLst>
          </p:nvPr>
        </p:nvSpPr>
        <p:spPr>
          <a:xfrm>
            <a:off x="7893014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42" name="TextBox 141"/>
          <p:cNvSpPr txBox="1"/>
          <p:nvPr>
            <p:custDataLst>
              <p:tags r:id="rId67"/>
            </p:custDataLst>
          </p:nvPr>
        </p:nvSpPr>
        <p:spPr>
          <a:xfrm>
            <a:off x="7869200" y="17316000"/>
            <a:ext cx="6624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43" name="TextBox 142"/>
          <p:cNvSpPr txBox="1"/>
          <p:nvPr>
            <p:custDataLst>
              <p:tags r:id="rId68"/>
            </p:custDataLst>
          </p:nvPr>
        </p:nvSpPr>
        <p:spPr>
          <a:xfrm>
            <a:off x="7896189" y="17892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44" name="TextBox 143"/>
          <p:cNvSpPr txBox="1"/>
          <p:nvPr>
            <p:custDataLst>
              <p:tags r:id="rId69"/>
            </p:custDataLst>
          </p:nvPr>
        </p:nvSpPr>
        <p:spPr>
          <a:xfrm>
            <a:off x="7878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45" name="TextBox 144"/>
          <p:cNvSpPr txBox="1"/>
          <p:nvPr>
            <p:custDataLst>
              <p:tags r:id="rId70"/>
            </p:custDataLst>
          </p:nvPr>
        </p:nvSpPr>
        <p:spPr>
          <a:xfrm>
            <a:off x="7893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46" name="TextBox 145"/>
          <p:cNvSpPr txBox="1"/>
          <p:nvPr>
            <p:custDataLst>
              <p:tags r:id="rId71"/>
            </p:custDataLst>
          </p:nvPr>
        </p:nvSpPr>
        <p:spPr>
          <a:xfrm>
            <a:off x="10146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47" name="TextBox 146"/>
          <p:cNvSpPr txBox="1"/>
          <p:nvPr>
            <p:custDataLst>
              <p:tags r:id="rId72"/>
            </p:custDataLst>
          </p:nvPr>
        </p:nvSpPr>
        <p:spPr>
          <a:xfrm>
            <a:off x="10161012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48" name="TextBox 147"/>
          <p:cNvSpPr txBox="1"/>
          <p:nvPr>
            <p:custDataLst>
              <p:tags r:id="rId73"/>
            </p:custDataLst>
          </p:nvPr>
        </p:nvSpPr>
        <p:spPr>
          <a:xfrm>
            <a:off x="12414726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49" name="TextBox 148"/>
          <p:cNvSpPr txBox="1"/>
          <p:nvPr>
            <p:custDataLst>
              <p:tags r:id="rId74"/>
            </p:custDataLst>
          </p:nvPr>
        </p:nvSpPr>
        <p:spPr>
          <a:xfrm>
            <a:off x="12429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50" name="TextBox 149"/>
          <p:cNvSpPr txBox="1"/>
          <p:nvPr>
            <p:custDataLst>
              <p:tags r:id="rId75"/>
            </p:custDataLst>
          </p:nvPr>
        </p:nvSpPr>
        <p:spPr>
          <a:xfrm>
            <a:off x="7896982" y="19296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576000" y="19872000"/>
            <a:ext cx="13968000" cy="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>
            <p:custDataLst>
              <p:tags r:id="rId76"/>
            </p:custDataLst>
          </p:nvPr>
        </p:nvSpPr>
        <p:spPr>
          <a:xfrm>
            <a:off x="550600" y="19980000"/>
            <a:ext cx="2412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6種隔離TCP情境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240000" y="19980000"/>
            <a:ext cx="1116000" cy="324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54" name="TextBox 153"/>
          <p:cNvSpPr txBox="1"/>
          <p:nvPr>
            <p:custDataLst>
              <p:tags r:id="rId77"/>
            </p:custDataLst>
          </p:nvPr>
        </p:nvSpPr>
        <p:spPr>
          <a:xfrm>
            <a:off x="32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正常</a:t>
            </a:r>
          </a:p>
        </p:txBody>
      </p:sp>
      <p:sp>
        <p:nvSpPr>
          <p:cNvPr id="155" name="TextBox 154"/>
          <p:cNvSpPr txBox="1"/>
          <p:nvPr>
            <p:custDataLst>
              <p:tags r:id="rId78"/>
            </p:custDataLst>
          </p:nvPr>
        </p:nvSpPr>
        <p:spPr>
          <a:xfrm>
            <a:off x="32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監測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50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57" name="TextBox 156"/>
          <p:cNvSpPr txBox="1"/>
          <p:nvPr>
            <p:custDataLst>
              <p:tags r:id="rId79"/>
            </p:custDataLst>
          </p:nvPr>
        </p:nvSpPr>
        <p:spPr>
          <a:xfrm>
            <a:off x="447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FTP</a:t>
            </a:r>
          </a:p>
        </p:txBody>
      </p:sp>
      <p:sp>
        <p:nvSpPr>
          <p:cNvPr id="158" name="TextBox 157"/>
          <p:cNvSpPr txBox="1"/>
          <p:nvPr>
            <p:custDataLst>
              <p:tags r:id="rId80"/>
            </p:custDataLst>
          </p:nvPr>
        </p:nvSpPr>
        <p:spPr>
          <a:xfrm>
            <a:off x="447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76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0" name="TextBox 159"/>
          <p:cNvSpPr txBox="1"/>
          <p:nvPr>
            <p:custDataLst>
              <p:tags r:id="rId81"/>
            </p:custDataLst>
          </p:nvPr>
        </p:nvSpPr>
        <p:spPr>
          <a:xfrm>
            <a:off x="573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SSH</a:t>
            </a:r>
          </a:p>
        </p:txBody>
      </p:sp>
      <p:sp>
        <p:nvSpPr>
          <p:cNvPr id="161" name="TextBox 160"/>
          <p:cNvSpPr txBox="1"/>
          <p:nvPr>
            <p:custDataLst>
              <p:tags r:id="rId82"/>
            </p:custDataLst>
          </p:nvPr>
        </p:nvSpPr>
        <p:spPr>
          <a:xfrm>
            <a:off x="573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02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3" name="TextBox 162"/>
          <p:cNvSpPr txBox="1"/>
          <p:nvPr>
            <p:custDataLst>
              <p:tags r:id="rId83"/>
            </p:custDataLst>
          </p:nvPr>
        </p:nvSpPr>
        <p:spPr>
          <a:xfrm>
            <a:off x="699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HTTP</a:t>
            </a:r>
          </a:p>
        </p:txBody>
      </p:sp>
      <p:sp>
        <p:nvSpPr>
          <p:cNvPr id="164" name="TextBox 163"/>
          <p:cNvSpPr txBox="1"/>
          <p:nvPr>
            <p:custDataLst>
              <p:tags r:id="rId84"/>
            </p:custDataLst>
          </p:nvPr>
        </p:nvSpPr>
        <p:spPr>
          <a:xfrm>
            <a:off x="699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280000" y="19980000"/>
            <a:ext cx="1116000" cy="324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6" name="TextBox 165"/>
          <p:cNvSpPr txBox="1"/>
          <p:nvPr>
            <p:custDataLst>
              <p:tags r:id="rId85"/>
            </p:custDataLst>
          </p:nvPr>
        </p:nvSpPr>
        <p:spPr>
          <a:xfrm>
            <a:off x="825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XSS</a:t>
            </a:r>
          </a:p>
        </p:txBody>
      </p:sp>
      <p:sp>
        <p:nvSpPr>
          <p:cNvPr id="167" name="TextBox 166"/>
          <p:cNvSpPr txBox="1"/>
          <p:nvPr>
            <p:custDataLst>
              <p:tags r:id="rId86"/>
            </p:custDataLst>
          </p:nvPr>
        </p:nvSpPr>
        <p:spPr>
          <a:xfrm>
            <a:off x="825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蒐證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54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9" name="TextBox 168"/>
          <p:cNvSpPr txBox="1"/>
          <p:nvPr>
            <p:custDataLst>
              <p:tags r:id="rId87"/>
            </p:custDataLst>
          </p:nvPr>
        </p:nvSpPr>
        <p:spPr>
          <a:xfrm>
            <a:off x="95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Bot</a:t>
            </a:r>
          </a:p>
        </p:txBody>
      </p:sp>
      <p:sp>
        <p:nvSpPr>
          <p:cNvPr id="170" name="TextBox 169"/>
          <p:cNvSpPr txBox="1"/>
          <p:nvPr>
            <p:custDataLst>
              <p:tags r:id="rId88"/>
            </p:custDataLst>
          </p:nvPr>
        </p:nvSpPr>
        <p:spPr>
          <a:xfrm>
            <a:off x="95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1" name="TextBox 170"/>
          <p:cNvSpPr txBox="1"/>
          <p:nvPr>
            <p:custDataLst>
              <p:tags r:id="rId89"/>
            </p:custDataLst>
          </p:nvPr>
        </p:nvSpPr>
        <p:spPr>
          <a:xfrm>
            <a:off x="11030862" y="19980000"/>
            <a:ext cx="3456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 6/6</a:t>
            </a:r>
          </a:p>
        </p:txBody>
      </p:sp>
      <p:sp>
        <p:nvSpPr>
          <p:cNvPr id="172" name="TextBox 171"/>
          <p:cNvSpPr txBox="1"/>
          <p:nvPr>
            <p:custDataLst>
              <p:tags r:id="rId90"/>
            </p:custDataLst>
          </p:nvPr>
        </p:nvSpPr>
        <p:spPr>
          <a:xfrm>
            <a:off x="550600" y="20592000"/>
            <a:ext cx="13968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5.43304443359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6.535461425781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7.637817382812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8.7401733398438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9.8424682617188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8.267723083496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8.26771545410156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042480469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2.28344726562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2.283462524414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46520996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46520996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0.314964294433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45.1968383789062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250</Words>
  <Application>Microsoft Office PowerPoint</Application>
  <PresentationFormat>自訂</PresentationFormat>
  <Paragraphs>105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2026-10-30T04:08:31Z</dcterms:modified>
  <cp:category/>
</cp:coreProperties>
</file>