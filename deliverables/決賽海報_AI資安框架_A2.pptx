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5120000" cy="21384000"/>
  <p:notesSz cx="6858000" cy="9144000"/>
  <p:defaultTextStyle>
    <a:defPPr>
      <a:defRPr lang="en-US">
        <a:latin typeface="Segoe UI"/>
        <a:ea typeface="Microsoft JhengHei"/>
        <a:cs typeface="Segoe UI"/>
      </a:defRPr>
    </a:defPPr>
    <a:lvl1pPr marL="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9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latin typeface="Segoe UI"/>
                <a:ea typeface="Microsoft JhengHei"/>
                <a:cs typeface="Segoe UI"/>
              </a:defRPr>
            </a:lvl1pPr>
            <a:lvl2pPr>
              <a:defRPr sz="2400">
                <a:latin typeface="Segoe UI"/>
                <a:ea typeface="Microsoft JhengHei"/>
                <a:cs typeface="Segoe UI"/>
              </a:defRPr>
            </a:lvl2pPr>
            <a:lvl3pPr>
              <a:defRPr sz="2000">
                <a:latin typeface="Segoe UI"/>
                <a:ea typeface="Microsoft JhengHei"/>
                <a:cs typeface="Segoe UI"/>
              </a:defRPr>
            </a:lvl3pPr>
            <a:lvl4pPr>
              <a:defRPr sz="1800">
                <a:latin typeface="Segoe UI"/>
                <a:ea typeface="Microsoft JhengHei"/>
                <a:cs typeface="Segoe UI"/>
              </a:defRPr>
            </a:lvl4pPr>
            <a:lvl5pPr>
              <a:defRPr sz="1800">
                <a:latin typeface="Segoe UI"/>
                <a:ea typeface="Microsoft JhengHei"/>
                <a:cs typeface="Segoe UI"/>
              </a:defRPr>
            </a:lvl5pPr>
            <a:lvl6pPr>
              <a:defRPr sz="1800">
                <a:latin typeface="Segoe UI"/>
                <a:ea typeface="Microsoft JhengHei"/>
                <a:cs typeface="Segoe UI"/>
              </a:defRPr>
            </a:lvl6pPr>
            <a:lvl7pPr>
              <a:defRPr sz="1800">
                <a:latin typeface="Segoe UI"/>
                <a:ea typeface="Microsoft JhengHei"/>
                <a:cs typeface="Segoe UI"/>
              </a:defRPr>
            </a:lvl7pPr>
            <a:lvl8pPr>
              <a:defRPr sz="1800">
                <a:latin typeface="Segoe UI"/>
                <a:ea typeface="Microsoft JhengHei"/>
                <a:cs typeface="Segoe UI"/>
              </a:defRPr>
            </a:lvl8pPr>
            <a:lvl9pPr>
              <a:defRPr sz="18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latin typeface="Segoe UI"/>
                <a:ea typeface="Microsoft JhengHei"/>
                <a:cs typeface="Segoe UI"/>
              </a:defRPr>
            </a:lvl1pPr>
            <a:lvl2pPr>
              <a:defRPr sz="2400">
                <a:latin typeface="Segoe UI"/>
                <a:ea typeface="Microsoft JhengHei"/>
                <a:cs typeface="Segoe UI"/>
              </a:defRPr>
            </a:lvl2pPr>
            <a:lvl3pPr>
              <a:defRPr sz="2000">
                <a:latin typeface="Segoe UI"/>
                <a:ea typeface="Microsoft JhengHei"/>
                <a:cs typeface="Segoe UI"/>
              </a:defRPr>
            </a:lvl3pPr>
            <a:lvl4pPr>
              <a:defRPr sz="1800">
                <a:latin typeface="Segoe UI"/>
                <a:ea typeface="Microsoft JhengHei"/>
                <a:cs typeface="Segoe UI"/>
              </a:defRPr>
            </a:lvl4pPr>
            <a:lvl5pPr>
              <a:defRPr sz="1800">
                <a:latin typeface="Segoe UI"/>
                <a:ea typeface="Microsoft JhengHei"/>
                <a:cs typeface="Segoe UI"/>
              </a:defRPr>
            </a:lvl5pPr>
            <a:lvl6pPr>
              <a:defRPr sz="1800">
                <a:latin typeface="Segoe UI"/>
                <a:ea typeface="Microsoft JhengHei"/>
                <a:cs typeface="Segoe UI"/>
              </a:defRPr>
            </a:lvl6pPr>
            <a:lvl7pPr>
              <a:defRPr sz="1800">
                <a:latin typeface="Segoe UI"/>
                <a:ea typeface="Microsoft JhengHei"/>
                <a:cs typeface="Segoe UI"/>
              </a:defRPr>
            </a:lvl7pPr>
            <a:lvl8pPr>
              <a:defRPr sz="1800">
                <a:latin typeface="Segoe UI"/>
                <a:ea typeface="Microsoft JhengHei"/>
                <a:cs typeface="Segoe UI"/>
              </a:defRPr>
            </a:lvl8pPr>
            <a:lvl9pPr>
              <a:defRPr sz="18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000" b="1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800" b="1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600" b="1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600" b="1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600" b="1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600" b="1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600" b="1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600" b="1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latin typeface="Segoe UI"/>
                <a:ea typeface="Microsoft JhengHei"/>
                <a:cs typeface="Segoe UI"/>
              </a:defRPr>
            </a:lvl1pPr>
            <a:lvl2pPr>
              <a:defRPr sz="2000">
                <a:latin typeface="Segoe UI"/>
                <a:ea typeface="Microsoft JhengHei"/>
                <a:cs typeface="Segoe UI"/>
              </a:defRPr>
            </a:lvl2pPr>
            <a:lvl3pPr>
              <a:defRPr sz="1800">
                <a:latin typeface="Segoe UI"/>
                <a:ea typeface="Microsoft JhengHei"/>
                <a:cs typeface="Segoe UI"/>
              </a:defRPr>
            </a:lvl3pPr>
            <a:lvl4pPr>
              <a:defRPr sz="1600">
                <a:latin typeface="Segoe UI"/>
                <a:ea typeface="Microsoft JhengHei"/>
                <a:cs typeface="Segoe UI"/>
              </a:defRPr>
            </a:lvl4pPr>
            <a:lvl5pPr>
              <a:defRPr sz="1600">
                <a:latin typeface="Segoe UI"/>
                <a:ea typeface="Microsoft JhengHei"/>
                <a:cs typeface="Segoe UI"/>
              </a:defRPr>
            </a:lvl5pPr>
            <a:lvl6pPr>
              <a:defRPr sz="1600">
                <a:latin typeface="Segoe UI"/>
                <a:ea typeface="Microsoft JhengHei"/>
                <a:cs typeface="Segoe UI"/>
              </a:defRPr>
            </a:lvl6pPr>
            <a:lvl7pPr>
              <a:defRPr sz="1600">
                <a:latin typeface="Segoe UI"/>
                <a:ea typeface="Microsoft JhengHei"/>
                <a:cs typeface="Segoe UI"/>
              </a:defRPr>
            </a:lvl7pPr>
            <a:lvl8pPr>
              <a:defRPr sz="1600">
                <a:latin typeface="Segoe UI"/>
                <a:ea typeface="Microsoft JhengHei"/>
                <a:cs typeface="Segoe UI"/>
              </a:defRPr>
            </a:lvl8pPr>
            <a:lvl9pPr>
              <a:defRPr sz="16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000" b="1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800" b="1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600" b="1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600" b="1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600" b="1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600" b="1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600" b="1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600" b="1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latin typeface="Segoe UI"/>
                <a:ea typeface="Microsoft JhengHei"/>
                <a:cs typeface="Segoe UI"/>
              </a:defRPr>
            </a:lvl1pPr>
            <a:lvl2pPr>
              <a:defRPr sz="2000">
                <a:latin typeface="Segoe UI"/>
                <a:ea typeface="Microsoft JhengHei"/>
                <a:cs typeface="Segoe UI"/>
              </a:defRPr>
            </a:lvl2pPr>
            <a:lvl3pPr>
              <a:defRPr sz="1800">
                <a:latin typeface="Segoe UI"/>
                <a:ea typeface="Microsoft JhengHei"/>
                <a:cs typeface="Segoe UI"/>
              </a:defRPr>
            </a:lvl3pPr>
            <a:lvl4pPr>
              <a:defRPr sz="1600">
                <a:latin typeface="Segoe UI"/>
                <a:ea typeface="Microsoft JhengHei"/>
                <a:cs typeface="Segoe UI"/>
              </a:defRPr>
            </a:lvl4pPr>
            <a:lvl5pPr>
              <a:defRPr sz="1600">
                <a:latin typeface="Segoe UI"/>
                <a:ea typeface="Microsoft JhengHei"/>
                <a:cs typeface="Segoe UI"/>
              </a:defRPr>
            </a:lvl5pPr>
            <a:lvl6pPr>
              <a:defRPr sz="1600">
                <a:latin typeface="Segoe UI"/>
                <a:ea typeface="Microsoft JhengHei"/>
                <a:cs typeface="Segoe UI"/>
              </a:defRPr>
            </a:lvl6pPr>
            <a:lvl7pPr>
              <a:defRPr sz="1600">
                <a:latin typeface="Segoe UI"/>
                <a:ea typeface="Microsoft JhengHei"/>
                <a:cs typeface="Segoe UI"/>
              </a:defRPr>
            </a:lvl7pPr>
            <a:lvl8pPr>
              <a:defRPr sz="1600">
                <a:latin typeface="Segoe UI"/>
                <a:ea typeface="Microsoft JhengHei"/>
                <a:cs typeface="Segoe UI"/>
              </a:defRPr>
            </a:lvl8pPr>
            <a:lvl9pPr>
              <a:defRPr sz="16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latin typeface="Segoe UI"/>
                <a:ea typeface="Microsoft JhengHei"/>
                <a:cs typeface="Segoe UI"/>
              </a:defRPr>
            </a:lvl1pPr>
            <a:lvl2pPr>
              <a:defRPr sz="2800">
                <a:latin typeface="Segoe UI"/>
                <a:ea typeface="Microsoft JhengHei"/>
                <a:cs typeface="Segoe UI"/>
              </a:defRPr>
            </a:lvl2pPr>
            <a:lvl3pPr>
              <a:defRPr sz="2400">
                <a:latin typeface="Segoe UI"/>
                <a:ea typeface="Microsoft JhengHei"/>
                <a:cs typeface="Segoe UI"/>
              </a:defRPr>
            </a:lvl3pPr>
            <a:lvl4pPr>
              <a:defRPr sz="2000">
                <a:latin typeface="Segoe UI"/>
                <a:ea typeface="Microsoft JhengHei"/>
                <a:cs typeface="Segoe UI"/>
              </a:defRPr>
            </a:lvl4pPr>
            <a:lvl5pPr>
              <a:defRPr sz="2000">
                <a:latin typeface="Segoe UI"/>
                <a:ea typeface="Microsoft JhengHei"/>
                <a:cs typeface="Segoe UI"/>
              </a:defRPr>
            </a:lvl5pPr>
            <a:lvl6pPr>
              <a:defRPr sz="2000">
                <a:latin typeface="Segoe UI"/>
                <a:ea typeface="Microsoft JhengHei"/>
                <a:cs typeface="Segoe UI"/>
              </a:defRPr>
            </a:lvl6pPr>
            <a:lvl7pPr>
              <a:defRPr sz="2000">
                <a:latin typeface="Segoe UI"/>
                <a:ea typeface="Microsoft JhengHei"/>
                <a:cs typeface="Segoe UI"/>
              </a:defRPr>
            </a:lvl7pPr>
            <a:lvl8pPr>
              <a:defRPr sz="2000">
                <a:latin typeface="Segoe UI"/>
                <a:ea typeface="Microsoft JhengHei"/>
                <a:cs typeface="Segoe UI"/>
              </a:defRPr>
            </a:lvl8pPr>
            <a:lvl9pPr>
              <a:defRPr sz="20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2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0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9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9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9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9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9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9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8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24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20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20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20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20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20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2000">
                <a:latin typeface="Segoe UI"/>
                <a:ea typeface="Microsoft JhengHei"/>
                <a:cs typeface="Segoe UI"/>
              </a:defRPr>
            </a:lvl9pPr>
          </a:lstStyle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2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0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9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9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9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9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9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9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egoe UI"/>
          <a:ea typeface="Microsoft JhengHei"/>
          <a:cs typeface="Segoe UI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Segoe UI"/>
        <a:buChar char="•"/>
        <a:defRPr sz="3200" kern="1200">
          <a:solidFill>
            <a:schemeClr val="tx1"/>
          </a:solidFill>
          <a:latin typeface="Segoe UI"/>
          <a:ea typeface="Microsoft JhengHei"/>
          <a:cs typeface="Segoe UI"/>
        </a:defRPr>
      </a:lvl1pPr>
      <a:lvl2pPr marL="742950" indent="-285750" algn="l" defTabSz="457200" rtl="0" eaLnBrk="1" latinLnBrk="0" hangingPunct="1">
        <a:spcBef>
          <a:spcPct val="20000"/>
        </a:spcBef>
        <a:buFont typeface="Segoe UI"/>
        <a:buChar char="–"/>
        <a:defRPr sz="2800" kern="1200">
          <a:solidFill>
            <a:schemeClr val="tx1"/>
          </a:solidFill>
          <a:latin typeface="Segoe UI"/>
          <a:ea typeface="Microsoft JhengHei"/>
          <a:cs typeface="Segoe UI"/>
        </a:defRPr>
      </a:lvl2pPr>
      <a:lvl3pPr marL="1143000" indent="-228600" algn="l" defTabSz="457200" rtl="0" eaLnBrk="1" latinLnBrk="0" hangingPunct="1">
        <a:spcBef>
          <a:spcPct val="20000"/>
        </a:spcBef>
        <a:buFont typeface="Segoe UI"/>
        <a:buChar char="•"/>
        <a:defRPr sz="2400" kern="1200">
          <a:solidFill>
            <a:schemeClr val="tx1"/>
          </a:solidFill>
          <a:latin typeface="Segoe UI"/>
          <a:ea typeface="Microsoft JhengHei"/>
          <a:cs typeface="Segoe UI"/>
        </a:defRPr>
      </a:lvl3pPr>
      <a:lvl4pPr marL="1600200" indent="-228600" algn="l" defTabSz="457200" rtl="0" eaLnBrk="1" latinLnBrk="0" hangingPunct="1">
        <a:spcBef>
          <a:spcPct val="20000"/>
        </a:spcBef>
        <a:buFont typeface="Segoe UI"/>
        <a:buChar char="–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4pPr>
      <a:lvl5pPr marL="2057400" indent="-228600" algn="l" defTabSz="457200" rtl="0" eaLnBrk="1" latinLnBrk="0" hangingPunct="1">
        <a:spcBef>
          <a:spcPct val="20000"/>
        </a:spcBef>
        <a:buFont typeface="Segoe UI"/>
        <a:buChar char="»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5pPr>
      <a:lvl6pPr marL="25146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6pPr>
      <a:lvl7pPr marL="29718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7pPr>
      <a:lvl8pPr marL="34290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8pPr>
      <a:lvl9pPr marL="38862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9pPr>
    </p:bodyStyle>
    <p:otherStyle>
      <a:defPPr>
        <a:defRPr lang="en-US">
          <a:latin typeface="Segoe UI"/>
          <a:ea typeface="Microsoft JhengHei"/>
          <a:cs typeface="Segoe UI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tags" Target="../tags/tag26.xml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tags" Target="../tags/tag68.xml"/><Relationship Id="rId84" Type="http://schemas.openxmlformats.org/officeDocument/2006/relationships/tags" Target="../tags/tag84.xml"/><Relationship Id="rId89" Type="http://schemas.openxmlformats.org/officeDocument/2006/relationships/tags" Target="../tags/tag89.xml"/><Relationship Id="rId16" Type="http://schemas.openxmlformats.org/officeDocument/2006/relationships/tags" Target="../tags/tag16.xml"/><Relationship Id="rId11" Type="http://schemas.openxmlformats.org/officeDocument/2006/relationships/tags" Target="../tags/tag11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74" Type="http://schemas.openxmlformats.org/officeDocument/2006/relationships/tags" Target="../tags/tag74.xml"/><Relationship Id="rId79" Type="http://schemas.openxmlformats.org/officeDocument/2006/relationships/tags" Target="../tags/tag79.xml"/><Relationship Id="rId102" Type="http://schemas.openxmlformats.org/officeDocument/2006/relationships/image" Target="../media/image2.png"/><Relationship Id="rId5" Type="http://schemas.openxmlformats.org/officeDocument/2006/relationships/tags" Target="../tags/tag5.xml"/><Relationship Id="rId90" Type="http://schemas.openxmlformats.org/officeDocument/2006/relationships/tags" Target="../tags/tag90.xml"/><Relationship Id="rId95" Type="http://schemas.openxmlformats.org/officeDocument/2006/relationships/tags" Target="../tags/tag95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80" Type="http://schemas.openxmlformats.org/officeDocument/2006/relationships/tags" Target="../tags/tag80.xml"/><Relationship Id="rId85" Type="http://schemas.openxmlformats.org/officeDocument/2006/relationships/tags" Target="../tags/tag85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59" Type="http://schemas.openxmlformats.org/officeDocument/2006/relationships/tags" Target="../tags/tag59.xml"/><Relationship Id="rId67" Type="http://schemas.openxmlformats.org/officeDocument/2006/relationships/tags" Target="../tags/tag67.xml"/><Relationship Id="rId103" Type="http://schemas.openxmlformats.org/officeDocument/2006/relationships/image" Target="../media/image3.png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54" Type="http://schemas.openxmlformats.org/officeDocument/2006/relationships/tags" Target="../tags/tag54.xml"/><Relationship Id="rId62" Type="http://schemas.openxmlformats.org/officeDocument/2006/relationships/tags" Target="../tags/tag62.xml"/><Relationship Id="rId70" Type="http://schemas.openxmlformats.org/officeDocument/2006/relationships/tags" Target="../tags/tag70.xml"/><Relationship Id="rId75" Type="http://schemas.openxmlformats.org/officeDocument/2006/relationships/tags" Target="../tags/tag75.xml"/><Relationship Id="rId83" Type="http://schemas.openxmlformats.org/officeDocument/2006/relationships/tags" Target="../tags/tag83.xml"/><Relationship Id="rId88" Type="http://schemas.openxmlformats.org/officeDocument/2006/relationships/tags" Target="../tags/tag88.xml"/><Relationship Id="rId91" Type="http://schemas.openxmlformats.org/officeDocument/2006/relationships/tags" Target="../tags/tag91.xml"/><Relationship Id="rId96" Type="http://schemas.openxmlformats.org/officeDocument/2006/relationships/tags" Target="../tags/tag9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tags" Target="../tags/tag49.xml"/><Relationship Id="rId57" Type="http://schemas.openxmlformats.org/officeDocument/2006/relationships/tags" Target="../tags/tag57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52" Type="http://schemas.openxmlformats.org/officeDocument/2006/relationships/tags" Target="../tags/tag52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73" Type="http://schemas.openxmlformats.org/officeDocument/2006/relationships/tags" Target="../tags/tag73.xml"/><Relationship Id="rId78" Type="http://schemas.openxmlformats.org/officeDocument/2006/relationships/tags" Target="../tags/tag78.xml"/><Relationship Id="rId81" Type="http://schemas.openxmlformats.org/officeDocument/2006/relationships/tags" Target="../tags/tag81.xml"/><Relationship Id="rId86" Type="http://schemas.openxmlformats.org/officeDocument/2006/relationships/tags" Target="../tags/tag86.xml"/><Relationship Id="rId94" Type="http://schemas.openxmlformats.org/officeDocument/2006/relationships/tags" Target="../tags/tag94.xml"/><Relationship Id="rId99" Type="http://schemas.openxmlformats.org/officeDocument/2006/relationships/tags" Target="../tags/tag99.xml"/><Relationship Id="rId101" Type="http://schemas.openxmlformats.org/officeDocument/2006/relationships/image" Target="../media/image1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tags" Target="../tags/tag76.xml"/><Relationship Id="rId97" Type="http://schemas.openxmlformats.org/officeDocument/2006/relationships/tags" Target="../tags/tag97.xml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92" Type="http://schemas.openxmlformats.org/officeDocument/2006/relationships/tags" Target="../tags/tag92.xml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4" Type="http://schemas.openxmlformats.org/officeDocument/2006/relationships/tags" Target="../tags/tag24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66" Type="http://schemas.openxmlformats.org/officeDocument/2006/relationships/tags" Target="../tags/tag66.xml"/><Relationship Id="rId87" Type="http://schemas.openxmlformats.org/officeDocument/2006/relationships/tags" Target="../tags/tag87.xml"/><Relationship Id="rId61" Type="http://schemas.openxmlformats.org/officeDocument/2006/relationships/tags" Target="../tags/tag61.xml"/><Relationship Id="rId82" Type="http://schemas.openxmlformats.org/officeDocument/2006/relationships/tags" Target="../tags/tag82.xml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tags" Target="../tags/tag77.xml"/><Relationship Id="rId100" Type="http://schemas.openxmlformats.org/officeDocument/2006/relationships/slideLayout" Target="../slideLayouts/slideLayout7.xml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93" Type="http://schemas.openxmlformats.org/officeDocument/2006/relationships/tags" Target="../tags/tag93.xml"/><Relationship Id="rId98" Type="http://schemas.openxmlformats.org/officeDocument/2006/relationships/tags" Target="../tags/tag98.xml"/><Relationship Id="rId3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5120000" cy="5832000"/>
          </a:xfrm>
          <a:prstGeom prst="rect">
            <a:avLst/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" name="TextBox 2"/>
          <p:cNvSpPr txBox="1"/>
          <p:nvPr>
            <p:custDataLst>
              <p:tags r:id="rId1"/>
            </p:custDataLst>
          </p:nvPr>
        </p:nvSpPr>
        <p:spPr>
          <a:xfrm>
            <a:off x="864000" y="432000"/>
            <a:ext cx="1080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5EEAD4"/>
                </a:solidFill>
                <a:latin typeface="Segoe UI"/>
                <a:ea typeface="Microsoft JhengHei"/>
                <a:cs typeface="Segoe UI"/>
              </a:rPr>
              <a:t>2026 資安技術組 · 決賽作品</a:t>
            </a:r>
          </a:p>
        </p:txBody>
      </p:sp>
      <p:sp>
        <p:nvSpPr>
          <p:cNvPr id="4" name="PosterTitle_Masthead"/>
          <p:cNvSpPr txBox="1"/>
          <p:nvPr>
            <p:custDataLst>
              <p:tags r:id="rId2"/>
            </p:custDataLst>
          </p:nvPr>
        </p:nvSpPr>
        <p:spPr>
          <a:xfrm>
            <a:off x="864000" y="720000"/>
            <a:ext cx="13392000" cy="25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融合新型內容相依時序方向模型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入侵偵測與任務導向檢索增強稽核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之 AI 資安框架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864000" y="3384000"/>
            <a:ext cx="864000" cy="57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TextBox 5"/>
          <p:cNvSpPr txBox="1"/>
          <p:nvPr>
            <p:custDataLst>
              <p:tags r:id="rId3"/>
            </p:custDataLst>
          </p:nvPr>
        </p:nvSpPr>
        <p:spPr>
          <a:xfrm>
            <a:off x="864000" y="3492000"/>
            <a:ext cx="13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從流量告警，走到有證據、可回復的處置</a:t>
            </a:r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864000" y="3924000"/>
            <a:ext cx="13392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8CC"/>
                </a:solidFill>
                <a:latin typeface="Segoe UI"/>
                <a:ea typeface="Microsoft JhengHei"/>
                <a:cs typeface="Segoe UI"/>
              </a:rPr>
              <a:t>同一事件串起模型判定、相似案例、AI稽核與處置回條。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16000" y="4896000"/>
            <a:ext cx="11088000" cy="0"/>
          </a:xfrm>
          <a:prstGeom prst="line">
            <a:avLst/>
          </a:prstGeom>
          <a:ln w="25400">
            <a:solidFill>
              <a:srgbClr val="2A426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728000" y="4608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10" name="Picture 9" descr="flat-icon-2.png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1836000" y="4716000"/>
            <a:ext cx="360000" cy="360000"/>
          </a:xfrm>
          <a:prstGeom prst="rect">
            <a:avLst/>
          </a:prstGeom>
        </p:spPr>
      </p:pic>
      <p:sp>
        <p:nvSpPr>
          <p:cNvPr id="11" name="TextBox 10"/>
          <p:cNvSpPr txBox="1"/>
          <p:nvPr>
            <p:custDataLst>
              <p:tags r:id="rId5"/>
            </p:custDataLst>
          </p:nvPr>
        </p:nvSpPr>
        <p:spPr>
          <a:xfrm>
            <a:off x="1261075" y="5256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偵測</a:t>
            </a:r>
          </a:p>
        </p:txBody>
      </p:sp>
      <p:sp>
        <p:nvSpPr>
          <p:cNvPr id="12" name="Oval 11"/>
          <p:cNvSpPr/>
          <p:nvPr/>
        </p:nvSpPr>
        <p:spPr>
          <a:xfrm>
            <a:off x="5425200" y="4608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13" name="Picture 12" descr="flat-icon-3.png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5533200" y="4716000"/>
            <a:ext cx="360000" cy="360000"/>
          </a:xfrm>
          <a:prstGeom prst="rect">
            <a:avLst/>
          </a:prstGeom>
        </p:spPr>
      </p:pic>
      <p:sp>
        <p:nvSpPr>
          <p:cNvPr id="14" name="TextBox 13"/>
          <p:cNvSpPr txBox="1"/>
          <p:nvPr>
            <p:custDataLst>
              <p:tags r:id="rId6"/>
            </p:custDataLst>
          </p:nvPr>
        </p:nvSpPr>
        <p:spPr>
          <a:xfrm>
            <a:off x="4958274" y="5256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檢索</a:t>
            </a:r>
          </a:p>
        </p:txBody>
      </p:sp>
      <p:sp>
        <p:nvSpPr>
          <p:cNvPr id="15" name="Oval 14"/>
          <p:cNvSpPr/>
          <p:nvPr/>
        </p:nvSpPr>
        <p:spPr>
          <a:xfrm>
            <a:off x="9122400" y="4608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9295200" y="4716000"/>
            <a:ext cx="230400" cy="360000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9345888" y="4806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345888" y="4896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345888" y="4986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>
            <p:custDataLst>
              <p:tags r:id="rId7"/>
            </p:custDataLst>
          </p:nvPr>
        </p:nvSpPr>
        <p:spPr>
          <a:xfrm>
            <a:off x="8655475" y="5256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稽核</a:t>
            </a:r>
          </a:p>
        </p:txBody>
      </p:sp>
      <p:sp>
        <p:nvSpPr>
          <p:cNvPr id="21" name="Oval 20"/>
          <p:cNvSpPr/>
          <p:nvPr/>
        </p:nvSpPr>
        <p:spPr>
          <a:xfrm>
            <a:off x="12819600" y="4608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5EE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22" name="Picture 21" descr="flat-icon-4.png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12927600" y="4716000"/>
            <a:ext cx="360000" cy="360000"/>
          </a:xfrm>
          <a:prstGeom prst="rect">
            <a:avLst/>
          </a:prstGeom>
        </p:spPr>
      </p:pic>
      <p:sp>
        <p:nvSpPr>
          <p:cNvPr id="23" name="TextBox 22"/>
          <p:cNvSpPr txBox="1"/>
          <p:nvPr>
            <p:custDataLst>
              <p:tags r:id="rId8"/>
            </p:custDataLst>
          </p:nvPr>
        </p:nvSpPr>
        <p:spPr>
          <a:xfrm>
            <a:off x="12352675" y="5256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回復</a:t>
            </a:r>
          </a:p>
        </p:txBody>
      </p:sp>
      <p:sp>
        <p:nvSpPr>
          <p:cNvPr id="24" name="TextBox 23"/>
          <p:cNvSpPr txBox="1"/>
          <p:nvPr>
            <p:custDataLst>
              <p:tags r:id="rId9"/>
            </p:custDataLst>
          </p:nvPr>
        </p:nvSpPr>
        <p:spPr>
          <a:xfrm>
            <a:off x="864000" y="6030000"/>
            <a:ext cx="576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01</a:t>
            </a:r>
          </a:p>
        </p:txBody>
      </p:sp>
      <p:sp>
        <p:nvSpPr>
          <p:cNvPr id="25" name="TextBox 24"/>
          <p:cNvSpPr txBox="1"/>
          <p:nvPr>
            <p:custDataLst>
              <p:tags r:id="rId10"/>
            </p:custDataLst>
          </p:nvPr>
        </p:nvSpPr>
        <p:spPr>
          <a:xfrm>
            <a:off x="1476000" y="6030000"/>
            <a:ext cx="10800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四階段方法，串成同一條事件鏈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4000" y="6552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64000" y="6732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28" name="Picture 27" descr="flat-icon-2.png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1044000" y="6912000"/>
            <a:ext cx="468000" cy="468000"/>
          </a:xfrm>
          <a:prstGeom prst="rect">
            <a:avLst/>
          </a:prstGeom>
        </p:spPr>
      </p:pic>
      <p:sp>
        <p:nvSpPr>
          <p:cNvPr id="29" name="TextBox 28"/>
          <p:cNvSpPr txBox="1"/>
          <p:nvPr>
            <p:custDataLst>
              <p:tags r:id="rId11"/>
            </p:custDataLst>
          </p:nvPr>
        </p:nvSpPr>
        <p:spPr>
          <a:xfrm>
            <a:off x="1656000" y="68760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01  互補判定</a:t>
            </a:r>
          </a:p>
        </p:txBody>
      </p:sp>
      <p:sp>
        <p:nvSpPr>
          <p:cNvPr id="30" name="TextBox 29"/>
          <p:cNvSpPr txBox="1"/>
          <p:nvPr>
            <p:custDataLst>
              <p:tags r:id="rId12"/>
            </p:custDataLst>
          </p:nvPr>
        </p:nvSpPr>
        <p:spPr>
          <a:xfrm>
            <a:off x="1656000" y="7200000"/>
            <a:ext cx="2592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內容＋時序</a:t>
            </a:r>
          </a:p>
        </p:txBody>
      </p:sp>
      <p:sp>
        <p:nvSpPr>
          <p:cNvPr id="31" name="TextBox 30"/>
          <p:cNvSpPr txBox="1"/>
          <p:nvPr>
            <p:custDataLst>
              <p:tags r:id="rId13"/>
            </p:custDataLst>
          </p:nvPr>
        </p:nvSpPr>
        <p:spPr>
          <a:xfrm>
            <a:off x="1080000" y="7560000"/>
            <a:ext cx="3240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產生正式類別、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信心與流量表徵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9288000" y="8290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864000" y="8424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34" name="Picture 33" descr="flat-icon-3.png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044000" y="8604000"/>
            <a:ext cx="468000" cy="468000"/>
          </a:xfrm>
          <a:prstGeom prst="rect">
            <a:avLst/>
          </a:prstGeom>
        </p:spPr>
      </p:pic>
      <p:sp>
        <p:nvSpPr>
          <p:cNvPr id="35" name="TextBox 34"/>
          <p:cNvSpPr txBox="1"/>
          <p:nvPr>
            <p:custDataLst>
              <p:tags r:id="rId14"/>
            </p:custDataLst>
          </p:nvPr>
        </p:nvSpPr>
        <p:spPr>
          <a:xfrm>
            <a:off x="1656000" y="85680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02  任務檢索</a:t>
            </a:r>
          </a:p>
        </p:txBody>
      </p:sp>
      <p:sp>
        <p:nvSpPr>
          <p:cNvPr id="36" name="TextBox 35"/>
          <p:cNvSpPr txBox="1"/>
          <p:nvPr>
            <p:custDataLst>
              <p:tags r:id="rId15"/>
            </p:custDataLst>
          </p:nvPr>
        </p:nvSpPr>
        <p:spPr>
          <a:xfrm>
            <a:off x="1656000" y="8892000"/>
            <a:ext cx="2592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表徵＋機率</a:t>
            </a:r>
          </a:p>
        </p:txBody>
      </p:sp>
      <p:sp>
        <p:nvSpPr>
          <p:cNvPr id="37" name="TextBox 36"/>
          <p:cNvSpPr txBox="1"/>
          <p:nvPr>
            <p:custDataLst>
              <p:tags r:id="rId16"/>
            </p:custDataLst>
          </p:nvPr>
        </p:nvSpPr>
        <p:spPr>
          <a:xfrm>
            <a:off x="1080000" y="9252000"/>
            <a:ext cx="3240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依事件任務找案例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附上相似類別證據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9288000" y="9982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864000" y="10116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1116000" y="10332000"/>
            <a:ext cx="324000" cy="43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cxnSp>
        <p:nvCxnSpPr>
          <p:cNvPr id="41" name="Connector 40"/>
          <p:cNvCxnSpPr/>
          <p:nvPr/>
        </p:nvCxnSpPr>
        <p:spPr>
          <a:xfrm>
            <a:off x="1187280" y="10440000"/>
            <a:ext cx="181440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187280" y="10548000"/>
            <a:ext cx="181440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87280" y="10656000"/>
            <a:ext cx="181440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>
            <p:custDataLst>
              <p:tags r:id="rId17"/>
            </p:custDataLst>
          </p:nvPr>
        </p:nvSpPr>
        <p:spPr>
          <a:xfrm>
            <a:off x="1656000" y="102600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03  證據稽核</a:t>
            </a:r>
          </a:p>
        </p:txBody>
      </p:sp>
      <p:sp>
        <p:nvSpPr>
          <p:cNvPr id="45" name="TextBox 44"/>
          <p:cNvSpPr txBox="1"/>
          <p:nvPr>
            <p:custDataLst>
              <p:tags r:id="rId18"/>
            </p:custDataLst>
          </p:nvPr>
        </p:nvSpPr>
        <p:spPr>
          <a:xfrm>
            <a:off x="1656000" y="10584000"/>
            <a:ext cx="2592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保留正式分類</a:t>
            </a:r>
          </a:p>
        </p:txBody>
      </p:sp>
      <p:sp>
        <p:nvSpPr>
          <p:cNvPr id="46" name="TextBox 45"/>
          <p:cNvSpPr txBox="1"/>
          <p:nvPr>
            <p:custDataLst>
              <p:tags r:id="rId19"/>
            </p:custDataLst>
          </p:nvPr>
        </p:nvSpPr>
        <p:spPr>
          <a:xfrm>
            <a:off x="1080000" y="10944000"/>
            <a:ext cx="3240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核對判定與案例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附加三態稽核結論</a:t>
            </a:r>
          </a:p>
        </p:txBody>
      </p:sp>
      <p:sp>
        <p:nvSpPr>
          <p:cNvPr id="47" name="Down Arrow 46"/>
          <p:cNvSpPr/>
          <p:nvPr/>
        </p:nvSpPr>
        <p:spPr>
          <a:xfrm>
            <a:off x="9288000" y="11674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864000" y="11808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49" name="Picture 48" descr="flat-icon-4.png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1044000" y="11988000"/>
            <a:ext cx="468000" cy="468000"/>
          </a:xfrm>
          <a:prstGeom prst="rect">
            <a:avLst/>
          </a:prstGeom>
        </p:spPr>
      </p:pic>
      <p:sp>
        <p:nvSpPr>
          <p:cNvPr id="50" name="TextBox 49"/>
          <p:cNvSpPr txBox="1"/>
          <p:nvPr>
            <p:custDataLst>
              <p:tags r:id="rId20"/>
            </p:custDataLst>
          </p:nvPr>
        </p:nvSpPr>
        <p:spPr>
          <a:xfrm>
            <a:off x="1656000" y="119520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04  受控回復</a:t>
            </a:r>
          </a:p>
        </p:txBody>
      </p:sp>
      <p:sp>
        <p:nvSpPr>
          <p:cNvPr id="51" name="TextBox 50"/>
          <p:cNvSpPr txBox="1"/>
          <p:nvPr>
            <p:custDataLst>
              <p:tags r:id="rId21"/>
            </p:custDataLst>
          </p:nvPr>
        </p:nvSpPr>
        <p:spPr>
          <a:xfrm>
            <a:off x="1656000" y="12276000"/>
            <a:ext cx="2592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策略＋期限</a:t>
            </a:r>
          </a:p>
        </p:txBody>
      </p:sp>
      <p:sp>
        <p:nvSpPr>
          <p:cNvPr id="52" name="TextBox 51"/>
          <p:cNvSpPr txBox="1"/>
          <p:nvPr>
            <p:custDataLst>
              <p:tags r:id="rId22"/>
            </p:custDataLst>
          </p:nvPr>
        </p:nvSpPr>
        <p:spPr>
          <a:xfrm>
            <a:off x="1080000" y="12636000"/>
            <a:ext cx="3240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策略允許才介入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讀回並確認回復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36000" y="6876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54" name="TextBox 53"/>
          <p:cNvSpPr txBox="1"/>
          <p:nvPr>
            <p:custDataLst>
              <p:tags r:id="rId23"/>
            </p:custDataLst>
          </p:nvPr>
        </p:nvSpPr>
        <p:spPr>
          <a:xfrm>
            <a:off x="4502662" y="6912000"/>
            <a:ext cx="2808000" cy="3225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CTBM</a:t>
            </a:r>
          </a:p>
        </p:txBody>
      </p:sp>
      <p:sp>
        <p:nvSpPr>
          <p:cNvPr id="55" name="TextBox 54"/>
          <p:cNvSpPr txBox="1"/>
          <p:nvPr>
            <p:custDataLst>
              <p:tags r:id="rId24"/>
            </p:custDataLst>
          </p:nvPr>
        </p:nvSpPr>
        <p:spPr>
          <a:xfrm>
            <a:off x="4512187" y="7187039"/>
            <a:ext cx="2808000" cy="2476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內容·時間差·方向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36000" y="7596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57" name="TextBox 56"/>
          <p:cNvSpPr txBox="1"/>
          <p:nvPr>
            <p:custDataLst>
              <p:tags r:id="rId25"/>
            </p:custDataLst>
          </p:nvPr>
        </p:nvSpPr>
        <p:spPr>
          <a:xfrm>
            <a:off x="4502662" y="7632000"/>
            <a:ext cx="2808000" cy="3225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PBCNN</a:t>
            </a:r>
          </a:p>
        </p:txBody>
      </p:sp>
      <p:sp>
        <p:nvSpPr>
          <p:cNvPr id="58" name="TextBox 57"/>
          <p:cNvSpPr txBox="1"/>
          <p:nvPr>
            <p:custDataLst>
              <p:tags r:id="rId26"/>
            </p:custDataLst>
          </p:nvPr>
        </p:nvSpPr>
        <p:spPr>
          <a:xfrm>
            <a:off x="4512187" y="7907039"/>
            <a:ext cx="2808000" cy="2476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短窗位元組模式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344000" y="7164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7344000" y="7884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7632000" y="7164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ight Arrow 61"/>
          <p:cNvSpPr/>
          <p:nvPr/>
        </p:nvSpPr>
        <p:spPr>
          <a:xfrm>
            <a:off x="7668000" y="7434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7992000" y="7056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4" name="TextBox 63"/>
          <p:cNvSpPr txBox="1"/>
          <p:nvPr>
            <p:custDataLst>
              <p:tags r:id="rId27"/>
            </p:custDataLst>
          </p:nvPr>
        </p:nvSpPr>
        <p:spPr>
          <a:xfrm>
            <a:off x="7958662" y="7092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校準＋融合</a:t>
            </a:r>
          </a:p>
        </p:txBody>
      </p:sp>
      <p:sp>
        <p:nvSpPr>
          <p:cNvPr id="65" name="TextBox 64"/>
          <p:cNvSpPr txBox="1"/>
          <p:nvPr>
            <p:custDataLst>
              <p:tags r:id="rId28"/>
            </p:custDataLst>
          </p:nvPr>
        </p:nvSpPr>
        <p:spPr>
          <a:xfrm>
            <a:off x="7968186" y="7561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OOF Gate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11088000" y="7434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11520000" y="7056000"/>
            <a:ext cx="2592000" cy="936000"/>
          </a:xfrm>
          <a:prstGeom prst="roundRect">
            <a:avLst>
              <a:gd name="adj" fmla="val 9230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8" name="TextBox 67"/>
          <p:cNvSpPr txBox="1"/>
          <p:nvPr>
            <p:custDataLst>
              <p:tags r:id="rId29"/>
            </p:custDataLst>
          </p:nvPr>
        </p:nvSpPr>
        <p:spPr>
          <a:xfrm>
            <a:off x="11486662" y="7092000"/>
            <a:ext cx="2592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17類判定</a:t>
            </a:r>
          </a:p>
        </p:txBody>
      </p:sp>
      <p:sp>
        <p:nvSpPr>
          <p:cNvPr id="69" name="TextBox 68"/>
          <p:cNvSpPr txBox="1"/>
          <p:nvPr>
            <p:custDataLst>
              <p:tags r:id="rId30"/>
            </p:custDataLst>
          </p:nvPr>
        </p:nvSpPr>
        <p:spPr>
          <a:xfrm>
            <a:off x="11496187" y="7561440"/>
            <a:ext cx="2592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信心與512維表徵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36000" y="8568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1" name="TextBox 70"/>
          <p:cNvSpPr txBox="1"/>
          <p:nvPr>
            <p:custDataLst>
              <p:tags r:id="rId31"/>
            </p:custDataLst>
          </p:nvPr>
        </p:nvSpPr>
        <p:spPr>
          <a:xfrm>
            <a:off x="4502662" y="8568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512維表徵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36000" y="9288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3" name="TextBox 72"/>
          <p:cNvSpPr txBox="1"/>
          <p:nvPr>
            <p:custDataLst>
              <p:tags r:id="rId32"/>
            </p:custDataLst>
          </p:nvPr>
        </p:nvSpPr>
        <p:spPr>
          <a:xfrm>
            <a:off x="4502662" y="9288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17維機率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7344000" y="8856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344000" y="9576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632000" y="8856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ight Arrow 76"/>
          <p:cNvSpPr/>
          <p:nvPr/>
        </p:nvSpPr>
        <p:spPr>
          <a:xfrm>
            <a:off x="7668000" y="9126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7992000" y="8748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9" name="TextBox 78"/>
          <p:cNvSpPr txBox="1"/>
          <p:nvPr>
            <p:custDataLst>
              <p:tags r:id="rId33"/>
            </p:custDataLst>
          </p:nvPr>
        </p:nvSpPr>
        <p:spPr>
          <a:xfrm>
            <a:off x="7958661" y="8784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529維向量</a:t>
            </a:r>
          </a:p>
        </p:txBody>
      </p:sp>
      <p:sp>
        <p:nvSpPr>
          <p:cNvPr id="80" name="TextBox 79"/>
          <p:cNvSpPr txBox="1"/>
          <p:nvPr>
            <p:custDataLst>
              <p:tags r:id="rId34"/>
            </p:custDataLst>
          </p:nvPr>
        </p:nvSpPr>
        <p:spPr>
          <a:xfrm>
            <a:off x="7968186" y="9253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L2正規化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11088000" y="9126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11520000" y="8748000"/>
            <a:ext cx="2592000" cy="936000"/>
          </a:xfrm>
          <a:prstGeom prst="roundRect">
            <a:avLst>
              <a:gd name="adj" fmla="val 9230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3" name="TextBox 82"/>
          <p:cNvSpPr txBox="1"/>
          <p:nvPr>
            <p:custDataLst>
              <p:tags r:id="rId35"/>
            </p:custDataLst>
          </p:nvPr>
        </p:nvSpPr>
        <p:spPr>
          <a:xfrm>
            <a:off x="11488250" y="8784000"/>
            <a:ext cx="259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Top-5訓練案例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16280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5" name="TextBox 84"/>
          <p:cNvSpPr txBox="1"/>
          <p:nvPr>
            <p:custDataLst>
              <p:tags r:id="rId36"/>
            </p:custDataLst>
          </p:nvPr>
        </p:nvSpPr>
        <p:spPr>
          <a:xfrm>
            <a:off x="116002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1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21104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7" name="TextBox 86"/>
          <p:cNvSpPr txBox="1"/>
          <p:nvPr>
            <p:custDataLst>
              <p:tags r:id="rId37"/>
            </p:custDataLst>
          </p:nvPr>
        </p:nvSpPr>
        <p:spPr>
          <a:xfrm>
            <a:off x="120826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2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25928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9" name="TextBox 88"/>
          <p:cNvSpPr txBox="1"/>
          <p:nvPr>
            <p:custDataLst>
              <p:tags r:id="rId38"/>
            </p:custDataLst>
          </p:nvPr>
        </p:nvSpPr>
        <p:spPr>
          <a:xfrm>
            <a:off x="125650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3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30752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1" name="TextBox 90"/>
          <p:cNvSpPr txBox="1"/>
          <p:nvPr>
            <p:custDataLst>
              <p:tags r:id="rId39"/>
            </p:custDataLst>
          </p:nvPr>
        </p:nvSpPr>
        <p:spPr>
          <a:xfrm>
            <a:off x="13047419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4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35576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3" name="TextBox 92"/>
          <p:cNvSpPr txBox="1"/>
          <p:nvPr>
            <p:custDataLst>
              <p:tags r:id="rId40"/>
            </p:custDataLst>
          </p:nvPr>
        </p:nvSpPr>
        <p:spPr>
          <a:xfrm>
            <a:off x="13529819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5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536000" y="10260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5" name="TextBox 94"/>
          <p:cNvSpPr txBox="1"/>
          <p:nvPr>
            <p:custDataLst>
              <p:tags r:id="rId41"/>
            </p:custDataLst>
          </p:nvPr>
        </p:nvSpPr>
        <p:spPr>
          <a:xfrm>
            <a:off x="4502662" y="1026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正式判定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536000" y="10980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7" name="TextBox 96"/>
          <p:cNvSpPr txBox="1"/>
          <p:nvPr>
            <p:custDataLst>
              <p:tags r:id="rId42"/>
            </p:custDataLst>
          </p:nvPr>
        </p:nvSpPr>
        <p:spPr>
          <a:xfrm>
            <a:off x="4502662" y="109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案例證據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7344000" y="10548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7344000" y="11268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7632000" y="10548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ight Arrow 100"/>
          <p:cNvSpPr/>
          <p:nvPr/>
        </p:nvSpPr>
        <p:spPr>
          <a:xfrm>
            <a:off x="7668000" y="10818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7992000" y="10440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3" name="TextBox 102"/>
          <p:cNvSpPr txBox="1"/>
          <p:nvPr>
            <p:custDataLst>
              <p:tags r:id="rId43"/>
            </p:custDataLst>
          </p:nvPr>
        </p:nvSpPr>
        <p:spPr>
          <a:xfrm>
            <a:off x="7958662" y="10476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本機AI稽核</a:t>
            </a:r>
          </a:p>
        </p:txBody>
      </p:sp>
      <p:sp>
        <p:nvSpPr>
          <p:cNvPr id="104" name="TextBox 103"/>
          <p:cNvSpPr txBox="1"/>
          <p:nvPr>
            <p:custDataLst>
              <p:tags r:id="rId44"/>
            </p:custDataLst>
          </p:nvPr>
        </p:nvSpPr>
        <p:spPr>
          <a:xfrm>
            <a:off x="7968187" y="10945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核對同一事件</a:t>
            </a:r>
          </a:p>
        </p:txBody>
      </p:sp>
      <p:sp>
        <p:nvSpPr>
          <p:cNvPr id="105" name="Right Arrow 104"/>
          <p:cNvSpPr/>
          <p:nvPr/>
        </p:nvSpPr>
        <p:spPr>
          <a:xfrm>
            <a:off x="11088000" y="10818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11520000" y="103680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7" name="TextBox 106"/>
          <p:cNvSpPr txBox="1"/>
          <p:nvPr>
            <p:custDataLst>
              <p:tags r:id="rId45"/>
            </p:custDataLst>
          </p:nvPr>
        </p:nvSpPr>
        <p:spPr>
          <a:xfrm>
            <a:off x="11486662" y="103680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支持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1520000" y="107388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9" name="TextBox 108"/>
          <p:cNvSpPr txBox="1"/>
          <p:nvPr>
            <p:custDataLst>
              <p:tags r:id="rId46"/>
            </p:custDataLst>
          </p:nvPr>
        </p:nvSpPr>
        <p:spPr>
          <a:xfrm>
            <a:off x="11486662" y="107388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複核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1520000" y="111096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1" name="TextBox 110"/>
          <p:cNvSpPr txBox="1"/>
          <p:nvPr>
            <p:custDataLst>
              <p:tags r:id="rId47"/>
            </p:custDataLst>
          </p:nvPr>
        </p:nvSpPr>
        <p:spPr>
          <a:xfrm>
            <a:off x="11486662" y="111096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不確定</a:t>
            </a:r>
          </a:p>
        </p:txBody>
      </p:sp>
      <p:sp>
        <p:nvSpPr>
          <p:cNvPr id="112" name="TextBox 111"/>
          <p:cNvSpPr txBox="1"/>
          <p:nvPr>
            <p:custDataLst>
              <p:tags r:id="rId48"/>
            </p:custDataLst>
          </p:nvPr>
        </p:nvSpPr>
        <p:spPr>
          <a:xfrm>
            <a:off x="4536000" y="11880000"/>
            <a:ext cx="9576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策略檢查：範圍、動作與期限｜來源限速等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536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4" name="TextBox 113"/>
          <p:cNvSpPr txBox="1"/>
          <p:nvPr>
            <p:custDataLst>
              <p:tags r:id="rId49"/>
            </p:custDataLst>
          </p:nvPr>
        </p:nvSpPr>
        <p:spPr>
          <a:xfrm>
            <a:off x="4502662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套用規則</a:t>
            </a:r>
          </a:p>
        </p:txBody>
      </p:sp>
      <p:sp>
        <p:nvSpPr>
          <p:cNvPr id="115" name="Right Arrow 114"/>
          <p:cNvSpPr/>
          <p:nvPr/>
        </p:nvSpPr>
        <p:spPr>
          <a:xfrm>
            <a:off x="7452000" y="12402000"/>
            <a:ext cx="43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6" name="Rounded Rectangle 115"/>
          <p:cNvSpPr/>
          <p:nvPr/>
        </p:nvSpPr>
        <p:spPr>
          <a:xfrm>
            <a:off x="7992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7" name="TextBox 116"/>
          <p:cNvSpPr txBox="1"/>
          <p:nvPr>
            <p:custDataLst>
              <p:tags r:id="rId50"/>
            </p:custDataLst>
          </p:nvPr>
        </p:nvSpPr>
        <p:spPr>
          <a:xfrm>
            <a:off x="7958661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讀回驗證</a:t>
            </a:r>
          </a:p>
        </p:txBody>
      </p:sp>
      <p:sp>
        <p:nvSpPr>
          <p:cNvPr id="118" name="Right Arrow 117"/>
          <p:cNvSpPr/>
          <p:nvPr/>
        </p:nvSpPr>
        <p:spPr>
          <a:xfrm>
            <a:off x="10908000" y="12402000"/>
            <a:ext cx="43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9" name="Rounded Rectangle 118"/>
          <p:cNvSpPr/>
          <p:nvPr/>
        </p:nvSpPr>
        <p:spPr>
          <a:xfrm>
            <a:off x="11448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0" name="TextBox 119"/>
          <p:cNvSpPr txBox="1"/>
          <p:nvPr>
            <p:custDataLst>
              <p:tags r:id="rId51"/>
            </p:custDataLst>
          </p:nvPr>
        </p:nvSpPr>
        <p:spPr>
          <a:xfrm>
            <a:off x="11414661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到期回復</a:t>
            </a:r>
          </a:p>
        </p:txBody>
      </p:sp>
      <p:sp>
        <p:nvSpPr>
          <p:cNvPr id="121" name="TextBox 120"/>
          <p:cNvSpPr txBox="1"/>
          <p:nvPr>
            <p:custDataLst>
              <p:tags r:id="rId52"/>
            </p:custDataLst>
          </p:nvPr>
        </p:nvSpPr>
        <p:spPr>
          <a:xfrm>
            <a:off x="4536000" y="12816000"/>
            <a:ext cx="957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複核／不確定 → 保留監測或蒐證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64000" y="13572000"/>
            <a:ext cx="13392000" cy="468000"/>
          </a:xfrm>
          <a:prstGeom prst="roundRect">
            <a:avLst>
              <a:gd name="adj" fmla="val 18461"/>
            </a:avLst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3" name="Oval 122"/>
          <p:cNvSpPr/>
          <p:nvPr/>
        </p:nvSpPr>
        <p:spPr>
          <a:xfrm>
            <a:off x="2520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5868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5" name="Oval 124"/>
          <p:cNvSpPr/>
          <p:nvPr/>
        </p:nvSpPr>
        <p:spPr>
          <a:xfrm>
            <a:off x="9216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6" name="Oval 125"/>
          <p:cNvSpPr/>
          <p:nvPr/>
        </p:nvSpPr>
        <p:spPr>
          <a:xfrm>
            <a:off x="12564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7" name="TextBox 126"/>
          <p:cNvSpPr txBox="1"/>
          <p:nvPr>
            <p:custDataLst>
              <p:tags r:id="rId53"/>
            </p:custDataLst>
          </p:nvPr>
        </p:nvSpPr>
        <p:spPr>
          <a:xfrm>
            <a:off x="832250" y="13572000"/>
            <a:ext cx="1339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同一事件識別碼：正式分類／案例證據／稽核結論／處置回條</a:t>
            </a:r>
          </a:p>
        </p:txBody>
      </p:sp>
      <p:sp>
        <p:nvSpPr>
          <p:cNvPr id="128" name="TextBox 127"/>
          <p:cNvSpPr txBox="1"/>
          <p:nvPr>
            <p:custDataLst>
              <p:tags r:id="rId54"/>
            </p:custDataLst>
          </p:nvPr>
        </p:nvSpPr>
        <p:spPr>
          <a:xfrm>
            <a:off x="864000" y="14274000"/>
            <a:ext cx="576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02</a:t>
            </a:r>
          </a:p>
        </p:txBody>
      </p:sp>
      <p:sp>
        <p:nvSpPr>
          <p:cNvPr id="129" name="TextBox 128"/>
          <p:cNvSpPr txBox="1"/>
          <p:nvPr>
            <p:custDataLst>
              <p:tags r:id="rId55"/>
            </p:custDataLst>
          </p:nvPr>
        </p:nvSpPr>
        <p:spPr>
          <a:xfrm>
            <a:off x="1476000" y="14274000"/>
            <a:ext cx="10800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三項優勢，從判定走到可追溯處置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864000" y="14796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ounded Rectangle 130"/>
          <p:cNvSpPr/>
          <p:nvPr/>
        </p:nvSpPr>
        <p:spPr>
          <a:xfrm>
            <a:off x="864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2" name="Rectangle 131"/>
          <p:cNvSpPr/>
          <p:nvPr/>
        </p:nvSpPr>
        <p:spPr>
          <a:xfrm>
            <a:off x="1080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3" name="TextBox 132"/>
          <p:cNvSpPr txBox="1"/>
          <p:nvPr>
            <p:custDataLst>
              <p:tags r:id="rId56"/>
            </p:custDataLst>
          </p:nvPr>
        </p:nvSpPr>
        <p:spPr>
          <a:xfrm>
            <a:off x="1080000" y="15228000"/>
            <a:ext cx="388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互補判定</a:t>
            </a:r>
          </a:p>
        </p:txBody>
      </p:sp>
      <p:sp>
        <p:nvSpPr>
          <p:cNvPr id="134" name="TextBox 133"/>
          <p:cNvSpPr txBox="1"/>
          <p:nvPr>
            <p:custDataLst>
              <p:tags r:id="rId57"/>
            </p:custDataLst>
          </p:nvPr>
        </p:nvSpPr>
        <p:spPr>
          <a:xfrm>
            <a:off x="1080000" y="15624000"/>
            <a:ext cx="3960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內容、時間差與方向互補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校準融合，固定17類輸出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Macro-F1達93.05%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400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6" name="Rectangle 135"/>
          <p:cNvSpPr/>
          <p:nvPr/>
        </p:nvSpPr>
        <p:spPr>
          <a:xfrm>
            <a:off x="5616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7" name="TextBox 136"/>
          <p:cNvSpPr txBox="1"/>
          <p:nvPr>
            <p:custDataLst>
              <p:tags r:id="rId58"/>
            </p:custDataLst>
          </p:nvPr>
        </p:nvSpPr>
        <p:spPr>
          <a:xfrm>
            <a:off x="5616000" y="15228000"/>
            <a:ext cx="388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任務證據</a:t>
            </a:r>
          </a:p>
        </p:txBody>
      </p:sp>
      <p:sp>
        <p:nvSpPr>
          <p:cNvPr id="138" name="TextBox 137"/>
          <p:cNvSpPr txBox="1"/>
          <p:nvPr>
            <p:custDataLst>
              <p:tags r:id="rId59"/>
            </p:custDataLst>
          </p:nvPr>
        </p:nvSpPr>
        <p:spPr>
          <a:xfrm>
            <a:off x="5616000" y="15624000"/>
            <a:ext cx="3960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529維任務向量找Top-5案例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AI核對判定，保留正式分類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命中率97.62%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936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0" name="Rectangle 139"/>
          <p:cNvSpPr/>
          <p:nvPr/>
        </p:nvSpPr>
        <p:spPr>
          <a:xfrm>
            <a:off x="10152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1" name="TextBox 140"/>
          <p:cNvSpPr txBox="1"/>
          <p:nvPr>
            <p:custDataLst>
              <p:tags r:id="rId60"/>
            </p:custDataLst>
          </p:nvPr>
        </p:nvSpPr>
        <p:spPr>
          <a:xfrm>
            <a:off x="10152000" y="15228000"/>
            <a:ext cx="3888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受控可追溯</a:t>
            </a:r>
          </a:p>
        </p:txBody>
      </p:sp>
      <p:sp>
        <p:nvSpPr>
          <p:cNvPr id="142" name="TextBox 141"/>
          <p:cNvSpPr txBox="1"/>
          <p:nvPr>
            <p:custDataLst>
              <p:tags r:id="rId61"/>
            </p:custDataLst>
          </p:nvPr>
        </p:nvSpPr>
        <p:spPr>
          <a:xfrm>
            <a:off x="10152000" y="15624000"/>
            <a:ext cx="3960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本機AI，事件資料留在本機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同事件串接判定、證據與回條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策略檢查、讀回及到期回復</a:t>
            </a:r>
          </a:p>
        </p:txBody>
      </p:sp>
      <p:sp>
        <p:nvSpPr>
          <p:cNvPr id="143" name="TextBox 142"/>
          <p:cNvSpPr txBox="1"/>
          <p:nvPr>
            <p:custDataLst>
              <p:tags r:id="rId62"/>
            </p:custDataLst>
          </p:nvPr>
        </p:nvSpPr>
        <p:spPr>
          <a:xfrm>
            <a:off x="864000" y="16794000"/>
            <a:ext cx="576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03</a:t>
            </a:r>
          </a:p>
        </p:txBody>
      </p:sp>
      <p:sp>
        <p:nvSpPr>
          <p:cNvPr id="144" name="TextBox 143"/>
          <p:cNvSpPr txBox="1"/>
          <p:nvPr>
            <p:custDataLst>
              <p:tags r:id="rId63"/>
            </p:custDataLst>
          </p:nvPr>
        </p:nvSpPr>
        <p:spPr>
          <a:xfrm>
            <a:off x="1476000" y="16794000"/>
            <a:ext cx="10800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以分階段實測呈現效果</a:t>
            </a:r>
          </a:p>
        </p:txBody>
      </p:sp>
      <p:cxnSp>
        <p:nvCxnSpPr>
          <p:cNvPr id="145" name="Connector 144"/>
          <p:cNvCxnSpPr/>
          <p:nvPr/>
        </p:nvCxnSpPr>
        <p:spPr>
          <a:xfrm>
            <a:off x="864000" y="17316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>
            <p:custDataLst>
              <p:tags r:id="rId64"/>
            </p:custDataLst>
          </p:nvPr>
        </p:nvSpPr>
        <p:spPr>
          <a:xfrm>
            <a:off x="864000" y="17460000"/>
            <a:ext cx="6624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相同18,998筆測試的 Macro-F1</a:t>
            </a:r>
          </a:p>
        </p:txBody>
      </p:sp>
      <p:sp>
        <p:nvSpPr>
          <p:cNvPr id="147" name="TextBox 146"/>
          <p:cNvSpPr txBox="1"/>
          <p:nvPr>
            <p:custDataLst>
              <p:tags r:id="rId65"/>
            </p:custDataLst>
          </p:nvPr>
        </p:nvSpPr>
        <p:spPr>
          <a:xfrm>
            <a:off x="864000" y="17784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PBCNN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376000" y="17820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9" name="Rectangle 148"/>
          <p:cNvSpPr/>
          <p:nvPr/>
        </p:nvSpPr>
        <p:spPr>
          <a:xfrm>
            <a:off x="2376000" y="17820000"/>
            <a:ext cx="2698671" cy="216000"/>
          </a:xfrm>
          <a:prstGeom prst="rect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0" name="TextBox 149"/>
          <p:cNvSpPr txBox="1"/>
          <p:nvPr>
            <p:custDataLst>
              <p:tags r:id="rId66"/>
            </p:custDataLst>
          </p:nvPr>
        </p:nvSpPr>
        <p:spPr>
          <a:xfrm>
            <a:off x="5798337" y="17784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79.75%</a:t>
            </a:r>
          </a:p>
        </p:txBody>
      </p:sp>
      <p:sp>
        <p:nvSpPr>
          <p:cNvPr id="151" name="TextBox 150"/>
          <p:cNvSpPr txBox="1"/>
          <p:nvPr>
            <p:custDataLst>
              <p:tags r:id="rId67"/>
            </p:custDataLst>
          </p:nvPr>
        </p:nvSpPr>
        <p:spPr>
          <a:xfrm>
            <a:off x="864000" y="18216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CTBM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376000" y="18252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3" name="Rectangle 152"/>
          <p:cNvSpPr/>
          <p:nvPr/>
        </p:nvSpPr>
        <p:spPr>
          <a:xfrm>
            <a:off x="2376000" y="18252000"/>
            <a:ext cx="3116757" cy="216000"/>
          </a:xfrm>
          <a:prstGeom prst="rect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4" name="TextBox 153"/>
          <p:cNvSpPr txBox="1"/>
          <p:nvPr>
            <p:custDataLst>
              <p:tags r:id="rId68"/>
            </p:custDataLst>
          </p:nvPr>
        </p:nvSpPr>
        <p:spPr>
          <a:xfrm>
            <a:off x="5798337" y="18216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92.10%</a:t>
            </a:r>
          </a:p>
        </p:txBody>
      </p:sp>
      <p:sp>
        <p:nvSpPr>
          <p:cNvPr id="155" name="TextBox 154"/>
          <p:cNvSpPr txBox="1"/>
          <p:nvPr>
            <p:custDataLst>
              <p:tags r:id="rId69"/>
            </p:custDataLst>
          </p:nvPr>
        </p:nvSpPr>
        <p:spPr>
          <a:xfrm>
            <a:off x="864000" y="18648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OOF Gate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2376000" y="18684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7" name="Rectangle 156"/>
          <p:cNvSpPr/>
          <p:nvPr/>
        </p:nvSpPr>
        <p:spPr>
          <a:xfrm>
            <a:off x="2376000" y="18684000"/>
            <a:ext cx="3148824" cy="216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8" name="TextBox 157"/>
          <p:cNvSpPr txBox="1"/>
          <p:nvPr>
            <p:custDataLst>
              <p:tags r:id="rId70"/>
            </p:custDataLst>
          </p:nvPr>
        </p:nvSpPr>
        <p:spPr>
          <a:xfrm>
            <a:off x="5798337" y="18648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93.05%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376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>
            <p:custDataLst>
              <p:tags r:id="rId71"/>
            </p:custDataLst>
          </p:nvPr>
        </p:nvSpPr>
        <p:spPr>
          <a:xfrm>
            <a:off x="2031362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0%</a:t>
            </a:r>
          </a:p>
        </p:txBody>
      </p:sp>
      <p:cxnSp>
        <p:nvCxnSpPr>
          <p:cNvPr id="161" name="Connector 160"/>
          <p:cNvCxnSpPr/>
          <p:nvPr/>
        </p:nvCxnSpPr>
        <p:spPr>
          <a:xfrm>
            <a:off x="4068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TextBox 161"/>
          <p:cNvSpPr txBox="1"/>
          <p:nvPr>
            <p:custDataLst>
              <p:tags r:id="rId72"/>
            </p:custDataLst>
          </p:nvPr>
        </p:nvSpPr>
        <p:spPr>
          <a:xfrm>
            <a:off x="3723363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50%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5760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TextBox 163"/>
          <p:cNvSpPr txBox="1"/>
          <p:nvPr>
            <p:custDataLst>
              <p:tags r:id="rId73"/>
            </p:custDataLst>
          </p:nvPr>
        </p:nvSpPr>
        <p:spPr>
          <a:xfrm>
            <a:off x="5415362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100%</a:t>
            </a:r>
          </a:p>
        </p:txBody>
      </p:sp>
      <p:sp>
        <p:nvSpPr>
          <p:cNvPr id="165" name="TextBox 164"/>
          <p:cNvSpPr txBox="1"/>
          <p:nvPr>
            <p:custDataLst>
              <p:tags r:id="rId74"/>
            </p:custDataLst>
          </p:nvPr>
        </p:nvSpPr>
        <p:spPr>
          <a:xfrm>
            <a:off x="864000" y="19404000"/>
            <a:ext cx="6624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整體準確率98.08%·固定17類分類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7668000" y="17460000"/>
            <a:ext cx="0" cy="219600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>
            <p:custDataLst>
              <p:tags r:id="rId75"/>
            </p:custDataLst>
          </p:nvPr>
        </p:nvSpPr>
        <p:spPr>
          <a:xfrm>
            <a:off x="7920000" y="17460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1,550筆訓練案例／463筆查詢</a:t>
            </a:r>
          </a:p>
        </p:txBody>
      </p:sp>
      <p:sp>
        <p:nvSpPr>
          <p:cNvPr id="168" name="TextBox 167"/>
          <p:cNvSpPr txBox="1"/>
          <p:nvPr>
            <p:custDataLst>
              <p:tags r:id="rId76"/>
            </p:custDataLst>
          </p:nvPr>
        </p:nvSpPr>
        <p:spPr>
          <a:xfrm>
            <a:off x="7920000" y="17712000"/>
            <a:ext cx="6336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Top-5  97.62%</a:t>
            </a:r>
          </a:p>
        </p:txBody>
      </p:sp>
      <p:sp>
        <p:nvSpPr>
          <p:cNvPr id="169" name="TextBox 168"/>
          <p:cNvSpPr txBox="1"/>
          <p:nvPr>
            <p:custDataLst>
              <p:tags r:id="rId77"/>
            </p:custDataLst>
          </p:nvPr>
        </p:nvSpPr>
        <p:spPr>
          <a:xfrm>
            <a:off x="7920000" y="18216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MRR@5  93.89%·訓練／查詢重疊0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79200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1" name="TextBox 170"/>
          <p:cNvSpPr txBox="1"/>
          <p:nvPr>
            <p:custDataLst>
              <p:tags r:id="rId78"/>
            </p:custDataLst>
          </p:nvPr>
        </p:nvSpPr>
        <p:spPr>
          <a:xfrm>
            <a:off x="7874757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415</a:t>
            </a:r>
          </a:p>
        </p:txBody>
      </p:sp>
      <p:sp>
        <p:nvSpPr>
          <p:cNvPr id="172" name="TextBox 171"/>
          <p:cNvSpPr txBox="1"/>
          <p:nvPr>
            <p:custDataLst>
              <p:tags r:id="rId79"/>
            </p:custDataLst>
          </p:nvPr>
        </p:nvSpPr>
        <p:spPr>
          <a:xfrm>
            <a:off x="7893807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支持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100548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4" name="TextBox 173"/>
          <p:cNvSpPr txBox="1"/>
          <p:nvPr>
            <p:custDataLst>
              <p:tags r:id="rId80"/>
            </p:custDataLst>
          </p:nvPr>
        </p:nvSpPr>
        <p:spPr>
          <a:xfrm>
            <a:off x="10009556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13</a:t>
            </a:r>
          </a:p>
        </p:txBody>
      </p:sp>
      <p:sp>
        <p:nvSpPr>
          <p:cNvPr id="175" name="TextBox 174"/>
          <p:cNvSpPr txBox="1"/>
          <p:nvPr>
            <p:custDataLst>
              <p:tags r:id="rId81"/>
            </p:custDataLst>
          </p:nvPr>
        </p:nvSpPr>
        <p:spPr>
          <a:xfrm>
            <a:off x="10028606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複核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121896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7" name="TextBox 176"/>
          <p:cNvSpPr txBox="1"/>
          <p:nvPr>
            <p:custDataLst>
              <p:tags r:id="rId82"/>
            </p:custDataLst>
          </p:nvPr>
        </p:nvSpPr>
        <p:spPr>
          <a:xfrm>
            <a:off x="12144356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35</a:t>
            </a:r>
          </a:p>
        </p:txBody>
      </p:sp>
      <p:sp>
        <p:nvSpPr>
          <p:cNvPr id="178" name="TextBox 177"/>
          <p:cNvSpPr txBox="1"/>
          <p:nvPr>
            <p:custDataLst>
              <p:tags r:id="rId83"/>
            </p:custDataLst>
          </p:nvPr>
        </p:nvSpPr>
        <p:spPr>
          <a:xfrm>
            <a:off x="12163406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不確定</a:t>
            </a:r>
          </a:p>
        </p:txBody>
      </p:sp>
      <p:sp>
        <p:nvSpPr>
          <p:cNvPr id="179" name="TextBox 178"/>
          <p:cNvSpPr txBox="1"/>
          <p:nvPr>
            <p:custDataLst>
              <p:tags r:id="rId84"/>
            </p:custDataLst>
          </p:nvPr>
        </p:nvSpPr>
        <p:spPr>
          <a:xfrm>
            <a:off x="7920000" y="19404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30筆偵測誤判中18筆分流；其餘12筆獲支持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864000" y="19800000"/>
            <a:ext cx="13392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1" name="TextBox 180"/>
          <p:cNvSpPr txBox="1"/>
          <p:nvPr>
            <p:custDataLst>
              <p:tags r:id="rId85"/>
            </p:custDataLst>
          </p:nvPr>
        </p:nvSpPr>
        <p:spPr>
          <a:xfrm>
            <a:off x="1008000" y="19836000"/>
            <a:ext cx="2304000" cy="7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17類本機重跑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6種隔離TCP情境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3384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3" name="TextBox 182"/>
          <p:cNvSpPr txBox="1"/>
          <p:nvPr>
            <p:custDataLst>
              <p:tags r:id="rId86"/>
            </p:custDataLst>
          </p:nvPr>
        </p:nvSpPr>
        <p:spPr>
          <a:xfrm>
            <a:off x="3357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正常</a:t>
            </a:r>
          </a:p>
        </p:txBody>
      </p:sp>
      <p:sp>
        <p:nvSpPr>
          <p:cNvPr id="184" name="TextBox 183"/>
          <p:cNvSpPr txBox="1"/>
          <p:nvPr>
            <p:custDataLst>
              <p:tags r:id="rId87"/>
            </p:custDataLst>
          </p:nvPr>
        </p:nvSpPr>
        <p:spPr>
          <a:xfrm>
            <a:off x="3361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監測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4572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6" name="TextBox 185"/>
          <p:cNvSpPr txBox="1"/>
          <p:nvPr>
            <p:custDataLst>
              <p:tags r:id="rId88"/>
            </p:custDataLst>
          </p:nvPr>
        </p:nvSpPr>
        <p:spPr>
          <a:xfrm>
            <a:off x="4545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FTP</a:t>
            </a:r>
          </a:p>
        </p:txBody>
      </p:sp>
      <p:sp>
        <p:nvSpPr>
          <p:cNvPr id="187" name="TextBox 186"/>
          <p:cNvSpPr txBox="1"/>
          <p:nvPr>
            <p:custDataLst>
              <p:tags r:id="rId89"/>
            </p:custDataLst>
          </p:nvPr>
        </p:nvSpPr>
        <p:spPr>
          <a:xfrm>
            <a:off x="4549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5760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9" name="TextBox 188"/>
          <p:cNvSpPr txBox="1"/>
          <p:nvPr>
            <p:custDataLst>
              <p:tags r:id="rId90"/>
            </p:custDataLst>
          </p:nvPr>
        </p:nvSpPr>
        <p:spPr>
          <a:xfrm>
            <a:off x="5733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SSH</a:t>
            </a:r>
          </a:p>
        </p:txBody>
      </p:sp>
      <p:sp>
        <p:nvSpPr>
          <p:cNvPr id="190" name="TextBox 189"/>
          <p:cNvSpPr txBox="1"/>
          <p:nvPr>
            <p:custDataLst>
              <p:tags r:id="rId91"/>
            </p:custDataLst>
          </p:nvPr>
        </p:nvSpPr>
        <p:spPr>
          <a:xfrm>
            <a:off x="5737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6948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92" name="TextBox 191"/>
          <p:cNvSpPr txBox="1"/>
          <p:nvPr>
            <p:custDataLst>
              <p:tags r:id="rId92"/>
            </p:custDataLst>
          </p:nvPr>
        </p:nvSpPr>
        <p:spPr>
          <a:xfrm>
            <a:off x="6921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HTTP</a:t>
            </a:r>
          </a:p>
        </p:txBody>
      </p:sp>
      <p:sp>
        <p:nvSpPr>
          <p:cNvPr id="193" name="TextBox 192"/>
          <p:cNvSpPr txBox="1"/>
          <p:nvPr>
            <p:custDataLst>
              <p:tags r:id="rId93"/>
            </p:custDataLst>
          </p:nvPr>
        </p:nvSpPr>
        <p:spPr>
          <a:xfrm>
            <a:off x="6925774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8136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95" name="TextBox 194"/>
          <p:cNvSpPr txBox="1"/>
          <p:nvPr>
            <p:custDataLst>
              <p:tags r:id="rId94"/>
            </p:custDataLst>
          </p:nvPr>
        </p:nvSpPr>
        <p:spPr>
          <a:xfrm>
            <a:off x="8109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XSS</a:t>
            </a:r>
          </a:p>
        </p:txBody>
      </p:sp>
      <p:sp>
        <p:nvSpPr>
          <p:cNvPr id="196" name="TextBox 195"/>
          <p:cNvSpPr txBox="1"/>
          <p:nvPr>
            <p:custDataLst>
              <p:tags r:id="rId95"/>
            </p:custDataLst>
          </p:nvPr>
        </p:nvSpPr>
        <p:spPr>
          <a:xfrm>
            <a:off x="8113776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蒐證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9324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98" name="TextBox 197"/>
          <p:cNvSpPr txBox="1"/>
          <p:nvPr>
            <p:custDataLst>
              <p:tags r:id="rId96"/>
            </p:custDataLst>
          </p:nvPr>
        </p:nvSpPr>
        <p:spPr>
          <a:xfrm>
            <a:off x="9297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Bot</a:t>
            </a:r>
          </a:p>
        </p:txBody>
      </p:sp>
      <p:sp>
        <p:nvSpPr>
          <p:cNvPr id="199" name="TextBox 198"/>
          <p:cNvSpPr txBox="1"/>
          <p:nvPr>
            <p:custDataLst>
              <p:tags r:id="rId97"/>
            </p:custDataLst>
          </p:nvPr>
        </p:nvSpPr>
        <p:spPr>
          <a:xfrm>
            <a:off x="9301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200" name="TextBox 199"/>
          <p:cNvSpPr txBox="1"/>
          <p:nvPr>
            <p:custDataLst>
              <p:tags r:id="rId98"/>
            </p:custDataLst>
          </p:nvPr>
        </p:nvSpPr>
        <p:spPr>
          <a:xfrm>
            <a:off x="10592512" y="19836000"/>
            <a:ext cx="3456000" cy="7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背景保留 6/6</a:t>
            </a:r>
          </a:p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到期回復 6/6</a:t>
            </a:r>
          </a:p>
        </p:txBody>
      </p:sp>
      <p:sp>
        <p:nvSpPr>
          <p:cNvPr id="201" name="TextBox 200"/>
          <p:cNvSpPr txBox="1"/>
          <p:nvPr>
            <p:custDataLst>
              <p:tags r:id="rId99"/>
            </p:custDataLst>
          </p:nvPr>
        </p:nvSpPr>
        <p:spPr>
          <a:xfrm>
            <a:off x="837807" y="20736000"/>
            <a:ext cx="13392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4種套用規則、2種監測或蒐證；6/6為隔離交易與回復結果，非原生攻擊防禦率。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8.7401542663574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49.85825729370117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0.9763603210449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2.0944633483887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6.22047424316406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5.0393676757812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5.03936767578125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5.03936767578125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0.39370727539063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5.03936767578125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31.18112754821777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69.16538047790527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7.1496334075928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5.1338863372803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83.1181392669678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57.16534423828125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9.84249877929688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11.9684753417969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57.16534423828125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6.22047424316406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5.03936767578125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5.03936767578125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42.2047119140625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42.2047119140625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9.37005615234375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9.37005615234375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6.22047424316406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87.08660888671875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0.31497192382813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3.54330444335938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1.5748291015625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1.5748291015625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9.6693115234375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9.6693115234375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7.7637939453125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7.7637939453125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.370079040527344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8.97637939453125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8.97637939453125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02.51968383789063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02.51968383789063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6.06298828125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6.06298828125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9.60629272460938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9.60629272460938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3.14962768554688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3.14962768554688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6.69290161132813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6.69290161132813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11.1810913085938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heme/theme1.xml><?xml version="1.0" encoding="utf-8"?>
<a:theme xmlns:a="http://schemas.openxmlformats.org/drawingml/2006/main" name="Office Theme">
  <a:themeElements>
    <a:clrScheme name="AI Security White Navy Teal">
      <a:dk1>
        <a:srgbClr val="15233A"/>
      </a:dk1>
      <a:lt1>
        <a:srgbClr val="FFFFFF"/>
      </a:lt1>
      <a:dk2>
        <a:srgbClr val="0B1B2E"/>
      </a:dk2>
      <a:lt2>
        <a:srgbClr val="F3F6FA"/>
      </a:lt2>
      <a:accent1>
        <a:srgbClr val="1D4ED8"/>
      </a:accent1>
      <a:accent2>
        <a:srgbClr val="F59E0B"/>
      </a:accent2>
      <a:accent3>
        <a:srgbClr val="0F766E"/>
      </a:accent3>
      <a:accent4>
        <a:srgbClr val="1D4ED8"/>
      </a:accent4>
      <a:accent5>
        <a:srgbClr val="0B1B2E"/>
      </a:accent5>
      <a:accent6>
        <a:srgbClr val="52637A"/>
      </a:accent6>
      <a:hlink>
        <a:srgbClr val="1D4ED8"/>
      </a:hlink>
      <a:folHlink>
        <a:srgbClr val="0B1B2E"/>
      </a:folHlink>
    </a:clrScheme>
    <a:fontScheme name="Office">
      <a:majorFont>
        <a:latin typeface="Segoe UI"/>
        <a:ea typeface="Microsoft JhengHei"/>
        <a:cs typeface="Segoe UI"/>
        <a:font script="Jpan" typeface="Segoe UI"/>
        <a:font script="Hang" typeface="Segoe UI"/>
        <a:font script="Hans" typeface="Microsoft JhengHei"/>
        <a:font script="Hant" typeface="Microsoft JhengHei"/>
        <a:font script="Arab" typeface="Segoe UI"/>
        <a:font script="Hebr" typeface="Segoe UI"/>
        <a:font script="Thai" typeface="Segoe UI"/>
        <a:font script="Ethi" typeface="Segoe UI"/>
        <a:font script="Beng" typeface="Segoe UI"/>
        <a:font script="Gujr" typeface="Segoe UI"/>
        <a:font script="Khmr" typeface="Segoe UI"/>
        <a:font script="Knda" typeface="Segoe UI"/>
        <a:font script="Guru" typeface="Segoe UI"/>
        <a:font script="Cans" typeface="Segoe UI"/>
        <a:font script="Cher" typeface="Segoe UI"/>
        <a:font script="Yiii" typeface="Segoe UI"/>
        <a:font script="Tibt" typeface="Segoe UI"/>
        <a:font script="Thaa" typeface="Segoe UI"/>
        <a:font script="Deva" typeface="Segoe UI"/>
        <a:font script="Telu" typeface="Segoe UI"/>
        <a:font script="Taml" typeface="Segoe UI"/>
        <a:font script="Syrc" typeface="Segoe UI"/>
        <a:font script="Orya" typeface="Segoe UI"/>
        <a:font script="Mlym" typeface="Segoe UI"/>
        <a:font script="Laoo" typeface="Segoe UI"/>
        <a:font script="Sinh" typeface="Segoe UI"/>
        <a:font script="Mong" typeface="Segoe UI"/>
        <a:font script="Viet" typeface="Segoe UI"/>
        <a:font script="Uigh" typeface="Segoe UI"/>
        <a:font script="Geor" typeface="Segoe UI"/>
      </a:majorFont>
      <a:minorFont>
        <a:latin typeface="Segoe UI"/>
        <a:ea typeface="Microsoft JhengHei"/>
        <a:cs typeface="Segoe UI"/>
        <a:font script="Jpan" typeface="Segoe UI"/>
        <a:font script="Hang" typeface="Segoe UI"/>
        <a:font script="Hans" typeface="Microsoft JhengHei"/>
        <a:font script="Hant" typeface="Microsoft JhengHei"/>
        <a:font script="Arab" typeface="Segoe UI"/>
        <a:font script="Hebr" typeface="Segoe UI"/>
        <a:font script="Thai" typeface="Segoe UI"/>
        <a:font script="Ethi" typeface="Segoe UI"/>
        <a:font script="Beng" typeface="Segoe UI"/>
        <a:font script="Gujr" typeface="Segoe UI"/>
        <a:font script="Khmr" typeface="Segoe UI"/>
        <a:font script="Knda" typeface="Segoe UI"/>
        <a:font script="Guru" typeface="Segoe UI"/>
        <a:font script="Cans" typeface="Segoe UI"/>
        <a:font script="Cher" typeface="Segoe UI"/>
        <a:font script="Yiii" typeface="Segoe UI"/>
        <a:font script="Tibt" typeface="Segoe UI"/>
        <a:font script="Thaa" typeface="Segoe UI"/>
        <a:font script="Deva" typeface="Segoe UI"/>
        <a:font script="Telu" typeface="Segoe UI"/>
        <a:font script="Taml" typeface="Segoe UI"/>
        <a:font script="Syrc" typeface="Segoe UI"/>
        <a:font script="Orya" typeface="Segoe UI"/>
        <a:font script="Mlym" typeface="Segoe UI"/>
        <a:font script="Laoo" typeface="Segoe UI"/>
        <a:font script="Sinh" typeface="Segoe UI"/>
        <a:font script="Mong" typeface="Segoe UI"/>
        <a:font script="Viet" typeface="Segoe UI"/>
        <a:font script="Uigh" typeface="Segoe UI"/>
        <a:font script="Geor" typeface="Segoe U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254</Words>
  <Application>Microsoft Office PowerPoint</Application>
  <PresentationFormat>自訂</PresentationFormat>
  <Paragraphs>113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3" baseType="lpstr">
      <vt:lpstr>Segoe UI</vt:lpstr>
      <vt:lpstr>Office Theme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AI資安框架｜A2方法海報</dc:title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2026-10-30T16:14:37Z</dcterms:modified>
  <cp:category/>
</cp:coreProperties>
</file>