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66" Type="http://schemas.openxmlformats.org/officeDocument/2006/relationships/tags" Target="../tags/tag66.xml"/><Relationship Id="rId74" Type="http://schemas.openxmlformats.org/officeDocument/2006/relationships/tags" Target="../tags/tag74.xml"/><Relationship Id="rId79" Type="http://schemas.openxmlformats.org/officeDocument/2006/relationships/image" Target="../media/image3.png"/><Relationship Id="rId5" Type="http://schemas.openxmlformats.org/officeDocument/2006/relationships/tags" Target="../tags/tag5.xml"/><Relationship Id="rId61" Type="http://schemas.openxmlformats.org/officeDocument/2006/relationships/tags" Target="../tags/tag61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tags" Target="../tags/tag56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77" Type="http://schemas.openxmlformats.org/officeDocument/2006/relationships/image" Target="../media/image1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slideLayout" Target="../slideLayouts/slideLayout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2" Type="http://schemas.openxmlformats.org/officeDocument/2006/relationships/tags" Target="../tags/tag2.xml"/><Relationship Id="rId29" Type="http://schemas.openxmlformats.org/officeDocument/2006/relationships/tags" Target="../tags/tag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>
            <p:custDataLst>
              <p:tags r:id="rId1"/>
            </p:custDataLst>
          </p:nvPr>
        </p:nvSpPr>
        <p:spPr>
          <a:xfrm>
            <a:off x="576000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576000" y="864000"/>
            <a:ext cx="13968000" cy="16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pic>
        <p:nvPicPr>
          <p:cNvPr id="4" name="Picture 3" descr="flat-icon-4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12528000" y="1080000"/>
            <a:ext cx="1656000" cy="16560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76000" y="3060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576000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576000" y="3888000"/>
            <a:ext cx="1396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576000" y="460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1116000" y="4608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四階段方法，串成同一條事件鏈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828000" y="5364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1332000" y="5328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1332000" y="5724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5" name="Picture 14" descr="flat-icon-2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6" name="Down Arrow 15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9" name="TextBox 18"/>
          <p:cNvSpPr txBox="1"/>
          <p:nvPr>
            <p:custDataLst>
              <p:tags r:id="rId10"/>
            </p:custDataLst>
          </p:nvPr>
        </p:nvSpPr>
        <p:spPr>
          <a:xfrm>
            <a:off x="828000" y="7380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20" name="TextBox 19"/>
          <p:cNvSpPr txBox="1"/>
          <p:nvPr>
            <p:custDataLst>
              <p:tags r:id="rId11"/>
            </p:custDataLst>
          </p:nvPr>
        </p:nvSpPr>
        <p:spPr>
          <a:xfrm>
            <a:off x="1332000" y="7344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任務檢索</a:t>
            </a:r>
          </a:p>
        </p:txBody>
      </p:sp>
      <p:sp>
        <p:nvSpPr>
          <p:cNvPr id="21" name="TextBox 20"/>
          <p:cNvSpPr txBox="1"/>
          <p:nvPr>
            <p:custDataLst>
              <p:tags r:id="rId12"/>
            </p:custDataLst>
          </p:nvPr>
        </p:nvSpPr>
        <p:spPr>
          <a:xfrm>
            <a:off x="1332000" y="7740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2" name="Picture 21" descr="flat-icon-3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3" name="Down Arrow 22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6" name="TextBox 25"/>
          <p:cNvSpPr txBox="1"/>
          <p:nvPr>
            <p:custDataLst>
              <p:tags r:id="rId13"/>
            </p:custDataLst>
          </p:nvPr>
        </p:nvSpPr>
        <p:spPr>
          <a:xfrm>
            <a:off x="828000" y="9396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27" name="TextBox 26"/>
          <p:cNvSpPr txBox="1"/>
          <p:nvPr>
            <p:custDataLst>
              <p:tags r:id="rId14"/>
            </p:custDataLst>
          </p:nvPr>
        </p:nvSpPr>
        <p:spPr>
          <a:xfrm>
            <a:off x="1332000" y="9360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28" name="TextBox 27"/>
          <p:cNvSpPr txBox="1"/>
          <p:nvPr>
            <p:custDataLst>
              <p:tags r:id="rId15"/>
            </p:custDataLst>
          </p:nvPr>
        </p:nvSpPr>
        <p:spPr>
          <a:xfrm>
            <a:off x="1332000" y="9756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wn Arrow 32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6" name="TextBox 35"/>
          <p:cNvSpPr txBox="1"/>
          <p:nvPr>
            <p:custDataLst>
              <p:tags r:id="rId16"/>
            </p:custDataLst>
          </p:nvPr>
        </p:nvSpPr>
        <p:spPr>
          <a:xfrm>
            <a:off x="828000" y="11412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04</a:t>
            </a:r>
          </a:p>
        </p:txBody>
      </p:sp>
      <p:sp>
        <p:nvSpPr>
          <p:cNvPr id="37" name="TextBox 36"/>
          <p:cNvSpPr txBox="1"/>
          <p:nvPr>
            <p:custDataLst>
              <p:tags r:id="rId17"/>
            </p:custDataLst>
          </p:nvPr>
        </p:nvSpPr>
        <p:spPr>
          <a:xfrm>
            <a:off x="1332000" y="11376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受控回復</a:t>
            </a:r>
          </a:p>
        </p:txBody>
      </p:sp>
      <p:sp>
        <p:nvSpPr>
          <p:cNvPr id="38" name="TextBox 37"/>
          <p:cNvSpPr txBox="1"/>
          <p:nvPr>
            <p:custDataLst>
              <p:tags r:id="rId18"/>
            </p:custDataLst>
          </p:nvPr>
        </p:nvSpPr>
        <p:spPr>
          <a:xfrm>
            <a:off x="1332000" y="11772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39" name="Picture 38" descr="flat-icon-4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1" name="TextBox 40"/>
          <p:cNvSpPr txBox="1"/>
          <p:nvPr>
            <p:custDataLst>
              <p:tags r:id="rId19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2" name="TextBox 41"/>
          <p:cNvSpPr txBox="1"/>
          <p:nvPr>
            <p:custDataLst>
              <p:tags r:id="rId20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4" name="TextBox 43"/>
          <p:cNvSpPr txBox="1"/>
          <p:nvPr>
            <p:custDataLst>
              <p:tags r:id="rId21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45" name="TextBox 44"/>
          <p:cNvSpPr txBox="1"/>
          <p:nvPr>
            <p:custDataLst>
              <p:tags r:id="rId22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ight Arrow 48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1" name="TextBox 50"/>
          <p:cNvSpPr txBox="1"/>
          <p:nvPr>
            <p:custDataLst>
              <p:tags r:id="rId23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2" name="TextBox 51"/>
          <p:cNvSpPr txBox="1"/>
          <p:nvPr>
            <p:custDataLst>
              <p:tags r:id="rId24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5" name="TextBox 54"/>
          <p:cNvSpPr txBox="1"/>
          <p:nvPr>
            <p:custDataLst>
              <p:tags r:id="rId25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56" name="TextBox 55"/>
          <p:cNvSpPr txBox="1"/>
          <p:nvPr>
            <p:custDataLst>
              <p:tags r:id="rId26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8" name="TextBox 57"/>
          <p:cNvSpPr txBox="1"/>
          <p:nvPr>
            <p:custDataLst>
              <p:tags r:id="rId27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0" name="TextBox 59"/>
          <p:cNvSpPr txBox="1"/>
          <p:nvPr>
            <p:custDataLst>
              <p:tags r:id="rId28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ight Arrow 63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TextBox 65"/>
          <p:cNvSpPr txBox="1"/>
          <p:nvPr>
            <p:custDataLst>
              <p:tags r:id="rId29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67" name="TextBox 66"/>
          <p:cNvSpPr txBox="1"/>
          <p:nvPr>
            <p:custDataLst>
              <p:tags r:id="rId30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0" name="TextBox 69"/>
          <p:cNvSpPr txBox="1"/>
          <p:nvPr>
            <p:custDataLst>
              <p:tags r:id="rId31"/>
            </p:custDataLst>
          </p:nvPr>
        </p:nvSpPr>
        <p:spPr>
          <a:xfrm>
            <a:off x="11560250" y="7740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Top-5證據</a:t>
            </a:r>
          </a:p>
        </p:txBody>
      </p:sp>
      <p:sp>
        <p:nvSpPr>
          <p:cNvPr id="71" name="TextBox 70"/>
          <p:cNvSpPr txBox="1"/>
          <p:nvPr>
            <p:custDataLst>
              <p:tags r:id="rId32"/>
            </p:custDataLst>
          </p:nvPr>
        </p:nvSpPr>
        <p:spPr>
          <a:xfrm>
            <a:off x="11569776" y="8190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僅檢索訓練案例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3" name="TextBox 72"/>
          <p:cNvSpPr txBox="1"/>
          <p:nvPr>
            <p:custDataLst>
              <p:tags r:id="rId33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TextBox 74"/>
          <p:cNvSpPr txBox="1"/>
          <p:nvPr>
            <p:custDataLst>
              <p:tags r:id="rId34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ight Arrow 78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1" name="TextBox 80"/>
          <p:cNvSpPr txBox="1"/>
          <p:nvPr>
            <p:custDataLst>
              <p:tags r:id="rId35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82" name="TextBox 81"/>
          <p:cNvSpPr txBox="1"/>
          <p:nvPr>
            <p:custDataLst>
              <p:tags r:id="rId36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5" name="TextBox 84"/>
          <p:cNvSpPr txBox="1"/>
          <p:nvPr>
            <p:custDataLst>
              <p:tags r:id="rId37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7" name="TextBox 86"/>
          <p:cNvSpPr txBox="1"/>
          <p:nvPr>
            <p:custDataLst>
              <p:tags r:id="rId38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9" name="TextBox 88"/>
          <p:cNvSpPr txBox="1"/>
          <p:nvPr>
            <p:custDataLst>
              <p:tags r:id="rId39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90" name="TextBox 89"/>
          <p:cNvSpPr txBox="1"/>
          <p:nvPr>
            <p:custDataLst>
              <p:tags r:id="rId40"/>
            </p:custDataLst>
          </p:nvPr>
        </p:nvSpPr>
        <p:spPr>
          <a:xfrm>
            <a:off x="4320000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策略檢查：範圍、允許動作與期限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2" name="TextBox 91"/>
          <p:cNvSpPr txBox="1"/>
          <p:nvPr>
            <p:custDataLst>
              <p:tags r:id="rId41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TextBox 94"/>
          <p:cNvSpPr txBox="1"/>
          <p:nvPr>
            <p:custDataLst>
              <p:tags r:id="rId42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8" name="TextBox 97"/>
          <p:cNvSpPr txBox="1"/>
          <p:nvPr>
            <p:custDataLst>
              <p:tags r:id="rId43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99" name="TextBox 98"/>
          <p:cNvSpPr txBox="1"/>
          <p:nvPr>
            <p:custDataLst>
              <p:tags r:id="rId44"/>
            </p:custDataLst>
          </p:nvPr>
        </p:nvSpPr>
        <p:spPr>
          <a:xfrm>
            <a:off x="4320000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1" name="TextBox 100"/>
          <p:cNvSpPr txBox="1"/>
          <p:nvPr>
            <p:custDataLst>
              <p:tags r:id="rId45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02" name="TextBox 101"/>
          <p:cNvSpPr txBox="1"/>
          <p:nvPr>
            <p:custDataLst>
              <p:tags r:id="rId46"/>
            </p:custDataLst>
          </p:nvPr>
        </p:nvSpPr>
        <p:spPr>
          <a:xfrm>
            <a:off x="576000" y="14364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103" name="TextBox 102"/>
          <p:cNvSpPr txBox="1"/>
          <p:nvPr>
            <p:custDataLst>
              <p:tags r:id="rId47"/>
            </p:custDataLst>
          </p:nvPr>
        </p:nvSpPr>
        <p:spPr>
          <a:xfrm>
            <a:off x="1116000" y="14364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三項創新，直接對應可展示成果</a:t>
            </a:r>
          </a:p>
        </p:txBody>
      </p:sp>
      <p:sp>
        <p:nvSpPr>
          <p:cNvPr id="104" name="TextBox 103"/>
          <p:cNvSpPr txBox="1"/>
          <p:nvPr>
            <p:custDataLst>
              <p:tags r:id="rId48"/>
            </p:custDataLst>
          </p:nvPr>
        </p:nvSpPr>
        <p:spPr>
          <a:xfrm>
            <a:off x="576000" y="14976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05" name="TextBox 104"/>
          <p:cNvSpPr txBox="1"/>
          <p:nvPr>
            <p:custDataLst>
              <p:tags r:id="rId49"/>
            </p:custDataLst>
          </p:nvPr>
        </p:nvSpPr>
        <p:spPr>
          <a:xfrm>
            <a:off x="576000" y="15516000"/>
            <a:ext cx="4464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時序與局部內容共同判斷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校準後形成固定17類分類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148000" y="15012000"/>
            <a:ext cx="0" cy="1368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>
            <p:custDataLst>
              <p:tags r:id="rId50"/>
            </p:custDataLst>
          </p:nvPr>
        </p:nvSpPr>
        <p:spPr>
          <a:xfrm>
            <a:off x="5364000" y="14976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08" name="TextBox 107"/>
          <p:cNvSpPr txBox="1"/>
          <p:nvPr>
            <p:custDataLst>
              <p:tags r:id="rId51"/>
            </p:custDataLst>
          </p:nvPr>
        </p:nvSpPr>
        <p:spPr>
          <a:xfrm>
            <a:off x="5364000" y="15516000"/>
            <a:ext cx="4464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表徵與類別機率共同檢索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為每個事件附上相關案例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936000" y="15012000"/>
            <a:ext cx="0" cy="1368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>
            <p:custDataLst>
              <p:tags r:id="rId52"/>
            </p:custDataLst>
          </p:nvPr>
        </p:nvSpPr>
        <p:spPr>
          <a:xfrm>
            <a:off x="10152000" y="14976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111" name="TextBox 110"/>
          <p:cNvSpPr txBox="1"/>
          <p:nvPr>
            <p:custDataLst>
              <p:tags r:id="rId53"/>
            </p:custDataLst>
          </p:nvPr>
        </p:nvSpPr>
        <p:spPr>
          <a:xfrm>
            <a:off x="10152000" y="15516000"/>
            <a:ext cx="4464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稽核附回原事件、策略另檢查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讀回與到期回復留下紀錄</a:t>
            </a:r>
          </a:p>
        </p:txBody>
      </p:sp>
      <p:sp>
        <p:nvSpPr>
          <p:cNvPr id="112" name="TextBox 111"/>
          <p:cNvSpPr txBox="1"/>
          <p:nvPr>
            <p:custDataLst>
              <p:tags r:id="rId54"/>
            </p:custDataLst>
          </p:nvPr>
        </p:nvSpPr>
        <p:spPr>
          <a:xfrm>
            <a:off x="576000" y="16740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113" name="TextBox 112"/>
          <p:cNvSpPr txBox="1"/>
          <p:nvPr>
            <p:custDataLst>
              <p:tags r:id="rId55"/>
            </p:custDataLst>
          </p:nvPr>
        </p:nvSpPr>
        <p:spPr>
          <a:xfrm>
            <a:off x="1116000" y="16740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114" name="TextBox 113"/>
          <p:cNvSpPr txBox="1"/>
          <p:nvPr>
            <p:custDataLst>
              <p:tags r:id="rId56"/>
            </p:custDataLst>
          </p:nvPr>
        </p:nvSpPr>
        <p:spPr>
          <a:xfrm>
            <a:off x="576000" y="1728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15" name="TextBox 114"/>
          <p:cNvSpPr txBox="1"/>
          <p:nvPr>
            <p:custDataLst>
              <p:tags r:id="rId57"/>
            </p:custDataLst>
          </p:nvPr>
        </p:nvSpPr>
        <p:spPr>
          <a:xfrm>
            <a:off x="576000" y="1778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304000" y="17856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2304000" y="17856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8" name="TextBox 117"/>
          <p:cNvSpPr txBox="1"/>
          <p:nvPr>
            <p:custDataLst>
              <p:tags r:id="rId58"/>
            </p:custDataLst>
          </p:nvPr>
        </p:nvSpPr>
        <p:spPr>
          <a:xfrm>
            <a:off x="5729975" y="1778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19" name="TextBox 118"/>
          <p:cNvSpPr txBox="1"/>
          <p:nvPr>
            <p:custDataLst>
              <p:tags r:id="rId59"/>
            </p:custDataLst>
          </p:nvPr>
        </p:nvSpPr>
        <p:spPr>
          <a:xfrm>
            <a:off x="576000" y="1839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304000" y="1846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2304000" y="18468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2" name="TextBox 121"/>
          <p:cNvSpPr txBox="1"/>
          <p:nvPr>
            <p:custDataLst>
              <p:tags r:id="rId60"/>
            </p:custDataLst>
          </p:nvPr>
        </p:nvSpPr>
        <p:spPr>
          <a:xfrm>
            <a:off x="5729975" y="1839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23" name="TextBox 122"/>
          <p:cNvSpPr txBox="1"/>
          <p:nvPr>
            <p:custDataLst>
              <p:tags r:id="rId61"/>
            </p:custDataLst>
          </p:nvPr>
        </p:nvSpPr>
        <p:spPr>
          <a:xfrm>
            <a:off x="576000" y="1900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304000" y="1908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2304000" y="19080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6" name="TextBox 125"/>
          <p:cNvSpPr txBox="1"/>
          <p:nvPr>
            <p:custDataLst>
              <p:tags r:id="rId62"/>
            </p:custDataLst>
          </p:nvPr>
        </p:nvSpPr>
        <p:spPr>
          <a:xfrm>
            <a:off x="5729975" y="1900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27" name="TextBox 126"/>
          <p:cNvSpPr txBox="1"/>
          <p:nvPr>
            <p:custDataLst>
              <p:tags r:id="rId63"/>
            </p:custDataLst>
          </p:nvPr>
        </p:nvSpPr>
        <p:spPr>
          <a:xfrm>
            <a:off x="576000" y="1962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7560000" y="17280000"/>
            <a:ext cx="0" cy="284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>
            <p:custDataLst>
              <p:tags r:id="rId64"/>
            </p:custDataLst>
          </p:nvPr>
        </p:nvSpPr>
        <p:spPr>
          <a:xfrm>
            <a:off x="7920000" y="1728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30" name="TextBox 129"/>
          <p:cNvSpPr txBox="1"/>
          <p:nvPr>
            <p:custDataLst>
              <p:tags r:id="rId65"/>
            </p:custDataLst>
          </p:nvPr>
        </p:nvSpPr>
        <p:spPr>
          <a:xfrm>
            <a:off x="7920000" y="17712000"/>
            <a:ext cx="6624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31" name="TextBox 130"/>
          <p:cNvSpPr txBox="1"/>
          <p:nvPr>
            <p:custDataLst>
              <p:tags r:id="rId66"/>
            </p:custDataLst>
          </p:nvPr>
        </p:nvSpPr>
        <p:spPr>
          <a:xfrm>
            <a:off x="7920000" y="1825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32" name="TextBox 131"/>
          <p:cNvSpPr txBox="1"/>
          <p:nvPr>
            <p:custDataLst>
              <p:tags r:id="rId67"/>
            </p:custDataLst>
          </p:nvPr>
        </p:nvSpPr>
        <p:spPr>
          <a:xfrm>
            <a:off x="7878725" y="1872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33" name="TextBox 132"/>
          <p:cNvSpPr txBox="1"/>
          <p:nvPr>
            <p:custDataLst>
              <p:tags r:id="rId68"/>
            </p:custDataLst>
          </p:nvPr>
        </p:nvSpPr>
        <p:spPr>
          <a:xfrm>
            <a:off x="7893013" y="1918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34" name="TextBox 133"/>
          <p:cNvSpPr txBox="1"/>
          <p:nvPr>
            <p:custDataLst>
              <p:tags r:id="rId69"/>
            </p:custDataLst>
          </p:nvPr>
        </p:nvSpPr>
        <p:spPr>
          <a:xfrm>
            <a:off x="10146725" y="1872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35" name="TextBox 134"/>
          <p:cNvSpPr txBox="1"/>
          <p:nvPr>
            <p:custDataLst>
              <p:tags r:id="rId70"/>
            </p:custDataLst>
          </p:nvPr>
        </p:nvSpPr>
        <p:spPr>
          <a:xfrm>
            <a:off x="10161012" y="1918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36" name="TextBox 135"/>
          <p:cNvSpPr txBox="1"/>
          <p:nvPr>
            <p:custDataLst>
              <p:tags r:id="rId71"/>
            </p:custDataLst>
          </p:nvPr>
        </p:nvSpPr>
        <p:spPr>
          <a:xfrm>
            <a:off x="12414726" y="1872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37" name="TextBox 136"/>
          <p:cNvSpPr txBox="1"/>
          <p:nvPr>
            <p:custDataLst>
              <p:tags r:id="rId72"/>
            </p:custDataLst>
          </p:nvPr>
        </p:nvSpPr>
        <p:spPr>
          <a:xfrm>
            <a:off x="12429013" y="1918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38" name="TextBox 137"/>
          <p:cNvSpPr txBox="1"/>
          <p:nvPr>
            <p:custDataLst>
              <p:tags r:id="rId73"/>
            </p:custDataLst>
          </p:nvPr>
        </p:nvSpPr>
        <p:spPr>
          <a:xfrm>
            <a:off x="7920000" y="1965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576000" y="2023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>
            <p:custDataLst>
              <p:tags r:id="rId74"/>
            </p:custDataLst>
          </p:nvPr>
        </p:nvSpPr>
        <p:spPr>
          <a:xfrm>
            <a:off x="576000" y="20340000"/>
            <a:ext cx="1396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整合驗證：17類真實張量重跑；6種隔離TCP情境，背景保留與回復皆6/6。</a:t>
            </a:r>
          </a:p>
        </p:txBody>
      </p:sp>
      <p:sp>
        <p:nvSpPr>
          <p:cNvPr id="141" name="TextBox 140"/>
          <p:cNvSpPr txBox="1"/>
          <p:nvPr>
            <p:custDataLst>
              <p:tags r:id="rId75"/>
            </p:custDataLst>
          </p:nvPr>
        </p:nvSpPr>
        <p:spPr>
          <a:xfrm>
            <a:off x="576000" y="20664000"/>
            <a:ext cx="1396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6種情境含4種套用規則、2種監測或蒐證；6/6為隔離交易與回復結果，非原生攻擊防禦率。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197</Words>
  <Application>Microsoft Office PowerPoint</Application>
  <PresentationFormat>自訂</PresentationFormat>
  <Paragraphs>81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2026-10-29T01:48:00Z</dcterms:modified>
  <cp:category/>
</cp:coreProperties>
</file>