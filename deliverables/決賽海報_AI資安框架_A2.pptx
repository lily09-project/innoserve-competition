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Segoe UI"/>
        <a:ea typeface="Microsoft JhengHei"/>
        <a:cs typeface="Segoe UI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Segoe UI"/>
                <a:ea typeface="Microsoft JhengHei"/>
                <a:cs typeface="Segoe UI"/>
              </a:defRPr>
            </a:lvl1pPr>
            <a:lvl2pPr>
              <a:defRPr sz="2800">
                <a:latin typeface="Segoe UI"/>
                <a:ea typeface="Microsoft JhengHei"/>
                <a:cs typeface="Segoe UI"/>
              </a:defRPr>
            </a:lvl2pPr>
            <a:lvl3pPr>
              <a:defRPr sz="2400">
                <a:latin typeface="Segoe UI"/>
                <a:ea typeface="Microsoft JhengHei"/>
                <a:cs typeface="Segoe UI"/>
              </a:defRPr>
            </a:lvl3pPr>
            <a:lvl4pPr>
              <a:defRPr sz="2000">
                <a:latin typeface="Segoe UI"/>
                <a:ea typeface="Microsoft JhengHei"/>
                <a:cs typeface="Segoe UI"/>
              </a:defRPr>
            </a:lvl4pPr>
            <a:lvl5pPr>
              <a:defRPr sz="2000">
                <a:latin typeface="Segoe UI"/>
                <a:ea typeface="Microsoft JhengHei"/>
                <a:cs typeface="Segoe UI"/>
              </a:defRPr>
            </a:lvl5pPr>
            <a:lvl6pPr>
              <a:defRPr sz="2000">
                <a:latin typeface="Segoe UI"/>
                <a:ea typeface="Microsoft JhengHei"/>
                <a:cs typeface="Segoe UI"/>
              </a:defRPr>
            </a:lvl6pPr>
            <a:lvl7pPr>
              <a:defRPr sz="2000">
                <a:latin typeface="Segoe UI"/>
                <a:ea typeface="Microsoft JhengHei"/>
                <a:cs typeface="Segoe UI"/>
              </a:defRPr>
            </a:lvl7pPr>
            <a:lvl8pPr>
              <a:defRPr sz="2000">
                <a:latin typeface="Segoe UI"/>
                <a:ea typeface="Microsoft JhengHei"/>
                <a:cs typeface="Segoe UI"/>
              </a:defRPr>
            </a:lvl8pPr>
            <a:lvl9pPr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8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24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20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20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20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20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20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egoe UI"/>
          <a:ea typeface="Microsoft JhengHei"/>
          <a:cs typeface="Segoe U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Segoe UI"/>
        <a:buChar char="•"/>
        <a:defRPr sz="32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742950" indent="-285750" algn="l" defTabSz="457200" rtl="0" eaLnBrk="1" latinLnBrk="0" hangingPunct="1">
        <a:spcBef>
          <a:spcPct val="20000"/>
        </a:spcBef>
        <a:buFont typeface="Segoe UI"/>
        <a:buChar char="–"/>
        <a:defRPr sz="2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1143000" indent="-228600" algn="l" defTabSz="457200" rtl="0" eaLnBrk="1" latinLnBrk="0" hangingPunct="1">
        <a:spcBef>
          <a:spcPct val="20000"/>
        </a:spcBef>
        <a:buFont typeface="Segoe UI"/>
        <a:buChar char="•"/>
        <a:defRPr sz="24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600200" indent="-228600" algn="l" defTabSz="457200" rtl="0" eaLnBrk="1" latinLnBrk="0" hangingPunct="1">
        <a:spcBef>
          <a:spcPct val="20000"/>
        </a:spcBef>
        <a:buFont typeface="Segoe UI"/>
        <a:buChar char="–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2057400" indent="-228600" algn="l" defTabSz="457200" rtl="0" eaLnBrk="1" latinLnBrk="0" hangingPunct="1">
        <a:spcBef>
          <a:spcPct val="20000"/>
        </a:spcBef>
        <a:buFont typeface="Segoe UI"/>
        <a:buChar char="»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5146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9718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4290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8862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9pPr>
    </p:bodyStyle>
    <p:otherStyle>
      <a:defPPr>
        <a:defRPr lang="en-US">
          <a:latin typeface="Segoe UI"/>
          <a:ea typeface="Microsoft JhengHei"/>
          <a:cs typeface="Segoe UI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image" Target="../media/image1.png"/><Relationship Id="rId101" Type="http://schemas.openxmlformats.org/officeDocument/2006/relationships/image" Target="../media/image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image" Target="../media/image2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slideLayout" Target="../slideLayouts/slideLayout7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120000" cy="5832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0" y="5832000"/>
            <a:ext cx="15120000" cy="0"/>
          </a:xfrm>
          <a:prstGeom prst="line">
            <a:avLst/>
          </a:prstGeom>
          <a:ln w="1905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>
            <p:custDataLst>
              <p:tags r:id="rId1"/>
            </p:custDataLst>
          </p:nvPr>
        </p:nvSpPr>
        <p:spPr>
          <a:xfrm>
            <a:off x="832250" y="432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2026 資安技術組 · 決賽作品</a:t>
            </a:r>
          </a:p>
        </p:txBody>
      </p:sp>
      <p:sp>
        <p:nvSpPr>
          <p:cNvPr id="5" name="PosterTitle_Masthead"/>
          <p:cNvSpPr txBox="1"/>
          <p:nvPr>
            <p:custDataLst>
              <p:tags r:id="rId2"/>
            </p:custDataLst>
          </p:nvPr>
        </p:nvSpPr>
        <p:spPr>
          <a:xfrm>
            <a:off x="765575" y="720000"/>
            <a:ext cx="13392000" cy="25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融合新型內容相依時序方向模型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入侵偵測與任務導向檢索增強稽核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之 AI 資安框架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7128000" y="3384000"/>
            <a:ext cx="864000" cy="57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816375" y="3492000"/>
            <a:ext cx="13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從流量告警，走到有證據、可回復的處置</a:t>
            </a:r>
          </a:p>
        </p:txBody>
      </p:sp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833044" y="3924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同一事件串起模型判定、相似案例、AI稽核與處置回條。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000" y="4266000"/>
            <a:ext cx="9360000" cy="288000"/>
          </a:xfrm>
          <a:prstGeom prst="roundRect">
            <a:avLst>
              <a:gd name="adj" fmla="val 30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2855394" y="4266000"/>
            <a:ext cx="936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Segoe UI"/>
                <a:ea typeface="Microsoft JhengHei"/>
                <a:cs typeface="Segoe UI"/>
              </a:rPr>
              <a:t>★ </a:t>
            </a:r>
            <a:r>
              <a:rPr sz="14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本團隊原創：CTBM、校準融合、任務導向檢索、本機AI稽核、受控回復　｜　引用既有：PBCNN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16000" y="5004000"/>
            <a:ext cx="11088000" cy="0"/>
          </a:xfrm>
          <a:prstGeom prst="line">
            <a:avLst/>
          </a:prstGeom>
          <a:ln w="254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7280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3" name="Picture 12" descr="flat-icon-2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1836000" y="4824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12610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偵測</a:t>
            </a:r>
          </a:p>
        </p:txBody>
      </p:sp>
      <p:sp>
        <p:nvSpPr>
          <p:cNvPr id="15" name="Oval 14"/>
          <p:cNvSpPr/>
          <p:nvPr/>
        </p:nvSpPr>
        <p:spPr>
          <a:xfrm>
            <a:off x="54252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6" name="Picture 15" descr="flat-icon-3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533200" y="4824000"/>
            <a:ext cx="360000" cy="360000"/>
          </a:xfrm>
          <a:prstGeom prst="rect">
            <a:avLst/>
          </a:prstGeom>
        </p:spPr>
      </p:pic>
      <p:sp>
        <p:nvSpPr>
          <p:cNvPr id="17" name="TextBox 16"/>
          <p:cNvSpPr txBox="1"/>
          <p:nvPr>
            <p:custDataLst>
              <p:tags r:id="rId7"/>
            </p:custDataLst>
          </p:nvPr>
        </p:nvSpPr>
        <p:spPr>
          <a:xfrm>
            <a:off x="4958274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檢索</a:t>
            </a:r>
          </a:p>
        </p:txBody>
      </p:sp>
      <p:sp>
        <p:nvSpPr>
          <p:cNvPr id="18" name="Oval 17"/>
          <p:cNvSpPr/>
          <p:nvPr/>
        </p:nvSpPr>
        <p:spPr>
          <a:xfrm>
            <a:off x="91224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295200" y="4824000"/>
            <a:ext cx="230400" cy="36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9345888" y="491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345888" y="500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345888" y="509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>
            <p:custDataLst>
              <p:tags r:id="rId8"/>
            </p:custDataLst>
          </p:nvPr>
        </p:nvSpPr>
        <p:spPr>
          <a:xfrm>
            <a:off x="86554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稽核</a:t>
            </a:r>
          </a:p>
        </p:txBody>
      </p:sp>
      <p:sp>
        <p:nvSpPr>
          <p:cNvPr id="24" name="Oval 23"/>
          <p:cNvSpPr/>
          <p:nvPr/>
        </p:nvSpPr>
        <p:spPr>
          <a:xfrm>
            <a:off x="128196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5" name="Picture 24" descr="flat-icon-4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2927600" y="4824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>
            <p:custDataLst>
              <p:tags r:id="rId9"/>
            </p:custDataLst>
          </p:nvPr>
        </p:nvSpPr>
        <p:spPr>
          <a:xfrm>
            <a:off x="123526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回復</a:t>
            </a:r>
          </a:p>
        </p:txBody>
      </p:sp>
      <p:sp>
        <p:nvSpPr>
          <p:cNvPr id="27" name="TextBox 26"/>
          <p:cNvSpPr txBox="1"/>
          <p:nvPr>
            <p:custDataLst>
              <p:tags r:id="rId10"/>
            </p:custDataLst>
          </p:nvPr>
        </p:nvSpPr>
        <p:spPr>
          <a:xfrm>
            <a:off x="818756" y="6030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四階段方法，串成同一條事件鏈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64000" y="6552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64000" y="6732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0" name="TextBox 29"/>
          <p:cNvSpPr txBox="1"/>
          <p:nvPr>
            <p:custDataLst>
              <p:tags r:id="rId11"/>
            </p:custDataLst>
          </p:nvPr>
        </p:nvSpPr>
        <p:spPr>
          <a:xfrm>
            <a:off x="897106" y="6876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31" name="TextBox 30"/>
          <p:cNvSpPr txBox="1"/>
          <p:nvPr>
            <p:custDataLst>
              <p:tags r:id="rId12"/>
            </p:custDataLst>
          </p:nvPr>
        </p:nvSpPr>
        <p:spPr>
          <a:xfrm>
            <a:off x="911394" y="7200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內容＋時序</a:t>
            </a:r>
          </a:p>
        </p:txBody>
      </p:sp>
      <p:sp>
        <p:nvSpPr>
          <p:cNvPr id="32" name="TextBox 31"/>
          <p:cNvSpPr txBox="1"/>
          <p:nvPr>
            <p:custDataLst>
              <p:tags r:id="rId13"/>
            </p:custDataLst>
          </p:nvPr>
        </p:nvSpPr>
        <p:spPr>
          <a:xfrm>
            <a:off x="909806" y="7524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產生正式類別、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信心與流量表徵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9288000" y="8290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64000" y="8424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5" name="TextBox 34"/>
          <p:cNvSpPr txBox="1"/>
          <p:nvPr>
            <p:custDataLst>
              <p:tags r:id="rId14"/>
            </p:custDataLst>
          </p:nvPr>
        </p:nvSpPr>
        <p:spPr>
          <a:xfrm>
            <a:off x="897106" y="8568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任務檢索</a:t>
            </a:r>
          </a:p>
        </p:txBody>
      </p:sp>
      <p:sp>
        <p:nvSpPr>
          <p:cNvPr id="36" name="TextBox 35"/>
          <p:cNvSpPr txBox="1"/>
          <p:nvPr>
            <p:custDataLst>
              <p:tags r:id="rId15"/>
            </p:custDataLst>
          </p:nvPr>
        </p:nvSpPr>
        <p:spPr>
          <a:xfrm>
            <a:off x="911394" y="8892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表徵＋機率</a:t>
            </a:r>
          </a:p>
        </p:txBody>
      </p:sp>
      <p:sp>
        <p:nvSpPr>
          <p:cNvPr id="37" name="TextBox 36"/>
          <p:cNvSpPr txBox="1"/>
          <p:nvPr>
            <p:custDataLst>
              <p:tags r:id="rId16"/>
            </p:custDataLst>
          </p:nvPr>
        </p:nvSpPr>
        <p:spPr>
          <a:xfrm>
            <a:off x="909806" y="9216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依事件任務找案例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附上相似類別證據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288000" y="9982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64000" y="10116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0" name="TextBox 39"/>
          <p:cNvSpPr txBox="1"/>
          <p:nvPr>
            <p:custDataLst>
              <p:tags r:id="rId17"/>
            </p:custDataLst>
          </p:nvPr>
        </p:nvSpPr>
        <p:spPr>
          <a:xfrm>
            <a:off x="897106" y="10260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證據稽核</a:t>
            </a:r>
          </a:p>
        </p:txBody>
      </p:sp>
      <p:sp>
        <p:nvSpPr>
          <p:cNvPr id="41" name="TextBox 40"/>
          <p:cNvSpPr txBox="1"/>
          <p:nvPr>
            <p:custDataLst>
              <p:tags r:id="rId18"/>
            </p:custDataLst>
          </p:nvPr>
        </p:nvSpPr>
        <p:spPr>
          <a:xfrm>
            <a:off x="911394" y="10584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保留正式分類</a:t>
            </a:r>
          </a:p>
        </p:txBody>
      </p:sp>
      <p:sp>
        <p:nvSpPr>
          <p:cNvPr id="42" name="TextBox 41"/>
          <p:cNvSpPr txBox="1"/>
          <p:nvPr>
            <p:custDataLst>
              <p:tags r:id="rId19"/>
            </p:custDataLst>
          </p:nvPr>
        </p:nvSpPr>
        <p:spPr>
          <a:xfrm>
            <a:off x="909806" y="10908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核對判定與案例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附加三態稽核結論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9288000" y="11674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864000" y="11808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5" name="TextBox 44"/>
          <p:cNvSpPr txBox="1"/>
          <p:nvPr>
            <p:custDataLst>
              <p:tags r:id="rId20"/>
            </p:custDataLst>
          </p:nvPr>
        </p:nvSpPr>
        <p:spPr>
          <a:xfrm>
            <a:off x="897106" y="11952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04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受控回復</a:t>
            </a:r>
          </a:p>
        </p:txBody>
      </p:sp>
      <p:sp>
        <p:nvSpPr>
          <p:cNvPr id="46" name="TextBox 45"/>
          <p:cNvSpPr txBox="1"/>
          <p:nvPr>
            <p:custDataLst>
              <p:tags r:id="rId21"/>
            </p:custDataLst>
          </p:nvPr>
        </p:nvSpPr>
        <p:spPr>
          <a:xfrm>
            <a:off x="911394" y="12276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策略＋期限</a:t>
            </a:r>
          </a:p>
        </p:txBody>
      </p:sp>
      <p:sp>
        <p:nvSpPr>
          <p:cNvPr id="47" name="TextBox 46"/>
          <p:cNvSpPr txBox="1"/>
          <p:nvPr>
            <p:custDataLst>
              <p:tags r:id="rId22"/>
            </p:custDataLst>
          </p:nvPr>
        </p:nvSpPr>
        <p:spPr>
          <a:xfrm>
            <a:off x="909806" y="12600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策略允許才介入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讀回並確認回復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36000" y="687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9" name="TextBox 48"/>
          <p:cNvSpPr txBox="1"/>
          <p:nvPr>
            <p:custDataLst>
              <p:tags r:id="rId23"/>
            </p:custDataLst>
          </p:nvPr>
        </p:nvSpPr>
        <p:spPr>
          <a:xfrm>
            <a:off x="4502662" y="691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50" name="TextBox 49"/>
          <p:cNvSpPr txBox="1"/>
          <p:nvPr>
            <p:custDataLst>
              <p:tags r:id="rId24"/>
            </p:custDataLst>
          </p:nvPr>
        </p:nvSpPr>
        <p:spPr>
          <a:xfrm>
            <a:off x="4512187" y="718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內容·時間差·方向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36000" y="759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2" name="TextBox 51"/>
          <p:cNvSpPr txBox="1"/>
          <p:nvPr>
            <p:custDataLst>
              <p:tags r:id="rId25"/>
            </p:custDataLst>
          </p:nvPr>
        </p:nvSpPr>
        <p:spPr>
          <a:xfrm>
            <a:off x="4502662" y="763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53" name="TextBox 52"/>
          <p:cNvSpPr txBox="1"/>
          <p:nvPr>
            <p:custDataLst>
              <p:tags r:id="rId26"/>
            </p:custDataLst>
          </p:nvPr>
        </p:nvSpPr>
        <p:spPr>
          <a:xfrm>
            <a:off x="4512187" y="790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短窗位元組模式·既有模型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44000" y="716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344000" y="788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632000" y="7164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ight Arrow 56"/>
          <p:cNvSpPr/>
          <p:nvPr/>
        </p:nvSpPr>
        <p:spPr>
          <a:xfrm>
            <a:off x="7668000" y="7434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992000" y="7056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9" name="TextBox 58"/>
          <p:cNvSpPr txBox="1"/>
          <p:nvPr>
            <p:custDataLst>
              <p:tags r:id="rId27"/>
            </p:custDataLst>
          </p:nvPr>
        </p:nvSpPr>
        <p:spPr>
          <a:xfrm>
            <a:off x="7958662" y="7092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校準＋融合</a:t>
            </a:r>
          </a:p>
        </p:txBody>
      </p:sp>
      <p:sp>
        <p:nvSpPr>
          <p:cNvPr id="60" name="TextBox 59"/>
          <p:cNvSpPr txBox="1"/>
          <p:nvPr>
            <p:custDataLst>
              <p:tags r:id="rId28"/>
            </p:custDataLst>
          </p:nvPr>
        </p:nvSpPr>
        <p:spPr>
          <a:xfrm>
            <a:off x="7968186" y="7561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11088000" y="7434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11520000" y="7056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3" name="TextBox 62"/>
          <p:cNvSpPr txBox="1"/>
          <p:nvPr>
            <p:custDataLst>
              <p:tags r:id="rId29"/>
            </p:custDataLst>
          </p:nvPr>
        </p:nvSpPr>
        <p:spPr>
          <a:xfrm>
            <a:off x="11486662" y="7092000"/>
            <a:ext cx="2592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17類判定</a:t>
            </a:r>
          </a:p>
        </p:txBody>
      </p:sp>
      <p:sp>
        <p:nvSpPr>
          <p:cNvPr id="64" name="TextBox 63"/>
          <p:cNvSpPr txBox="1"/>
          <p:nvPr>
            <p:custDataLst>
              <p:tags r:id="rId30"/>
            </p:custDataLst>
          </p:nvPr>
        </p:nvSpPr>
        <p:spPr>
          <a:xfrm>
            <a:off x="11496187" y="7561440"/>
            <a:ext cx="2592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信心與512維表徵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36000" y="856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6" name="TextBox 65"/>
          <p:cNvSpPr txBox="1"/>
          <p:nvPr>
            <p:custDataLst>
              <p:tags r:id="rId31"/>
            </p:custDataLst>
          </p:nvPr>
        </p:nvSpPr>
        <p:spPr>
          <a:xfrm>
            <a:off x="4502662" y="856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512維表徵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36000" y="928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8" name="TextBox 67"/>
          <p:cNvSpPr txBox="1"/>
          <p:nvPr>
            <p:custDataLst>
              <p:tags r:id="rId32"/>
            </p:custDataLst>
          </p:nvPr>
        </p:nvSpPr>
        <p:spPr>
          <a:xfrm>
            <a:off x="4502662" y="928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17維機率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344000" y="885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344000" y="957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632000" y="8856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ight Arrow 71"/>
          <p:cNvSpPr/>
          <p:nvPr/>
        </p:nvSpPr>
        <p:spPr>
          <a:xfrm>
            <a:off x="7668000" y="9126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992000" y="8748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4" name="TextBox 73"/>
          <p:cNvSpPr txBox="1"/>
          <p:nvPr>
            <p:custDataLst>
              <p:tags r:id="rId33"/>
            </p:custDataLst>
          </p:nvPr>
        </p:nvSpPr>
        <p:spPr>
          <a:xfrm>
            <a:off x="7958661" y="8784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529維向量</a:t>
            </a:r>
          </a:p>
        </p:txBody>
      </p:sp>
      <p:sp>
        <p:nvSpPr>
          <p:cNvPr id="75" name="TextBox 74"/>
          <p:cNvSpPr txBox="1"/>
          <p:nvPr>
            <p:custDataLst>
              <p:tags r:id="rId34"/>
            </p:custDataLst>
          </p:nvPr>
        </p:nvSpPr>
        <p:spPr>
          <a:xfrm>
            <a:off x="7968186" y="9253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L2正規化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11088000" y="9126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11520000" y="8748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8" name="TextBox 77"/>
          <p:cNvSpPr txBox="1"/>
          <p:nvPr>
            <p:custDataLst>
              <p:tags r:id="rId35"/>
            </p:custDataLst>
          </p:nvPr>
        </p:nvSpPr>
        <p:spPr>
          <a:xfrm>
            <a:off x="11488250" y="8784000"/>
            <a:ext cx="259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Top-5訓練案例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6280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0" name="TextBox 79"/>
          <p:cNvSpPr txBox="1"/>
          <p:nvPr>
            <p:custDataLst>
              <p:tags r:id="rId36"/>
            </p:custDataLst>
          </p:nvPr>
        </p:nvSpPr>
        <p:spPr>
          <a:xfrm>
            <a:off x="116002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21104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2" name="TextBox 81"/>
          <p:cNvSpPr txBox="1"/>
          <p:nvPr>
            <p:custDataLst>
              <p:tags r:id="rId37"/>
            </p:custDataLst>
          </p:nvPr>
        </p:nvSpPr>
        <p:spPr>
          <a:xfrm>
            <a:off x="120826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25928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4" name="TextBox 83"/>
          <p:cNvSpPr txBox="1"/>
          <p:nvPr>
            <p:custDataLst>
              <p:tags r:id="rId38"/>
            </p:custDataLst>
          </p:nvPr>
        </p:nvSpPr>
        <p:spPr>
          <a:xfrm>
            <a:off x="125650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30752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6" name="TextBox 85"/>
          <p:cNvSpPr txBox="1"/>
          <p:nvPr>
            <p:custDataLst>
              <p:tags r:id="rId39"/>
            </p:custDataLst>
          </p:nvPr>
        </p:nvSpPr>
        <p:spPr>
          <a:xfrm>
            <a:off x="130474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35576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8" name="TextBox 87"/>
          <p:cNvSpPr txBox="1"/>
          <p:nvPr>
            <p:custDataLst>
              <p:tags r:id="rId40"/>
            </p:custDataLst>
          </p:nvPr>
        </p:nvSpPr>
        <p:spPr>
          <a:xfrm>
            <a:off x="135298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5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536000" y="1026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0" name="TextBox 89"/>
          <p:cNvSpPr txBox="1"/>
          <p:nvPr>
            <p:custDataLst>
              <p:tags r:id="rId41"/>
            </p:custDataLst>
          </p:nvPr>
        </p:nvSpPr>
        <p:spPr>
          <a:xfrm>
            <a:off x="4502662" y="1026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正式判定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36000" y="1098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2" name="TextBox 91"/>
          <p:cNvSpPr txBox="1"/>
          <p:nvPr>
            <p:custDataLst>
              <p:tags r:id="rId42"/>
            </p:custDataLst>
          </p:nvPr>
        </p:nvSpPr>
        <p:spPr>
          <a:xfrm>
            <a:off x="4502662" y="109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案例證據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344000" y="1054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344000" y="1126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632000" y="10548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ight Arrow 95"/>
          <p:cNvSpPr/>
          <p:nvPr/>
        </p:nvSpPr>
        <p:spPr>
          <a:xfrm>
            <a:off x="7668000" y="10818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7992000" y="10440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8" name="TextBox 97"/>
          <p:cNvSpPr txBox="1"/>
          <p:nvPr>
            <p:custDataLst>
              <p:tags r:id="rId43"/>
            </p:custDataLst>
          </p:nvPr>
        </p:nvSpPr>
        <p:spPr>
          <a:xfrm>
            <a:off x="7958662" y="10476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本機AI稽核</a:t>
            </a:r>
          </a:p>
        </p:txBody>
      </p:sp>
      <p:sp>
        <p:nvSpPr>
          <p:cNvPr id="99" name="TextBox 98"/>
          <p:cNvSpPr txBox="1"/>
          <p:nvPr>
            <p:custDataLst>
              <p:tags r:id="rId44"/>
            </p:custDataLst>
          </p:nvPr>
        </p:nvSpPr>
        <p:spPr>
          <a:xfrm>
            <a:off x="7968187" y="10945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核對同一事件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1088000" y="10818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11520000" y="103680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2" name="TextBox 101"/>
          <p:cNvSpPr txBox="1"/>
          <p:nvPr>
            <p:custDataLst>
              <p:tags r:id="rId45"/>
            </p:custDataLst>
          </p:nvPr>
        </p:nvSpPr>
        <p:spPr>
          <a:xfrm>
            <a:off x="11486662" y="103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1520000" y="107388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4" name="TextBox 103"/>
          <p:cNvSpPr txBox="1"/>
          <p:nvPr>
            <p:custDataLst>
              <p:tags r:id="rId46"/>
            </p:custDataLst>
          </p:nvPr>
        </p:nvSpPr>
        <p:spPr>
          <a:xfrm>
            <a:off x="11486662" y="107388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1520000" y="111096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6" name="TextBox 105"/>
          <p:cNvSpPr txBox="1"/>
          <p:nvPr>
            <p:custDataLst>
              <p:tags r:id="rId47"/>
            </p:custDataLst>
          </p:nvPr>
        </p:nvSpPr>
        <p:spPr>
          <a:xfrm>
            <a:off x="11486662" y="111096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07" name="TextBox 106"/>
          <p:cNvSpPr txBox="1"/>
          <p:nvPr>
            <p:custDataLst>
              <p:tags r:id="rId48"/>
            </p:custDataLst>
          </p:nvPr>
        </p:nvSpPr>
        <p:spPr>
          <a:xfrm>
            <a:off x="4508219" y="11880000"/>
            <a:ext cx="9576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策略檢查：範圍、動作與期限｜來源限速等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536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9" name="TextBox 108"/>
          <p:cNvSpPr txBox="1"/>
          <p:nvPr>
            <p:custDataLst>
              <p:tags r:id="rId49"/>
            </p:custDataLst>
          </p:nvPr>
        </p:nvSpPr>
        <p:spPr>
          <a:xfrm>
            <a:off x="4502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套用規則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7434000" y="12402000"/>
            <a:ext cx="396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7920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2" name="TextBox 111"/>
          <p:cNvSpPr txBox="1"/>
          <p:nvPr>
            <p:custDataLst>
              <p:tags r:id="rId50"/>
            </p:custDataLst>
          </p:nvPr>
        </p:nvSpPr>
        <p:spPr>
          <a:xfrm>
            <a:off x="7886663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讀回驗證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10818000" y="12402000"/>
            <a:ext cx="396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1304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5" name="TextBox 114"/>
          <p:cNvSpPr txBox="1"/>
          <p:nvPr>
            <p:custDataLst>
              <p:tags r:id="rId51"/>
            </p:custDataLst>
          </p:nvPr>
        </p:nvSpPr>
        <p:spPr>
          <a:xfrm>
            <a:off x="11270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</a:t>
            </a:r>
          </a:p>
        </p:txBody>
      </p:sp>
      <p:sp>
        <p:nvSpPr>
          <p:cNvPr id="116" name="TextBox 115"/>
          <p:cNvSpPr txBox="1"/>
          <p:nvPr>
            <p:custDataLst>
              <p:tags r:id="rId52"/>
            </p:custDataLst>
          </p:nvPr>
        </p:nvSpPr>
        <p:spPr>
          <a:xfrm>
            <a:off x="4511394" y="12816000"/>
            <a:ext cx="957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複核／不確定 → 保留監測或蒐證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64000" y="13572000"/>
            <a:ext cx="13392000" cy="468000"/>
          </a:xfrm>
          <a:prstGeom prst="roundRect">
            <a:avLst>
              <a:gd name="adj" fmla="val 18461"/>
            </a:avLst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2520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868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9216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12564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2" name="TextBox 121"/>
          <p:cNvSpPr txBox="1"/>
          <p:nvPr>
            <p:custDataLst>
              <p:tags r:id="rId53"/>
            </p:custDataLst>
          </p:nvPr>
        </p:nvSpPr>
        <p:spPr>
          <a:xfrm>
            <a:off x="832250" y="13572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同一事件識別碼：正式分類／案例證據／稽核結論／處置回條</a:t>
            </a:r>
          </a:p>
        </p:txBody>
      </p:sp>
      <p:sp>
        <p:nvSpPr>
          <p:cNvPr id="123" name="TextBox 122"/>
          <p:cNvSpPr txBox="1"/>
          <p:nvPr>
            <p:custDataLst>
              <p:tags r:id="rId54"/>
            </p:custDataLst>
          </p:nvPr>
        </p:nvSpPr>
        <p:spPr>
          <a:xfrm>
            <a:off x="818756" y="14274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三項優勢，從判定走到可追溯處置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864000" y="1479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864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6" name="Rectangle 125"/>
          <p:cNvSpPr/>
          <p:nvPr/>
        </p:nvSpPr>
        <p:spPr>
          <a:xfrm>
            <a:off x="2772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7" name="TextBox 126"/>
          <p:cNvSpPr txBox="1"/>
          <p:nvPr>
            <p:custDataLst>
              <p:tags r:id="rId55"/>
            </p:custDataLst>
          </p:nvPr>
        </p:nvSpPr>
        <p:spPr>
          <a:xfrm>
            <a:off x="969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128" name="TextBox 127"/>
          <p:cNvSpPr txBox="1"/>
          <p:nvPr>
            <p:custDataLst>
              <p:tags r:id="rId56"/>
            </p:custDataLst>
          </p:nvPr>
        </p:nvSpPr>
        <p:spPr>
          <a:xfrm>
            <a:off x="981806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內容、時間差與方向互補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校準融合，固定17類輸出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Macro-F1達93.05%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00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7308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1" name="TextBox 130"/>
          <p:cNvSpPr txBox="1"/>
          <p:nvPr>
            <p:custDataLst>
              <p:tags r:id="rId57"/>
            </p:custDataLst>
          </p:nvPr>
        </p:nvSpPr>
        <p:spPr>
          <a:xfrm>
            <a:off x="5505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任務證據</a:t>
            </a:r>
          </a:p>
        </p:txBody>
      </p:sp>
      <p:sp>
        <p:nvSpPr>
          <p:cNvPr id="132" name="TextBox 131"/>
          <p:cNvSpPr txBox="1"/>
          <p:nvPr>
            <p:custDataLst>
              <p:tags r:id="rId58"/>
            </p:custDataLst>
          </p:nvPr>
        </p:nvSpPr>
        <p:spPr>
          <a:xfrm>
            <a:off x="5517807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529維任務向量找Top-5案例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AI核對判定，保留正式分類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命中率97.62%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936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11844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5" name="TextBox 134"/>
          <p:cNvSpPr txBox="1"/>
          <p:nvPr>
            <p:custDataLst>
              <p:tags r:id="rId59"/>
            </p:custDataLst>
          </p:nvPr>
        </p:nvSpPr>
        <p:spPr>
          <a:xfrm>
            <a:off x="10041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受控可追溯</a:t>
            </a:r>
          </a:p>
        </p:txBody>
      </p:sp>
      <p:sp>
        <p:nvSpPr>
          <p:cNvPr id="136" name="TextBox 135"/>
          <p:cNvSpPr txBox="1"/>
          <p:nvPr>
            <p:custDataLst>
              <p:tags r:id="rId60"/>
            </p:custDataLst>
          </p:nvPr>
        </p:nvSpPr>
        <p:spPr>
          <a:xfrm>
            <a:off x="10053807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本機AI，事件資料留在本機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同事件串接判定、證據與回條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策略檢查、讀回及到期回復</a:t>
            </a:r>
          </a:p>
        </p:txBody>
      </p:sp>
      <p:sp>
        <p:nvSpPr>
          <p:cNvPr id="137" name="TextBox 136"/>
          <p:cNvSpPr txBox="1"/>
          <p:nvPr>
            <p:custDataLst>
              <p:tags r:id="rId61"/>
            </p:custDataLst>
          </p:nvPr>
        </p:nvSpPr>
        <p:spPr>
          <a:xfrm>
            <a:off x="818756" y="16794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以分階段實測呈現效果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864000" y="1731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>
            <p:custDataLst>
              <p:tags r:id="rId62"/>
            </p:custDataLst>
          </p:nvPr>
        </p:nvSpPr>
        <p:spPr>
          <a:xfrm>
            <a:off x="837806" y="17460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相同18,998筆測試的 Macro-F1</a:t>
            </a:r>
          </a:p>
        </p:txBody>
      </p:sp>
      <p:sp>
        <p:nvSpPr>
          <p:cNvPr id="140" name="TextBox 139"/>
          <p:cNvSpPr txBox="1"/>
          <p:nvPr>
            <p:custDataLst>
              <p:tags r:id="rId63"/>
            </p:custDataLst>
          </p:nvPr>
        </p:nvSpPr>
        <p:spPr>
          <a:xfrm>
            <a:off x="864000" y="17784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376000" y="17820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2376000" y="17820000"/>
            <a:ext cx="2698671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3" name="TextBox 142"/>
          <p:cNvSpPr txBox="1"/>
          <p:nvPr>
            <p:custDataLst>
              <p:tags r:id="rId64"/>
            </p:custDataLst>
          </p:nvPr>
        </p:nvSpPr>
        <p:spPr>
          <a:xfrm>
            <a:off x="5798337" y="17784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79.75%</a:t>
            </a:r>
          </a:p>
        </p:txBody>
      </p:sp>
      <p:sp>
        <p:nvSpPr>
          <p:cNvPr id="144" name="TextBox 143"/>
          <p:cNvSpPr txBox="1"/>
          <p:nvPr>
            <p:custDataLst>
              <p:tags r:id="rId65"/>
            </p:custDataLst>
          </p:nvPr>
        </p:nvSpPr>
        <p:spPr>
          <a:xfrm>
            <a:off x="864000" y="18216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376000" y="18252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2376000" y="18252000"/>
            <a:ext cx="3116757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7" name="TextBox 146"/>
          <p:cNvSpPr txBox="1"/>
          <p:nvPr>
            <p:custDataLst>
              <p:tags r:id="rId66"/>
            </p:custDataLst>
          </p:nvPr>
        </p:nvSpPr>
        <p:spPr>
          <a:xfrm>
            <a:off x="5798337" y="18216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92.10%</a:t>
            </a:r>
          </a:p>
        </p:txBody>
      </p:sp>
      <p:sp>
        <p:nvSpPr>
          <p:cNvPr id="148" name="TextBox 147"/>
          <p:cNvSpPr txBox="1"/>
          <p:nvPr>
            <p:custDataLst>
              <p:tags r:id="rId67"/>
            </p:custDataLst>
          </p:nvPr>
        </p:nvSpPr>
        <p:spPr>
          <a:xfrm>
            <a:off x="864000" y="18648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376000" y="18684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2376000" y="18684000"/>
            <a:ext cx="3148824" cy="216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1" name="TextBox 150"/>
          <p:cNvSpPr txBox="1"/>
          <p:nvPr>
            <p:custDataLst>
              <p:tags r:id="rId68"/>
            </p:custDataLst>
          </p:nvPr>
        </p:nvSpPr>
        <p:spPr>
          <a:xfrm>
            <a:off x="5798337" y="18648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93.05%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376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>
            <p:custDataLst>
              <p:tags r:id="rId69"/>
            </p:custDataLst>
          </p:nvPr>
        </p:nvSpPr>
        <p:spPr>
          <a:xfrm>
            <a:off x="2031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0%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4068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>
            <p:custDataLst>
              <p:tags r:id="rId70"/>
            </p:custDataLst>
          </p:nvPr>
        </p:nvSpPr>
        <p:spPr>
          <a:xfrm>
            <a:off x="3723363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50%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760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>
            <p:custDataLst>
              <p:tags r:id="rId71"/>
            </p:custDataLst>
          </p:nvPr>
        </p:nvSpPr>
        <p:spPr>
          <a:xfrm>
            <a:off x="5415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100%</a:t>
            </a:r>
          </a:p>
        </p:txBody>
      </p:sp>
      <p:sp>
        <p:nvSpPr>
          <p:cNvPr id="158" name="TextBox 157"/>
          <p:cNvSpPr txBox="1"/>
          <p:nvPr>
            <p:custDataLst>
              <p:tags r:id="rId72"/>
            </p:custDataLst>
          </p:nvPr>
        </p:nvSpPr>
        <p:spPr>
          <a:xfrm>
            <a:off x="837806" y="19404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整體準確率98.08%·固定17類分類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7668000" y="17460000"/>
            <a:ext cx="0" cy="219600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>
            <p:custDataLst>
              <p:tags r:id="rId73"/>
            </p:custDataLst>
          </p:nvPr>
        </p:nvSpPr>
        <p:spPr>
          <a:xfrm>
            <a:off x="7893807" y="17460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1,550筆訓練案例／463筆查詢</a:t>
            </a:r>
          </a:p>
        </p:txBody>
      </p:sp>
      <p:sp>
        <p:nvSpPr>
          <p:cNvPr id="161" name="TextBox 160"/>
          <p:cNvSpPr txBox="1"/>
          <p:nvPr>
            <p:custDataLst>
              <p:tags r:id="rId74"/>
            </p:custDataLst>
          </p:nvPr>
        </p:nvSpPr>
        <p:spPr>
          <a:xfrm>
            <a:off x="7860469" y="17712000"/>
            <a:ext cx="63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  97.62%</a:t>
            </a:r>
          </a:p>
        </p:txBody>
      </p:sp>
      <p:sp>
        <p:nvSpPr>
          <p:cNvPr id="162" name="TextBox 161"/>
          <p:cNvSpPr txBox="1"/>
          <p:nvPr>
            <p:custDataLst>
              <p:tags r:id="rId75"/>
            </p:custDataLst>
          </p:nvPr>
        </p:nvSpPr>
        <p:spPr>
          <a:xfrm>
            <a:off x="7895395" y="18216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MRR@5  93.89%·訓練／查詢重疊0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79200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4" name="TextBox 163"/>
          <p:cNvSpPr txBox="1"/>
          <p:nvPr>
            <p:custDataLst>
              <p:tags r:id="rId76"/>
            </p:custDataLst>
          </p:nvPr>
        </p:nvSpPr>
        <p:spPr>
          <a:xfrm>
            <a:off x="7874757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415</a:t>
            </a:r>
          </a:p>
        </p:txBody>
      </p:sp>
      <p:sp>
        <p:nvSpPr>
          <p:cNvPr id="165" name="TextBox 164"/>
          <p:cNvSpPr txBox="1"/>
          <p:nvPr>
            <p:custDataLst>
              <p:tags r:id="rId77"/>
            </p:custDataLst>
          </p:nvPr>
        </p:nvSpPr>
        <p:spPr>
          <a:xfrm>
            <a:off x="7893807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100548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7" name="TextBox 166"/>
          <p:cNvSpPr txBox="1"/>
          <p:nvPr>
            <p:custDataLst>
              <p:tags r:id="rId78"/>
            </p:custDataLst>
          </p:nvPr>
        </p:nvSpPr>
        <p:spPr>
          <a:xfrm>
            <a:off x="100095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13</a:t>
            </a:r>
          </a:p>
        </p:txBody>
      </p:sp>
      <p:sp>
        <p:nvSpPr>
          <p:cNvPr id="168" name="TextBox 167"/>
          <p:cNvSpPr txBox="1"/>
          <p:nvPr>
            <p:custDataLst>
              <p:tags r:id="rId79"/>
            </p:custDataLst>
          </p:nvPr>
        </p:nvSpPr>
        <p:spPr>
          <a:xfrm>
            <a:off x="100286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21896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0" name="TextBox 169"/>
          <p:cNvSpPr txBox="1"/>
          <p:nvPr>
            <p:custDataLst>
              <p:tags r:id="rId80"/>
            </p:custDataLst>
          </p:nvPr>
        </p:nvSpPr>
        <p:spPr>
          <a:xfrm>
            <a:off x="121443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35</a:t>
            </a:r>
          </a:p>
        </p:txBody>
      </p:sp>
      <p:sp>
        <p:nvSpPr>
          <p:cNvPr id="171" name="TextBox 170"/>
          <p:cNvSpPr txBox="1"/>
          <p:nvPr>
            <p:custDataLst>
              <p:tags r:id="rId81"/>
            </p:custDataLst>
          </p:nvPr>
        </p:nvSpPr>
        <p:spPr>
          <a:xfrm>
            <a:off x="121634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72" name="TextBox 171"/>
          <p:cNvSpPr txBox="1"/>
          <p:nvPr>
            <p:custDataLst>
              <p:tags r:id="rId82"/>
            </p:custDataLst>
          </p:nvPr>
        </p:nvSpPr>
        <p:spPr>
          <a:xfrm>
            <a:off x="7896188" y="19404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30筆偵測誤判中18筆分流；其餘12筆獲支持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864000" y="19800000"/>
            <a:ext cx="13392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4" name="TextBox 173"/>
          <p:cNvSpPr txBox="1"/>
          <p:nvPr>
            <p:custDataLst>
              <p:tags r:id="rId83"/>
            </p:custDataLst>
          </p:nvPr>
        </p:nvSpPr>
        <p:spPr>
          <a:xfrm>
            <a:off x="981807" y="19836000"/>
            <a:ext cx="2304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17類本機重跑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6種隔離TCP情境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38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6" name="TextBox 175"/>
          <p:cNvSpPr txBox="1"/>
          <p:nvPr>
            <p:custDataLst>
              <p:tags r:id="rId84"/>
            </p:custDataLst>
          </p:nvPr>
        </p:nvSpPr>
        <p:spPr>
          <a:xfrm>
            <a:off x="335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正常</a:t>
            </a:r>
          </a:p>
        </p:txBody>
      </p:sp>
      <p:sp>
        <p:nvSpPr>
          <p:cNvPr id="177" name="TextBox 176"/>
          <p:cNvSpPr txBox="1"/>
          <p:nvPr>
            <p:custDataLst>
              <p:tags r:id="rId85"/>
            </p:custDataLst>
          </p:nvPr>
        </p:nvSpPr>
        <p:spPr>
          <a:xfrm>
            <a:off x="336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監測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4572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9" name="TextBox 178"/>
          <p:cNvSpPr txBox="1"/>
          <p:nvPr>
            <p:custDataLst>
              <p:tags r:id="rId86"/>
            </p:custDataLst>
          </p:nvPr>
        </p:nvSpPr>
        <p:spPr>
          <a:xfrm>
            <a:off x="4545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FTP</a:t>
            </a:r>
          </a:p>
        </p:txBody>
      </p:sp>
      <p:sp>
        <p:nvSpPr>
          <p:cNvPr id="180" name="TextBox 179"/>
          <p:cNvSpPr txBox="1"/>
          <p:nvPr>
            <p:custDataLst>
              <p:tags r:id="rId87"/>
            </p:custDataLst>
          </p:nvPr>
        </p:nvSpPr>
        <p:spPr>
          <a:xfrm>
            <a:off x="4549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5760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2" name="TextBox 181"/>
          <p:cNvSpPr txBox="1"/>
          <p:nvPr>
            <p:custDataLst>
              <p:tags r:id="rId88"/>
            </p:custDataLst>
          </p:nvPr>
        </p:nvSpPr>
        <p:spPr>
          <a:xfrm>
            <a:off x="5733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SSH</a:t>
            </a:r>
          </a:p>
        </p:txBody>
      </p:sp>
      <p:sp>
        <p:nvSpPr>
          <p:cNvPr id="183" name="TextBox 182"/>
          <p:cNvSpPr txBox="1"/>
          <p:nvPr>
            <p:custDataLst>
              <p:tags r:id="rId89"/>
            </p:custDataLst>
          </p:nvPr>
        </p:nvSpPr>
        <p:spPr>
          <a:xfrm>
            <a:off x="5737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948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5" name="TextBox 184"/>
          <p:cNvSpPr txBox="1"/>
          <p:nvPr>
            <p:custDataLst>
              <p:tags r:id="rId90"/>
            </p:custDataLst>
          </p:nvPr>
        </p:nvSpPr>
        <p:spPr>
          <a:xfrm>
            <a:off x="6921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HTTP</a:t>
            </a:r>
          </a:p>
        </p:txBody>
      </p:sp>
      <p:sp>
        <p:nvSpPr>
          <p:cNvPr id="186" name="TextBox 185"/>
          <p:cNvSpPr txBox="1"/>
          <p:nvPr>
            <p:custDataLst>
              <p:tags r:id="rId91"/>
            </p:custDataLst>
          </p:nvPr>
        </p:nvSpPr>
        <p:spPr>
          <a:xfrm>
            <a:off x="6925774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8136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8" name="TextBox 187"/>
          <p:cNvSpPr txBox="1"/>
          <p:nvPr>
            <p:custDataLst>
              <p:tags r:id="rId92"/>
            </p:custDataLst>
          </p:nvPr>
        </p:nvSpPr>
        <p:spPr>
          <a:xfrm>
            <a:off x="8109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XSS</a:t>
            </a:r>
          </a:p>
        </p:txBody>
      </p:sp>
      <p:sp>
        <p:nvSpPr>
          <p:cNvPr id="189" name="TextBox 188"/>
          <p:cNvSpPr txBox="1"/>
          <p:nvPr>
            <p:custDataLst>
              <p:tags r:id="rId93"/>
            </p:custDataLst>
          </p:nvPr>
        </p:nvSpPr>
        <p:spPr>
          <a:xfrm>
            <a:off x="8113776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蒐證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932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1" name="TextBox 190"/>
          <p:cNvSpPr txBox="1"/>
          <p:nvPr>
            <p:custDataLst>
              <p:tags r:id="rId94"/>
            </p:custDataLst>
          </p:nvPr>
        </p:nvSpPr>
        <p:spPr>
          <a:xfrm>
            <a:off x="929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Bot</a:t>
            </a:r>
          </a:p>
        </p:txBody>
      </p:sp>
      <p:sp>
        <p:nvSpPr>
          <p:cNvPr id="192" name="TextBox 191"/>
          <p:cNvSpPr txBox="1"/>
          <p:nvPr>
            <p:custDataLst>
              <p:tags r:id="rId95"/>
            </p:custDataLst>
          </p:nvPr>
        </p:nvSpPr>
        <p:spPr>
          <a:xfrm>
            <a:off x="930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3" name="TextBox 192"/>
          <p:cNvSpPr txBox="1"/>
          <p:nvPr>
            <p:custDataLst>
              <p:tags r:id="rId96"/>
            </p:custDataLst>
          </p:nvPr>
        </p:nvSpPr>
        <p:spPr>
          <a:xfrm>
            <a:off x="10624250" y="19836000"/>
            <a:ext cx="3456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背景保留 6/6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 6/6</a:t>
            </a:r>
          </a:p>
        </p:txBody>
      </p:sp>
      <p:sp>
        <p:nvSpPr>
          <p:cNvPr id="194" name="TextBox 193"/>
          <p:cNvSpPr txBox="1"/>
          <p:nvPr>
            <p:custDataLst>
              <p:tags r:id="rId97"/>
            </p:custDataLst>
          </p:nvPr>
        </p:nvSpPr>
        <p:spPr>
          <a:xfrm>
            <a:off x="837807" y="20736000"/>
            <a:ext cx="13392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42663574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9.8582572937011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0.9763603210449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2.094463348388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1.1811275482177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69.16538047790527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7.149633407592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5.133886337280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83.118139266967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482910156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0.629913330078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8.1102371215820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8.1102371215820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52.44096374511719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52.44096374511719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8.81890869140625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7.08660888671875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0.31497192382813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54330444335938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8.8189086914062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70.07874298095703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5.11810302734375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Office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274</Words>
  <Application>Microsoft Office PowerPoint</Application>
  <PresentationFormat>自訂</PresentationFormat>
  <Paragraphs>111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Segoe UI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2026-10-31T06:07:51Z</dcterms:modified>
  <cp:category/>
</cp:coreProperties>
</file>