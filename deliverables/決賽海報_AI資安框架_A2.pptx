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image" Target="../media/image1.png"/><Relationship Id="rId101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2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slideLayout" Target="../slideLayouts/slideLayout7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5977" y="360045"/>
            <a:ext cx="13968032" cy="248402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Box 2"/>
          <p:cNvSpPr/>
          <p:nvPr>
            <p:custDataLst>
              <p:tags r:id="rId1"/>
            </p:custDataLst>
          </p:nvPr>
        </p:nvSpPr>
        <p:spPr>
          <a:xfrm>
            <a:off x="553784" y="539972"/>
            <a:ext cx="13968032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9380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4" name="PosterTitle_Centered_210mm"/>
          <p:cNvSpPr/>
          <p:nvPr>
            <p:custDataLst>
              <p:tags r:id="rId2"/>
            </p:custDataLst>
          </p:nvPr>
        </p:nvSpPr>
        <p:spPr>
          <a:xfrm>
            <a:off x="522065" y="864013"/>
            <a:ext cx="13968032" cy="1800034"/>
          </a:xfrm>
          <a:prstGeom prst="rect">
            <a:avLst/>
          </a:prstGeom>
          <a:noFill/>
          <a:ln>
            <a:noFill/>
          </a:ln>
        </p:spPr>
        <p:txBody>
          <a:bodyPr wrap="none" lIns="0" tIns="45023" rIns="190" bIns="0" anchor="t" anchorCtr="0">
            <a:noAutofit/>
          </a:bodyPr>
          <a:lstStyle/>
          <a:p>
            <a:pPr algn="ctr">
              <a:lnSpc>
                <a:spcPts val="4488"/>
              </a:lnSpc>
            </a:pPr>
            <a:r>
              <a:rPr lang="zh-TW" sz="3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ctr">
              <a:lnSpc>
                <a:spcPts val="4488"/>
              </a:lnSpc>
            </a:pPr>
            <a:r>
              <a:rPr lang="zh-TW" sz="3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ctr">
              <a:lnSpc>
                <a:spcPts val="4488"/>
              </a:lnSpc>
            </a:pPr>
            <a:r>
              <a:rPr lang="zh-TW" sz="3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39998" y="2807970"/>
            <a:ext cx="1439990" cy="43244"/>
          </a:xfrm>
          <a:prstGeom prst="rect">
            <a:avLst/>
          </a:prstGeom>
          <a:solidFill>
            <a:srgbClr val="E3A33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75977" y="3060002"/>
            <a:ext cx="13968032" cy="0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7" name="TextBox 6"/>
          <p:cNvSpPr/>
          <p:nvPr>
            <p:custDataLst>
              <p:tags r:id="rId3"/>
            </p:custDataLst>
          </p:nvPr>
        </p:nvSpPr>
        <p:spPr>
          <a:xfrm>
            <a:off x="575977" y="3312033"/>
            <a:ext cx="13968032" cy="467963"/>
          </a:xfrm>
          <a:prstGeom prst="rect">
            <a:avLst/>
          </a:prstGeom>
          <a:noFill/>
          <a:ln>
            <a:noFill/>
          </a:ln>
        </p:spPr>
        <p:txBody>
          <a:bodyPr wrap="none" lIns="0" tIns="28735" rIns="0" bIns="0" anchor="t" anchorCtr="0">
            <a:noAutofit/>
          </a:bodyPr>
          <a:lstStyle/>
          <a:p>
            <a:pPr algn="l"/>
            <a:r>
              <a:rPr lang="zh-TW" sz="26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從流量告警，走到有證據、可回復的處置</a:t>
            </a:r>
          </a:p>
        </p:txBody>
      </p:sp>
      <p:sp>
        <p:nvSpPr>
          <p:cNvPr id="8" name="TextBox 7"/>
          <p:cNvSpPr/>
          <p:nvPr>
            <p:custDataLst>
              <p:tags r:id="rId4"/>
            </p:custDataLst>
          </p:nvPr>
        </p:nvSpPr>
        <p:spPr>
          <a:xfrm>
            <a:off x="575977" y="3779996"/>
            <a:ext cx="13968032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15446" rIns="0" bIns="0" anchor="t" anchorCtr="0">
            <a:noAutofit/>
          </a:bodyPr>
          <a:lstStyle/>
          <a:p>
            <a:pPr algn="l"/>
            <a:r>
              <a:rPr lang="zh-TW" sz="19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同一事件串起模型判定、相似案例、AI稽核與處置回條。</a:t>
            </a:r>
          </a:p>
        </p:txBody>
      </p:sp>
      <p:sp>
        <p:nvSpPr>
          <p:cNvPr id="9" name="TextBox 8"/>
          <p:cNvSpPr/>
          <p:nvPr>
            <p:custDataLst>
              <p:tags r:id="rId5"/>
            </p:custDataLst>
          </p:nvPr>
        </p:nvSpPr>
        <p:spPr>
          <a:xfrm>
            <a:off x="575977" y="4176046"/>
            <a:ext cx="13968032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542" rIns="0" bIns="0" anchor="t" anchorCtr="0">
            <a:noAutofit/>
          </a:bodyPr>
          <a:lstStyle/>
          <a:p>
            <a:pPr algn="l"/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面向校園與中小型組織的告警判讀，以案例證據協助核對事件，再依策略執行與回復。</a:t>
            </a:r>
          </a:p>
        </p:txBody>
      </p:sp>
      <p:sp>
        <p:nvSpPr>
          <p:cNvPr id="10" name="TextBox 9"/>
          <p:cNvSpPr/>
          <p:nvPr>
            <p:custDataLst>
              <p:tags r:id="rId6"/>
            </p:custDataLst>
          </p:nvPr>
        </p:nvSpPr>
        <p:spPr>
          <a:xfrm>
            <a:off x="575977" y="4608004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25055" rIns="0" bIns="0" anchor="t" anchorCtr="0">
            <a:noAutofit/>
          </a:bodyPr>
          <a:lstStyle/>
          <a:p>
            <a:pPr algn="l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1" name="TextBox 10"/>
          <p:cNvSpPr/>
          <p:nvPr>
            <p:custDataLst>
              <p:tags r:id="rId7"/>
            </p:custDataLst>
          </p:nvPr>
        </p:nvSpPr>
        <p:spPr>
          <a:xfrm>
            <a:off x="1116044" y="4608004"/>
            <a:ext cx="13320046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8473" rIns="0" bIns="0" anchor="t" anchorCtr="0">
            <a:noAutofit/>
          </a:bodyPr>
          <a:lstStyle/>
          <a:p>
            <a:pPr algn="l"/>
            <a:r>
              <a:rPr lang="zh-TW" sz="2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四階段方法，串成同一條事件鏈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5977" y="5219986"/>
            <a:ext cx="13968032" cy="1800034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5977" y="5219986"/>
            <a:ext cx="54007" cy="1800034"/>
          </a:xfrm>
          <a:prstGeom prst="rect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" name="TextBox 13"/>
          <p:cNvSpPr/>
          <p:nvPr>
            <p:custDataLst>
              <p:tags r:id="rId8"/>
            </p:custDataLst>
          </p:nvPr>
        </p:nvSpPr>
        <p:spPr>
          <a:xfrm>
            <a:off x="828008" y="5364004"/>
            <a:ext cx="360045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584" rIns="0" bIns="0" anchor="t" anchorCtr="0">
            <a:noAutofit/>
          </a:bodyPr>
          <a:lstStyle/>
          <a:p>
            <a:pPr algn="l"/>
            <a:r>
              <a:rPr lang="zh-TW" sz="16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5" name="TextBox 14"/>
          <p:cNvSpPr/>
          <p:nvPr>
            <p:custDataLst>
              <p:tags r:id="rId9"/>
            </p:custDataLst>
          </p:nvPr>
        </p:nvSpPr>
        <p:spPr>
          <a:xfrm>
            <a:off x="1331976" y="5327999"/>
            <a:ext cx="262804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85" rIns="0" bIns="0" anchor="t" anchorCtr="0">
            <a:noAutofit/>
          </a:bodyPr>
          <a:lstStyle/>
          <a:p>
            <a:pPr algn="l"/>
            <a:r>
              <a:rPr lang="zh-TW" sz="23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6" name="TextBox 15"/>
          <p:cNvSpPr/>
          <p:nvPr>
            <p:custDataLst>
              <p:tags r:id="rId10"/>
            </p:custDataLst>
          </p:nvPr>
        </p:nvSpPr>
        <p:spPr>
          <a:xfrm>
            <a:off x="1331976" y="5723954"/>
            <a:ext cx="2628043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1017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內容＋時序</a:t>
            </a:r>
          </a:p>
        </p:txBody>
      </p:sp>
      <p:pic>
        <p:nvPicPr>
          <p:cNvPr id="17" name="Picture 16" descr="flat-icon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900000" y="6120000"/>
            <a:ext cx="756000" cy="756000"/>
          </a:xfrm>
          <a:prstGeom prst="rect">
            <a:avLst/>
          </a:prstGeom>
        </p:spPr>
      </p:pic>
      <p:sp>
        <p:nvSpPr>
          <p:cNvPr id="18" name="TextBox 17"/>
          <p:cNvSpPr/>
          <p:nvPr>
            <p:custDataLst>
              <p:tags r:id="rId11"/>
            </p:custDataLst>
          </p:nvPr>
        </p:nvSpPr>
        <p:spPr>
          <a:xfrm>
            <a:off x="1872044" y="6120003"/>
            <a:ext cx="2195989" cy="755999"/>
          </a:xfrm>
          <a:prstGeom prst="rect">
            <a:avLst/>
          </a:prstGeom>
          <a:noFill/>
          <a:ln>
            <a:noFill/>
          </a:ln>
        </p:spPr>
        <p:txBody>
          <a:bodyPr wrap="none" lIns="0" tIns="109773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產生正式類別、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信心與流量表徵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252014" y="7038022"/>
            <a:ext cx="288036" cy="180022"/>
          </a:xfrm>
          <a:prstGeom prst="down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5977" y="7236047"/>
            <a:ext cx="13968032" cy="1800034"/>
          </a:xfrm>
          <a:prstGeom prst="rect">
            <a:avLst/>
          </a:prstGeom>
          <a:solidFill>
            <a:srgbClr val="F4F7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75977" y="7236047"/>
            <a:ext cx="54007" cy="1800034"/>
          </a:xfrm>
          <a:prstGeom prst="rect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2" name="TextBox 21"/>
          <p:cNvSpPr/>
          <p:nvPr>
            <p:custDataLst>
              <p:tags r:id="rId12"/>
            </p:custDataLst>
          </p:nvPr>
        </p:nvSpPr>
        <p:spPr>
          <a:xfrm>
            <a:off x="828008" y="7379970"/>
            <a:ext cx="360045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618" rIns="0" bIns="0" anchor="t" anchorCtr="0">
            <a:noAutofit/>
          </a:bodyPr>
          <a:lstStyle/>
          <a:p>
            <a:pPr algn="l"/>
            <a:r>
              <a:rPr lang="zh-TW" sz="16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23" name="TextBox 22"/>
          <p:cNvSpPr/>
          <p:nvPr>
            <p:custDataLst>
              <p:tags r:id="rId13"/>
            </p:custDataLst>
          </p:nvPr>
        </p:nvSpPr>
        <p:spPr>
          <a:xfrm>
            <a:off x="1331976" y="7343966"/>
            <a:ext cx="262804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51" rIns="0" bIns="0" anchor="t" anchorCtr="0">
            <a:noAutofit/>
          </a:bodyPr>
          <a:lstStyle/>
          <a:p>
            <a:pPr algn="l"/>
            <a:r>
              <a:rPr lang="zh-TW" sz="23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任務檢索</a:t>
            </a:r>
          </a:p>
        </p:txBody>
      </p:sp>
      <p:sp>
        <p:nvSpPr>
          <p:cNvPr id="24" name="TextBox 23"/>
          <p:cNvSpPr/>
          <p:nvPr>
            <p:custDataLst>
              <p:tags r:id="rId14"/>
            </p:custDataLst>
          </p:nvPr>
        </p:nvSpPr>
        <p:spPr>
          <a:xfrm>
            <a:off x="1331976" y="7740015"/>
            <a:ext cx="2628043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0955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表徵＋機率</a:t>
            </a:r>
          </a:p>
        </p:txBody>
      </p:sp>
      <p:pic>
        <p:nvPicPr>
          <p:cNvPr id="25" name="Picture 24" descr="flat-icon-3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00000" y="8136000"/>
            <a:ext cx="756000" cy="756000"/>
          </a:xfrm>
          <a:prstGeom prst="rect">
            <a:avLst/>
          </a:prstGeom>
        </p:spPr>
      </p:pic>
      <p:sp>
        <p:nvSpPr>
          <p:cNvPr id="26" name="TextBox 25"/>
          <p:cNvSpPr/>
          <p:nvPr>
            <p:custDataLst>
              <p:tags r:id="rId15"/>
            </p:custDataLst>
          </p:nvPr>
        </p:nvSpPr>
        <p:spPr>
          <a:xfrm>
            <a:off x="1872044" y="8135969"/>
            <a:ext cx="2195989" cy="755999"/>
          </a:xfrm>
          <a:prstGeom prst="rect">
            <a:avLst/>
          </a:prstGeom>
          <a:noFill/>
          <a:ln>
            <a:noFill/>
          </a:ln>
        </p:spPr>
        <p:txBody>
          <a:bodyPr wrap="none" lIns="0" tIns="109807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依事件任務找案例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附上相似類別證據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9252014" y="9053989"/>
            <a:ext cx="288036" cy="180022"/>
          </a:xfrm>
          <a:prstGeom prst="down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75977" y="9252014"/>
            <a:ext cx="13968032" cy="1800034"/>
          </a:xfrm>
          <a:prstGeom prst="rect">
            <a:avLst/>
          </a:prstGeom>
          <a:solidFill>
            <a:srgbClr val="F4F7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75977" y="9252014"/>
            <a:ext cx="54007" cy="1800034"/>
          </a:xfrm>
          <a:prstGeom prst="rect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0" name="TextBox 29"/>
          <p:cNvSpPr/>
          <p:nvPr>
            <p:custDataLst>
              <p:tags r:id="rId16"/>
            </p:custDataLst>
          </p:nvPr>
        </p:nvSpPr>
        <p:spPr>
          <a:xfrm>
            <a:off x="828008" y="9396032"/>
            <a:ext cx="360045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556" rIns="0" bIns="0" anchor="t" anchorCtr="0">
            <a:noAutofit/>
          </a:bodyPr>
          <a:lstStyle/>
          <a:p>
            <a:pPr algn="l"/>
            <a:r>
              <a:rPr lang="zh-TW" sz="16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31" name="TextBox 30"/>
          <p:cNvSpPr/>
          <p:nvPr>
            <p:custDataLst>
              <p:tags r:id="rId17"/>
            </p:custDataLst>
          </p:nvPr>
        </p:nvSpPr>
        <p:spPr>
          <a:xfrm>
            <a:off x="1331976" y="9360027"/>
            <a:ext cx="262804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113" rIns="0" bIns="0" anchor="t" anchorCtr="0">
            <a:noAutofit/>
          </a:bodyPr>
          <a:lstStyle/>
          <a:p>
            <a:pPr algn="l"/>
            <a:r>
              <a:rPr lang="zh-TW" sz="23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證據稽核</a:t>
            </a:r>
          </a:p>
        </p:txBody>
      </p:sp>
      <p:sp>
        <p:nvSpPr>
          <p:cNvPr id="32" name="TextBox 31"/>
          <p:cNvSpPr/>
          <p:nvPr>
            <p:custDataLst>
              <p:tags r:id="rId18"/>
            </p:custDataLst>
          </p:nvPr>
        </p:nvSpPr>
        <p:spPr>
          <a:xfrm>
            <a:off x="1331976" y="9755981"/>
            <a:ext cx="2628043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0989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保留正式分類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4035" y="10152031"/>
            <a:ext cx="503968" cy="719995"/>
          </a:xfrm>
          <a:prstGeom prst="rect">
            <a:avLst/>
          </a:prstGeom>
          <a:solidFill>
            <a:srgbClr val="FFFFFF"/>
          </a:solidFill>
          <a:ln w="10160" cap="flat">
            <a:solidFill>
              <a:srgbClr val="245EA8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1151954" y="10295954"/>
            <a:ext cx="288036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51954" y="10475976"/>
            <a:ext cx="288036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1151954" y="10655998"/>
            <a:ext cx="288036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sp>
        <p:nvSpPr>
          <p:cNvPr id="37" name="TextBox 36"/>
          <p:cNvSpPr/>
          <p:nvPr>
            <p:custDataLst>
              <p:tags r:id="rId19"/>
            </p:custDataLst>
          </p:nvPr>
        </p:nvSpPr>
        <p:spPr>
          <a:xfrm>
            <a:off x="1872044" y="10152031"/>
            <a:ext cx="2195989" cy="755999"/>
          </a:xfrm>
          <a:prstGeom prst="rect">
            <a:avLst/>
          </a:prstGeom>
          <a:noFill/>
          <a:ln>
            <a:noFill/>
          </a:ln>
        </p:spPr>
        <p:txBody>
          <a:bodyPr wrap="none" lIns="0" tIns="109745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核對判定與案例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附加三態稽核結論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52014" y="11069955"/>
            <a:ext cx="288036" cy="180022"/>
          </a:xfrm>
          <a:prstGeom prst="down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75977" y="11267980"/>
            <a:ext cx="13968032" cy="1800034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575977" y="11267980"/>
            <a:ext cx="54007" cy="1800034"/>
          </a:xfrm>
          <a:prstGeom prst="rect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1" name="TextBox 40"/>
          <p:cNvSpPr/>
          <p:nvPr>
            <p:custDataLst>
              <p:tags r:id="rId20"/>
            </p:custDataLst>
          </p:nvPr>
        </p:nvSpPr>
        <p:spPr>
          <a:xfrm>
            <a:off x="828008" y="11411998"/>
            <a:ext cx="360045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590" rIns="0" bIns="0" anchor="t" anchorCtr="0">
            <a:noAutofit/>
          </a:bodyPr>
          <a:lstStyle/>
          <a:p>
            <a:pPr algn="l"/>
            <a:r>
              <a:rPr lang="zh-TW" sz="16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04</a:t>
            </a:r>
          </a:p>
        </p:txBody>
      </p:sp>
      <p:sp>
        <p:nvSpPr>
          <p:cNvPr id="42" name="TextBox 41"/>
          <p:cNvSpPr/>
          <p:nvPr>
            <p:custDataLst>
              <p:tags r:id="rId21"/>
            </p:custDataLst>
          </p:nvPr>
        </p:nvSpPr>
        <p:spPr>
          <a:xfrm>
            <a:off x="1331976" y="11375993"/>
            <a:ext cx="262804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79" rIns="0" bIns="0" anchor="t" anchorCtr="0">
            <a:noAutofit/>
          </a:bodyPr>
          <a:lstStyle/>
          <a:p>
            <a:pPr algn="l"/>
            <a:r>
              <a:rPr lang="zh-TW" sz="23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受控回復</a:t>
            </a:r>
          </a:p>
        </p:txBody>
      </p:sp>
      <p:sp>
        <p:nvSpPr>
          <p:cNvPr id="43" name="TextBox 42"/>
          <p:cNvSpPr/>
          <p:nvPr>
            <p:custDataLst>
              <p:tags r:id="rId22"/>
            </p:custDataLst>
          </p:nvPr>
        </p:nvSpPr>
        <p:spPr>
          <a:xfrm>
            <a:off x="1331976" y="11772043"/>
            <a:ext cx="2628043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0927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策略＋期限</a:t>
            </a:r>
          </a:p>
        </p:txBody>
      </p:sp>
      <p:pic>
        <p:nvPicPr>
          <p:cNvPr id="44" name="Picture 43" descr="flat-icon-4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900000" y="12168000"/>
            <a:ext cx="756000" cy="756000"/>
          </a:xfrm>
          <a:prstGeom prst="rect">
            <a:avLst/>
          </a:prstGeom>
        </p:spPr>
      </p:pic>
      <p:sp>
        <p:nvSpPr>
          <p:cNvPr id="45" name="TextBox 44"/>
          <p:cNvSpPr/>
          <p:nvPr>
            <p:custDataLst>
              <p:tags r:id="rId23"/>
            </p:custDataLst>
          </p:nvPr>
        </p:nvSpPr>
        <p:spPr>
          <a:xfrm>
            <a:off x="1872044" y="12167997"/>
            <a:ext cx="2195989" cy="755999"/>
          </a:xfrm>
          <a:prstGeom prst="rect">
            <a:avLst/>
          </a:prstGeom>
          <a:noFill/>
          <a:ln>
            <a:noFill/>
          </a:ln>
        </p:spPr>
        <p:txBody>
          <a:bodyPr wrap="none" lIns="0" tIns="109779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策略允許才介入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讀回並確認回復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20000" y="540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7" name="TextBox 46"/>
          <p:cNvSpPr/>
          <p:nvPr>
            <p:custDataLst>
              <p:tags r:id="rId24"/>
            </p:custDataLst>
          </p:nvPr>
        </p:nvSpPr>
        <p:spPr>
          <a:xfrm>
            <a:off x="4288250" y="5436013"/>
            <a:ext cx="2807970" cy="342709"/>
          </a:xfrm>
          <a:prstGeom prst="rect">
            <a:avLst/>
          </a:prstGeom>
          <a:noFill/>
          <a:ln>
            <a:noFill/>
          </a:ln>
        </p:spPr>
        <p:txBody>
          <a:bodyPr wrap="none" lIns="0" tIns="16407" rIns="0" bIns="0" anchor="t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48" name="TextBox 47"/>
          <p:cNvSpPr/>
          <p:nvPr>
            <p:custDataLst>
              <p:tags r:id="rId25"/>
            </p:custDataLst>
          </p:nvPr>
        </p:nvSpPr>
        <p:spPr>
          <a:xfrm>
            <a:off x="4297775" y="5730526"/>
            <a:ext cx="2807970" cy="263176"/>
          </a:xfrm>
          <a:prstGeom prst="rect">
            <a:avLst/>
          </a:prstGeom>
          <a:noFill/>
          <a:ln>
            <a:noFill/>
          </a:ln>
        </p:spPr>
        <p:txBody>
          <a:bodyPr wrap="none" lIns="0" tIns="26886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內容·時間差·方向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0000" y="6228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0" name="TextBox 49"/>
          <p:cNvSpPr/>
          <p:nvPr>
            <p:custDataLst>
              <p:tags r:id="rId26"/>
            </p:custDataLst>
          </p:nvPr>
        </p:nvSpPr>
        <p:spPr>
          <a:xfrm>
            <a:off x="4288250" y="6264021"/>
            <a:ext cx="2807970" cy="342709"/>
          </a:xfrm>
          <a:prstGeom prst="rect">
            <a:avLst/>
          </a:prstGeom>
          <a:noFill/>
          <a:ln>
            <a:noFill/>
          </a:ln>
        </p:spPr>
        <p:txBody>
          <a:bodyPr wrap="none" lIns="0" tIns="16399" rIns="0" bIns="0" anchor="t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51" name="TextBox 50"/>
          <p:cNvSpPr/>
          <p:nvPr>
            <p:custDataLst>
              <p:tags r:id="rId27"/>
            </p:custDataLst>
          </p:nvPr>
        </p:nvSpPr>
        <p:spPr>
          <a:xfrm>
            <a:off x="4297775" y="6558439"/>
            <a:ext cx="2807970" cy="263176"/>
          </a:xfrm>
          <a:prstGeom prst="rect">
            <a:avLst/>
          </a:prstGeom>
          <a:noFill/>
          <a:ln>
            <a:noFill/>
          </a:ln>
        </p:spPr>
        <p:txBody>
          <a:bodyPr wrap="none" lIns="0" tIns="26973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短窗位元組模式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128034" y="5706046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7128034" y="6533960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7451979" y="5706046"/>
            <a:ext cx="0" cy="828008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sp>
        <p:nvSpPr>
          <p:cNvPr id="55" name="Right Arrow 54"/>
          <p:cNvSpPr/>
          <p:nvPr/>
        </p:nvSpPr>
        <p:spPr>
          <a:xfrm>
            <a:off x="7487984" y="6011989"/>
            <a:ext cx="288036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848000" y="5688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7" name="TextBox 56"/>
          <p:cNvSpPr/>
          <p:nvPr>
            <p:custDataLst>
              <p:tags r:id="rId28"/>
            </p:custDataLst>
          </p:nvPr>
        </p:nvSpPr>
        <p:spPr>
          <a:xfrm>
            <a:off x="7816215" y="5723954"/>
            <a:ext cx="3060002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97107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校準＋融合</a:t>
            </a:r>
          </a:p>
        </p:txBody>
      </p:sp>
      <p:sp>
        <p:nvSpPr>
          <p:cNvPr id="58" name="TextBox 57"/>
          <p:cNvSpPr/>
          <p:nvPr>
            <p:custDataLst>
              <p:tags r:id="rId29"/>
            </p:custDataLst>
          </p:nvPr>
        </p:nvSpPr>
        <p:spPr>
          <a:xfrm>
            <a:off x="7825740" y="6174010"/>
            <a:ext cx="3060002" cy="387001"/>
          </a:xfrm>
          <a:prstGeom prst="rect">
            <a:avLst/>
          </a:prstGeom>
          <a:noFill/>
          <a:ln>
            <a:noFill/>
          </a:ln>
        </p:spPr>
        <p:txBody>
          <a:bodyPr wrap="none" lIns="0" tIns="76142" rIns="0" bIns="0" anchor="t" anchorCtr="0">
            <a:noAutofit/>
          </a:bodyPr>
          <a:lstStyle/>
          <a:p>
            <a:pPr algn="ctr"/>
            <a:r>
              <a:rPr lang="en-US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0980039" y="6011989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1592000" y="5688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1" name="TextBox 60"/>
          <p:cNvSpPr/>
          <p:nvPr>
            <p:custDataLst>
              <p:tags r:id="rId30"/>
            </p:custDataLst>
          </p:nvPr>
        </p:nvSpPr>
        <p:spPr>
          <a:xfrm>
            <a:off x="11560207" y="5723954"/>
            <a:ext cx="2735961" cy="503968"/>
          </a:xfrm>
          <a:prstGeom prst="rect">
            <a:avLst/>
          </a:prstGeom>
          <a:noFill/>
          <a:ln>
            <a:noFill/>
          </a:ln>
        </p:spPr>
        <p:txBody>
          <a:bodyPr wrap="none" lIns="190" tIns="97107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17類判定</a:t>
            </a:r>
          </a:p>
        </p:txBody>
      </p:sp>
      <p:sp>
        <p:nvSpPr>
          <p:cNvPr id="62" name="TextBox 61"/>
          <p:cNvSpPr/>
          <p:nvPr>
            <p:custDataLst>
              <p:tags r:id="rId31"/>
            </p:custDataLst>
          </p:nvPr>
        </p:nvSpPr>
        <p:spPr>
          <a:xfrm>
            <a:off x="11569732" y="6174010"/>
            <a:ext cx="2735961" cy="387001"/>
          </a:xfrm>
          <a:prstGeom prst="rect">
            <a:avLst/>
          </a:prstGeom>
          <a:noFill/>
          <a:ln>
            <a:noFill/>
          </a:ln>
        </p:spPr>
        <p:txBody>
          <a:bodyPr wrap="none" lIns="190" tIns="88842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信心與512維表徵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20000" y="7416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4" name="TextBox 63"/>
          <p:cNvSpPr/>
          <p:nvPr>
            <p:custDataLst>
              <p:tags r:id="rId32"/>
            </p:custDataLst>
          </p:nvPr>
        </p:nvSpPr>
        <p:spPr>
          <a:xfrm>
            <a:off x="4288250" y="7415974"/>
            <a:ext cx="2807970" cy="611981"/>
          </a:xfrm>
          <a:prstGeom prst="rect">
            <a:avLst/>
          </a:prstGeom>
          <a:noFill/>
          <a:ln>
            <a:noFill/>
          </a:ln>
        </p:spPr>
        <p:txBody>
          <a:bodyPr wrap="none" lIns="0" tIns="151085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512維表徵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20000" y="8244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6" name="TextBox 65"/>
          <p:cNvSpPr/>
          <p:nvPr>
            <p:custDataLst>
              <p:tags r:id="rId33"/>
            </p:custDataLst>
          </p:nvPr>
        </p:nvSpPr>
        <p:spPr>
          <a:xfrm>
            <a:off x="4288250" y="8243983"/>
            <a:ext cx="2807970" cy="611981"/>
          </a:xfrm>
          <a:prstGeom prst="rect">
            <a:avLst/>
          </a:prstGeom>
          <a:noFill/>
          <a:ln>
            <a:noFill/>
          </a:ln>
        </p:spPr>
        <p:txBody>
          <a:bodyPr wrap="none" lIns="0" tIns="151077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17維機率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128034" y="7722013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68" name="Connector 67"/>
          <p:cNvCxnSpPr/>
          <p:nvPr/>
        </p:nvCxnSpPr>
        <p:spPr>
          <a:xfrm>
            <a:off x="7128034" y="8550021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69" name="Connector 68"/>
          <p:cNvCxnSpPr/>
          <p:nvPr/>
        </p:nvCxnSpPr>
        <p:spPr>
          <a:xfrm>
            <a:off x="7451979" y="7722013"/>
            <a:ext cx="0" cy="828008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sp>
        <p:nvSpPr>
          <p:cNvPr id="70" name="Right Arrow 69"/>
          <p:cNvSpPr/>
          <p:nvPr/>
        </p:nvSpPr>
        <p:spPr>
          <a:xfrm>
            <a:off x="7487984" y="8027956"/>
            <a:ext cx="288036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848000" y="7704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2" name="TextBox 71"/>
          <p:cNvSpPr/>
          <p:nvPr>
            <p:custDataLst>
              <p:tags r:id="rId34"/>
            </p:custDataLst>
          </p:nvPr>
        </p:nvSpPr>
        <p:spPr>
          <a:xfrm>
            <a:off x="7816215" y="7740015"/>
            <a:ext cx="3060002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97045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529維向量</a:t>
            </a:r>
          </a:p>
        </p:txBody>
      </p:sp>
      <p:sp>
        <p:nvSpPr>
          <p:cNvPr id="73" name="TextBox 72"/>
          <p:cNvSpPr/>
          <p:nvPr>
            <p:custDataLst>
              <p:tags r:id="rId35"/>
            </p:custDataLst>
          </p:nvPr>
        </p:nvSpPr>
        <p:spPr>
          <a:xfrm>
            <a:off x="7825740" y="8189976"/>
            <a:ext cx="3060002" cy="387001"/>
          </a:xfrm>
          <a:prstGeom prst="rect">
            <a:avLst/>
          </a:prstGeom>
          <a:noFill/>
          <a:ln>
            <a:noFill/>
          </a:ln>
        </p:spPr>
        <p:txBody>
          <a:bodyPr wrap="none" lIns="0" tIns="88876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L2正規化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10980039" y="8027956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1592000" y="7704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6" name="TextBox 75"/>
          <p:cNvSpPr/>
          <p:nvPr>
            <p:custDataLst>
              <p:tags r:id="rId36"/>
            </p:custDataLst>
          </p:nvPr>
        </p:nvSpPr>
        <p:spPr>
          <a:xfrm>
            <a:off x="11560207" y="7704011"/>
            <a:ext cx="2735961" cy="360045"/>
          </a:xfrm>
          <a:prstGeom prst="rect">
            <a:avLst/>
          </a:prstGeom>
          <a:noFill/>
          <a:ln>
            <a:noFill/>
          </a:ln>
        </p:spPr>
        <p:txBody>
          <a:bodyPr wrap="none" lIns="190" tIns="25050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Top-5訓練案例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664029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8" name="TextBox 77"/>
          <p:cNvSpPr/>
          <p:nvPr>
            <p:custDataLst>
              <p:tags r:id="rId37"/>
            </p:custDataLst>
          </p:nvPr>
        </p:nvSpPr>
        <p:spPr>
          <a:xfrm>
            <a:off x="11635454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55" rIns="95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185999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0" name="TextBox 79"/>
          <p:cNvSpPr/>
          <p:nvPr>
            <p:custDataLst>
              <p:tags r:id="rId38"/>
            </p:custDataLst>
          </p:nvPr>
        </p:nvSpPr>
        <p:spPr>
          <a:xfrm>
            <a:off x="12157424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95" tIns="41855" rIns="0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2707969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2" name="TextBox 81"/>
          <p:cNvSpPr/>
          <p:nvPr>
            <p:custDataLst>
              <p:tags r:id="rId39"/>
            </p:custDataLst>
          </p:nvPr>
        </p:nvSpPr>
        <p:spPr>
          <a:xfrm>
            <a:off x="12679394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95" tIns="41855" rIns="0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230034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4" name="TextBox 83"/>
          <p:cNvSpPr/>
          <p:nvPr>
            <p:custDataLst>
              <p:tags r:id="rId40"/>
            </p:custDataLst>
          </p:nvPr>
        </p:nvSpPr>
        <p:spPr>
          <a:xfrm>
            <a:off x="13201460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55" rIns="95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752004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6" name="TextBox 85"/>
          <p:cNvSpPr/>
          <p:nvPr>
            <p:custDataLst>
              <p:tags r:id="rId41"/>
            </p:custDataLst>
          </p:nvPr>
        </p:nvSpPr>
        <p:spPr>
          <a:xfrm>
            <a:off x="13723430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95" tIns="41855" rIns="0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320000" y="9432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8" name="TextBox 87"/>
          <p:cNvSpPr/>
          <p:nvPr>
            <p:custDataLst>
              <p:tags r:id="rId42"/>
            </p:custDataLst>
          </p:nvPr>
        </p:nvSpPr>
        <p:spPr>
          <a:xfrm>
            <a:off x="4288250" y="9432036"/>
            <a:ext cx="2807970" cy="611981"/>
          </a:xfrm>
          <a:prstGeom prst="rect">
            <a:avLst/>
          </a:prstGeom>
          <a:noFill/>
          <a:ln>
            <a:noFill/>
          </a:ln>
        </p:spPr>
        <p:txBody>
          <a:bodyPr wrap="none" lIns="0" tIns="151024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正式判定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20000" y="1026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0" name="TextBox 89"/>
          <p:cNvSpPr/>
          <p:nvPr>
            <p:custDataLst>
              <p:tags r:id="rId43"/>
            </p:custDataLst>
          </p:nvPr>
        </p:nvSpPr>
        <p:spPr>
          <a:xfrm>
            <a:off x="4288250" y="10260044"/>
            <a:ext cx="2807970" cy="611981"/>
          </a:xfrm>
          <a:prstGeom prst="rect">
            <a:avLst/>
          </a:prstGeom>
          <a:noFill/>
          <a:ln>
            <a:noFill/>
          </a:ln>
        </p:spPr>
        <p:txBody>
          <a:bodyPr wrap="none" lIns="0" tIns="151016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案例證據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128034" y="9737979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92" name="Connector 91"/>
          <p:cNvCxnSpPr/>
          <p:nvPr/>
        </p:nvCxnSpPr>
        <p:spPr>
          <a:xfrm>
            <a:off x="7128034" y="10565987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93" name="Connector 92"/>
          <p:cNvCxnSpPr/>
          <p:nvPr/>
        </p:nvCxnSpPr>
        <p:spPr>
          <a:xfrm>
            <a:off x="7451979" y="9737979"/>
            <a:ext cx="0" cy="828008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sp>
        <p:nvSpPr>
          <p:cNvPr id="94" name="Right Arrow 93"/>
          <p:cNvSpPr/>
          <p:nvPr/>
        </p:nvSpPr>
        <p:spPr>
          <a:xfrm>
            <a:off x="7487984" y="10044017"/>
            <a:ext cx="288036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848000" y="9720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6" name="TextBox 95"/>
          <p:cNvSpPr/>
          <p:nvPr>
            <p:custDataLst>
              <p:tags r:id="rId44"/>
            </p:custDataLst>
          </p:nvPr>
        </p:nvSpPr>
        <p:spPr>
          <a:xfrm>
            <a:off x="7816215" y="9755981"/>
            <a:ext cx="3060002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97079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本機AI稽核</a:t>
            </a:r>
          </a:p>
        </p:txBody>
      </p:sp>
      <p:sp>
        <p:nvSpPr>
          <p:cNvPr id="97" name="TextBox 96"/>
          <p:cNvSpPr/>
          <p:nvPr>
            <p:custDataLst>
              <p:tags r:id="rId45"/>
            </p:custDataLst>
          </p:nvPr>
        </p:nvSpPr>
        <p:spPr>
          <a:xfrm>
            <a:off x="7825740" y="10206038"/>
            <a:ext cx="3060002" cy="387001"/>
          </a:xfrm>
          <a:prstGeom prst="rect">
            <a:avLst/>
          </a:prstGeom>
          <a:noFill/>
          <a:ln>
            <a:noFill/>
          </a:ln>
        </p:spPr>
        <p:txBody>
          <a:bodyPr wrap="none" lIns="0" tIns="88815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核對同一事件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0980039" y="10044017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11592000" y="9396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0" name="TextBox 99"/>
          <p:cNvSpPr/>
          <p:nvPr>
            <p:custDataLst>
              <p:tags r:id="rId46"/>
            </p:custDataLst>
          </p:nvPr>
        </p:nvSpPr>
        <p:spPr>
          <a:xfrm>
            <a:off x="11560207" y="9396032"/>
            <a:ext cx="2735961" cy="431959"/>
          </a:xfrm>
          <a:prstGeom prst="rect">
            <a:avLst/>
          </a:prstGeom>
          <a:noFill/>
          <a:ln>
            <a:noFill/>
          </a:ln>
        </p:spPr>
        <p:txBody>
          <a:bodyPr wrap="none" lIns="190" tIns="61028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592000" y="9900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2" name="TextBox 101"/>
          <p:cNvSpPr/>
          <p:nvPr>
            <p:custDataLst>
              <p:tags r:id="rId47"/>
            </p:custDataLst>
          </p:nvPr>
        </p:nvSpPr>
        <p:spPr>
          <a:xfrm>
            <a:off x="11560207" y="9899999"/>
            <a:ext cx="2735961" cy="431959"/>
          </a:xfrm>
          <a:prstGeom prst="rect">
            <a:avLst/>
          </a:prstGeom>
          <a:noFill/>
          <a:ln>
            <a:noFill/>
          </a:ln>
        </p:spPr>
        <p:txBody>
          <a:bodyPr wrap="none" lIns="190" tIns="61061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592000" y="10404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4" name="TextBox 103"/>
          <p:cNvSpPr/>
          <p:nvPr>
            <p:custDataLst>
              <p:tags r:id="rId48"/>
            </p:custDataLst>
          </p:nvPr>
        </p:nvSpPr>
        <p:spPr>
          <a:xfrm>
            <a:off x="11560207" y="10403967"/>
            <a:ext cx="2735961" cy="431959"/>
          </a:xfrm>
          <a:prstGeom prst="rect">
            <a:avLst/>
          </a:prstGeom>
          <a:noFill/>
          <a:ln>
            <a:noFill/>
          </a:ln>
        </p:spPr>
        <p:txBody>
          <a:bodyPr wrap="none" lIns="190" tIns="61093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5" name="TextBox 104"/>
          <p:cNvSpPr/>
          <p:nvPr>
            <p:custDataLst>
              <p:tags r:id="rId49"/>
            </p:custDataLst>
          </p:nvPr>
        </p:nvSpPr>
        <p:spPr>
          <a:xfrm>
            <a:off x="4319968" y="11411998"/>
            <a:ext cx="1000801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26" rIns="0" bIns="0" anchor="t" anchorCtr="0">
            <a:noAutofit/>
          </a:bodyPr>
          <a:lstStyle/>
          <a:p>
            <a:pPr algn="l"/>
            <a:r>
              <a:rPr lang="zh-TW" sz="18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策略檢查：範圍、允許動作與期限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320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7" name="TextBox 106"/>
          <p:cNvSpPr/>
          <p:nvPr>
            <p:custDataLst>
              <p:tags r:id="rId50"/>
            </p:custDataLst>
          </p:nvPr>
        </p:nvSpPr>
        <p:spPr>
          <a:xfrm>
            <a:off x="4288250" y="11879961"/>
            <a:ext cx="2807970" cy="575977"/>
          </a:xfrm>
          <a:prstGeom prst="rect">
            <a:avLst/>
          </a:prstGeom>
          <a:noFill/>
          <a:ln>
            <a:noFill/>
          </a:ln>
        </p:spPr>
        <p:txBody>
          <a:bodyPr wrap="none" lIns="0" tIns="133099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套用規則</a:t>
            </a:r>
          </a:p>
        </p:txBody>
      </p:sp>
      <p:sp>
        <p:nvSpPr>
          <p:cNvPr id="108" name="Right Arrow 107"/>
          <p:cNvSpPr/>
          <p:nvPr/>
        </p:nvSpPr>
        <p:spPr>
          <a:xfrm>
            <a:off x="7236047" y="12059984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7848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0" name="TextBox 109"/>
          <p:cNvSpPr/>
          <p:nvPr>
            <p:custDataLst>
              <p:tags r:id="rId51"/>
            </p:custDataLst>
          </p:nvPr>
        </p:nvSpPr>
        <p:spPr>
          <a:xfrm>
            <a:off x="7816215" y="11879961"/>
            <a:ext cx="2807970" cy="575977"/>
          </a:xfrm>
          <a:prstGeom prst="rect">
            <a:avLst/>
          </a:prstGeom>
          <a:noFill/>
          <a:ln>
            <a:noFill/>
          </a:ln>
        </p:spPr>
        <p:txBody>
          <a:bodyPr wrap="none" lIns="190" tIns="133099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讀回驗證</a:t>
            </a:r>
          </a:p>
        </p:txBody>
      </p:sp>
      <p:sp>
        <p:nvSpPr>
          <p:cNvPr id="111" name="Right Arrow 110"/>
          <p:cNvSpPr/>
          <p:nvPr/>
        </p:nvSpPr>
        <p:spPr>
          <a:xfrm>
            <a:off x="10764012" y="12059984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1376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3" name="TextBox 112"/>
          <p:cNvSpPr/>
          <p:nvPr>
            <p:custDataLst>
              <p:tags r:id="rId52"/>
            </p:custDataLst>
          </p:nvPr>
        </p:nvSpPr>
        <p:spPr>
          <a:xfrm>
            <a:off x="11344275" y="11879961"/>
            <a:ext cx="2807970" cy="575977"/>
          </a:xfrm>
          <a:prstGeom prst="rect">
            <a:avLst/>
          </a:prstGeom>
          <a:noFill/>
          <a:ln>
            <a:noFill/>
          </a:ln>
        </p:spPr>
        <p:txBody>
          <a:bodyPr wrap="none" lIns="0" tIns="133099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</a:t>
            </a:r>
          </a:p>
        </p:txBody>
      </p:sp>
      <p:sp>
        <p:nvSpPr>
          <p:cNvPr id="114" name="TextBox 113"/>
          <p:cNvSpPr/>
          <p:nvPr>
            <p:custDataLst>
              <p:tags r:id="rId53"/>
            </p:custDataLst>
          </p:nvPr>
        </p:nvSpPr>
        <p:spPr>
          <a:xfrm>
            <a:off x="4319968" y="12564046"/>
            <a:ext cx="1000801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66924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複核／不確定 → 保留監測或蒐證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75977" y="13499973"/>
            <a:ext cx="13968032" cy="503968"/>
          </a:xfrm>
          <a:prstGeom prst="rect">
            <a:avLst/>
          </a:prstGeom>
          <a:solidFill>
            <a:srgbClr val="E9F5F3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6" name="TextBox 115"/>
          <p:cNvSpPr/>
          <p:nvPr>
            <p:custDataLst>
              <p:tags r:id="rId54"/>
            </p:custDataLst>
          </p:nvPr>
        </p:nvSpPr>
        <p:spPr>
          <a:xfrm>
            <a:off x="691420" y="13499973"/>
            <a:ext cx="13679996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113851" rIns="0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117" name="TextBox 116"/>
          <p:cNvSpPr/>
          <p:nvPr>
            <p:custDataLst>
              <p:tags r:id="rId55"/>
            </p:custDataLst>
          </p:nvPr>
        </p:nvSpPr>
        <p:spPr>
          <a:xfrm>
            <a:off x="575977" y="14291977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25083" rIns="0" bIns="0" anchor="t" anchorCtr="0">
            <a:noAutofit/>
          </a:bodyPr>
          <a:lstStyle/>
          <a:p>
            <a:pPr algn="l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118" name="TextBox 117"/>
          <p:cNvSpPr/>
          <p:nvPr>
            <p:custDataLst>
              <p:tags r:id="rId56"/>
            </p:custDataLst>
          </p:nvPr>
        </p:nvSpPr>
        <p:spPr>
          <a:xfrm>
            <a:off x="1116044" y="14291977"/>
            <a:ext cx="13320046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8445" rIns="0" bIns="0" anchor="t" anchorCtr="0">
            <a:noAutofit/>
          </a:bodyPr>
          <a:lstStyle/>
          <a:p>
            <a:pPr algn="l"/>
            <a:r>
              <a:rPr lang="zh-TW" sz="2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三項創新，對應具體事件與產物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75977" y="14796040"/>
            <a:ext cx="503968" cy="36004"/>
          </a:xfrm>
          <a:prstGeom prst="rect">
            <a:avLst/>
          </a:prstGeom>
          <a:solidFill>
            <a:srgbClr val="E3A33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0" name="TextBox 119"/>
          <p:cNvSpPr/>
          <p:nvPr>
            <p:custDataLst>
              <p:tags r:id="rId57"/>
            </p:custDataLst>
          </p:nvPr>
        </p:nvSpPr>
        <p:spPr>
          <a:xfrm>
            <a:off x="575977" y="14867954"/>
            <a:ext cx="4391978" cy="395954"/>
          </a:xfrm>
          <a:prstGeom prst="rect">
            <a:avLst/>
          </a:prstGeom>
          <a:noFill/>
          <a:ln>
            <a:noFill/>
          </a:ln>
        </p:spPr>
        <p:txBody>
          <a:bodyPr wrap="none" lIns="0" tIns="26343" rIns="0" bIns="0" anchor="t" anchorCtr="0">
            <a:noAutofit/>
          </a:bodyPr>
          <a:lstStyle/>
          <a:p>
            <a:pPr algn="l"/>
            <a:r>
              <a:rPr lang="zh-TW" sz="22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21" name="TextBox 120"/>
          <p:cNvSpPr/>
          <p:nvPr>
            <p:custDataLst>
              <p:tags r:id="rId58"/>
            </p:custDataLst>
          </p:nvPr>
        </p:nvSpPr>
        <p:spPr>
          <a:xfrm>
            <a:off x="575977" y="15300008"/>
            <a:ext cx="4463986" cy="900017"/>
          </a:xfrm>
          <a:prstGeom prst="rect">
            <a:avLst/>
          </a:prstGeom>
          <a:noFill/>
          <a:ln>
            <a:noFill/>
          </a:ln>
        </p:spPr>
        <p:txBody>
          <a:bodyPr wrap="none" lIns="0" tIns="47657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CTBM讀取內容、時序與方向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PBCNN補充局部位元組模式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校準融合後輸出固定17類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364004" y="14796040"/>
            <a:ext cx="503968" cy="36004"/>
          </a:xfrm>
          <a:prstGeom prst="rect">
            <a:avLst/>
          </a:prstGeom>
          <a:solidFill>
            <a:srgbClr val="E3A33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123" name="Connector 122"/>
          <p:cNvCxnSpPr/>
          <p:nvPr/>
        </p:nvCxnSpPr>
        <p:spPr>
          <a:xfrm>
            <a:off x="5147977" y="14903958"/>
            <a:ext cx="0" cy="1223962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124" name="TextBox 123"/>
          <p:cNvSpPr/>
          <p:nvPr>
            <p:custDataLst>
              <p:tags r:id="rId59"/>
            </p:custDataLst>
          </p:nvPr>
        </p:nvSpPr>
        <p:spPr>
          <a:xfrm>
            <a:off x="5364004" y="14867954"/>
            <a:ext cx="4391978" cy="395954"/>
          </a:xfrm>
          <a:prstGeom prst="rect">
            <a:avLst/>
          </a:prstGeom>
          <a:noFill/>
          <a:ln>
            <a:noFill/>
          </a:ln>
        </p:spPr>
        <p:txBody>
          <a:bodyPr wrap="none" lIns="0" tIns="26343" rIns="0" bIns="0" anchor="t" anchorCtr="0">
            <a:noAutofit/>
          </a:bodyPr>
          <a:lstStyle/>
          <a:p>
            <a:pPr algn="l"/>
            <a:r>
              <a:rPr lang="zh-TW" sz="22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125" name="TextBox 124"/>
          <p:cNvSpPr/>
          <p:nvPr>
            <p:custDataLst>
              <p:tags r:id="rId60"/>
            </p:custDataLst>
          </p:nvPr>
        </p:nvSpPr>
        <p:spPr>
          <a:xfrm>
            <a:off x="5364004" y="15300008"/>
            <a:ext cx="4463986" cy="900017"/>
          </a:xfrm>
          <a:prstGeom prst="rect">
            <a:avLst/>
          </a:prstGeom>
          <a:noFill/>
          <a:ln>
            <a:noFill/>
          </a:ln>
        </p:spPr>
        <p:txBody>
          <a:bodyPr wrap="none" lIns="0" tIns="47657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512維表徵＋17維類別機率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529維向量檢索Top-5案例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AI附回支持／複核／不確定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152031" y="14796040"/>
            <a:ext cx="503968" cy="36004"/>
          </a:xfrm>
          <a:prstGeom prst="rect">
            <a:avLst/>
          </a:prstGeom>
          <a:solidFill>
            <a:srgbClr val="E3A33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127" name="Connector 126"/>
          <p:cNvCxnSpPr/>
          <p:nvPr/>
        </p:nvCxnSpPr>
        <p:spPr>
          <a:xfrm>
            <a:off x="9936004" y="14903958"/>
            <a:ext cx="0" cy="1223962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128" name="TextBox 127"/>
          <p:cNvSpPr/>
          <p:nvPr>
            <p:custDataLst>
              <p:tags r:id="rId61"/>
            </p:custDataLst>
          </p:nvPr>
        </p:nvSpPr>
        <p:spPr>
          <a:xfrm>
            <a:off x="10152031" y="14867954"/>
            <a:ext cx="4391978" cy="395954"/>
          </a:xfrm>
          <a:prstGeom prst="rect">
            <a:avLst/>
          </a:prstGeom>
          <a:noFill/>
          <a:ln>
            <a:noFill/>
          </a:ln>
        </p:spPr>
        <p:txBody>
          <a:bodyPr wrap="none" lIns="0" tIns="26343" rIns="0" bIns="0" anchor="t" anchorCtr="0">
            <a:noAutofit/>
          </a:bodyPr>
          <a:lstStyle/>
          <a:p>
            <a:pPr algn="l"/>
            <a:r>
              <a:rPr lang="zh-TW" sz="22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129" name="TextBox 128"/>
          <p:cNvSpPr/>
          <p:nvPr>
            <p:custDataLst>
              <p:tags r:id="rId62"/>
            </p:custDataLst>
          </p:nvPr>
        </p:nvSpPr>
        <p:spPr>
          <a:xfrm>
            <a:off x="10152031" y="15300008"/>
            <a:ext cx="4463986" cy="900017"/>
          </a:xfrm>
          <a:prstGeom prst="rect">
            <a:avLst/>
          </a:prstGeom>
          <a:noFill/>
          <a:ln>
            <a:noFill/>
          </a:ln>
        </p:spPr>
        <p:txBody>
          <a:bodyPr wrap="none" lIns="0" tIns="47658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FTP／SSH：登入防護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HTTP型DDoS：來源限速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Bot限制C2；讀回及到期回復</a:t>
            </a:r>
          </a:p>
        </p:txBody>
      </p:sp>
      <p:sp>
        <p:nvSpPr>
          <p:cNvPr id="130" name="TextBox 129"/>
          <p:cNvSpPr/>
          <p:nvPr>
            <p:custDataLst>
              <p:tags r:id="rId63"/>
            </p:custDataLst>
          </p:nvPr>
        </p:nvSpPr>
        <p:spPr>
          <a:xfrm>
            <a:off x="575977" y="16380047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25013" rIns="0" bIns="0" anchor="t" anchorCtr="0">
            <a:noAutofit/>
          </a:bodyPr>
          <a:lstStyle/>
          <a:p>
            <a:pPr algn="l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131" name="TextBox 130"/>
          <p:cNvSpPr/>
          <p:nvPr>
            <p:custDataLst>
              <p:tags r:id="rId64"/>
            </p:custDataLst>
          </p:nvPr>
        </p:nvSpPr>
        <p:spPr>
          <a:xfrm>
            <a:off x="1116044" y="16380047"/>
            <a:ext cx="13320046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8515" rIns="0" bIns="0" anchor="t" anchorCtr="0">
            <a:noAutofit/>
          </a:bodyPr>
          <a:lstStyle/>
          <a:p>
            <a:pPr algn="l"/>
            <a:r>
              <a:rPr lang="zh-TW" sz="2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132" name="TextBox 131"/>
          <p:cNvSpPr/>
          <p:nvPr>
            <p:custDataLst>
              <p:tags r:id="rId65"/>
            </p:custDataLst>
          </p:nvPr>
        </p:nvSpPr>
        <p:spPr>
          <a:xfrm>
            <a:off x="575977" y="16920020"/>
            <a:ext cx="6623971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50187" rIns="0" bIns="0" anchor="t" anchorCtr="0">
            <a:noAutofit/>
          </a:bodyPr>
          <a:lstStyle/>
          <a:p>
            <a:pPr algn="l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133" name="TextBox 132"/>
          <p:cNvSpPr/>
          <p:nvPr>
            <p:custDataLst>
              <p:tags r:id="rId66"/>
            </p:custDataLst>
          </p:nvPr>
        </p:nvSpPr>
        <p:spPr>
          <a:xfrm>
            <a:off x="575977" y="17423987"/>
            <a:ext cx="1584008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37" rIns="0" bIns="0" anchor="t" anchorCtr="0">
            <a:noAutofit/>
          </a:bodyPr>
          <a:lstStyle/>
          <a:p>
            <a:pPr algn="l"/>
            <a:r>
              <a:rPr lang="en-US" sz="18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304002" y="17495996"/>
            <a:ext cx="3384042" cy="216027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2304002" y="17495996"/>
            <a:ext cx="2698718" cy="216027"/>
          </a:xfrm>
          <a:prstGeom prst="rect">
            <a:avLst/>
          </a:prstGeom>
          <a:solidFill>
            <a:srgbClr val="8198AE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6" name="TextBox 135"/>
          <p:cNvSpPr/>
          <p:nvPr>
            <p:custDataLst>
              <p:tags r:id="rId67"/>
            </p:custDataLst>
          </p:nvPr>
        </p:nvSpPr>
        <p:spPr>
          <a:xfrm>
            <a:off x="5729954" y="17423987"/>
            <a:ext cx="1403985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16691" rIns="0" bIns="0" anchor="t" anchorCtr="0">
            <a:noAutofit/>
          </a:bodyPr>
          <a:lstStyle/>
          <a:p>
            <a:pPr algn="r"/>
            <a:r>
              <a:rPr lang="zh-TW" sz="21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137" name="TextBox 136"/>
          <p:cNvSpPr/>
          <p:nvPr>
            <p:custDataLst>
              <p:tags r:id="rId68"/>
            </p:custDataLst>
          </p:nvPr>
        </p:nvSpPr>
        <p:spPr>
          <a:xfrm>
            <a:off x="575977" y="18035968"/>
            <a:ext cx="1584008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55" rIns="0" bIns="0" anchor="t" anchorCtr="0">
            <a:noAutofit/>
          </a:bodyPr>
          <a:lstStyle/>
          <a:p>
            <a:pPr algn="l"/>
            <a:r>
              <a:rPr lang="en-US" sz="18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304002" y="18107978"/>
            <a:ext cx="3384042" cy="216027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2304002" y="18107978"/>
            <a:ext cx="3116771" cy="216027"/>
          </a:xfrm>
          <a:prstGeom prst="rect">
            <a:avLst/>
          </a:prstGeom>
          <a:solidFill>
            <a:srgbClr val="8198AE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0" name="TextBox 139"/>
          <p:cNvSpPr/>
          <p:nvPr>
            <p:custDataLst>
              <p:tags r:id="rId69"/>
            </p:custDataLst>
          </p:nvPr>
        </p:nvSpPr>
        <p:spPr>
          <a:xfrm>
            <a:off x="5729954" y="18035968"/>
            <a:ext cx="1403985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16709" rIns="0" bIns="0" anchor="t" anchorCtr="0">
            <a:noAutofit/>
          </a:bodyPr>
          <a:lstStyle/>
          <a:p>
            <a:pPr algn="r"/>
            <a:r>
              <a:rPr lang="zh-TW" sz="21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141" name="TextBox 140"/>
          <p:cNvSpPr/>
          <p:nvPr>
            <p:custDataLst>
              <p:tags r:id="rId70"/>
            </p:custDataLst>
          </p:nvPr>
        </p:nvSpPr>
        <p:spPr>
          <a:xfrm>
            <a:off x="575977" y="18648045"/>
            <a:ext cx="1584008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779" rIns="0" bIns="0" anchor="t" anchorCtr="0">
            <a:noAutofit/>
          </a:bodyPr>
          <a:lstStyle/>
          <a:p>
            <a:pPr algn="l"/>
            <a:r>
              <a:rPr lang="en-US" sz="18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304002" y="18719959"/>
            <a:ext cx="3384042" cy="216027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2304002" y="18719959"/>
            <a:ext cx="3148870" cy="216027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4" name="TextBox 143"/>
          <p:cNvSpPr/>
          <p:nvPr>
            <p:custDataLst>
              <p:tags r:id="rId71"/>
            </p:custDataLst>
          </p:nvPr>
        </p:nvSpPr>
        <p:spPr>
          <a:xfrm>
            <a:off x="5729954" y="18648045"/>
            <a:ext cx="1403985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16633" rIns="0" bIns="0" anchor="t" anchorCtr="0">
            <a:noAutofit/>
          </a:bodyPr>
          <a:lstStyle/>
          <a:p>
            <a:pPr algn="r"/>
            <a:r>
              <a:rPr lang="en-US" sz="2100" b="1" dirty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145" name="TextBox 144"/>
          <p:cNvSpPr/>
          <p:nvPr>
            <p:custDataLst>
              <p:tags r:id="rId72"/>
            </p:custDataLst>
          </p:nvPr>
        </p:nvSpPr>
        <p:spPr>
          <a:xfrm>
            <a:off x="575977" y="19260026"/>
            <a:ext cx="6623971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2" rIns="0" bIns="0" anchor="t" anchorCtr="0">
            <a:noAutofit/>
          </a:bodyPr>
          <a:lstStyle/>
          <a:p>
            <a:pPr algn="l"/>
            <a:r>
              <a:rPr lang="zh-TW" sz="16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整體準確率98.08%·固定17類分類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559992" y="16920020"/>
            <a:ext cx="0" cy="2843974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147" name="TextBox 146"/>
          <p:cNvSpPr/>
          <p:nvPr>
            <p:custDataLst>
              <p:tags r:id="rId73"/>
            </p:custDataLst>
          </p:nvPr>
        </p:nvSpPr>
        <p:spPr>
          <a:xfrm>
            <a:off x="7920038" y="16920020"/>
            <a:ext cx="6623971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50187" rIns="0" bIns="0" anchor="t" anchorCtr="0">
            <a:noAutofit/>
          </a:bodyPr>
          <a:lstStyle/>
          <a:p>
            <a:pPr algn="l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148" name="TextBox 147"/>
          <p:cNvSpPr/>
          <p:nvPr>
            <p:custDataLst>
              <p:tags r:id="rId74"/>
            </p:custDataLst>
          </p:nvPr>
        </p:nvSpPr>
        <p:spPr>
          <a:xfrm>
            <a:off x="7920038" y="17351978"/>
            <a:ext cx="6623971" cy="431959"/>
          </a:xfrm>
          <a:prstGeom prst="rect">
            <a:avLst/>
          </a:prstGeom>
          <a:noFill/>
          <a:ln>
            <a:noFill/>
          </a:ln>
        </p:spPr>
        <p:txBody>
          <a:bodyPr wrap="none" lIns="0" tIns="-56774" rIns="0" bIns="0" anchor="t" anchorCtr="0">
            <a:noAutofit/>
          </a:bodyPr>
          <a:lstStyle/>
          <a:p>
            <a:pPr algn="l"/>
            <a:r>
              <a:rPr lang="en-US" sz="3200" b="1" dirty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149" name="TextBox 148"/>
          <p:cNvSpPr/>
          <p:nvPr>
            <p:custDataLst>
              <p:tags r:id="rId75"/>
            </p:custDataLst>
          </p:nvPr>
        </p:nvSpPr>
        <p:spPr>
          <a:xfrm>
            <a:off x="7920038" y="17892046"/>
            <a:ext cx="6623971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66924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MRR@5  93.89%·訓練／查詢重疊0</a:t>
            </a:r>
          </a:p>
        </p:txBody>
      </p:sp>
      <p:sp>
        <p:nvSpPr>
          <p:cNvPr id="150" name="TextBox 149"/>
          <p:cNvSpPr/>
          <p:nvPr>
            <p:custDataLst>
              <p:tags r:id="rId76"/>
            </p:custDataLst>
          </p:nvPr>
        </p:nvSpPr>
        <p:spPr>
          <a:xfrm>
            <a:off x="7878699" y="18360009"/>
            <a:ext cx="2087975" cy="431959"/>
          </a:xfrm>
          <a:prstGeom prst="rect">
            <a:avLst/>
          </a:prstGeom>
          <a:noFill/>
          <a:ln>
            <a:noFill/>
          </a:ln>
        </p:spPr>
        <p:txBody>
          <a:bodyPr wrap="none" lIns="95" tIns="10759" rIns="0" bIns="0" anchor="t" anchorCtr="0">
            <a:noAutofit/>
          </a:bodyPr>
          <a:lstStyle/>
          <a:p>
            <a:pPr algn="ctr"/>
            <a:r>
              <a:rPr lang="zh-TW" sz="2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51" name="TextBox 150"/>
          <p:cNvSpPr/>
          <p:nvPr>
            <p:custDataLst>
              <p:tags r:id="rId77"/>
            </p:custDataLst>
          </p:nvPr>
        </p:nvSpPr>
        <p:spPr>
          <a:xfrm>
            <a:off x="7892986" y="18827972"/>
            <a:ext cx="2087975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32234" rIns="0" bIns="0" anchor="t" anchorCtr="0">
            <a:noAutofit/>
          </a:bodyPr>
          <a:lstStyle/>
          <a:p>
            <a:pPr algn="ctr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52" name="TextBox 151"/>
          <p:cNvSpPr/>
          <p:nvPr>
            <p:custDataLst>
              <p:tags r:id="rId78"/>
            </p:custDataLst>
          </p:nvPr>
        </p:nvSpPr>
        <p:spPr>
          <a:xfrm>
            <a:off x="10146697" y="18360009"/>
            <a:ext cx="2087975" cy="431959"/>
          </a:xfrm>
          <a:prstGeom prst="rect">
            <a:avLst/>
          </a:prstGeom>
          <a:noFill/>
          <a:ln>
            <a:noFill/>
          </a:ln>
        </p:spPr>
        <p:txBody>
          <a:bodyPr wrap="none" lIns="95" tIns="10759" rIns="0" bIns="0" anchor="t" anchorCtr="0">
            <a:noAutofit/>
          </a:bodyPr>
          <a:lstStyle/>
          <a:p>
            <a:pPr algn="ctr"/>
            <a:r>
              <a:rPr lang="zh-TW" sz="2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53" name="TextBox 152"/>
          <p:cNvSpPr/>
          <p:nvPr>
            <p:custDataLst>
              <p:tags r:id="rId79"/>
            </p:custDataLst>
          </p:nvPr>
        </p:nvSpPr>
        <p:spPr>
          <a:xfrm>
            <a:off x="10160984" y="18827972"/>
            <a:ext cx="2087975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32234" rIns="0" bIns="0" anchor="t" anchorCtr="0">
            <a:noAutofit/>
          </a:bodyPr>
          <a:lstStyle/>
          <a:p>
            <a:pPr algn="ctr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54" name="TextBox 153"/>
          <p:cNvSpPr/>
          <p:nvPr>
            <p:custDataLst>
              <p:tags r:id="rId80"/>
            </p:custDataLst>
          </p:nvPr>
        </p:nvSpPr>
        <p:spPr>
          <a:xfrm>
            <a:off x="12414695" y="18360009"/>
            <a:ext cx="2087975" cy="431959"/>
          </a:xfrm>
          <a:prstGeom prst="rect">
            <a:avLst/>
          </a:prstGeom>
          <a:noFill/>
          <a:ln>
            <a:noFill/>
          </a:ln>
        </p:spPr>
        <p:txBody>
          <a:bodyPr wrap="none" lIns="95" tIns="10759" rIns="0" bIns="0" anchor="t" anchorCtr="0">
            <a:noAutofit/>
          </a:bodyPr>
          <a:lstStyle/>
          <a:p>
            <a:pPr algn="ctr"/>
            <a:r>
              <a:rPr lang="zh-TW" sz="2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55" name="TextBox 154"/>
          <p:cNvSpPr/>
          <p:nvPr>
            <p:custDataLst>
              <p:tags r:id="rId81"/>
            </p:custDataLst>
          </p:nvPr>
        </p:nvSpPr>
        <p:spPr>
          <a:xfrm>
            <a:off x="12428982" y="18827972"/>
            <a:ext cx="2087975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32234" rIns="0" bIns="0" anchor="t" anchorCtr="0">
            <a:noAutofit/>
          </a:bodyPr>
          <a:lstStyle/>
          <a:p>
            <a:pPr algn="ctr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56" name="TextBox 155"/>
          <p:cNvSpPr/>
          <p:nvPr>
            <p:custDataLst>
              <p:tags r:id="rId82"/>
            </p:custDataLst>
          </p:nvPr>
        </p:nvSpPr>
        <p:spPr>
          <a:xfrm>
            <a:off x="7920038" y="19296031"/>
            <a:ext cx="6623971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8891" rIns="0" bIns="0" anchor="t" anchorCtr="0">
            <a:noAutofit/>
          </a:bodyPr>
          <a:lstStyle/>
          <a:p>
            <a:pPr algn="l">
              <a:lnSpc>
                <a:spcPts val="1914"/>
              </a:lnSpc>
            </a:pPr>
            <a:r>
              <a:rPr lang="zh-TW" sz="145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l">
              <a:lnSpc>
                <a:spcPts val="1914"/>
              </a:lnSpc>
            </a:pPr>
            <a:r>
              <a:rPr lang="zh-TW" sz="145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75977" y="19872008"/>
            <a:ext cx="13968032" cy="0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158" name="TextBox 157"/>
          <p:cNvSpPr/>
          <p:nvPr>
            <p:custDataLst>
              <p:tags r:id="rId83"/>
            </p:custDataLst>
          </p:nvPr>
        </p:nvSpPr>
        <p:spPr>
          <a:xfrm>
            <a:off x="575977" y="19980021"/>
            <a:ext cx="2412016" cy="575977"/>
          </a:xfrm>
          <a:prstGeom prst="rect">
            <a:avLst/>
          </a:prstGeom>
          <a:noFill/>
          <a:ln>
            <a:noFill/>
          </a:ln>
        </p:spPr>
        <p:txBody>
          <a:bodyPr wrap="none" lIns="0" tIns="19755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17類本機重跑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6種隔離TCP情境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40024" y="19980021"/>
            <a:ext cx="1116044" cy="324041"/>
          </a:xfrm>
          <a:prstGeom prst="rect">
            <a:avLst/>
          </a:prstGeom>
          <a:solidFill>
            <a:srgbClr val="F4F7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0" name="TextBox 159"/>
          <p:cNvSpPr/>
          <p:nvPr>
            <p:custDataLst>
              <p:tags r:id="rId84"/>
            </p:custDataLst>
          </p:nvPr>
        </p:nvSpPr>
        <p:spPr>
          <a:xfrm>
            <a:off x="3214592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7" rIns="95" bIns="0" anchor="t" anchorCtr="0">
            <a:noAutofit/>
          </a:bodyPr>
          <a:lstStyle/>
          <a:p>
            <a:pPr algn="ctr"/>
            <a:r>
              <a:rPr lang="zh-TW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正常</a:t>
            </a:r>
          </a:p>
        </p:txBody>
      </p:sp>
      <p:sp>
        <p:nvSpPr>
          <p:cNvPr id="161" name="TextBox 160"/>
          <p:cNvSpPr/>
          <p:nvPr>
            <p:custDataLst>
              <p:tags r:id="rId85"/>
            </p:custDataLst>
          </p:nvPr>
        </p:nvSpPr>
        <p:spPr>
          <a:xfrm>
            <a:off x="3217736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95" tIns="3386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監測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499991" y="19980021"/>
            <a:ext cx="1116044" cy="324041"/>
          </a:xfrm>
          <a:prstGeom prst="rect">
            <a:avLst/>
          </a:prstGeom>
          <a:solidFill>
            <a:srgbClr val="FFF5E5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3" name="TextBox 162"/>
          <p:cNvSpPr/>
          <p:nvPr>
            <p:custDataLst>
              <p:tags r:id="rId86"/>
            </p:custDataLst>
          </p:nvPr>
        </p:nvSpPr>
        <p:spPr>
          <a:xfrm>
            <a:off x="4474559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40567" rIns="0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FTP</a:t>
            </a:r>
          </a:p>
        </p:txBody>
      </p:sp>
      <p:sp>
        <p:nvSpPr>
          <p:cNvPr id="164" name="TextBox 163"/>
          <p:cNvSpPr/>
          <p:nvPr>
            <p:custDataLst>
              <p:tags r:id="rId87"/>
            </p:custDataLst>
          </p:nvPr>
        </p:nvSpPr>
        <p:spPr>
          <a:xfrm>
            <a:off x="4477798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0" tIns="3386" rIns="95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759958" y="19980021"/>
            <a:ext cx="1116044" cy="324041"/>
          </a:xfrm>
          <a:prstGeom prst="rect">
            <a:avLst/>
          </a:prstGeom>
          <a:solidFill>
            <a:srgbClr val="FFF5E5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6" name="TextBox 165"/>
          <p:cNvSpPr/>
          <p:nvPr>
            <p:custDataLst>
              <p:tags r:id="rId88"/>
            </p:custDataLst>
          </p:nvPr>
        </p:nvSpPr>
        <p:spPr>
          <a:xfrm>
            <a:off x="5734621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7" rIns="95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SSH</a:t>
            </a:r>
          </a:p>
        </p:txBody>
      </p:sp>
      <p:sp>
        <p:nvSpPr>
          <p:cNvPr id="167" name="TextBox 166"/>
          <p:cNvSpPr/>
          <p:nvPr>
            <p:custDataLst>
              <p:tags r:id="rId89"/>
            </p:custDataLst>
          </p:nvPr>
        </p:nvSpPr>
        <p:spPr>
          <a:xfrm>
            <a:off x="5737765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0" tIns="3386" rIns="95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020020" y="19980021"/>
            <a:ext cx="1116044" cy="324041"/>
          </a:xfrm>
          <a:prstGeom prst="rect">
            <a:avLst/>
          </a:prstGeom>
          <a:solidFill>
            <a:srgbClr val="FFF5E5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9" name="TextBox 168"/>
          <p:cNvSpPr/>
          <p:nvPr>
            <p:custDataLst>
              <p:tags r:id="rId90"/>
            </p:custDataLst>
          </p:nvPr>
        </p:nvSpPr>
        <p:spPr>
          <a:xfrm>
            <a:off x="6994588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7" rIns="95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HTTP</a:t>
            </a:r>
          </a:p>
        </p:txBody>
      </p:sp>
      <p:sp>
        <p:nvSpPr>
          <p:cNvPr id="170" name="TextBox 169"/>
          <p:cNvSpPr/>
          <p:nvPr>
            <p:custDataLst>
              <p:tags r:id="rId91"/>
            </p:custDataLst>
          </p:nvPr>
        </p:nvSpPr>
        <p:spPr>
          <a:xfrm>
            <a:off x="6997732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95" tIns="3386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279987" y="19980021"/>
            <a:ext cx="1116044" cy="324041"/>
          </a:xfrm>
          <a:prstGeom prst="rect">
            <a:avLst/>
          </a:prstGeom>
          <a:solidFill>
            <a:srgbClr val="F4F7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2" name="TextBox 171"/>
          <p:cNvSpPr/>
          <p:nvPr>
            <p:custDataLst>
              <p:tags r:id="rId92"/>
            </p:custDataLst>
          </p:nvPr>
        </p:nvSpPr>
        <p:spPr>
          <a:xfrm>
            <a:off x="8254556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40567" rIns="0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XSS</a:t>
            </a:r>
          </a:p>
        </p:txBody>
      </p:sp>
      <p:sp>
        <p:nvSpPr>
          <p:cNvPr id="173" name="TextBox 172"/>
          <p:cNvSpPr/>
          <p:nvPr>
            <p:custDataLst>
              <p:tags r:id="rId93"/>
            </p:custDataLst>
          </p:nvPr>
        </p:nvSpPr>
        <p:spPr>
          <a:xfrm>
            <a:off x="8257794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0" tIns="3386" rIns="95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蒐證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539954" y="19980021"/>
            <a:ext cx="1116044" cy="324041"/>
          </a:xfrm>
          <a:prstGeom prst="rect">
            <a:avLst/>
          </a:prstGeom>
          <a:solidFill>
            <a:srgbClr val="FFF5E5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5" name="TextBox 174"/>
          <p:cNvSpPr/>
          <p:nvPr>
            <p:custDataLst>
              <p:tags r:id="rId94"/>
            </p:custDataLst>
          </p:nvPr>
        </p:nvSpPr>
        <p:spPr>
          <a:xfrm>
            <a:off x="9514618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7" rIns="95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Bot</a:t>
            </a:r>
          </a:p>
        </p:txBody>
      </p:sp>
      <p:sp>
        <p:nvSpPr>
          <p:cNvPr id="176" name="TextBox 175"/>
          <p:cNvSpPr/>
          <p:nvPr>
            <p:custDataLst>
              <p:tags r:id="rId95"/>
            </p:custDataLst>
          </p:nvPr>
        </p:nvSpPr>
        <p:spPr>
          <a:xfrm>
            <a:off x="9517761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0" tIns="3386" rIns="95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7" name="TextBox 176"/>
          <p:cNvSpPr/>
          <p:nvPr>
            <p:custDataLst>
              <p:tags r:id="rId96"/>
            </p:custDataLst>
          </p:nvPr>
        </p:nvSpPr>
        <p:spPr>
          <a:xfrm>
            <a:off x="11032450" y="19980021"/>
            <a:ext cx="3455956" cy="575977"/>
          </a:xfrm>
          <a:prstGeom prst="rect">
            <a:avLst/>
          </a:prstGeom>
          <a:noFill/>
          <a:ln>
            <a:noFill/>
          </a:ln>
        </p:spPr>
        <p:txBody>
          <a:bodyPr wrap="none" lIns="0" tIns="-13773" rIns="0" bIns="0" anchor="t" anchorCtr="0">
            <a:noAutofit/>
          </a:bodyPr>
          <a:lstStyle/>
          <a:p>
            <a:pPr algn="r">
              <a:lnSpc>
                <a:spcPts val="2376"/>
              </a:lnSpc>
            </a:pPr>
            <a:r>
              <a:rPr lang="zh-TW" sz="18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背景保留 6/6</a:t>
            </a:r>
          </a:p>
          <a:p>
            <a:pPr algn="r">
              <a:lnSpc>
                <a:spcPts val="2376"/>
              </a:lnSpc>
            </a:pPr>
            <a:r>
              <a:rPr lang="zh-TW" sz="18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 6/6</a:t>
            </a:r>
          </a:p>
        </p:txBody>
      </p:sp>
      <p:sp>
        <p:nvSpPr>
          <p:cNvPr id="178" name="TextBox 177"/>
          <p:cNvSpPr/>
          <p:nvPr>
            <p:custDataLst>
              <p:tags r:id="rId97"/>
            </p:custDataLst>
          </p:nvPr>
        </p:nvSpPr>
        <p:spPr>
          <a:xfrm>
            <a:off x="575977" y="20592002"/>
            <a:ext cx="13968032" cy="252032"/>
          </a:xfrm>
          <a:prstGeom prst="rect">
            <a:avLst/>
          </a:prstGeom>
          <a:noFill/>
          <a:ln>
            <a:noFill/>
          </a:ln>
        </p:spPr>
        <p:txBody>
          <a:bodyPr wrap="none" lIns="0" tIns="4586" rIns="0" bIns="0" anchor="t" anchorCtr="0">
            <a:noAutofit/>
          </a:bodyPr>
          <a:lstStyle/>
          <a:p>
            <a:pPr algn="l"/>
            <a:r>
              <a:rPr lang="zh-TW" sz="16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5.4330444335938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6.535461425781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7.6378173828125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58.740173339843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99.84246826171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8.503936767578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6.2992248535156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2497558593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45.1968383789062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518</Words>
  <Application>Microsoft Office PowerPoint</Application>
  <PresentationFormat>自訂</PresentationFormat>
  <Paragraphs>112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5</cp:revision>
  <dcterms:created xsi:type="dcterms:W3CDTF">2013-01-27T09:14:16Z</dcterms:created>
  <dcterms:modified xsi:type="dcterms:W3CDTF">2026-10-30T03:58:33Z</dcterms:modified>
  <cp:category/>
</cp:coreProperties>
</file>