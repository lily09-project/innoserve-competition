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21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title style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 smtClean="0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 smtClean="0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 smtClean="0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 smtClean="0">
                <a:latin typeface="Times New Roman"/>
                <a:ea typeface="DFKai-SB"/>
                <a:cs typeface="Times New Roman"/>
              </a:rPr>
              <a:t>Fifth level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1/27/13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</a:t>
            </a: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 AI </a:t>
            </a:r>
            <a:r>
              <a:rPr sz="32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資安框架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62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同一事件串起流量判定、案例證據與可回復的處置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313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con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384000"/>
            <a:ext cx="972000" cy="9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00000" y="3384000"/>
            <a:ext cx="1274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從辨識告警，走到可查核的資安處理流程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0" y="3852000"/>
            <a:ext cx="12744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面向校園與中小型組織的資安管理需求，協助管理者核對事件依據。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4644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4644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四階段方法，以同一事件銜接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4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互補模型判定</a:t>
            </a:r>
          </a:p>
        </p:txBody>
      </p:sp>
      <p:pic>
        <p:nvPicPr>
          <p:cNvPr id="15" name="Picture 14" descr="icon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6012000"/>
            <a:ext cx="900000" cy="9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6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：內容、時間差、方向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6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：短窗位元組模式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528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 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融合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輸出：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類判定、信心與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維表徵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0" y="5220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0000" y="5220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8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8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任務導向案例檢索</a:t>
            </a:r>
          </a:p>
        </p:txBody>
      </p:sp>
      <p:pic>
        <p:nvPicPr>
          <p:cNvPr id="25" name="Picture 24" descr="icon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8000" y="6012000"/>
            <a:ext cx="900000" cy="90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360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維表徵＋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20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維機率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0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529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維任務向量，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L2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正規化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872000" y="7200000"/>
            <a:ext cx="648000" cy="252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8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</a:t>
            </a: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訓練案例證據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8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案例庫僅由訓練資料建立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272000" y="6588000"/>
            <a:ext cx="576000" cy="288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11052000" y="8568000"/>
            <a:ext cx="360000" cy="468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20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8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8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本機</a:t>
            </a: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AI</a:t>
            </a: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52000" y="9972000"/>
            <a:ext cx="648000" cy="79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460000" y="1015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60000" y="1033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60000" y="10512000"/>
            <a:ext cx="360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20000" y="10620000"/>
            <a:ext cx="144000" cy="14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964000" y="10440000"/>
            <a:ext cx="216000" cy="324000"/>
          </a:xfrm>
          <a:prstGeom prst="line">
            <a:avLst/>
          </a:prstGeom>
          <a:ln w="254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60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核對正式判定與相似案例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60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保留分類，附加稽核結論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solidFill>
            <a:srgbClr val="EA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8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複核與不確定事件保留監測或蒐證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00" y="9108000"/>
            <a:ext cx="6624000" cy="3276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6000" y="9108000"/>
            <a:ext cx="6624000" cy="468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04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受控處置與回復</a:t>
            </a:r>
          </a:p>
        </p:txBody>
      </p:sp>
      <p:pic>
        <p:nvPicPr>
          <p:cNvPr id="56" name="Picture 55" descr="icon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000" y="9900000"/>
            <a:ext cx="900000" cy="900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2016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檢查範圍、白名單與期限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6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允許的策略才進入執行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484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4500000" y="11232000"/>
            <a:ext cx="324000" cy="180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96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回復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4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同次執行回條綁定，規則到期撤銷</a:t>
            </a:r>
          </a:p>
        </p:txBody>
      </p:sp>
      <p:sp>
        <p:nvSpPr>
          <p:cNvPr id="65" name="Left Arrow 64"/>
          <p:cNvSpPr/>
          <p:nvPr/>
        </p:nvSpPr>
        <p:spPr>
          <a:xfrm>
            <a:off x="7272000" y="10476000"/>
            <a:ext cx="576000" cy="288000"/>
          </a:xfrm>
          <a:prstGeom prst="lef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6000" y="12636000"/>
            <a:ext cx="13968000" cy="468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0000" y="12636000"/>
            <a:ext cx="13680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000" y="13536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6000" y="13536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創新落在模型互補與證據銜接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6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時序關係與局部內容共同判斷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由校準與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Gate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形成正式分類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148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364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64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為每個事件找可核對的案例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936000" y="14256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152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52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稽核附回原事件，策略另檢查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00" y="1594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6000" y="15948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18,998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筆測試的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 Macro-F1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00" y="17136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304000" y="172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304000" y="17208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96000" y="17136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00" y="17748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304000" y="178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04000" y="17820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796000" y="17748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6000" y="18360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304000" y="18432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304000" y="18432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96000" y="18360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00" y="19080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融合判定</a:t>
            </a:r>
            <a:r>
              <a:rPr sz="17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 Accuracy 98.08%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00" y="19512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比較使用相同資料與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類標籤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560000" y="16488000"/>
            <a:ext cx="0" cy="3312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920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筆訓練案例／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463</a:t>
            </a: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筆查詢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20000" y="17028000"/>
            <a:ext cx="6624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20000" y="1756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　訓練／查詢重疊</a:t>
            </a: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20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20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52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52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384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384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20000" y="19332000"/>
            <a:ext cx="6624000" cy="50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筆偵測誤判中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18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12</a:t>
            </a: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筆獲支持，處置另經策略檢查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76000" y="20088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576000" y="2026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整合驗證：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類真實張量重跑；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種隔離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TCP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情境，背景保留與回復皆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7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。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00" y="20628000"/>
            <a:ext cx="13968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種情境含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4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種套用規則、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2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種監測或蒐證；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1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為隔離交易與回復結果，非原生攻擊防禦率。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