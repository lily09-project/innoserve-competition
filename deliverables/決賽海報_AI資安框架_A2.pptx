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0000" cy="21384000"/>
  <p:notesSz cx="6858000" cy="9144000"/>
  <p:defaultTextStyle>
    <a:defPPr>
      <a:defRPr lang="en-US">
        <a:latin typeface="Times New Roman"/>
        <a:ea typeface="DFKai-SB"/>
        <a:cs typeface="Times New Roman"/>
      </a:defRPr>
    </a:defPPr>
    <a:lvl1pPr marL="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9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latin typeface="Times New Roman"/>
                <a:ea typeface="DFKai-SB"/>
                <a:cs typeface="Times New Roman"/>
              </a:defRPr>
            </a:lvl1pPr>
            <a:lvl2pPr>
              <a:defRPr sz="2400">
                <a:latin typeface="Times New Roman"/>
                <a:ea typeface="DFKai-SB"/>
                <a:cs typeface="Times New Roman"/>
              </a:defRPr>
            </a:lvl2pPr>
            <a:lvl3pPr>
              <a:defRPr sz="2000">
                <a:latin typeface="Times New Roman"/>
                <a:ea typeface="DFKai-SB"/>
                <a:cs typeface="Times New Roman"/>
              </a:defRPr>
            </a:lvl3pPr>
            <a:lvl4pPr>
              <a:defRPr sz="1800">
                <a:latin typeface="Times New Roman"/>
                <a:ea typeface="DFKai-SB"/>
                <a:cs typeface="Times New Roman"/>
              </a:defRPr>
            </a:lvl4pPr>
            <a:lvl5pPr>
              <a:defRPr sz="1800">
                <a:latin typeface="Times New Roman"/>
                <a:ea typeface="DFKai-SB"/>
                <a:cs typeface="Times New Roman"/>
              </a:defRPr>
            </a:lvl5pPr>
            <a:lvl6pPr>
              <a:defRPr sz="1800">
                <a:latin typeface="Times New Roman"/>
                <a:ea typeface="DFKai-SB"/>
                <a:cs typeface="Times New Roman"/>
              </a:defRPr>
            </a:lvl6pPr>
            <a:lvl7pPr>
              <a:defRPr sz="1800">
                <a:latin typeface="Times New Roman"/>
                <a:ea typeface="DFKai-SB"/>
                <a:cs typeface="Times New Roman"/>
              </a:defRPr>
            </a:lvl7pPr>
            <a:lvl8pPr>
              <a:defRPr sz="1800">
                <a:latin typeface="Times New Roman"/>
                <a:ea typeface="DFKai-SB"/>
                <a:cs typeface="Times New Roman"/>
              </a:defRPr>
            </a:lvl8pPr>
            <a:lvl9pPr>
              <a:defRPr sz="18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latin typeface="Times New Roman"/>
                <a:ea typeface="DFKai-SB"/>
                <a:cs typeface="Times New Roman"/>
              </a:defRPr>
            </a:lvl1pPr>
            <a:lvl2pPr>
              <a:defRPr sz="2400">
                <a:latin typeface="Times New Roman"/>
                <a:ea typeface="DFKai-SB"/>
                <a:cs typeface="Times New Roman"/>
              </a:defRPr>
            </a:lvl2pPr>
            <a:lvl3pPr>
              <a:defRPr sz="2000">
                <a:latin typeface="Times New Roman"/>
                <a:ea typeface="DFKai-SB"/>
                <a:cs typeface="Times New Roman"/>
              </a:defRPr>
            </a:lvl3pPr>
            <a:lvl4pPr>
              <a:defRPr sz="1800">
                <a:latin typeface="Times New Roman"/>
                <a:ea typeface="DFKai-SB"/>
                <a:cs typeface="Times New Roman"/>
              </a:defRPr>
            </a:lvl4pPr>
            <a:lvl5pPr>
              <a:defRPr sz="1800">
                <a:latin typeface="Times New Roman"/>
                <a:ea typeface="DFKai-SB"/>
                <a:cs typeface="Times New Roman"/>
              </a:defRPr>
            </a:lvl5pPr>
            <a:lvl6pPr>
              <a:defRPr sz="1800">
                <a:latin typeface="Times New Roman"/>
                <a:ea typeface="DFKai-SB"/>
                <a:cs typeface="Times New Roman"/>
              </a:defRPr>
            </a:lvl6pPr>
            <a:lvl7pPr>
              <a:defRPr sz="1800">
                <a:latin typeface="Times New Roman"/>
                <a:ea typeface="DFKai-SB"/>
                <a:cs typeface="Times New Roman"/>
              </a:defRPr>
            </a:lvl7pPr>
            <a:lvl8pPr>
              <a:defRPr sz="1800">
                <a:latin typeface="Times New Roman"/>
                <a:ea typeface="DFKai-SB"/>
                <a:cs typeface="Times New Roman"/>
              </a:defRPr>
            </a:lvl8pPr>
            <a:lvl9pPr>
              <a:defRPr sz="18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000" b="1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800" b="1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600" b="1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600" b="1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600" b="1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600" b="1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600" b="1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600" b="1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Times New Roman"/>
                <a:ea typeface="DFKai-SB"/>
                <a:cs typeface="Times New Roman"/>
              </a:defRPr>
            </a:lvl1pPr>
            <a:lvl2pPr>
              <a:defRPr sz="2000">
                <a:latin typeface="Times New Roman"/>
                <a:ea typeface="DFKai-SB"/>
                <a:cs typeface="Times New Roman"/>
              </a:defRPr>
            </a:lvl2pPr>
            <a:lvl3pPr>
              <a:defRPr sz="1800">
                <a:latin typeface="Times New Roman"/>
                <a:ea typeface="DFKai-SB"/>
                <a:cs typeface="Times New Roman"/>
              </a:defRPr>
            </a:lvl3pPr>
            <a:lvl4pPr>
              <a:defRPr sz="1600">
                <a:latin typeface="Times New Roman"/>
                <a:ea typeface="DFKai-SB"/>
                <a:cs typeface="Times New Roman"/>
              </a:defRPr>
            </a:lvl4pPr>
            <a:lvl5pPr>
              <a:defRPr sz="1600">
                <a:latin typeface="Times New Roman"/>
                <a:ea typeface="DFKai-SB"/>
                <a:cs typeface="Times New Roman"/>
              </a:defRPr>
            </a:lvl5pPr>
            <a:lvl6pPr>
              <a:defRPr sz="1600">
                <a:latin typeface="Times New Roman"/>
                <a:ea typeface="DFKai-SB"/>
                <a:cs typeface="Times New Roman"/>
              </a:defRPr>
            </a:lvl6pPr>
            <a:lvl7pPr>
              <a:defRPr sz="1600">
                <a:latin typeface="Times New Roman"/>
                <a:ea typeface="DFKai-SB"/>
                <a:cs typeface="Times New Roman"/>
              </a:defRPr>
            </a:lvl7pPr>
            <a:lvl8pPr>
              <a:defRPr sz="1600">
                <a:latin typeface="Times New Roman"/>
                <a:ea typeface="DFKai-SB"/>
                <a:cs typeface="Times New Roman"/>
              </a:defRPr>
            </a:lvl8pPr>
            <a:lvl9pPr>
              <a:defRPr sz="16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000" b="1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800" b="1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600" b="1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600" b="1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600" b="1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600" b="1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600" b="1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600" b="1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Times New Roman"/>
                <a:ea typeface="DFKai-SB"/>
                <a:cs typeface="Times New Roman"/>
              </a:defRPr>
            </a:lvl1pPr>
            <a:lvl2pPr>
              <a:defRPr sz="2000">
                <a:latin typeface="Times New Roman"/>
                <a:ea typeface="DFKai-SB"/>
                <a:cs typeface="Times New Roman"/>
              </a:defRPr>
            </a:lvl2pPr>
            <a:lvl3pPr>
              <a:defRPr sz="1800">
                <a:latin typeface="Times New Roman"/>
                <a:ea typeface="DFKai-SB"/>
                <a:cs typeface="Times New Roman"/>
              </a:defRPr>
            </a:lvl3pPr>
            <a:lvl4pPr>
              <a:defRPr sz="1600">
                <a:latin typeface="Times New Roman"/>
                <a:ea typeface="DFKai-SB"/>
                <a:cs typeface="Times New Roman"/>
              </a:defRPr>
            </a:lvl4pPr>
            <a:lvl5pPr>
              <a:defRPr sz="1600">
                <a:latin typeface="Times New Roman"/>
                <a:ea typeface="DFKai-SB"/>
                <a:cs typeface="Times New Roman"/>
              </a:defRPr>
            </a:lvl5pPr>
            <a:lvl6pPr>
              <a:defRPr sz="1600">
                <a:latin typeface="Times New Roman"/>
                <a:ea typeface="DFKai-SB"/>
                <a:cs typeface="Times New Roman"/>
              </a:defRPr>
            </a:lvl6pPr>
            <a:lvl7pPr>
              <a:defRPr sz="1600">
                <a:latin typeface="Times New Roman"/>
                <a:ea typeface="DFKai-SB"/>
                <a:cs typeface="Times New Roman"/>
              </a:defRPr>
            </a:lvl7pPr>
            <a:lvl8pPr>
              <a:defRPr sz="1600">
                <a:latin typeface="Times New Roman"/>
                <a:ea typeface="DFKai-SB"/>
                <a:cs typeface="Times New Roman"/>
              </a:defRPr>
            </a:lvl8pPr>
            <a:lvl9pPr>
              <a:defRPr sz="16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Times New Roman"/>
                <a:ea typeface="DFKai-SB"/>
                <a:cs typeface="Times New Roman"/>
              </a:defRPr>
            </a:lvl1pPr>
            <a:lvl2pPr>
              <a:defRPr sz="2800">
                <a:latin typeface="Times New Roman"/>
                <a:ea typeface="DFKai-SB"/>
                <a:cs typeface="Times New Roman"/>
              </a:defRPr>
            </a:lvl2pPr>
            <a:lvl3pPr>
              <a:defRPr sz="2400">
                <a:latin typeface="Times New Roman"/>
                <a:ea typeface="DFKai-SB"/>
                <a:cs typeface="Times New Roman"/>
              </a:defRPr>
            </a:lvl3pPr>
            <a:lvl4pPr>
              <a:defRPr sz="2000">
                <a:latin typeface="Times New Roman"/>
                <a:ea typeface="DFKai-SB"/>
                <a:cs typeface="Times New Roman"/>
              </a:defRPr>
            </a:lvl4pPr>
            <a:lvl5pPr>
              <a:defRPr sz="2000">
                <a:latin typeface="Times New Roman"/>
                <a:ea typeface="DFKai-SB"/>
                <a:cs typeface="Times New Roman"/>
              </a:defRPr>
            </a:lvl5pPr>
            <a:lvl6pPr>
              <a:defRPr sz="2000">
                <a:latin typeface="Times New Roman"/>
                <a:ea typeface="DFKai-SB"/>
                <a:cs typeface="Times New Roman"/>
              </a:defRPr>
            </a:lvl6pPr>
            <a:lvl7pPr>
              <a:defRPr sz="2000">
                <a:latin typeface="Times New Roman"/>
                <a:ea typeface="DFKai-SB"/>
                <a:cs typeface="Times New Roman"/>
              </a:defRPr>
            </a:lvl7pPr>
            <a:lvl8pPr>
              <a:defRPr sz="2000">
                <a:latin typeface="Times New Roman"/>
                <a:ea typeface="DFKai-SB"/>
                <a:cs typeface="Times New Roman"/>
              </a:defRPr>
            </a:lvl8pPr>
            <a:lvl9pPr>
              <a:defRPr sz="20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2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0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9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9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9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9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9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9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8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24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20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20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20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20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20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2000">
                <a:latin typeface="Times New Roman"/>
                <a:ea typeface="DFKai-SB"/>
                <a:cs typeface="Times New Roman"/>
              </a:defRPr>
            </a:lvl9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2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0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9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9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9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9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9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9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10/30/2026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Times New Roman"/>
        <a:buChar char="•"/>
        <a:defRPr sz="32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Times New Roman"/>
        <a:buChar char="–"/>
        <a:defRPr sz="2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Times New Roman"/>
        <a:buChar char="•"/>
        <a:defRPr sz="24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Times New Roman"/>
        <a:buChar char="–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Times New Roman"/>
        <a:buChar char="»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en-US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6" Type="http://schemas.openxmlformats.org/officeDocument/2006/relationships/tags" Target="../tags/tag16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image" Target="../media/image1.png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tags" Target="../tags/tag59.xml"/><Relationship Id="rId67" Type="http://schemas.openxmlformats.org/officeDocument/2006/relationships/tags" Target="../tags/tag67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62" Type="http://schemas.openxmlformats.org/officeDocument/2006/relationships/tags" Target="../tags/tag62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91" Type="http://schemas.openxmlformats.org/officeDocument/2006/relationships/tags" Target="../tags/tag91.xml"/><Relationship Id="rId96" Type="http://schemas.openxmlformats.org/officeDocument/2006/relationships/image" Target="../media/image2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94" Type="http://schemas.openxmlformats.org/officeDocument/2006/relationships/slideLayout" Target="../slideLayouts/slideLayout7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image" Target="../media/image3.png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6000" y="360000"/>
            <a:ext cx="13968000" cy="280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TextBox 2"/>
          <p:cNvSpPr txBox="1"/>
          <p:nvPr>
            <p:custDataLst>
              <p:tags r:id="rId1"/>
            </p:custDataLst>
          </p:nvPr>
        </p:nvSpPr>
        <p:spPr>
          <a:xfrm>
            <a:off x="553775" y="540000"/>
            <a:ext cx="1396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資安技術組決賽作品</a:t>
            </a:r>
          </a:p>
        </p:txBody>
      </p:sp>
      <p:sp>
        <p:nvSpPr>
          <p:cNvPr id="4" name="PosterTitle_Centered_210mm"/>
          <p:cNvSpPr txBox="1"/>
          <p:nvPr>
            <p:custDataLst>
              <p:tags r:id="rId2"/>
            </p:custDataLst>
          </p:nvPr>
        </p:nvSpPr>
        <p:spPr>
          <a:xfrm>
            <a:off x="506150" y="864000"/>
            <a:ext cx="13968000" cy="22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融合新型內容相依時序方向模型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入侵偵測與任務導向檢索增強稽核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之 AI 資安框架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0000" y="3132000"/>
            <a:ext cx="1440000" cy="43200"/>
          </a:xfrm>
          <a:prstGeom prst="rect">
            <a:avLst/>
          </a:prstGeom>
          <a:solidFill>
            <a:srgbClr val="E3A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76000" y="3240000"/>
            <a:ext cx="13968000" cy="0"/>
          </a:xfrm>
          <a:prstGeom prst="line">
            <a:avLst/>
          </a:prstGeom>
          <a:ln w="12700">
            <a:solidFill>
              <a:srgbClr val="D7E1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>
            <p:custDataLst>
              <p:tags r:id="rId3"/>
            </p:custDataLst>
          </p:nvPr>
        </p:nvSpPr>
        <p:spPr>
          <a:xfrm>
            <a:off x="534725" y="3312000"/>
            <a:ext cx="13968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從流量告警，走到有證據、可回復的處置</a:t>
            </a:r>
          </a:p>
        </p:txBody>
      </p:sp>
      <p:sp>
        <p:nvSpPr>
          <p:cNvPr id="8" name="TextBox 7"/>
          <p:cNvSpPr txBox="1"/>
          <p:nvPr>
            <p:custDataLst>
              <p:tags r:id="rId4"/>
            </p:custDataLst>
          </p:nvPr>
        </p:nvSpPr>
        <p:spPr>
          <a:xfrm>
            <a:off x="545838" y="3780000"/>
            <a:ext cx="1396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同一事件串起模型判定、相似案例、AI稽核與處置回條。</a:t>
            </a:r>
          </a:p>
        </p:txBody>
      </p:sp>
      <p:sp>
        <p:nvSpPr>
          <p:cNvPr id="9" name="TextBox 8"/>
          <p:cNvSpPr txBox="1"/>
          <p:nvPr>
            <p:custDataLst>
              <p:tags r:id="rId5"/>
            </p:custDataLst>
          </p:nvPr>
        </p:nvSpPr>
        <p:spPr>
          <a:xfrm>
            <a:off x="547425" y="4176000"/>
            <a:ext cx="1396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17類互補判定  ·  本機證據稽核  ·  同事件追溯  ·  策略受控回復</a:t>
            </a:r>
          </a:p>
        </p:txBody>
      </p:sp>
      <p:sp>
        <p:nvSpPr>
          <p:cNvPr id="10" name="TextBox 9"/>
          <p:cNvSpPr txBox="1"/>
          <p:nvPr>
            <p:custDataLst>
              <p:tags r:id="rId6"/>
            </p:custDataLst>
          </p:nvPr>
        </p:nvSpPr>
        <p:spPr>
          <a:xfrm>
            <a:off x="536312" y="4608000"/>
            <a:ext cx="1396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01  四階段方法，串成同一條事件鏈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00" y="5220000"/>
            <a:ext cx="13968000" cy="180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76000" y="5220000"/>
            <a:ext cx="54000" cy="1800000"/>
          </a:xfrm>
          <a:prstGeom prst="rect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" name="TextBox 12"/>
          <p:cNvSpPr txBox="1"/>
          <p:nvPr>
            <p:custDataLst>
              <p:tags r:id="rId7"/>
            </p:custDataLst>
          </p:nvPr>
        </p:nvSpPr>
        <p:spPr>
          <a:xfrm>
            <a:off x="791488" y="5328000"/>
            <a:ext cx="324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01  互補判定</a:t>
            </a:r>
          </a:p>
        </p:txBody>
      </p:sp>
      <p:sp>
        <p:nvSpPr>
          <p:cNvPr id="14" name="TextBox 13"/>
          <p:cNvSpPr txBox="1"/>
          <p:nvPr>
            <p:custDataLst>
              <p:tags r:id="rId8"/>
            </p:custDataLst>
          </p:nvPr>
        </p:nvSpPr>
        <p:spPr>
          <a:xfrm>
            <a:off x="804188" y="5724000"/>
            <a:ext cx="32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內容＋時序</a:t>
            </a:r>
          </a:p>
        </p:txBody>
      </p:sp>
      <p:pic>
        <p:nvPicPr>
          <p:cNvPr id="15" name="Picture 14" descr="flat-icon-2.png"/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900000" y="6120000"/>
            <a:ext cx="756000" cy="756000"/>
          </a:xfrm>
          <a:prstGeom prst="rect">
            <a:avLst/>
          </a:prstGeom>
        </p:spPr>
      </p:pic>
      <p:sp>
        <p:nvSpPr>
          <p:cNvPr id="16" name="TextBox 15"/>
          <p:cNvSpPr txBox="1"/>
          <p:nvPr>
            <p:custDataLst>
              <p:tags r:id="rId9"/>
            </p:custDataLst>
          </p:nvPr>
        </p:nvSpPr>
        <p:spPr>
          <a:xfrm>
            <a:off x="1846600" y="6120000"/>
            <a:ext cx="2196000" cy="7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產生正式類別、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信心與流量表徵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9252000" y="7038000"/>
            <a:ext cx="288000" cy="180000"/>
          </a:xfrm>
          <a:prstGeom prst="down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76000" y="7236000"/>
            <a:ext cx="13968000" cy="1800000"/>
          </a:xfrm>
          <a:prstGeom prst="rect">
            <a:avLst/>
          </a:prstGeom>
          <a:solidFill>
            <a:srgbClr val="F4F7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76000" y="7236000"/>
            <a:ext cx="54000" cy="1800000"/>
          </a:xfrm>
          <a:prstGeom prst="rect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0" name="TextBox 19"/>
          <p:cNvSpPr txBox="1"/>
          <p:nvPr>
            <p:custDataLst>
              <p:tags r:id="rId10"/>
            </p:custDataLst>
          </p:nvPr>
        </p:nvSpPr>
        <p:spPr>
          <a:xfrm>
            <a:off x="791488" y="7344000"/>
            <a:ext cx="324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02  任務檢索</a:t>
            </a:r>
          </a:p>
        </p:txBody>
      </p:sp>
      <p:sp>
        <p:nvSpPr>
          <p:cNvPr id="21" name="TextBox 20"/>
          <p:cNvSpPr txBox="1"/>
          <p:nvPr>
            <p:custDataLst>
              <p:tags r:id="rId11"/>
            </p:custDataLst>
          </p:nvPr>
        </p:nvSpPr>
        <p:spPr>
          <a:xfrm>
            <a:off x="804188" y="7740000"/>
            <a:ext cx="32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表徵＋機率</a:t>
            </a:r>
          </a:p>
        </p:txBody>
      </p:sp>
      <p:pic>
        <p:nvPicPr>
          <p:cNvPr id="22" name="Picture 21" descr="flat-icon-3.png"/>
          <p:cNvPicPr>
            <a:picLocks noChangeAspect="1"/>
          </p:cNvPicPr>
          <p:nvPr/>
        </p:nvPicPr>
        <p:blipFill>
          <a:blip r:embed="rId96"/>
          <a:stretch>
            <a:fillRect/>
          </a:stretch>
        </p:blipFill>
        <p:spPr>
          <a:xfrm>
            <a:off x="900000" y="8136000"/>
            <a:ext cx="756000" cy="756000"/>
          </a:xfrm>
          <a:prstGeom prst="rect">
            <a:avLst/>
          </a:prstGeom>
        </p:spPr>
      </p:pic>
      <p:sp>
        <p:nvSpPr>
          <p:cNvPr id="23" name="TextBox 22"/>
          <p:cNvSpPr txBox="1"/>
          <p:nvPr>
            <p:custDataLst>
              <p:tags r:id="rId12"/>
            </p:custDataLst>
          </p:nvPr>
        </p:nvSpPr>
        <p:spPr>
          <a:xfrm>
            <a:off x="1846600" y="8136000"/>
            <a:ext cx="2196000" cy="7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依事件任務找案例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附上相似類別證據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9252000" y="9054000"/>
            <a:ext cx="288000" cy="180000"/>
          </a:xfrm>
          <a:prstGeom prst="down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76000" y="9252000"/>
            <a:ext cx="13968000" cy="1800000"/>
          </a:xfrm>
          <a:prstGeom prst="rect">
            <a:avLst/>
          </a:prstGeom>
          <a:solidFill>
            <a:srgbClr val="F4F7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576000" y="9252000"/>
            <a:ext cx="54000" cy="1800000"/>
          </a:xfrm>
          <a:prstGeom prst="rect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7" name="TextBox 26"/>
          <p:cNvSpPr txBox="1"/>
          <p:nvPr>
            <p:custDataLst>
              <p:tags r:id="rId13"/>
            </p:custDataLst>
          </p:nvPr>
        </p:nvSpPr>
        <p:spPr>
          <a:xfrm>
            <a:off x="791488" y="9360000"/>
            <a:ext cx="324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03  證據稽核</a:t>
            </a:r>
          </a:p>
        </p:txBody>
      </p:sp>
      <p:sp>
        <p:nvSpPr>
          <p:cNvPr id="28" name="TextBox 27"/>
          <p:cNvSpPr txBox="1"/>
          <p:nvPr>
            <p:custDataLst>
              <p:tags r:id="rId14"/>
            </p:custDataLst>
          </p:nvPr>
        </p:nvSpPr>
        <p:spPr>
          <a:xfrm>
            <a:off x="804188" y="9756000"/>
            <a:ext cx="32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保留正式分類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4000" y="10152000"/>
            <a:ext cx="504000" cy="720000"/>
          </a:xfrm>
          <a:prstGeom prst="rect">
            <a:avLst/>
          </a:prstGeom>
          <a:solidFill>
            <a:srgbClr val="FFFFFF"/>
          </a:solidFill>
          <a:ln w="10160">
            <a:solidFill>
              <a:srgbClr val="245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1152000" y="10296000"/>
            <a:ext cx="288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52000" y="10476000"/>
            <a:ext cx="288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52000" y="10656000"/>
            <a:ext cx="288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>
            <p:custDataLst>
              <p:tags r:id="rId15"/>
            </p:custDataLst>
          </p:nvPr>
        </p:nvSpPr>
        <p:spPr>
          <a:xfrm>
            <a:off x="1846600" y="10152000"/>
            <a:ext cx="2196000" cy="7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核對判定與案例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附加三態稽核結論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9252000" y="11070000"/>
            <a:ext cx="288000" cy="180000"/>
          </a:xfrm>
          <a:prstGeom prst="down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76000" y="11268000"/>
            <a:ext cx="13968000" cy="180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76000" y="11268000"/>
            <a:ext cx="54000" cy="1800000"/>
          </a:xfrm>
          <a:prstGeom prst="rect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7" name="TextBox 36"/>
          <p:cNvSpPr txBox="1"/>
          <p:nvPr>
            <p:custDataLst>
              <p:tags r:id="rId16"/>
            </p:custDataLst>
          </p:nvPr>
        </p:nvSpPr>
        <p:spPr>
          <a:xfrm>
            <a:off x="791488" y="11376000"/>
            <a:ext cx="324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04  受控回復</a:t>
            </a:r>
          </a:p>
        </p:txBody>
      </p:sp>
      <p:sp>
        <p:nvSpPr>
          <p:cNvPr id="38" name="TextBox 37"/>
          <p:cNvSpPr txBox="1"/>
          <p:nvPr>
            <p:custDataLst>
              <p:tags r:id="rId17"/>
            </p:custDataLst>
          </p:nvPr>
        </p:nvSpPr>
        <p:spPr>
          <a:xfrm>
            <a:off x="804188" y="11772000"/>
            <a:ext cx="32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策略＋期限</a:t>
            </a:r>
          </a:p>
        </p:txBody>
      </p:sp>
      <p:pic>
        <p:nvPicPr>
          <p:cNvPr id="39" name="Picture 38" descr="flat-icon-4.png"/>
          <p:cNvPicPr>
            <a:picLocks noChangeAspect="1"/>
          </p:cNvPicPr>
          <p:nvPr/>
        </p:nvPicPr>
        <p:blipFill>
          <a:blip r:embed="rId97"/>
          <a:stretch>
            <a:fillRect/>
          </a:stretch>
        </p:blipFill>
        <p:spPr>
          <a:xfrm>
            <a:off x="900000" y="12168000"/>
            <a:ext cx="756000" cy="756000"/>
          </a:xfrm>
          <a:prstGeom prst="rect">
            <a:avLst/>
          </a:prstGeom>
        </p:spPr>
      </p:pic>
      <p:sp>
        <p:nvSpPr>
          <p:cNvPr id="40" name="TextBox 39"/>
          <p:cNvSpPr txBox="1"/>
          <p:nvPr>
            <p:custDataLst>
              <p:tags r:id="rId18"/>
            </p:custDataLst>
          </p:nvPr>
        </p:nvSpPr>
        <p:spPr>
          <a:xfrm>
            <a:off x="1846600" y="12168000"/>
            <a:ext cx="2196000" cy="7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策略允許才介入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讀回並確認回復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0" y="5400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2" name="TextBox 41"/>
          <p:cNvSpPr txBox="1"/>
          <p:nvPr>
            <p:custDataLst>
              <p:tags r:id="rId19"/>
            </p:custDataLst>
          </p:nvPr>
        </p:nvSpPr>
        <p:spPr>
          <a:xfrm>
            <a:off x="4288250" y="5436000"/>
            <a:ext cx="2808000" cy="3427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43" name="TextBox 42"/>
          <p:cNvSpPr txBox="1"/>
          <p:nvPr>
            <p:custDataLst>
              <p:tags r:id="rId20"/>
            </p:custDataLst>
          </p:nvPr>
        </p:nvSpPr>
        <p:spPr>
          <a:xfrm>
            <a:off x="4297775" y="5730480"/>
            <a:ext cx="2808000" cy="263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內容·時間差·方向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0" y="6228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5" name="TextBox 44"/>
          <p:cNvSpPr txBox="1"/>
          <p:nvPr>
            <p:custDataLst>
              <p:tags r:id="rId21"/>
            </p:custDataLst>
          </p:nvPr>
        </p:nvSpPr>
        <p:spPr>
          <a:xfrm>
            <a:off x="4288250" y="6264000"/>
            <a:ext cx="2808000" cy="3427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46" name="TextBox 45"/>
          <p:cNvSpPr txBox="1"/>
          <p:nvPr>
            <p:custDataLst>
              <p:tags r:id="rId22"/>
            </p:custDataLst>
          </p:nvPr>
        </p:nvSpPr>
        <p:spPr>
          <a:xfrm>
            <a:off x="4297775" y="6558480"/>
            <a:ext cx="2808000" cy="263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短窗位元組模式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128000" y="5706000"/>
            <a:ext cx="324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128000" y="6534000"/>
            <a:ext cx="324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452000" y="5706000"/>
            <a:ext cx="0" cy="82800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ight Arrow 49"/>
          <p:cNvSpPr/>
          <p:nvPr/>
        </p:nvSpPr>
        <p:spPr>
          <a:xfrm>
            <a:off x="7488000" y="6012000"/>
            <a:ext cx="288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7848000" y="5688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2" name="TextBox 51"/>
          <p:cNvSpPr txBox="1"/>
          <p:nvPr>
            <p:custDataLst>
              <p:tags r:id="rId23"/>
            </p:custDataLst>
          </p:nvPr>
        </p:nvSpPr>
        <p:spPr>
          <a:xfrm>
            <a:off x="7816250" y="5724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校準＋融合</a:t>
            </a:r>
          </a:p>
        </p:txBody>
      </p:sp>
      <p:sp>
        <p:nvSpPr>
          <p:cNvPr id="53" name="TextBox 52"/>
          <p:cNvSpPr txBox="1"/>
          <p:nvPr>
            <p:custDataLst>
              <p:tags r:id="rId24"/>
            </p:custDataLst>
          </p:nvPr>
        </p:nvSpPr>
        <p:spPr>
          <a:xfrm>
            <a:off x="7825775" y="6174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10980000" y="6012000"/>
            <a:ext cx="504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11592000" y="5688000"/>
            <a:ext cx="2736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6" name="TextBox 55"/>
          <p:cNvSpPr txBox="1"/>
          <p:nvPr>
            <p:custDataLst>
              <p:tags r:id="rId25"/>
            </p:custDataLst>
          </p:nvPr>
        </p:nvSpPr>
        <p:spPr>
          <a:xfrm>
            <a:off x="11560251" y="5724000"/>
            <a:ext cx="2736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17類判定</a:t>
            </a:r>
          </a:p>
        </p:txBody>
      </p:sp>
      <p:sp>
        <p:nvSpPr>
          <p:cNvPr id="57" name="TextBox 56"/>
          <p:cNvSpPr txBox="1"/>
          <p:nvPr>
            <p:custDataLst>
              <p:tags r:id="rId26"/>
            </p:custDataLst>
          </p:nvPr>
        </p:nvSpPr>
        <p:spPr>
          <a:xfrm>
            <a:off x="11569776" y="6174000"/>
            <a:ext cx="2736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信心與512維表徵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20000" y="7416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9" name="TextBox 58"/>
          <p:cNvSpPr txBox="1"/>
          <p:nvPr>
            <p:custDataLst>
              <p:tags r:id="rId27"/>
            </p:custDataLst>
          </p:nvPr>
        </p:nvSpPr>
        <p:spPr>
          <a:xfrm>
            <a:off x="4288250" y="7416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512維表徵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20000" y="8244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1" name="TextBox 60"/>
          <p:cNvSpPr txBox="1"/>
          <p:nvPr>
            <p:custDataLst>
              <p:tags r:id="rId28"/>
            </p:custDataLst>
          </p:nvPr>
        </p:nvSpPr>
        <p:spPr>
          <a:xfrm>
            <a:off x="4288250" y="8244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17維機率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128000" y="7722000"/>
            <a:ext cx="324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7128000" y="8550000"/>
            <a:ext cx="324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7452000" y="7722000"/>
            <a:ext cx="0" cy="82800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ight Arrow 64"/>
          <p:cNvSpPr/>
          <p:nvPr/>
        </p:nvSpPr>
        <p:spPr>
          <a:xfrm>
            <a:off x="7488000" y="8028000"/>
            <a:ext cx="288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7848000" y="7704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7" name="TextBox 66"/>
          <p:cNvSpPr txBox="1"/>
          <p:nvPr>
            <p:custDataLst>
              <p:tags r:id="rId29"/>
            </p:custDataLst>
          </p:nvPr>
        </p:nvSpPr>
        <p:spPr>
          <a:xfrm>
            <a:off x="7816250" y="7740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529維向量</a:t>
            </a:r>
          </a:p>
        </p:txBody>
      </p:sp>
      <p:sp>
        <p:nvSpPr>
          <p:cNvPr id="68" name="TextBox 67"/>
          <p:cNvSpPr txBox="1"/>
          <p:nvPr>
            <p:custDataLst>
              <p:tags r:id="rId30"/>
            </p:custDataLst>
          </p:nvPr>
        </p:nvSpPr>
        <p:spPr>
          <a:xfrm>
            <a:off x="7825775" y="8190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L2正規化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10980000" y="8028000"/>
            <a:ext cx="504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11592000" y="7704000"/>
            <a:ext cx="2736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1" name="TextBox 70"/>
          <p:cNvSpPr txBox="1"/>
          <p:nvPr>
            <p:custDataLst>
              <p:tags r:id="rId31"/>
            </p:custDataLst>
          </p:nvPr>
        </p:nvSpPr>
        <p:spPr>
          <a:xfrm>
            <a:off x="11560250" y="7704000"/>
            <a:ext cx="273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Top-5訓練案例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664000" y="8136000"/>
            <a:ext cx="432000" cy="36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3" name="TextBox 72"/>
          <p:cNvSpPr txBox="1"/>
          <p:nvPr>
            <p:custDataLst>
              <p:tags r:id="rId32"/>
            </p:custDataLst>
          </p:nvPr>
        </p:nvSpPr>
        <p:spPr>
          <a:xfrm>
            <a:off x="11635425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2186000" y="8136000"/>
            <a:ext cx="432000" cy="36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5" name="TextBox 74"/>
          <p:cNvSpPr txBox="1"/>
          <p:nvPr>
            <p:custDataLst>
              <p:tags r:id="rId33"/>
            </p:custDataLst>
          </p:nvPr>
        </p:nvSpPr>
        <p:spPr>
          <a:xfrm>
            <a:off x="12157425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2708000" y="8136000"/>
            <a:ext cx="432000" cy="36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7" name="TextBox 76"/>
          <p:cNvSpPr txBox="1"/>
          <p:nvPr>
            <p:custDataLst>
              <p:tags r:id="rId34"/>
            </p:custDataLst>
          </p:nvPr>
        </p:nvSpPr>
        <p:spPr>
          <a:xfrm>
            <a:off x="12679425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3230000" y="8136000"/>
            <a:ext cx="432000" cy="36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9" name="TextBox 78"/>
          <p:cNvSpPr txBox="1"/>
          <p:nvPr>
            <p:custDataLst>
              <p:tags r:id="rId35"/>
            </p:custDataLst>
          </p:nvPr>
        </p:nvSpPr>
        <p:spPr>
          <a:xfrm>
            <a:off x="13201427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752000" y="8136000"/>
            <a:ext cx="432000" cy="360000"/>
          </a:xfrm>
          <a:prstGeom prst="rect">
            <a:avLst/>
          </a:prstGeom>
          <a:solidFill>
            <a:srgbClr val="EDF3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1" name="TextBox 80"/>
          <p:cNvSpPr txBox="1"/>
          <p:nvPr>
            <p:custDataLst>
              <p:tags r:id="rId36"/>
            </p:custDataLst>
          </p:nvPr>
        </p:nvSpPr>
        <p:spPr>
          <a:xfrm>
            <a:off x="13723423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20000" y="9432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3" name="TextBox 82"/>
          <p:cNvSpPr txBox="1"/>
          <p:nvPr>
            <p:custDataLst>
              <p:tags r:id="rId37"/>
            </p:custDataLst>
          </p:nvPr>
        </p:nvSpPr>
        <p:spPr>
          <a:xfrm>
            <a:off x="4288250" y="9432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正式判定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0000" y="10260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5" name="TextBox 84"/>
          <p:cNvSpPr txBox="1"/>
          <p:nvPr>
            <p:custDataLst>
              <p:tags r:id="rId38"/>
            </p:custDataLst>
          </p:nvPr>
        </p:nvSpPr>
        <p:spPr>
          <a:xfrm>
            <a:off x="4288250" y="10260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案例證據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7128000" y="9738000"/>
            <a:ext cx="324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128000" y="10566000"/>
            <a:ext cx="324000" cy="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7452000" y="9738000"/>
            <a:ext cx="0" cy="828000"/>
          </a:xfrm>
          <a:prstGeom prst="line">
            <a:avLst/>
          </a:prstGeom>
          <a:ln w="12700">
            <a:solidFill>
              <a:srgbClr val="24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ight Arrow 88"/>
          <p:cNvSpPr/>
          <p:nvPr/>
        </p:nvSpPr>
        <p:spPr>
          <a:xfrm>
            <a:off x="7488000" y="10044000"/>
            <a:ext cx="288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7848000" y="9720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1" name="TextBox 90"/>
          <p:cNvSpPr txBox="1"/>
          <p:nvPr>
            <p:custDataLst>
              <p:tags r:id="rId39"/>
            </p:custDataLst>
          </p:nvPr>
        </p:nvSpPr>
        <p:spPr>
          <a:xfrm>
            <a:off x="7816250" y="9756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本機AI稽核</a:t>
            </a:r>
          </a:p>
        </p:txBody>
      </p:sp>
      <p:sp>
        <p:nvSpPr>
          <p:cNvPr id="92" name="TextBox 91"/>
          <p:cNvSpPr txBox="1"/>
          <p:nvPr>
            <p:custDataLst>
              <p:tags r:id="rId40"/>
            </p:custDataLst>
          </p:nvPr>
        </p:nvSpPr>
        <p:spPr>
          <a:xfrm>
            <a:off x="7825775" y="10206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核對同一事件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10980000" y="10044000"/>
            <a:ext cx="504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11592000" y="9396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5" name="TextBox 94"/>
          <p:cNvSpPr txBox="1"/>
          <p:nvPr>
            <p:custDataLst>
              <p:tags r:id="rId41"/>
            </p:custDataLst>
          </p:nvPr>
        </p:nvSpPr>
        <p:spPr>
          <a:xfrm>
            <a:off x="11560251" y="9396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1592000" y="9900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7" name="TextBox 96"/>
          <p:cNvSpPr txBox="1"/>
          <p:nvPr>
            <p:custDataLst>
              <p:tags r:id="rId42"/>
            </p:custDataLst>
          </p:nvPr>
        </p:nvSpPr>
        <p:spPr>
          <a:xfrm>
            <a:off x="11560251" y="9900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1592000" y="10404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9" name="TextBox 98"/>
          <p:cNvSpPr txBox="1"/>
          <p:nvPr>
            <p:custDataLst>
              <p:tags r:id="rId43"/>
            </p:custDataLst>
          </p:nvPr>
        </p:nvSpPr>
        <p:spPr>
          <a:xfrm>
            <a:off x="11560251" y="10404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100" name="TextBox 99"/>
          <p:cNvSpPr txBox="1"/>
          <p:nvPr>
            <p:custDataLst>
              <p:tags r:id="rId44"/>
            </p:custDataLst>
          </p:nvPr>
        </p:nvSpPr>
        <p:spPr>
          <a:xfrm>
            <a:off x="4291425" y="11412000"/>
            <a:ext cx="1000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策略檢查：範圍、動作與期限｜來源限速等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320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2" name="TextBox 101"/>
          <p:cNvSpPr txBox="1"/>
          <p:nvPr>
            <p:custDataLst>
              <p:tags r:id="rId45"/>
            </p:custDataLst>
          </p:nvPr>
        </p:nvSpPr>
        <p:spPr>
          <a:xfrm>
            <a:off x="4288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套用規則</a:t>
            </a:r>
          </a:p>
        </p:txBody>
      </p:sp>
      <p:sp>
        <p:nvSpPr>
          <p:cNvPr id="103" name="Right Arrow 102"/>
          <p:cNvSpPr/>
          <p:nvPr/>
        </p:nvSpPr>
        <p:spPr>
          <a:xfrm>
            <a:off x="7236000" y="12060000"/>
            <a:ext cx="504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7848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5" name="TextBox 104"/>
          <p:cNvSpPr txBox="1"/>
          <p:nvPr>
            <p:custDataLst>
              <p:tags r:id="rId46"/>
            </p:custDataLst>
          </p:nvPr>
        </p:nvSpPr>
        <p:spPr>
          <a:xfrm>
            <a:off x="7816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讀回驗證</a:t>
            </a:r>
          </a:p>
        </p:txBody>
      </p:sp>
      <p:sp>
        <p:nvSpPr>
          <p:cNvPr id="106" name="Right Arrow 105"/>
          <p:cNvSpPr/>
          <p:nvPr/>
        </p:nvSpPr>
        <p:spPr>
          <a:xfrm>
            <a:off x="10764000" y="12060000"/>
            <a:ext cx="504000" cy="216000"/>
          </a:xfrm>
          <a:prstGeom prst="rightArrow">
            <a:avLst/>
          </a:prstGeom>
          <a:solidFill>
            <a:srgbClr val="24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11376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8" name="TextBox 107"/>
          <p:cNvSpPr txBox="1"/>
          <p:nvPr>
            <p:custDataLst>
              <p:tags r:id="rId47"/>
            </p:custDataLst>
          </p:nvPr>
        </p:nvSpPr>
        <p:spPr>
          <a:xfrm>
            <a:off x="11344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到期回復</a:t>
            </a:r>
          </a:p>
        </p:txBody>
      </p:sp>
      <p:sp>
        <p:nvSpPr>
          <p:cNvPr id="109" name="TextBox 108"/>
          <p:cNvSpPr txBox="1"/>
          <p:nvPr>
            <p:custDataLst>
              <p:tags r:id="rId48"/>
            </p:custDataLst>
          </p:nvPr>
        </p:nvSpPr>
        <p:spPr>
          <a:xfrm>
            <a:off x="4296187" y="12564000"/>
            <a:ext cx="1000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複核／不確定 → 保留監測或蒐證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76000" y="13500000"/>
            <a:ext cx="13968000" cy="504000"/>
          </a:xfrm>
          <a:prstGeom prst="rect">
            <a:avLst/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1" name="TextBox 110"/>
          <p:cNvSpPr txBox="1"/>
          <p:nvPr>
            <p:custDataLst>
              <p:tags r:id="rId49"/>
            </p:custDataLst>
          </p:nvPr>
        </p:nvSpPr>
        <p:spPr>
          <a:xfrm>
            <a:off x="691425" y="13500000"/>
            <a:ext cx="1368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同一事件識別碼：正式分類／案例證據／稽核結論／處置回條</a:t>
            </a:r>
          </a:p>
        </p:txBody>
      </p:sp>
      <p:sp>
        <p:nvSpPr>
          <p:cNvPr id="112" name="TextBox 111"/>
          <p:cNvSpPr txBox="1"/>
          <p:nvPr>
            <p:custDataLst>
              <p:tags r:id="rId50"/>
            </p:custDataLst>
          </p:nvPr>
        </p:nvSpPr>
        <p:spPr>
          <a:xfrm>
            <a:off x="536312" y="14292000"/>
            <a:ext cx="1396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02  三項優勢，從判定走到可追溯處置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76000" y="14760000"/>
            <a:ext cx="4392000" cy="1404000"/>
          </a:xfrm>
          <a:prstGeom prst="rect">
            <a:avLst/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4" name="Rectangle 113"/>
          <p:cNvSpPr/>
          <p:nvPr/>
        </p:nvSpPr>
        <p:spPr>
          <a:xfrm>
            <a:off x="2376000" y="14796000"/>
            <a:ext cx="792000" cy="36000"/>
          </a:xfrm>
          <a:prstGeom prst="rect">
            <a:avLst/>
          </a:prstGeom>
          <a:solidFill>
            <a:srgbClr val="E3A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5" name="TextBox 114"/>
          <p:cNvSpPr txBox="1"/>
          <p:nvPr>
            <p:custDataLst>
              <p:tags r:id="rId51"/>
            </p:custDataLst>
          </p:nvPr>
        </p:nvSpPr>
        <p:spPr>
          <a:xfrm>
            <a:off x="539488" y="14868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互補判定</a:t>
            </a:r>
          </a:p>
        </p:txBody>
      </p:sp>
      <p:sp>
        <p:nvSpPr>
          <p:cNvPr id="116" name="TextBox 115"/>
          <p:cNvSpPr txBox="1"/>
          <p:nvPr>
            <p:custDataLst>
              <p:tags r:id="rId52"/>
            </p:custDataLst>
          </p:nvPr>
        </p:nvSpPr>
        <p:spPr>
          <a:xfrm>
            <a:off x="621807" y="15300000"/>
            <a:ext cx="4248000" cy="86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內容、時間差與方向互補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校準融合，固定17類輸出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Macro-F1達93.05%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364000" y="14760000"/>
            <a:ext cx="4392000" cy="1404000"/>
          </a:xfrm>
          <a:prstGeom prst="rect">
            <a:avLst/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8" name="Rectangle 117"/>
          <p:cNvSpPr/>
          <p:nvPr/>
        </p:nvSpPr>
        <p:spPr>
          <a:xfrm>
            <a:off x="7164000" y="14796000"/>
            <a:ext cx="792000" cy="36000"/>
          </a:xfrm>
          <a:prstGeom prst="rect">
            <a:avLst/>
          </a:prstGeom>
          <a:solidFill>
            <a:srgbClr val="E3A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9" name="TextBox 118"/>
          <p:cNvSpPr txBox="1"/>
          <p:nvPr>
            <p:custDataLst>
              <p:tags r:id="rId53"/>
            </p:custDataLst>
          </p:nvPr>
        </p:nvSpPr>
        <p:spPr>
          <a:xfrm>
            <a:off x="5327488" y="14868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任務證據</a:t>
            </a:r>
          </a:p>
        </p:txBody>
      </p:sp>
      <p:sp>
        <p:nvSpPr>
          <p:cNvPr id="120" name="TextBox 119"/>
          <p:cNvSpPr txBox="1"/>
          <p:nvPr>
            <p:custDataLst>
              <p:tags r:id="rId54"/>
            </p:custDataLst>
          </p:nvPr>
        </p:nvSpPr>
        <p:spPr>
          <a:xfrm>
            <a:off x="5409806" y="15300000"/>
            <a:ext cx="4248000" cy="86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529維任務向量找Top-5案例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AI核對判定，保留正式分類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命中率97.62%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152000" y="14760000"/>
            <a:ext cx="4392000" cy="1404000"/>
          </a:xfrm>
          <a:prstGeom prst="rect">
            <a:avLst/>
          </a:prstGeom>
          <a:solidFill>
            <a:srgbClr val="E9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2" name="Rectangle 121"/>
          <p:cNvSpPr/>
          <p:nvPr/>
        </p:nvSpPr>
        <p:spPr>
          <a:xfrm>
            <a:off x="11952000" y="14796000"/>
            <a:ext cx="792000" cy="36000"/>
          </a:xfrm>
          <a:prstGeom prst="rect">
            <a:avLst/>
          </a:prstGeom>
          <a:solidFill>
            <a:srgbClr val="E3A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3" name="TextBox 122"/>
          <p:cNvSpPr txBox="1"/>
          <p:nvPr>
            <p:custDataLst>
              <p:tags r:id="rId55"/>
            </p:custDataLst>
          </p:nvPr>
        </p:nvSpPr>
        <p:spPr>
          <a:xfrm>
            <a:off x="10115487" y="14868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受控可追溯</a:t>
            </a:r>
          </a:p>
        </p:txBody>
      </p:sp>
      <p:sp>
        <p:nvSpPr>
          <p:cNvPr id="124" name="TextBox 123"/>
          <p:cNvSpPr txBox="1"/>
          <p:nvPr>
            <p:custDataLst>
              <p:tags r:id="rId56"/>
            </p:custDataLst>
          </p:nvPr>
        </p:nvSpPr>
        <p:spPr>
          <a:xfrm>
            <a:off x="10197807" y="15300000"/>
            <a:ext cx="4248000" cy="86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本機AI，事件資料留在本機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同事件串接判定、證據與回條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策略檢查、讀回及到期回復</a:t>
            </a:r>
          </a:p>
        </p:txBody>
      </p:sp>
      <p:sp>
        <p:nvSpPr>
          <p:cNvPr id="125" name="TextBox 124"/>
          <p:cNvSpPr txBox="1"/>
          <p:nvPr>
            <p:custDataLst>
              <p:tags r:id="rId57"/>
            </p:custDataLst>
          </p:nvPr>
        </p:nvSpPr>
        <p:spPr>
          <a:xfrm>
            <a:off x="536312" y="16380000"/>
            <a:ext cx="1396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03  以分階段實測呈現效果</a:t>
            </a:r>
          </a:p>
        </p:txBody>
      </p:sp>
      <p:sp>
        <p:nvSpPr>
          <p:cNvPr id="126" name="TextBox 125"/>
          <p:cNvSpPr txBox="1"/>
          <p:nvPr>
            <p:custDataLst>
              <p:tags r:id="rId58"/>
            </p:custDataLst>
          </p:nvPr>
        </p:nvSpPr>
        <p:spPr>
          <a:xfrm>
            <a:off x="549013" y="16920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相同18,998筆測試的 Macro-F1</a:t>
            </a:r>
          </a:p>
        </p:txBody>
      </p:sp>
      <p:sp>
        <p:nvSpPr>
          <p:cNvPr id="127" name="TextBox 126"/>
          <p:cNvSpPr txBox="1"/>
          <p:nvPr>
            <p:custDataLst>
              <p:tags r:id="rId59"/>
            </p:custDataLst>
          </p:nvPr>
        </p:nvSpPr>
        <p:spPr>
          <a:xfrm>
            <a:off x="576000" y="17424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304000" y="17496000"/>
            <a:ext cx="3384000" cy="216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2304000" y="17496000"/>
            <a:ext cx="2698671" cy="216000"/>
          </a:xfrm>
          <a:prstGeom prst="rect">
            <a:avLst/>
          </a:prstGeom>
          <a:solidFill>
            <a:srgbClr val="819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0" name="TextBox 129"/>
          <p:cNvSpPr txBox="1"/>
          <p:nvPr>
            <p:custDataLst>
              <p:tags r:id="rId60"/>
            </p:custDataLst>
          </p:nvPr>
        </p:nvSpPr>
        <p:spPr>
          <a:xfrm>
            <a:off x="5729975" y="17424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79.75%</a:t>
            </a:r>
          </a:p>
        </p:txBody>
      </p:sp>
      <p:sp>
        <p:nvSpPr>
          <p:cNvPr id="131" name="TextBox 130"/>
          <p:cNvSpPr txBox="1"/>
          <p:nvPr>
            <p:custDataLst>
              <p:tags r:id="rId61"/>
            </p:custDataLst>
          </p:nvPr>
        </p:nvSpPr>
        <p:spPr>
          <a:xfrm>
            <a:off x="576000" y="18036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304000" y="18108000"/>
            <a:ext cx="3384000" cy="216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2304000" y="18108000"/>
            <a:ext cx="3116757" cy="216000"/>
          </a:xfrm>
          <a:prstGeom prst="rect">
            <a:avLst/>
          </a:prstGeom>
          <a:solidFill>
            <a:srgbClr val="819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4" name="TextBox 133"/>
          <p:cNvSpPr txBox="1"/>
          <p:nvPr>
            <p:custDataLst>
              <p:tags r:id="rId62"/>
            </p:custDataLst>
          </p:nvPr>
        </p:nvSpPr>
        <p:spPr>
          <a:xfrm>
            <a:off x="5729975" y="18036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92.10%</a:t>
            </a:r>
          </a:p>
        </p:txBody>
      </p:sp>
      <p:sp>
        <p:nvSpPr>
          <p:cNvPr id="135" name="TextBox 134"/>
          <p:cNvSpPr txBox="1"/>
          <p:nvPr>
            <p:custDataLst>
              <p:tags r:id="rId63"/>
            </p:custDataLst>
          </p:nvPr>
        </p:nvSpPr>
        <p:spPr>
          <a:xfrm>
            <a:off x="576000" y="18648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2304000" y="18720000"/>
            <a:ext cx="3384000" cy="216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2304000" y="18720000"/>
            <a:ext cx="3148824" cy="216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8" name="TextBox 137"/>
          <p:cNvSpPr txBox="1"/>
          <p:nvPr>
            <p:custDataLst>
              <p:tags r:id="rId64"/>
            </p:custDataLst>
          </p:nvPr>
        </p:nvSpPr>
        <p:spPr>
          <a:xfrm>
            <a:off x="5729975" y="18648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93.05%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2304000" y="19080000"/>
            <a:ext cx="0" cy="72000"/>
          </a:xfrm>
          <a:prstGeom prst="line">
            <a:avLst/>
          </a:prstGeom>
          <a:ln w="7620">
            <a:solidFill>
              <a:srgbClr val="D7E1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>
            <p:custDataLst>
              <p:tags r:id="rId65"/>
            </p:custDataLst>
          </p:nvPr>
        </p:nvSpPr>
        <p:spPr>
          <a:xfrm>
            <a:off x="1960950" y="19152000"/>
            <a:ext cx="648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0%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996000" y="19080000"/>
            <a:ext cx="0" cy="72000"/>
          </a:xfrm>
          <a:prstGeom prst="line">
            <a:avLst/>
          </a:prstGeom>
          <a:ln w="7620">
            <a:solidFill>
              <a:srgbClr val="D7E1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>
            <p:custDataLst>
              <p:tags r:id="rId66"/>
            </p:custDataLst>
          </p:nvPr>
        </p:nvSpPr>
        <p:spPr>
          <a:xfrm>
            <a:off x="3652950" y="19152000"/>
            <a:ext cx="648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50%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688000" y="19080000"/>
            <a:ext cx="0" cy="72000"/>
          </a:xfrm>
          <a:prstGeom prst="line">
            <a:avLst/>
          </a:prstGeom>
          <a:ln w="7620">
            <a:solidFill>
              <a:srgbClr val="D7E1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>
            <p:custDataLst>
              <p:tags r:id="rId67"/>
            </p:custDataLst>
          </p:nvPr>
        </p:nvSpPr>
        <p:spPr>
          <a:xfrm>
            <a:off x="5344950" y="19152000"/>
            <a:ext cx="648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100%</a:t>
            </a:r>
          </a:p>
        </p:txBody>
      </p:sp>
      <p:sp>
        <p:nvSpPr>
          <p:cNvPr id="145" name="TextBox 144"/>
          <p:cNvSpPr txBox="1"/>
          <p:nvPr>
            <p:custDataLst>
              <p:tags r:id="rId68"/>
            </p:custDataLst>
          </p:nvPr>
        </p:nvSpPr>
        <p:spPr>
          <a:xfrm>
            <a:off x="550600" y="19440000"/>
            <a:ext cx="6624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整體準確率98.08%·固定17類分類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7560000" y="16920000"/>
            <a:ext cx="0" cy="2844000"/>
          </a:xfrm>
          <a:prstGeom prst="line">
            <a:avLst/>
          </a:prstGeom>
          <a:ln w="12700">
            <a:solidFill>
              <a:srgbClr val="D7E1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>
            <p:custDataLst>
              <p:tags r:id="rId69"/>
            </p:custDataLst>
          </p:nvPr>
        </p:nvSpPr>
        <p:spPr>
          <a:xfrm>
            <a:off x="7893014" y="16920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1,550筆訓練案例／463筆查詢</a:t>
            </a:r>
          </a:p>
        </p:txBody>
      </p:sp>
      <p:sp>
        <p:nvSpPr>
          <p:cNvPr id="148" name="TextBox 147"/>
          <p:cNvSpPr txBox="1"/>
          <p:nvPr>
            <p:custDataLst>
              <p:tags r:id="rId70"/>
            </p:custDataLst>
          </p:nvPr>
        </p:nvSpPr>
        <p:spPr>
          <a:xfrm>
            <a:off x="7869200" y="17316000"/>
            <a:ext cx="6624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87F8C"/>
                </a:solidFill>
                <a:latin typeface="Times New Roman"/>
                <a:ea typeface="DFKai-SB"/>
                <a:cs typeface="Times New Roman"/>
              </a:rPr>
              <a:t>Top-5  97.62%</a:t>
            </a:r>
          </a:p>
        </p:txBody>
      </p:sp>
      <p:sp>
        <p:nvSpPr>
          <p:cNvPr id="149" name="TextBox 148"/>
          <p:cNvSpPr txBox="1"/>
          <p:nvPr>
            <p:custDataLst>
              <p:tags r:id="rId71"/>
            </p:custDataLst>
          </p:nvPr>
        </p:nvSpPr>
        <p:spPr>
          <a:xfrm>
            <a:off x="7896189" y="17892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MRR@5  93.89%·訓練／查詢重疊0</a:t>
            </a:r>
          </a:p>
        </p:txBody>
      </p:sp>
      <p:sp>
        <p:nvSpPr>
          <p:cNvPr id="150" name="TextBox 149"/>
          <p:cNvSpPr txBox="1"/>
          <p:nvPr>
            <p:custDataLst>
              <p:tags r:id="rId72"/>
            </p:custDataLst>
          </p:nvPr>
        </p:nvSpPr>
        <p:spPr>
          <a:xfrm>
            <a:off x="7878725" y="1836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415</a:t>
            </a:r>
          </a:p>
        </p:txBody>
      </p:sp>
      <p:sp>
        <p:nvSpPr>
          <p:cNvPr id="151" name="TextBox 150"/>
          <p:cNvSpPr txBox="1"/>
          <p:nvPr>
            <p:custDataLst>
              <p:tags r:id="rId73"/>
            </p:custDataLst>
          </p:nvPr>
        </p:nvSpPr>
        <p:spPr>
          <a:xfrm>
            <a:off x="7893013" y="1882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152" name="TextBox 151"/>
          <p:cNvSpPr txBox="1"/>
          <p:nvPr>
            <p:custDataLst>
              <p:tags r:id="rId74"/>
            </p:custDataLst>
          </p:nvPr>
        </p:nvSpPr>
        <p:spPr>
          <a:xfrm>
            <a:off x="10146725" y="1836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13</a:t>
            </a:r>
          </a:p>
        </p:txBody>
      </p:sp>
      <p:sp>
        <p:nvSpPr>
          <p:cNvPr id="153" name="TextBox 152"/>
          <p:cNvSpPr txBox="1"/>
          <p:nvPr>
            <p:custDataLst>
              <p:tags r:id="rId75"/>
            </p:custDataLst>
          </p:nvPr>
        </p:nvSpPr>
        <p:spPr>
          <a:xfrm>
            <a:off x="10161012" y="1882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154" name="TextBox 153"/>
          <p:cNvSpPr txBox="1"/>
          <p:nvPr>
            <p:custDataLst>
              <p:tags r:id="rId76"/>
            </p:custDataLst>
          </p:nvPr>
        </p:nvSpPr>
        <p:spPr>
          <a:xfrm>
            <a:off x="12414726" y="1836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35</a:t>
            </a:r>
          </a:p>
        </p:txBody>
      </p:sp>
      <p:sp>
        <p:nvSpPr>
          <p:cNvPr id="155" name="TextBox 154"/>
          <p:cNvSpPr txBox="1"/>
          <p:nvPr>
            <p:custDataLst>
              <p:tags r:id="rId77"/>
            </p:custDataLst>
          </p:nvPr>
        </p:nvSpPr>
        <p:spPr>
          <a:xfrm>
            <a:off x="12429013" y="1882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156" name="TextBox 155"/>
          <p:cNvSpPr txBox="1"/>
          <p:nvPr>
            <p:custDataLst>
              <p:tags r:id="rId78"/>
            </p:custDataLst>
          </p:nvPr>
        </p:nvSpPr>
        <p:spPr>
          <a:xfrm>
            <a:off x="7896982" y="19296000"/>
            <a:ext cx="6624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30筆偵測誤判中18筆分流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其餘12筆獲支持，處置另經策略檢查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576000" y="19872000"/>
            <a:ext cx="13968000" cy="0"/>
          </a:xfrm>
          <a:prstGeom prst="line">
            <a:avLst/>
          </a:prstGeom>
          <a:ln w="12700">
            <a:solidFill>
              <a:srgbClr val="D7E1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/>
          <p:cNvSpPr txBox="1"/>
          <p:nvPr>
            <p:custDataLst>
              <p:tags r:id="rId79"/>
            </p:custDataLst>
          </p:nvPr>
        </p:nvSpPr>
        <p:spPr>
          <a:xfrm>
            <a:off x="550600" y="19980000"/>
            <a:ext cx="2412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17類本機重跑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6種隔離TCP情境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240000" y="19980000"/>
            <a:ext cx="1116000" cy="324000"/>
          </a:xfrm>
          <a:prstGeom prst="rect">
            <a:avLst/>
          </a:prstGeom>
          <a:solidFill>
            <a:srgbClr val="F4F7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0" name="TextBox 159"/>
          <p:cNvSpPr txBox="1"/>
          <p:nvPr>
            <p:custDataLst>
              <p:tags r:id="rId80"/>
            </p:custDataLst>
          </p:nvPr>
        </p:nvSpPr>
        <p:spPr>
          <a:xfrm>
            <a:off x="321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正常</a:t>
            </a:r>
          </a:p>
        </p:txBody>
      </p:sp>
      <p:sp>
        <p:nvSpPr>
          <p:cNvPr id="161" name="TextBox 160"/>
          <p:cNvSpPr txBox="1"/>
          <p:nvPr>
            <p:custDataLst>
              <p:tags r:id="rId81"/>
            </p:custDataLst>
          </p:nvPr>
        </p:nvSpPr>
        <p:spPr>
          <a:xfrm>
            <a:off x="321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監測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500000" y="19980000"/>
            <a:ext cx="1116000" cy="324000"/>
          </a:xfrm>
          <a:prstGeom prst="rect">
            <a:avLst/>
          </a:prstGeom>
          <a:solidFill>
            <a:srgbClr val="FFF5E5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3" name="TextBox 162"/>
          <p:cNvSpPr txBox="1"/>
          <p:nvPr>
            <p:custDataLst>
              <p:tags r:id="rId82"/>
            </p:custDataLst>
          </p:nvPr>
        </p:nvSpPr>
        <p:spPr>
          <a:xfrm>
            <a:off x="447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FTP</a:t>
            </a:r>
          </a:p>
        </p:txBody>
      </p:sp>
      <p:sp>
        <p:nvSpPr>
          <p:cNvPr id="164" name="TextBox 163"/>
          <p:cNvSpPr txBox="1"/>
          <p:nvPr>
            <p:custDataLst>
              <p:tags r:id="rId83"/>
            </p:custDataLst>
          </p:nvPr>
        </p:nvSpPr>
        <p:spPr>
          <a:xfrm>
            <a:off x="447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5760000" y="19980000"/>
            <a:ext cx="1116000" cy="324000"/>
          </a:xfrm>
          <a:prstGeom prst="rect">
            <a:avLst/>
          </a:prstGeom>
          <a:solidFill>
            <a:srgbClr val="FFF5E5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6" name="TextBox 165"/>
          <p:cNvSpPr txBox="1"/>
          <p:nvPr>
            <p:custDataLst>
              <p:tags r:id="rId84"/>
            </p:custDataLst>
          </p:nvPr>
        </p:nvSpPr>
        <p:spPr>
          <a:xfrm>
            <a:off x="573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SSH</a:t>
            </a:r>
          </a:p>
        </p:txBody>
      </p:sp>
      <p:sp>
        <p:nvSpPr>
          <p:cNvPr id="167" name="TextBox 166"/>
          <p:cNvSpPr txBox="1"/>
          <p:nvPr>
            <p:custDataLst>
              <p:tags r:id="rId85"/>
            </p:custDataLst>
          </p:nvPr>
        </p:nvSpPr>
        <p:spPr>
          <a:xfrm>
            <a:off x="573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020000" y="19980000"/>
            <a:ext cx="1116000" cy="324000"/>
          </a:xfrm>
          <a:prstGeom prst="rect">
            <a:avLst/>
          </a:prstGeom>
          <a:solidFill>
            <a:srgbClr val="FFF5E5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9" name="TextBox 168"/>
          <p:cNvSpPr txBox="1"/>
          <p:nvPr>
            <p:custDataLst>
              <p:tags r:id="rId86"/>
            </p:custDataLst>
          </p:nvPr>
        </p:nvSpPr>
        <p:spPr>
          <a:xfrm>
            <a:off x="699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HTTP</a:t>
            </a:r>
          </a:p>
        </p:txBody>
      </p:sp>
      <p:sp>
        <p:nvSpPr>
          <p:cNvPr id="170" name="TextBox 169"/>
          <p:cNvSpPr txBox="1"/>
          <p:nvPr>
            <p:custDataLst>
              <p:tags r:id="rId87"/>
            </p:custDataLst>
          </p:nvPr>
        </p:nvSpPr>
        <p:spPr>
          <a:xfrm>
            <a:off x="699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280000" y="19980000"/>
            <a:ext cx="1116000" cy="324000"/>
          </a:xfrm>
          <a:prstGeom prst="rect">
            <a:avLst/>
          </a:prstGeom>
          <a:solidFill>
            <a:srgbClr val="F4F7FA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72" name="TextBox 171"/>
          <p:cNvSpPr txBox="1"/>
          <p:nvPr>
            <p:custDataLst>
              <p:tags r:id="rId88"/>
            </p:custDataLst>
          </p:nvPr>
        </p:nvSpPr>
        <p:spPr>
          <a:xfrm>
            <a:off x="825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XSS</a:t>
            </a:r>
          </a:p>
        </p:txBody>
      </p:sp>
      <p:sp>
        <p:nvSpPr>
          <p:cNvPr id="173" name="TextBox 172"/>
          <p:cNvSpPr txBox="1"/>
          <p:nvPr>
            <p:custDataLst>
              <p:tags r:id="rId89"/>
            </p:custDataLst>
          </p:nvPr>
        </p:nvSpPr>
        <p:spPr>
          <a:xfrm>
            <a:off x="825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蒐證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9540000" y="19980000"/>
            <a:ext cx="1116000" cy="324000"/>
          </a:xfrm>
          <a:prstGeom prst="rect">
            <a:avLst/>
          </a:prstGeom>
          <a:solidFill>
            <a:srgbClr val="FFF5E5"/>
          </a:solidFill>
          <a:ln w="1016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75" name="TextBox 174"/>
          <p:cNvSpPr txBox="1"/>
          <p:nvPr>
            <p:custDataLst>
              <p:tags r:id="rId90"/>
            </p:custDataLst>
          </p:nvPr>
        </p:nvSpPr>
        <p:spPr>
          <a:xfrm>
            <a:off x="951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Bot</a:t>
            </a:r>
          </a:p>
        </p:txBody>
      </p:sp>
      <p:sp>
        <p:nvSpPr>
          <p:cNvPr id="176" name="TextBox 175"/>
          <p:cNvSpPr txBox="1"/>
          <p:nvPr>
            <p:custDataLst>
              <p:tags r:id="rId91"/>
            </p:custDataLst>
          </p:nvPr>
        </p:nvSpPr>
        <p:spPr>
          <a:xfrm>
            <a:off x="951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77" name="TextBox 176"/>
          <p:cNvSpPr txBox="1"/>
          <p:nvPr>
            <p:custDataLst>
              <p:tags r:id="rId92"/>
            </p:custDataLst>
          </p:nvPr>
        </p:nvSpPr>
        <p:spPr>
          <a:xfrm>
            <a:off x="11030862" y="19980000"/>
            <a:ext cx="3456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背景保留 6/6</a:t>
            </a:r>
          </a:p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到期回復 6/6</a:t>
            </a:r>
          </a:p>
        </p:txBody>
      </p:sp>
      <p:sp>
        <p:nvSpPr>
          <p:cNvPr id="178" name="TextBox 177"/>
          <p:cNvSpPr txBox="1"/>
          <p:nvPr>
            <p:custDataLst>
              <p:tags r:id="rId93"/>
            </p:custDataLst>
          </p:nvPr>
        </p:nvSpPr>
        <p:spPr>
          <a:xfrm>
            <a:off x="550600" y="20592000"/>
            <a:ext cx="13968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4種套用規則、2種監測或蒐證；6/6為隔離交易與回復結果，非原生攻擊防禦率。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3.858276367187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3.858276367187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3.858276367187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92.755905151367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3.8582763671875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35.4330444335938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76.5354614257812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17.6378173828125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58.7401733398438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99.8424682617188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177734375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28.5039367675781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6.2992248535156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17773437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6156921387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18.267723083496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18.26771545410156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6042480469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889892578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72.283447265625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72.2834625244141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6.1417465209961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1.41732788085938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14.6456604003906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7.8740234375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6.141746520996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848632812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848632812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848632812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5.8267974853516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5.8267974853516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62.9921417236328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62.9921417236328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848632812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0.3149642944336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9.0551109313965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9.0551109313965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8.26772689819336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8.26772689819336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7.480312347412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7.480312347412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6.692928314209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6.692928314209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5.9055137634277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5.9055137634277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5.1180992126465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5.1180992126465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45.1968383789062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heme/theme1.xml><?xml version="1.0" encoding="utf-8"?>
<a:theme xmlns:a="http://schemas.openxmlformats.org/drawingml/2006/main" name="Office Theme">
  <a:themeElements>
    <a:clrScheme name="AI Security White Navy Teal">
      <a:dk1>
        <a:srgbClr val="243447"/>
      </a:dk1>
      <a:lt1>
        <a:srgbClr val="FFFFFF"/>
      </a:lt1>
      <a:dk2>
        <a:srgbClr val="16324F"/>
      </a:dk2>
      <a:lt2>
        <a:srgbClr val="F4F7FA"/>
      </a:lt2>
      <a:accent1>
        <a:srgbClr val="245EA8"/>
      </a:accent1>
      <a:accent2>
        <a:srgbClr val="E3A338"/>
      </a:accent2>
      <a:accent3>
        <a:srgbClr val="087F8C"/>
      </a:accent3>
      <a:accent4>
        <a:srgbClr val="245EA8"/>
      </a:accent4>
      <a:accent5>
        <a:srgbClr val="16324F"/>
      </a:accent5>
      <a:accent6>
        <a:srgbClr val="526477"/>
      </a:accent6>
      <a:hlink>
        <a:srgbClr val="245EA8"/>
      </a:hlink>
      <a:folHlink>
        <a:srgbClr val="16324F"/>
      </a:folHlink>
    </a:clrScheme>
    <a:fontScheme name="Office">
      <a:maj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ajorFont>
      <a:min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256</Words>
  <Application>Microsoft Office PowerPoint</Application>
  <PresentationFormat>自訂</PresentationFormat>
  <Paragraphs>108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3" baseType="lpstr">
      <vt:lpstr>Times New Roman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2026-10-30T04:13:21Z</dcterms:modified>
  <cp:category/>
</cp:coreProperties>
</file>