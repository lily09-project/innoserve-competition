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Segoe UI"/>
        <a:ea typeface="Microsoft JhengHei"/>
        <a:cs typeface="Segoe UI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Segoe UI"/>
        <a:ea typeface="Microsoft JhengHei"/>
        <a:cs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Segoe UI"/>
                <a:ea typeface="Microsoft JhengHei"/>
                <a:cs typeface="Segoe UI"/>
              </a:defRPr>
            </a:lvl1pPr>
            <a:lvl2pPr>
              <a:defRPr sz="2400">
                <a:latin typeface="Segoe UI"/>
                <a:ea typeface="Microsoft JhengHei"/>
                <a:cs typeface="Segoe UI"/>
              </a:defRPr>
            </a:lvl2pPr>
            <a:lvl3pPr>
              <a:defRPr sz="2000">
                <a:latin typeface="Segoe UI"/>
                <a:ea typeface="Microsoft JhengHei"/>
                <a:cs typeface="Segoe UI"/>
              </a:defRPr>
            </a:lvl3pPr>
            <a:lvl4pPr>
              <a:defRPr sz="1800">
                <a:latin typeface="Segoe UI"/>
                <a:ea typeface="Microsoft JhengHei"/>
                <a:cs typeface="Segoe UI"/>
              </a:defRPr>
            </a:lvl4pPr>
            <a:lvl5pPr>
              <a:defRPr sz="1800">
                <a:latin typeface="Segoe UI"/>
                <a:ea typeface="Microsoft JhengHei"/>
                <a:cs typeface="Segoe UI"/>
              </a:defRPr>
            </a:lvl5pPr>
            <a:lvl6pPr>
              <a:defRPr sz="1800">
                <a:latin typeface="Segoe UI"/>
                <a:ea typeface="Microsoft JhengHei"/>
                <a:cs typeface="Segoe UI"/>
              </a:defRPr>
            </a:lvl6pPr>
            <a:lvl7pPr>
              <a:defRPr sz="1800">
                <a:latin typeface="Segoe UI"/>
                <a:ea typeface="Microsoft JhengHei"/>
                <a:cs typeface="Segoe UI"/>
              </a:defRPr>
            </a:lvl7pPr>
            <a:lvl8pPr>
              <a:defRPr sz="1800">
                <a:latin typeface="Segoe UI"/>
                <a:ea typeface="Microsoft JhengHei"/>
                <a:cs typeface="Segoe UI"/>
              </a:defRPr>
            </a:lvl8pPr>
            <a:lvl9pPr>
              <a:defRPr sz="18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000" b="1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800" b="1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1600" b="1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1600" b="1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1600" b="1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1600" b="1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1600" b="1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1600" b="1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Segoe UI"/>
                <a:ea typeface="Microsoft JhengHei"/>
                <a:cs typeface="Segoe UI"/>
              </a:defRPr>
            </a:lvl1pPr>
            <a:lvl2pPr>
              <a:defRPr sz="2000">
                <a:latin typeface="Segoe UI"/>
                <a:ea typeface="Microsoft JhengHei"/>
                <a:cs typeface="Segoe UI"/>
              </a:defRPr>
            </a:lvl2pPr>
            <a:lvl3pPr>
              <a:defRPr sz="1800">
                <a:latin typeface="Segoe UI"/>
                <a:ea typeface="Microsoft JhengHei"/>
                <a:cs typeface="Segoe UI"/>
              </a:defRPr>
            </a:lvl3pPr>
            <a:lvl4pPr>
              <a:defRPr sz="1600">
                <a:latin typeface="Segoe UI"/>
                <a:ea typeface="Microsoft JhengHei"/>
                <a:cs typeface="Segoe UI"/>
              </a:defRPr>
            </a:lvl4pPr>
            <a:lvl5pPr>
              <a:defRPr sz="1600">
                <a:latin typeface="Segoe UI"/>
                <a:ea typeface="Microsoft JhengHei"/>
                <a:cs typeface="Segoe UI"/>
              </a:defRPr>
            </a:lvl5pPr>
            <a:lvl6pPr>
              <a:defRPr sz="1600">
                <a:latin typeface="Segoe UI"/>
                <a:ea typeface="Microsoft JhengHei"/>
                <a:cs typeface="Segoe UI"/>
              </a:defRPr>
            </a:lvl6pPr>
            <a:lvl7pPr>
              <a:defRPr sz="1600">
                <a:latin typeface="Segoe UI"/>
                <a:ea typeface="Microsoft JhengHei"/>
                <a:cs typeface="Segoe UI"/>
              </a:defRPr>
            </a:lvl7pPr>
            <a:lvl8pPr>
              <a:defRPr sz="1600">
                <a:latin typeface="Segoe UI"/>
                <a:ea typeface="Microsoft JhengHei"/>
                <a:cs typeface="Segoe UI"/>
              </a:defRPr>
            </a:lvl8pPr>
            <a:lvl9pPr>
              <a:defRPr sz="16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Segoe UI"/>
                <a:ea typeface="Microsoft JhengHei"/>
                <a:cs typeface="Segoe UI"/>
              </a:defRPr>
            </a:lvl1pPr>
            <a:lvl2pPr>
              <a:defRPr sz="2800">
                <a:latin typeface="Segoe UI"/>
                <a:ea typeface="Microsoft JhengHei"/>
                <a:cs typeface="Segoe UI"/>
              </a:defRPr>
            </a:lvl2pPr>
            <a:lvl3pPr>
              <a:defRPr sz="2400">
                <a:latin typeface="Segoe UI"/>
                <a:ea typeface="Microsoft JhengHei"/>
                <a:cs typeface="Segoe UI"/>
              </a:defRPr>
            </a:lvl3pPr>
            <a:lvl4pPr>
              <a:defRPr sz="2000">
                <a:latin typeface="Segoe UI"/>
                <a:ea typeface="Microsoft JhengHei"/>
                <a:cs typeface="Segoe UI"/>
              </a:defRPr>
            </a:lvl4pPr>
            <a:lvl5pPr>
              <a:defRPr sz="2000">
                <a:latin typeface="Segoe UI"/>
                <a:ea typeface="Microsoft JhengHei"/>
                <a:cs typeface="Segoe UI"/>
              </a:defRPr>
            </a:lvl5pPr>
            <a:lvl6pPr>
              <a:defRPr sz="2000">
                <a:latin typeface="Segoe UI"/>
                <a:ea typeface="Microsoft JhengHei"/>
                <a:cs typeface="Segoe UI"/>
              </a:defRPr>
            </a:lvl6pPr>
            <a:lvl7pPr>
              <a:defRPr sz="2000">
                <a:latin typeface="Segoe UI"/>
                <a:ea typeface="Microsoft JhengHei"/>
                <a:cs typeface="Segoe UI"/>
              </a:defRPr>
            </a:lvl7pPr>
            <a:lvl8pPr>
              <a:defRPr sz="2000">
                <a:latin typeface="Segoe UI"/>
                <a:ea typeface="Microsoft JhengHei"/>
                <a:cs typeface="Segoe UI"/>
              </a:defRPr>
            </a:lvl8pPr>
            <a:lvl9pPr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Segoe UI"/>
                <a:ea typeface="Microsoft JhengHei"/>
                <a:cs typeface="Segoe UI"/>
              </a:defRPr>
            </a:lvl1pPr>
          </a:lstStyle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28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24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20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20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20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20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20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2000">
                <a:latin typeface="Segoe UI"/>
                <a:ea typeface="Microsoft JhengHei"/>
                <a:cs typeface="Segoe UI"/>
              </a:defRPr>
            </a:lvl9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Segoe UI"/>
                <a:ea typeface="Microsoft JhengHei"/>
                <a:cs typeface="Segoe UI"/>
              </a:defRPr>
            </a:lvl1pPr>
            <a:lvl2pPr marL="457200" indent="0">
              <a:buNone/>
              <a:defRPr sz="1200">
                <a:latin typeface="Segoe UI"/>
                <a:ea typeface="Microsoft JhengHei"/>
                <a:cs typeface="Segoe UI"/>
              </a:defRPr>
            </a:lvl2pPr>
            <a:lvl3pPr marL="914400" indent="0">
              <a:buNone/>
              <a:defRPr sz="1000">
                <a:latin typeface="Segoe UI"/>
                <a:ea typeface="Microsoft JhengHei"/>
                <a:cs typeface="Segoe UI"/>
              </a:defRPr>
            </a:lvl3pPr>
            <a:lvl4pPr marL="1371600" indent="0">
              <a:buNone/>
              <a:defRPr sz="900">
                <a:latin typeface="Segoe UI"/>
                <a:ea typeface="Microsoft JhengHei"/>
                <a:cs typeface="Segoe UI"/>
              </a:defRPr>
            </a:lvl4pPr>
            <a:lvl5pPr marL="1828800" indent="0">
              <a:buNone/>
              <a:defRPr sz="900">
                <a:latin typeface="Segoe UI"/>
                <a:ea typeface="Microsoft JhengHei"/>
                <a:cs typeface="Segoe UI"/>
              </a:defRPr>
            </a:lvl5pPr>
            <a:lvl6pPr marL="2286000" indent="0">
              <a:buNone/>
              <a:defRPr sz="900">
                <a:latin typeface="Segoe UI"/>
                <a:ea typeface="Microsoft JhengHei"/>
                <a:cs typeface="Segoe UI"/>
              </a:defRPr>
            </a:lvl6pPr>
            <a:lvl7pPr marL="2743200" indent="0">
              <a:buNone/>
              <a:defRPr sz="900">
                <a:latin typeface="Segoe UI"/>
                <a:ea typeface="Microsoft JhengHei"/>
                <a:cs typeface="Segoe UI"/>
              </a:defRPr>
            </a:lvl7pPr>
            <a:lvl8pPr marL="3200400" indent="0">
              <a:buNone/>
              <a:defRPr sz="900">
                <a:latin typeface="Segoe UI"/>
                <a:ea typeface="Microsoft JhengHei"/>
                <a:cs typeface="Segoe UI"/>
              </a:defRPr>
            </a:lvl8pPr>
            <a:lvl9pPr marL="3657600" indent="0">
              <a:buNone/>
              <a:defRPr sz="900">
                <a:latin typeface="Segoe UI"/>
                <a:ea typeface="Microsoft JhengHei"/>
                <a:cs typeface="Segoe UI"/>
              </a:defRPr>
            </a:lvl9pPr>
          </a:lstStyle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Segoe UI"/>
                <a:ea typeface="Microsoft JhengHei"/>
                <a:cs typeface="Segoe UI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Segoe UI"/>
                <a:ea typeface="Microsoft JhengHei"/>
                <a:cs typeface="Segoe UI"/>
              </a:rPr>
              <a:t>Click to edit Master text styles</a:t>
            </a:r>
          </a:p>
          <a:p>
            <a:pPr lvl="1"/>
            <a:r>
              <a:rPr lang="en-US">
                <a:latin typeface="Segoe UI"/>
                <a:ea typeface="Microsoft JhengHei"/>
                <a:cs typeface="Segoe UI"/>
              </a:rPr>
              <a:t>Second level</a:t>
            </a:r>
          </a:p>
          <a:p>
            <a:pPr lvl="2"/>
            <a:r>
              <a:rPr lang="en-US">
                <a:latin typeface="Segoe UI"/>
                <a:ea typeface="Microsoft JhengHei"/>
                <a:cs typeface="Segoe UI"/>
              </a:rPr>
              <a:t>Third level</a:t>
            </a:r>
          </a:p>
          <a:p>
            <a:pPr lvl="3"/>
            <a:r>
              <a:rPr lang="en-US">
                <a:latin typeface="Segoe UI"/>
                <a:ea typeface="Microsoft JhengHei"/>
                <a:cs typeface="Segoe UI"/>
              </a:rPr>
              <a:t>Fourth level</a:t>
            </a:r>
          </a:p>
          <a:p>
            <a:pPr lvl="4"/>
            <a:r>
              <a:rPr lang="en-US">
                <a:latin typeface="Segoe UI"/>
                <a:ea typeface="Microsoft JhengHei"/>
                <a:cs typeface="Segoe UI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5BCAD085-E8A6-8845-BD4E-CB4CCA059FC4}" type="datetimeFigureOut">
              <a:rPr lang="en-US" smtClean="0">
                <a:latin typeface="Segoe UI"/>
                <a:ea typeface="Microsoft JhengHei"/>
                <a:cs typeface="Segoe UI"/>
              </a:rPr>
              <a:t>10/31/2026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endParaRPr lang="en-US">
              <a:latin typeface="Segoe UI"/>
              <a:ea typeface="Microsoft JhengHei"/>
              <a:cs typeface="Segoe U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/>
                <a:ea typeface="Microsoft JhengHei"/>
                <a:cs typeface="Segoe UI"/>
              </a:defRPr>
            </a:lvl1pPr>
          </a:lstStyle>
          <a:p>
            <a:fld id="{C1FF6DA9-008F-8B48-92A6-B652298478BF}" type="slidenum">
              <a:rPr lang="en-US" smtClean="0">
                <a:latin typeface="Segoe UI"/>
                <a:ea typeface="Microsoft JhengHei"/>
                <a:cs typeface="Segoe UI"/>
              </a:rPr>
              <a:t>‹#›</a:t>
            </a:fld>
            <a:endParaRPr lang="en-US">
              <a:latin typeface="Segoe UI"/>
              <a:ea typeface="Microsoft JhengHe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egoe UI"/>
          <a:ea typeface="Microsoft JhengHei"/>
          <a:cs typeface="Segoe U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Segoe UI"/>
        <a:buChar char="•"/>
        <a:defRPr sz="32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742950" indent="-285750" algn="l" defTabSz="457200" rtl="0" eaLnBrk="1" latinLnBrk="0" hangingPunct="1">
        <a:spcBef>
          <a:spcPct val="20000"/>
        </a:spcBef>
        <a:buFont typeface="Segoe UI"/>
        <a:buChar char="–"/>
        <a:defRPr sz="2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1143000" indent="-228600" algn="l" defTabSz="457200" rtl="0" eaLnBrk="1" latinLnBrk="0" hangingPunct="1">
        <a:spcBef>
          <a:spcPct val="20000"/>
        </a:spcBef>
        <a:buFont typeface="Segoe UI"/>
        <a:buChar char="•"/>
        <a:defRPr sz="24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600200" indent="-228600" algn="l" defTabSz="457200" rtl="0" eaLnBrk="1" latinLnBrk="0" hangingPunct="1">
        <a:spcBef>
          <a:spcPct val="20000"/>
        </a:spcBef>
        <a:buFont typeface="Segoe UI"/>
        <a:buChar char="–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2057400" indent="-228600" algn="l" defTabSz="457200" rtl="0" eaLnBrk="1" latinLnBrk="0" hangingPunct="1">
        <a:spcBef>
          <a:spcPct val="20000"/>
        </a:spcBef>
        <a:buFont typeface="Segoe UI"/>
        <a:buChar char="»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5146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9718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4290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886200" indent="-228600" algn="l" defTabSz="457200" rtl="0" eaLnBrk="1" latinLnBrk="0" hangingPunct="1">
        <a:spcBef>
          <a:spcPct val="20000"/>
        </a:spcBef>
        <a:buFont typeface="Segoe UI"/>
        <a:buChar char="•"/>
        <a:defRPr sz="2000" kern="1200">
          <a:solidFill>
            <a:schemeClr val="tx1"/>
          </a:solidFill>
          <a:latin typeface="Segoe UI"/>
          <a:ea typeface="Microsoft JhengHei"/>
          <a:cs typeface="Segoe UI"/>
        </a:defRPr>
      </a:lvl9pPr>
    </p:bodyStyle>
    <p:otherStyle>
      <a:defPPr>
        <a:defRPr lang="en-US">
          <a:latin typeface="Segoe UI"/>
          <a:ea typeface="Microsoft JhengHei"/>
          <a:cs typeface="Segoe UI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Segoe UI"/>
          <a:ea typeface="Microsoft JhengHei"/>
          <a:cs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5120000" cy="5832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0" y="5832000"/>
            <a:ext cx="15120000" cy="0"/>
          </a:xfrm>
          <a:prstGeom prst="line">
            <a:avLst/>
          </a:prstGeom>
          <a:ln w="1905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>
            <p:custDataLst>
              <p:tags r:id="rId1"/>
            </p:custDataLst>
          </p:nvPr>
        </p:nvSpPr>
        <p:spPr>
          <a:xfrm>
            <a:off x="832250" y="432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2026 資安技術組 · 決賽作品</a:t>
            </a:r>
          </a:p>
        </p:txBody>
      </p:sp>
      <p:sp>
        <p:nvSpPr>
          <p:cNvPr id="5" name="PosterTitle_Masthead"/>
          <p:cNvSpPr txBox="1"/>
          <p:nvPr>
            <p:custDataLst>
              <p:tags r:id="rId2"/>
            </p:custDataLst>
          </p:nvPr>
        </p:nvSpPr>
        <p:spPr>
          <a:xfrm>
            <a:off x="763987" y="720000"/>
            <a:ext cx="13392000" cy="255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融合新型內容相依時序方向模型入侵偵測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與任務導向檢索增強稽核之 AI 資安框架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7128000" y="3384000"/>
            <a:ext cx="864000" cy="57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" name="TextBox 6"/>
          <p:cNvSpPr txBox="1"/>
          <p:nvPr>
            <p:custDataLst>
              <p:tags r:id="rId3"/>
            </p:custDataLst>
          </p:nvPr>
        </p:nvSpPr>
        <p:spPr>
          <a:xfrm>
            <a:off x="816375" y="3492000"/>
            <a:ext cx="13392000" cy="39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從流量告警，走到有證據、可回復的處置</a:t>
            </a:r>
          </a:p>
        </p:txBody>
      </p:sp>
      <p:sp>
        <p:nvSpPr>
          <p:cNvPr id="8" name="TextBox 7"/>
          <p:cNvSpPr txBox="1"/>
          <p:nvPr>
            <p:custDataLst>
              <p:tags r:id="rId4"/>
            </p:custDataLst>
          </p:nvPr>
        </p:nvSpPr>
        <p:spPr>
          <a:xfrm>
            <a:off x="833044" y="3924000"/>
            <a:ext cx="13392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同一事件串起模型判定、相似案例、AI稽核與處置回條。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0" y="4266000"/>
            <a:ext cx="11520000" cy="288000"/>
          </a:xfrm>
          <a:prstGeom prst="roundRect">
            <a:avLst>
              <a:gd name="adj" fmla="val 30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1775394" y="4266000"/>
            <a:ext cx="1152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Segoe UI"/>
                <a:ea typeface="Microsoft JhengHei"/>
                <a:cs typeface="Segoe UI"/>
              </a:rPr>
              <a:t>★ </a:t>
            </a:r>
            <a:r>
              <a:rPr sz="14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本團隊原創：CTBM、校準融合、任務導向檢索、本機AI稽核、受控回復　｜　引用既有：PBCNN（Yu et al., 2021）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6000" y="5004000"/>
            <a:ext cx="11088000" cy="0"/>
          </a:xfrm>
          <a:prstGeom prst="line">
            <a:avLst/>
          </a:prstGeom>
          <a:ln w="254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7280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3" name="Picture 12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836000" y="4824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12610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偵測</a:t>
            </a:r>
          </a:p>
        </p:txBody>
      </p:sp>
      <p:sp>
        <p:nvSpPr>
          <p:cNvPr id="15" name="Oval 14"/>
          <p:cNvSpPr/>
          <p:nvPr/>
        </p:nvSpPr>
        <p:spPr>
          <a:xfrm>
            <a:off x="54252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16" name="Picture 15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533200" y="4824000"/>
            <a:ext cx="360000" cy="360000"/>
          </a:xfrm>
          <a:prstGeom prst="rect">
            <a:avLst/>
          </a:prstGeom>
        </p:spPr>
      </p:pic>
      <p:sp>
        <p:nvSpPr>
          <p:cNvPr id="17" name="TextBox 16"/>
          <p:cNvSpPr txBox="1"/>
          <p:nvPr>
            <p:custDataLst>
              <p:tags r:id="rId7"/>
            </p:custDataLst>
          </p:nvPr>
        </p:nvSpPr>
        <p:spPr>
          <a:xfrm>
            <a:off x="4958274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檢索</a:t>
            </a:r>
          </a:p>
        </p:txBody>
      </p:sp>
      <p:sp>
        <p:nvSpPr>
          <p:cNvPr id="18" name="Oval 17"/>
          <p:cNvSpPr/>
          <p:nvPr/>
        </p:nvSpPr>
        <p:spPr>
          <a:xfrm>
            <a:off x="91224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295200" y="4824000"/>
            <a:ext cx="230400" cy="36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9345888" y="491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345888" y="500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345888" y="5094000"/>
            <a:ext cx="129024" cy="0"/>
          </a:xfrm>
          <a:prstGeom prst="line">
            <a:avLst/>
          </a:prstGeom>
          <a:ln w="1016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>
            <p:custDataLst>
              <p:tags r:id="rId8"/>
            </p:custDataLst>
          </p:nvPr>
        </p:nvSpPr>
        <p:spPr>
          <a:xfrm>
            <a:off x="86554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稽核</a:t>
            </a:r>
          </a:p>
        </p:txBody>
      </p:sp>
      <p:sp>
        <p:nvSpPr>
          <p:cNvPr id="24" name="Oval 23"/>
          <p:cNvSpPr/>
          <p:nvPr/>
        </p:nvSpPr>
        <p:spPr>
          <a:xfrm>
            <a:off x="12819600" y="4716000"/>
            <a:ext cx="576000" cy="57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pic>
        <p:nvPicPr>
          <p:cNvPr id="25" name="Picture 24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2927600" y="4824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>
            <p:custDataLst>
              <p:tags r:id="rId9"/>
            </p:custDataLst>
          </p:nvPr>
        </p:nvSpPr>
        <p:spPr>
          <a:xfrm>
            <a:off x="12352675" y="5364000"/>
            <a:ext cx="1440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回復</a:t>
            </a:r>
          </a:p>
        </p:txBody>
      </p:sp>
      <p:sp>
        <p:nvSpPr>
          <p:cNvPr id="27" name="TextBox 26"/>
          <p:cNvSpPr txBox="1"/>
          <p:nvPr>
            <p:custDataLst>
              <p:tags r:id="rId10"/>
            </p:custDataLst>
          </p:nvPr>
        </p:nvSpPr>
        <p:spPr>
          <a:xfrm>
            <a:off x="818756" y="6030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四階段方法，串成同一條事件鏈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64000" y="6552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64000" y="6732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0" name="TextBox 29"/>
          <p:cNvSpPr txBox="1"/>
          <p:nvPr>
            <p:custDataLst>
              <p:tags r:id="rId11"/>
            </p:custDataLst>
          </p:nvPr>
        </p:nvSpPr>
        <p:spPr>
          <a:xfrm>
            <a:off x="897106" y="6876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01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31" name="TextBox 30"/>
          <p:cNvSpPr txBox="1"/>
          <p:nvPr>
            <p:custDataLst>
              <p:tags r:id="rId12"/>
            </p:custDataLst>
          </p:nvPr>
        </p:nvSpPr>
        <p:spPr>
          <a:xfrm>
            <a:off x="911394" y="7200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內容＋時序</a:t>
            </a:r>
          </a:p>
        </p:txBody>
      </p:sp>
      <p:sp>
        <p:nvSpPr>
          <p:cNvPr id="32" name="TextBox 31"/>
          <p:cNvSpPr txBox="1"/>
          <p:nvPr>
            <p:custDataLst>
              <p:tags r:id="rId13"/>
            </p:custDataLst>
          </p:nvPr>
        </p:nvSpPr>
        <p:spPr>
          <a:xfrm>
            <a:off x="909806" y="7524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產生正式類別、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信心與流量表徵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9288000" y="8290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64000" y="8424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5" name="TextBox 34"/>
          <p:cNvSpPr txBox="1"/>
          <p:nvPr>
            <p:custDataLst>
              <p:tags r:id="rId14"/>
            </p:custDataLst>
          </p:nvPr>
        </p:nvSpPr>
        <p:spPr>
          <a:xfrm>
            <a:off x="897106" y="8568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任務檢索</a:t>
            </a:r>
          </a:p>
        </p:txBody>
      </p:sp>
      <p:sp>
        <p:nvSpPr>
          <p:cNvPr id="36" name="TextBox 35"/>
          <p:cNvSpPr txBox="1"/>
          <p:nvPr>
            <p:custDataLst>
              <p:tags r:id="rId15"/>
            </p:custDataLst>
          </p:nvPr>
        </p:nvSpPr>
        <p:spPr>
          <a:xfrm>
            <a:off x="911394" y="8892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表徵＋機率</a:t>
            </a:r>
          </a:p>
        </p:txBody>
      </p:sp>
      <p:sp>
        <p:nvSpPr>
          <p:cNvPr id="37" name="TextBox 36"/>
          <p:cNvSpPr txBox="1"/>
          <p:nvPr>
            <p:custDataLst>
              <p:tags r:id="rId16"/>
            </p:custDataLst>
          </p:nvPr>
        </p:nvSpPr>
        <p:spPr>
          <a:xfrm>
            <a:off x="909806" y="9216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依事件任務找案例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附上相似類別證據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88000" y="9982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4000" y="10116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0" name="TextBox 39"/>
          <p:cNvSpPr txBox="1"/>
          <p:nvPr>
            <p:custDataLst>
              <p:tags r:id="rId17"/>
            </p:custDataLst>
          </p:nvPr>
        </p:nvSpPr>
        <p:spPr>
          <a:xfrm>
            <a:off x="897106" y="10260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證據稽核</a:t>
            </a:r>
          </a:p>
        </p:txBody>
      </p:sp>
      <p:sp>
        <p:nvSpPr>
          <p:cNvPr id="41" name="TextBox 40"/>
          <p:cNvSpPr txBox="1"/>
          <p:nvPr>
            <p:custDataLst>
              <p:tags r:id="rId18"/>
            </p:custDataLst>
          </p:nvPr>
        </p:nvSpPr>
        <p:spPr>
          <a:xfrm>
            <a:off x="911394" y="10584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保留正式分類</a:t>
            </a:r>
          </a:p>
        </p:txBody>
      </p:sp>
      <p:sp>
        <p:nvSpPr>
          <p:cNvPr id="42" name="TextBox 41"/>
          <p:cNvSpPr txBox="1"/>
          <p:nvPr>
            <p:custDataLst>
              <p:tags r:id="rId19"/>
            </p:custDataLst>
          </p:nvPr>
        </p:nvSpPr>
        <p:spPr>
          <a:xfrm>
            <a:off x="909806" y="10908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核對判定與案例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附加三態稽核結論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9288000" y="11674800"/>
            <a:ext cx="252000" cy="122400"/>
          </a:xfrm>
          <a:prstGeom prst="downArrow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64000" y="11808000"/>
            <a:ext cx="13392000" cy="1548000"/>
          </a:xfrm>
          <a:prstGeom prst="roundRect">
            <a:avLst>
              <a:gd name="adj" fmla="val 5581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5" name="TextBox 44"/>
          <p:cNvSpPr txBox="1"/>
          <p:nvPr>
            <p:custDataLst>
              <p:tags r:id="rId20"/>
            </p:custDataLst>
          </p:nvPr>
        </p:nvSpPr>
        <p:spPr>
          <a:xfrm>
            <a:off x="897106" y="11952000"/>
            <a:ext cx="3456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04 </a:t>
            </a:r>
            <a:r>
              <a:rPr sz="22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受控回復</a:t>
            </a:r>
          </a:p>
        </p:txBody>
      </p:sp>
      <p:sp>
        <p:nvSpPr>
          <p:cNvPr id="46" name="TextBox 45"/>
          <p:cNvSpPr txBox="1"/>
          <p:nvPr>
            <p:custDataLst>
              <p:tags r:id="rId21"/>
            </p:custDataLst>
          </p:nvPr>
        </p:nvSpPr>
        <p:spPr>
          <a:xfrm>
            <a:off x="911394" y="12276000"/>
            <a:ext cx="3456000" cy="21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策略＋期限</a:t>
            </a:r>
          </a:p>
        </p:txBody>
      </p:sp>
      <p:sp>
        <p:nvSpPr>
          <p:cNvPr id="47" name="TextBox 46"/>
          <p:cNvSpPr txBox="1"/>
          <p:nvPr>
            <p:custDataLst>
              <p:tags r:id="rId22"/>
            </p:custDataLst>
          </p:nvPr>
        </p:nvSpPr>
        <p:spPr>
          <a:xfrm>
            <a:off x="909806" y="12600000"/>
            <a:ext cx="3456000" cy="54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策略允許才介入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讀回並確認回復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36000" y="687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49" name="TextBox 48"/>
          <p:cNvSpPr txBox="1"/>
          <p:nvPr>
            <p:custDataLst>
              <p:tags r:id="rId23"/>
            </p:custDataLst>
          </p:nvPr>
        </p:nvSpPr>
        <p:spPr>
          <a:xfrm>
            <a:off x="4502662" y="691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50" name="TextBox 49"/>
          <p:cNvSpPr txBox="1"/>
          <p:nvPr>
            <p:custDataLst>
              <p:tags r:id="rId24"/>
            </p:custDataLst>
          </p:nvPr>
        </p:nvSpPr>
        <p:spPr>
          <a:xfrm>
            <a:off x="4512187" y="718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內容·時間差·方向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36000" y="7596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2" name="TextBox 51"/>
          <p:cNvSpPr txBox="1"/>
          <p:nvPr>
            <p:custDataLst>
              <p:tags r:id="rId25"/>
            </p:custDataLst>
          </p:nvPr>
        </p:nvSpPr>
        <p:spPr>
          <a:xfrm>
            <a:off x="4502662" y="7632000"/>
            <a:ext cx="2808000" cy="3225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53" name="TextBox 52"/>
          <p:cNvSpPr txBox="1"/>
          <p:nvPr>
            <p:custDataLst>
              <p:tags r:id="rId26"/>
            </p:custDataLst>
          </p:nvPr>
        </p:nvSpPr>
        <p:spPr>
          <a:xfrm>
            <a:off x="4512187" y="7907039"/>
            <a:ext cx="2808000" cy="2476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短窗位元組模式·既有模型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44000" y="716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44000" y="7884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632000" y="7164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/>
          <p:cNvSpPr/>
          <p:nvPr/>
        </p:nvSpPr>
        <p:spPr>
          <a:xfrm>
            <a:off x="7668000" y="7434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992000" y="7056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59" name="TextBox 58"/>
          <p:cNvSpPr txBox="1"/>
          <p:nvPr>
            <p:custDataLst>
              <p:tags r:id="rId27"/>
            </p:custDataLst>
          </p:nvPr>
        </p:nvSpPr>
        <p:spPr>
          <a:xfrm>
            <a:off x="7958662" y="7092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校準＋融合</a:t>
            </a:r>
          </a:p>
        </p:txBody>
      </p:sp>
      <p:sp>
        <p:nvSpPr>
          <p:cNvPr id="60" name="TextBox 59"/>
          <p:cNvSpPr txBox="1"/>
          <p:nvPr>
            <p:custDataLst>
              <p:tags r:id="rId28"/>
            </p:custDataLst>
          </p:nvPr>
        </p:nvSpPr>
        <p:spPr>
          <a:xfrm>
            <a:off x="7968186" y="7561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11088000" y="7434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11520000" y="7056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3" name="TextBox 62"/>
          <p:cNvSpPr txBox="1"/>
          <p:nvPr>
            <p:custDataLst>
              <p:tags r:id="rId29"/>
            </p:custDataLst>
          </p:nvPr>
        </p:nvSpPr>
        <p:spPr>
          <a:xfrm>
            <a:off x="11486662" y="7092000"/>
            <a:ext cx="2592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17類判定</a:t>
            </a:r>
          </a:p>
        </p:txBody>
      </p:sp>
      <p:sp>
        <p:nvSpPr>
          <p:cNvPr id="64" name="TextBox 63"/>
          <p:cNvSpPr txBox="1"/>
          <p:nvPr>
            <p:custDataLst>
              <p:tags r:id="rId30"/>
            </p:custDataLst>
          </p:nvPr>
        </p:nvSpPr>
        <p:spPr>
          <a:xfrm>
            <a:off x="11496187" y="7561440"/>
            <a:ext cx="2592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信心與512維表徵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36000" y="856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6" name="TextBox 65"/>
          <p:cNvSpPr txBox="1"/>
          <p:nvPr>
            <p:custDataLst>
              <p:tags r:id="rId31"/>
            </p:custDataLst>
          </p:nvPr>
        </p:nvSpPr>
        <p:spPr>
          <a:xfrm>
            <a:off x="4502662" y="856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512維表徵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36000" y="9288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68" name="TextBox 67"/>
          <p:cNvSpPr txBox="1"/>
          <p:nvPr>
            <p:custDataLst>
              <p:tags r:id="rId32"/>
            </p:custDataLst>
          </p:nvPr>
        </p:nvSpPr>
        <p:spPr>
          <a:xfrm>
            <a:off x="4502662" y="9288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17維機率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344000" y="885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7344000" y="9576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32000" y="8856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ight Arrow 71"/>
          <p:cNvSpPr/>
          <p:nvPr/>
        </p:nvSpPr>
        <p:spPr>
          <a:xfrm>
            <a:off x="7668000" y="9126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992000" y="8748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4" name="TextBox 73"/>
          <p:cNvSpPr txBox="1"/>
          <p:nvPr>
            <p:custDataLst>
              <p:tags r:id="rId33"/>
            </p:custDataLst>
          </p:nvPr>
        </p:nvSpPr>
        <p:spPr>
          <a:xfrm>
            <a:off x="7958661" y="8784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529維向量</a:t>
            </a:r>
          </a:p>
        </p:txBody>
      </p:sp>
      <p:sp>
        <p:nvSpPr>
          <p:cNvPr id="75" name="TextBox 74"/>
          <p:cNvSpPr txBox="1"/>
          <p:nvPr>
            <p:custDataLst>
              <p:tags r:id="rId34"/>
            </p:custDataLst>
          </p:nvPr>
        </p:nvSpPr>
        <p:spPr>
          <a:xfrm>
            <a:off x="7968186" y="9253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L2正規化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11088000" y="9126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11520000" y="8748000"/>
            <a:ext cx="2592000" cy="936000"/>
          </a:xfrm>
          <a:prstGeom prst="roundRect">
            <a:avLst>
              <a:gd name="adj" fmla="val 9230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78" name="TextBox 77"/>
          <p:cNvSpPr txBox="1"/>
          <p:nvPr>
            <p:custDataLst>
              <p:tags r:id="rId35"/>
            </p:custDataLst>
          </p:nvPr>
        </p:nvSpPr>
        <p:spPr>
          <a:xfrm>
            <a:off x="11488250" y="8784000"/>
            <a:ext cx="259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Top-5訓練案例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6280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0" name="TextBox 79"/>
          <p:cNvSpPr txBox="1"/>
          <p:nvPr>
            <p:custDataLst>
              <p:tags r:id="rId36"/>
            </p:custDataLst>
          </p:nvPr>
        </p:nvSpPr>
        <p:spPr>
          <a:xfrm>
            <a:off x="116002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1104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2" name="TextBox 81"/>
          <p:cNvSpPr txBox="1"/>
          <p:nvPr>
            <p:custDataLst>
              <p:tags r:id="rId37"/>
            </p:custDataLst>
          </p:nvPr>
        </p:nvSpPr>
        <p:spPr>
          <a:xfrm>
            <a:off x="120826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25928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4" name="TextBox 83"/>
          <p:cNvSpPr txBox="1"/>
          <p:nvPr>
            <p:custDataLst>
              <p:tags r:id="rId38"/>
            </p:custDataLst>
          </p:nvPr>
        </p:nvSpPr>
        <p:spPr>
          <a:xfrm>
            <a:off x="12565020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0752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6" name="TextBox 85"/>
          <p:cNvSpPr txBox="1"/>
          <p:nvPr>
            <p:custDataLst>
              <p:tags r:id="rId39"/>
            </p:custDataLst>
          </p:nvPr>
        </p:nvSpPr>
        <p:spPr>
          <a:xfrm>
            <a:off x="130474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3557600" y="9180000"/>
            <a:ext cx="396000" cy="3600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88" name="TextBox 87"/>
          <p:cNvSpPr txBox="1"/>
          <p:nvPr>
            <p:custDataLst>
              <p:tags r:id="rId40"/>
            </p:custDataLst>
          </p:nvPr>
        </p:nvSpPr>
        <p:spPr>
          <a:xfrm>
            <a:off x="13529819" y="9180000"/>
            <a:ext cx="396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5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536000" y="1026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0" name="TextBox 89"/>
          <p:cNvSpPr txBox="1"/>
          <p:nvPr>
            <p:custDataLst>
              <p:tags r:id="rId41"/>
            </p:custDataLst>
          </p:nvPr>
        </p:nvSpPr>
        <p:spPr>
          <a:xfrm>
            <a:off x="4502662" y="1026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正式判定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36000" y="10980000"/>
            <a:ext cx="2808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2" name="TextBox 91"/>
          <p:cNvSpPr txBox="1"/>
          <p:nvPr>
            <p:custDataLst>
              <p:tags r:id="rId42"/>
            </p:custDataLst>
          </p:nvPr>
        </p:nvSpPr>
        <p:spPr>
          <a:xfrm>
            <a:off x="4502662" y="10980000"/>
            <a:ext cx="2808000" cy="576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案例證據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344000" y="1054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4000" y="11268000"/>
            <a:ext cx="288000" cy="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32000" y="10548000"/>
            <a:ext cx="0" cy="720000"/>
          </a:xfrm>
          <a:prstGeom prst="line">
            <a:avLst/>
          </a:prstGeom>
          <a:ln w="15240">
            <a:solidFill>
              <a:srgbClr val="1D4E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ight Arrow 95"/>
          <p:cNvSpPr/>
          <p:nvPr/>
        </p:nvSpPr>
        <p:spPr>
          <a:xfrm>
            <a:off x="7668000" y="10818000"/>
            <a:ext cx="252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7992000" y="10440000"/>
            <a:ext cx="3024000" cy="936000"/>
          </a:xfrm>
          <a:prstGeom prst="roundRect">
            <a:avLst>
              <a:gd name="adj" fmla="val 923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98" name="TextBox 97"/>
          <p:cNvSpPr txBox="1"/>
          <p:nvPr>
            <p:custDataLst>
              <p:tags r:id="rId43"/>
            </p:custDataLst>
          </p:nvPr>
        </p:nvSpPr>
        <p:spPr>
          <a:xfrm>
            <a:off x="7958662" y="10476000"/>
            <a:ext cx="3024000" cy="524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本機AI稽核</a:t>
            </a:r>
          </a:p>
        </p:txBody>
      </p:sp>
      <p:sp>
        <p:nvSpPr>
          <p:cNvPr id="99" name="TextBox 98"/>
          <p:cNvSpPr txBox="1"/>
          <p:nvPr>
            <p:custDataLst>
              <p:tags r:id="rId44"/>
            </p:custDataLst>
          </p:nvPr>
        </p:nvSpPr>
        <p:spPr>
          <a:xfrm>
            <a:off x="7968187" y="10945440"/>
            <a:ext cx="3024000" cy="4024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核對同一事件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1088000" y="10818000"/>
            <a:ext cx="360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11520000" y="103680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2" name="TextBox 101"/>
          <p:cNvSpPr txBox="1"/>
          <p:nvPr>
            <p:custDataLst>
              <p:tags r:id="rId45"/>
            </p:custDataLst>
          </p:nvPr>
        </p:nvSpPr>
        <p:spPr>
          <a:xfrm>
            <a:off x="11486662" y="103680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20000" y="107388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4" name="TextBox 103"/>
          <p:cNvSpPr txBox="1"/>
          <p:nvPr>
            <p:custDataLst>
              <p:tags r:id="rId46"/>
            </p:custDataLst>
          </p:nvPr>
        </p:nvSpPr>
        <p:spPr>
          <a:xfrm>
            <a:off x="11486662" y="107388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520000" y="11109600"/>
            <a:ext cx="2592000" cy="324000"/>
          </a:xfrm>
          <a:prstGeom prst="roundRect">
            <a:avLst>
              <a:gd name="adj" fmla="val 26666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6" name="TextBox 105"/>
          <p:cNvSpPr txBox="1"/>
          <p:nvPr>
            <p:custDataLst>
              <p:tags r:id="rId47"/>
            </p:custDataLst>
          </p:nvPr>
        </p:nvSpPr>
        <p:spPr>
          <a:xfrm>
            <a:off x="11486662" y="11109600"/>
            <a:ext cx="2592000" cy="32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07" name="TextBox 106"/>
          <p:cNvSpPr txBox="1"/>
          <p:nvPr>
            <p:custDataLst>
              <p:tags r:id="rId48"/>
            </p:custDataLst>
          </p:nvPr>
        </p:nvSpPr>
        <p:spPr>
          <a:xfrm>
            <a:off x="4508219" y="11880000"/>
            <a:ext cx="9576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策略檢查：範圍、動作與期限｜來源限速等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536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09" name="TextBox 108"/>
          <p:cNvSpPr txBox="1"/>
          <p:nvPr>
            <p:custDataLst>
              <p:tags r:id="rId49"/>
            </p:custDataLst>
          </p:nvPr>
        </p:nvSpPr>
        <p:spPr>
          <a:xfrm>
            <a:off x="4502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套用規則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7434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7920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2" name="TextBox 111"/>
          <p:cNvSpPr txBox="1"/>
          <p:nvPr>
            <p:custDataLst>
              <p:tags r:id="rId50"/>
            </p:custDataLst>
          </p:nvPr>
        </p:nvSpPr>
        <p:spPr>
          <a:xfrm>
            <a:off x="7886663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D4ED8"/>
                </a:solidFill>
                <a:latin typeface="Segoe UI"/>
                <a:ea typeface="Microsoft JhengHei"/>
                <a:cs typeface="Segoe UI"/>
              </a:rPr>
              <a:t>讀回驗證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10818000" y="12402000"/>
            <a:ext cx="396000" cy="18000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1304000" y="12240000"/>
            <a:ext cx="2808000" cy="504000"/>
          </a:xfrm>
          <a:prstGeom prst="roundRect">
            <a:avLst>
              <a:gd name="adj" fmla="val 17142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5" name="TextBox 114"/>
          <p:cNvSpPr txBox="1"/>
          <p:nvPr>
            <p:custDataLst>
              <p:tags r:id="rId51"/>
            </p:custDataLst>
          </p:nvPr>
        </p:nvSpPr>
        <p:spPr>
          <a:xfrm>
            <a:off x="11270662" y="12240000"/>
            <a:ext cx="2808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</a:t>
            </a:r>
          </a:p>
        </p:txBody>
      </p:sp>
      <p:sp>
        <p:nvSpPr>
          <p:cNvPr id="116" name="TextBox 115"/>
          <p:cNvSpPr txBox="1"/>
          <p:nvPr>
            <p:custDataLst>
              <p:tags r:id="rId52"/>
            </p:custDataLst>
          </p:nvPr>
        </p:nvSpPr>
        <p:spPr>
          <a:xfrm>
            <a:off x="4511394" y="12816000"/>
            <a:ext cx="957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複核／不確定 → 保留監測或蒐證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64000" y="13572000"/>
            <a:ext cx="13392000" cy="468000"/>
          </a:xfrm>
          <a:prstGeom prst="roundRect">
            <a:avLst>
              <a:gd name="adj" fmla="val 18461"/>
            </a:avLst>
          </a:prstGeom>
          <a:solidFill>
            <a:srgbClr val="0B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2520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868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9216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12564000" y="13500000"/>
            <a:ext cx="144000" cy="1440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2" name="TextBox 121"/>
          <p:cNvSpPr txBox="1"/>
          <p:nvPr>
            <p:custDataLst>
              <p:tags r:id="rId53"/>
            </p:custDataLst>
          </p:nvPr>
        </p:nvSpPr>
        <p:spPr>
          <a:xfrm>
            <a:off x="832250" y="13572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  <a:ea typeface="Microsoft JhengHei"/>
                <a:cs typeface="Segoe UI"/>
              </a:rPr>
              <a:t>同一事件識別碼：正式分類／案例證據／稽核結論／處置回條</a:t>
            </a:r>
          </a:p>
        </p:txBody>
      </p:sp>
      <p:sp>
        <p:nvSpPr>
          <p:cNvPr id="123" name="TextBox 122"/>
          <p:cNvSpPr txBox="1"/>
          <p:nvPr>
            <p:custDataLst>
              <p:tags r:id="rId54"/>
            </p:custDataLst>
          </p:nvPr>
        </p:nvSpPr>
        <p:spPr>
          <a:xfrm>
            <a:off x="818756" y="1427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02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三項優勢，從判定走到可追溯處置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864000" y="1479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864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2772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27" name="TextBox 126"/>
          <p:cNvSpPr txBox="1"/>
          <p:nvPr>
            <p:custDataLst>
              <p:tags r:id="rId55"/>
            </p:custDataLst>
          </p:nvPr>
        </p:nvSpPr>
        <p:spPr>
          <a:xfrm>
            <a:off x="969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互補判定</a:t>
            </a:r>
          </a:p>
        </p:txBody>
      </p:sp>
      <p:sp>
        <p:nvSpPr>
          <p:cNvPr id="128" name="TextBox 127"/>
          <p:cNvSpPr txBox="1"/>
          <p:nvPr>
            <p:custDataLst>
              <p:tags r:id="rId56"/>
            </p:custDataLst>
          </p:nvPr>
        </p:nvSpPr>
        <p:spPr>
          <a:xfrm>
            <a:off x="981806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內容、時間差與方向互補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校準融合，固定17類輸出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Macro-F1達93.05%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00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308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1" name="TextBox 130"/>
          <p:cNvSpPr txBox="1"/>
          <p:nvPr>
            <p:custDataLst>
              <p:tags r:id="rId57"/>
            </p:custDataLst>
          </p:nvPr>
        </p:nvSpPr>
        <p:spPr>
          <a:xfrm>
            <a:off x="5505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任務證據</a:t>
            </a:r>
          </a:p>
        </p:txBody>
      </p:sp>
      <p:sp>
        <p:nvSpPr>
          <p:cNvPr id="132" name="TextBox 131"/>
          <p:cNvSpPr txBox="1"/>
          <p:nvPr>
            <p:custDataLst>
              <p:tags r:id="rId58"/>
            </p:custDataLst>
          </p:nvPr>
        </p:nvSpPr>
        <p:spPr>
          <a:xfrm>
            <a:off x="5517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529維任務向量找Top-5案例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AI核對判定，保留正式分類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命中率97.62%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9936000" y="14976000"/>
            <a:ext cx="4320000" cy="158400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1844000" y="15120000"/>
            <a:ext cx="504000" cy="5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35" name="TextBox 134"/>
          <p:cNvSpPr txBox="1"/>
          <p:nvPr>
            <p:custDataLst>
              <p:tags r:id="rId59"/>
            </p:custDataLst>
          </p:nvPr>
        </p:nvSpPr>
        <p:spPr>
          <a:xfrm>
            <a:off x="10041107" y="15228000"/>
            <a:ext cx="4032000" cy="36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受控可追溯</a:t>
            </a:r>
          </a:p>
        </p:txBody>
      </p:sp>
      <p:sp>
        <p:nvSpPr>
          <p:cNvPr id="136" name="TextBox 135"/>
          <p:cNvSpPr txBox="1"/>
          <p:nvPr>
            <p:custDataLst>
              <p:tags r:id="rId60"/>
            </p:custDataLst>
          </p:nvPr>
        </p:nvSpPr>
        <p:spPr>
          <a:xfrm>
            <a:off x="10053807" y="15624000"/>
            <a:ext cx="4032000" cy="82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本機AI，事件資料留在本機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同事件串接判定、證據與回條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策略檢查、讀回及到期回復</a:t>
            </a:r>
          </a:p>
        </p:txBody>
      </p:sp>
      <p:sp>
        <p:nvSpPr>
          <p:cNvPr id="137" name="TextBox 136"/>
          <p:cNvSpPr txBox="1"/>
          <p:nvPr>
            <p:custDataLst>
              <p:tags r:id="rId61"/>
            </p:custDataLst>
          </p:nvPr>
        </p:nvSpPr>
        <p:spPr>
          <a:xfrm>
            <a:off x="818756" y="16794000"/>
            <a:ext cx="13392000" cy="46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03　</a:t>
            </a: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以分階段實測呈現效果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864000" y="17316000"/>
            <a:ext cx="13392000" cy="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>
            <p:custDataLst>
              <p:tags r:id="rId62"/>
            </p:custDataLst>
          </p:nvPr>
        </p:nvSpPr>
        <p:spPr>
          <a:xfrm>
            <a:off x="837806" y="17460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相同18,998筆測試的 Macro-F1</a:t>
            </a:r>
          </a:p>
        </p:txBody>
      </p:sp>
      <p:sp>
        <p:nvSpPr>
          <p:cNvPr id="140" name="TextBox 139"/>
          <p:cNvSpPr txBox="1"/>
          <p:nvPr>
            <p:custDataLst>
              <p:tags r:id="rId63"/>
            </p:custDataLst>
          </p:nvPr>
        </p:nvSpPr>
        <p:spPr>
          <a:xfrm>
            <a:off x="864000" y="17784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PBCNN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376000" y="17820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2376000" y="17820000"/>
            <a:ext cx="2698671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3" name="TextBox 142"/>
          <p:cNvSpPr txBox="1"/>
          <p:nvPr>
            <p:custDataLst>
              <p:tags r:id="rId64"/>
            </p:custDataLst>
          </p:nvPr>
        </p:nvSpPr>
        <p:spPr>
          <a:xfrm>
            <a:off x="5798337" y="17784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79.75%</a:t>
            </a:r>
          </a:p>
        </p:txBody>
      </p:sp>
      <p:sp>
        <p:nvSpPr>
          <p:cNvPr id="144" name="TextBox 143"/>
          <p:cNvSpPr txBox="1"/>
          <p:nvPr>
            <p:custDataLst>
              <p:tags r:id="rId65"/>
            </p:custDataLst>
          </p:nvPr>
        </p:nvSpPr>
        <p:spPr>
          <a:xfrm>
            <a:off x="864000" y="18216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CTBM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376000" y="18252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2376000" y="18252000"/>
            <a:ext cx="3116757" cy="216000"/>
          </a:xfrm>
          <a:prstGeom prst="rect">
            <a:avLst/>
          </a:prstGeom>
          <a:solidFill>
            <a:srgbClr val="9AA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47" name="TextBox 146"/>
          <p:cNvSpPr txBox="1"/>
          <p:nvPr>
            <p:custDataLst>
              <p:tags r:id="rId66"/>
            </p:custDataLst>
          </p:nvPr>
        </p:nvSpPr>
        <p:spPr>
          <a:xfrm>
            <a:off x="5798337" y="18216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92.10%</a:t>
            </a:r>
          </a:p>
        </p:txBody>
      </p:sp>
      <p:sp>
        <p:nvSpPr>
          <p:cNvPr id="148" name="TextBox 147"/>
          <p:cNvSpPr txBox="1"/>
          <p:nvPr>
            <p:custDataLst>
              <p:tags r:id="rId67"/>
            </p:custDataLst>
          </p:nvPr>
        </p:nvSpPr>
        <p:spPr>
          <a:xfrm>
            <a:off x="864000" y="18648000"/>
            <a:ext cx="144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OOF Gate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76000" y="18684000"/>
            <a:ext cx="3384000" cy="21600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2376000" y="18684000"/>
            <a:ext cx="3148824" cy="216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51" name="TextBox 150"/>
          <p:cNvSpPr txBox="1"/>
          <p:nvPr>
            <p:custDataLst>
              <p:tags r:id="rId68"/>
            </p:custDataLst>
          </p:nvPr>
        </p:nvSpPr>
        <p:spPr>
          <a:xfrm>
            <a:off x="5798337" y="18648000"/>
            <a:ext cx="1548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93.05%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2376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>
            <p:custDataLst>
              <p:tags r:id="rId69"/>
            </p:custDataLst>
          </p:nvPr>
        </p:nvSpPr>
        <p:spPr>
          <a:xfrm>
            <a:off x="2031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0%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4068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>
            <p:custDataLst>
              <p:tags r:id="rId70"/>
            </p:custDataLst>
          </p:nvPr>
        </p:nvSpPr>
        <p:spPr>
          <a:xfrm>
            <a:off x="3723363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50%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760000" y="19080000"/>
            <a:ext cx="0" cy="72000"/>
          </a:xfrm>
          <a:prstGeom prst="line">
            <a:avLst/>
          </a:prstGeom>
          <a:ln w="762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>
            <p:custDataLst>
              <p:tags r:id="rId71"/>
            </p:custDataLst>
          </p:nvPr>
        </p:nvSpPr>
        <p:spPr>
          <a:xfrm>
            <a:off x="5415362" y="19152000"/>
            <a:ext cx="648000" cy="18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100%</a:t>
            </a:r>
          </a:p>
        </p:txBody>
      </p:sp>
      <p:sp>
        <p:nvSpPr>
          <p:cNvPr id="158" name="TextBox 157"/>
          <p:cNvSpPr txBox="1"/>
          <p:nvPr>
            <p:custDataLst>
              <p:tags r:id="rId72"/>
            </p:custDataLst>
          </p:nvPr>
        </p:nvSpPr>
        <p:spPr>
          <a:xfrm>
            <a:off x="837806" y="19404000"/>
            <a:ext cx="6624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整體準確率98.08%·固定17類分類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668000" y="17460000"/>
            <a:ext cx="0" cy="2196000"/>
          </a:xfrm>
          <a:prstGeom prst="line">
            <a:avLst/>
          </a:prstGeom>
          <a:ln w="12700">
            <a:solidFill>
              <a:srgbClr val="DCE3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>
            <p:custDataLst>
              <p:tags r:id="rId73"/>
            </p:custDataLst>
          </p:nvPr>
        </p:nvSpPr>
        <p:spPr>
          <a:xfrm>
            <a:off x="7893807" y="17460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1,550筆訓練案例／463筆查詢</a:t>
            </a:r>
          </a:p>
        </p:txBody>
      </p:sp>
      <p:sp>
        <p:nvSpPr>
          <p:cNvPr id="161" name="TextBox 160"/>
          <p:cNvSpPr txBox="1"/>
          <p:nvPr>
            <p:custDataLst>
              <p:tags r:id="rId74"/>
            </p:custDataLst>
          </p:nvPr>
        </p:nvSpPr>
        <p:spPr>
          <a:xfrm>
            <a:off x="7860469" y="17712000"/>
            <a:ext cx="6336000" cy="504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Top-5  97.62%</a:t>
            </a:r>
          </a:p>
        </p:txBody>
      </p:sp>
      <p:sp>
        <p:nvSpPr>
          <p:cNvPr id="162" name="TextBox 161"/>
          <p:cNvSpPr txBox="1"/>
          <p:nvPr>
            <p:custDataLst>
              <p:tags r:id="rId75"/>
            </p:custDataLst>
          </p:nvPr>
        </p:nvSpPr>
        <p:spPr>
          <a:xfrm>
            <a:off x="7895395" y="18216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MRR@5  93.89%·訓練／查詢重疊0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9200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E2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4" name="TextBox 163"/>
          <p:cNvSpPr txBox="1"/>
          <p:nvPr>
            <p:custDataLst>
              <p:tags r:id="rId76"/>
            </p:custDataLst>
          </p:nvPr>
        </p:nvSpPr>
        <p:spPr>
          <a:xfrm>
            <a:off x="7874757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415</a:t>
            </a:r>
          </a:p>
        </p:txBody>
      </p:sp>
      <p:sp>
        <p:nvSpPr>
          <p:cNvPr id="165" name="TextBox 164"/>
          <p:cNvSpPr txBox="1"/>
          <p:nvPr>
            <p:custDataLst>
              <p:tags r:id="rId77"/>
            </p:custDataLst>
          </p:nvPr>
        </p:nvSpPr>
        <p:spPr>
          <a:xfrm>
            <a:off x="7893807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支持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100548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67" name="TextBox 166"/>
          <p:cNvSpPr txBox="1"/>
          <p:nvPr>
            <p:custDataLst>
              <p:tags r:id="rId78"/>
            </p:custDataLst>
          </p:nvPr>
        </p:nvSpPr>
        <p:spPr>
          <a:xfrm>
            <a:off x="100095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13</a:t>
            </a:r>
          </a:p>
        </p:txBody>
      </p:sp>
      <p:sp>
        <p:nvSpPr>
          <p:cNvPr id="168" name="TextBox 167"/>
          <p:cNvSpPr txBox="1"/>
          <p:nvPr>
            <p:custDataLst>
              <p:tags r:id="rId79"/>
            </p:custDataLst>
          </p:nvPr>
        </p:nvSpPr>
        <p:spPr>
          <a:xfrm>
            <a:off x="100286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複核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2189600" y="18540000"/>
            <a:ext cx="1980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0" name="TextBox 169"/>
          <p:cNvSpPr txBox="1"/>
          <p:nvPr>
            <p:custDataLst>
              <p:tags r:id="rId80"/>
            </p:custDataLst>
          </p:nvPr>
        </p:nvSpPr>
        <p:spPr>
          <a:xfrm>
            <a:off x="12144356" y="18558000"/>
            <a:ext cx="1980000" cy="43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35</a:t>
            </a:r>
          </a:p>
        </p:txBody>
      </p:sp>
      <p:sp>
        <p:nvSpPr>
          <p:cNvPr id="171" name="TextBox 170"/>
          <p:cNvSpPr txBox="1"/>
          <p:nvPr>
            <p:custDataLst>
              <p:tags r:id="rId81"/>
            </p:custDataLst>
          </p:nvPr>
        </p:nvSpPr>
        <p:spPr>
          <a:xfrm>
            <a:off x="12163406" y="19008000"/>
            <a:ext cx="19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5233A"/>
                </a:solidFill>
                <a:latin typeface="Segoe UI"/>
                <a:ea typeface="Microsoft JhengHei"/>
                <a:cs typeface="Segoe UI"/>
              </a:rPr>
              <a:t>不確定</a:t>
            </a:r>
          </a:p>
        </p:txBody>
      </p:sp>
      <p:sp>
        <p:nvSpPr>
          <p:cNvPr id="172" name="TextBox 171"/>
          <p:cNvSpPr txBox="1"/>
          <p:nvPr>
            <p:custDataLst>
              <p:tags r:id="rId82"/>
            </p:custDataLst>
          </p:nvPr>
        </p:nvSpPr>
        <p:spPr>
          <a:xfrm>
            <a:off x="7896188" y="19404000"/>
            <a:ext cx="6336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30筆偵測誤判中18筆分流；其餘12筆獲支持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864000" y="19800000"/>
            <a:ext cx="13392000" cy="792000"/>
          </a:xfrm>
          <a:prstGeom prst="roundRect">
            <a:avLst>
              <a:gd name="adj" fmla="val 10909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4" name="TextBox 173"/>
          <p:cNvSpPr txBox="1"/>
          <p:nvPr>
            <p:custDataLst>
              <p:tags r:id="rId83"/>
            </p:custDataLst>
          </p:nvPr>
        </p:nvSpPr>
        <p:spPr>
          <a:xfrm>
            <a:off x="981807" y="19836000"/>
            <a:ext cx="2304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17類本機重跑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6種隔離TCP情境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38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6" name="TextBox 175"/>
          <p:cNvSpPr txBox="1"/>
          <p:nvPr>
            <p:custDataLst>
              <p:tags r:id="rId84"/>
            </p:custDataLst>
          </p:nvPr>
        </p:nvSpPr>
        <p:spPr>
          <a:xfrm>
            <a:off x="335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正常</a:t>
            </a:r>
          </a:p>
        </p:txBody>
      </p:sp>
      <p:sp>
        <p:nvSpPr>
          <p:cNvPr id="177" name="TextBox 176"/>
          <p:cNvSpPr txBox="1"/>
          <p:nvPr>
            <p:custDataLst>
              <p:tags r:id="rId85"/>
            </p:custDataLst>
          </p:nvPr>
        </p:nvSpPr>
        <p:spPr>
          <a:xfrm>
            <a:off x="336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監測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4572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79" name="TextBox 178"/>
          <p:cNvSpPr txBox="1"/>
          <p:nvPr>
            <p:custDataLst>
              <p:tags r:id="rId86"/>
            </p:custDataLst>
          </p:nvPr>
        </p:nvSpPr>
        <p:spPr>
          <a:xfrm>
            <a:off x="4545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FTP</a:t>
            </a:r>
          </a:p>
        </p:txBody>
      </p:sp>
      <p:sp>
        <p:nvSpPr>
          <p:cNvPr id="180" name="TextBox 179"/>
          <p:cNvSpPr txBox="1"/>
          <p:nvPr>
            <p:custDataLst>
              <p:tags r:id="rId87"/>
            </p:custDataLst>
          </p:nvPr>
        </p:nvSpPr>
        <p:spPr>
          <a:xfrm>
            <a:off x="4549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760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2" name="TextBox 181"/>
          <p:cNvSpPr txBox="1"/>
          <p:nvPr>
            <p:custDataLst>
              <p:tags r:id="rId88"/>
            </p:custDataLst>
          </p:nvPr>
        </p:nvSpPr>
        <p:spPr>
          <a:xfrm>
            <a:off x="5733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SSH</a:t>
            </a:r>
          </a:p>
        </p:txBody>
      </p:sp>
      <p:sp>
        <p:nvSpPr>
          <p:cNvPr id="183" name="TextBox 182"/>
          <p:cNvSpPr txBox="1"/>
          <p:nvPr>
            <p:custDataLst>
              <p:tags r:id="rId89"/>
            </p:custDataLst>
          </p:nvPr>
        </p:nvSpPr>
        <p:spPr>
          <a:xfrm>
            <a:off x="5737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948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5" name="TextBox 184"/>
          <p:cNvSpPr txBox="1"/>
          <p:nvPr>
            <p:custDataLst>
              <p:tags r:id="rId90"/>
            </p:custDataLst>
          </p:nvPr>
        </p:nvSpPr>
        <p:spPr>
          <a:xfrm>
            <a:off x="6921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HTTP</a:t>
            </a:r>
          </a:p>
        </p:txBody>
      </p:sp>
      <p:sp>
        <p:nvSpPr>
          <p:cNvPr id="186" name="TextBox 185"/>
          <p:cNvSpPr txBox="1"/>
          <p:nvPr>
            <p:custDataLst>
              <p:tags r:id="rId91"/>
            </p:custDataLst>
          </p:nvPr>
        </p:nvSpPr>
        <p:spPr>
          <a:xfrm>
            <a:off x="6925774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8136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016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88" name="TextBox 187"/>
          <p:cNvSpPr txBox="1"/>
          <p:nvPr>
            <p:custDataLst>
              <p:tags r:id="rId92"/>
            </p:custDataLst>
          </p:nvPr>
        </p:nvSpPr>
        <p:spPr>
          <a:xfrm>
            <a:off x="8109807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XSS</a:t>
            </a:r>
          </a:p>
        </p:txBody>
      </p:sp>
      <p:sp>
        <p:nvSpPr>
          <p:cNvPr id="189" name="TextBox 188"/>
          <p:cNvSpPr txBox="1"/>
          <p:nvPr>
            <p:custDataLst>
              <p:tags r:id="rId93"/>
            </p:custDataLst>
          </p:nvPr>
        </p:nvSpPr>
        <p:spPr>
          <a:xfrm>
            <a:off x="8113776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蒐證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9324000" y="19908000"/>
            <a:ext cx="1080000" cy="576000"/>
          </a:xfrm>
          <a:prstGeom prst="roundRect">
            <a:avLst>
              <a:gd name="adj" fmla="val 15000"/>
            </a:avLst>
          </a:prstGeom>
          <a:solidFill>
            <a:srgbClr val="FEF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Segoe UI"/>
              <a:ea typeface="Microsoft JhengHei"/>
              <a:cs typeface="Segoe UI"/>
            </a:endParaRPr>
          </a:p>
        </p:txBody>
      </p:sp>
      <p:sp>
        <p:nvSpPr>
          <p:cNvPr id="191" name="TextBox 190"/>
          <p:cNvSpPr txBox="1"/>
          <p:nvPr>
            <p:custDataLst>
              <p:tags r:id="rId94"/>
            </p:custDataLst>
          </p:nvPr>
        </p:nvSpPr>
        <p:spPr>
          <a:xfrm>
            <a:off x="9297806" y="19926000"/>
            <a:ext cx="1080000" cy="288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B2E"/>
                </a:solidFill>
                <a:latin typeface="Segoe UI"/>
                <a:ea typeface="Microsoft JhengHei"/>
                <a:cs typeface="Segoe UI"/>
              </a:rPr>
              <a:t>Bot</a:t>
            </a:r>
          </a:p>
        </p:txBody>
      </p:sp>
      <p:sp>
        <p:nvSpPr>
          <p:cNvPr id="192" name="TextBox 191"/>
          <p:cNvSpPr txBox="1"/>
          <p:nvPr>
            <p:custDataLst>
              <p:tags r:id="rId95"/>
            </p:custDataLst>
          </p:nvPr>
        </p:nvSpPr>
        <p:spPr>
          <a:xfrm>
            <a:off x="9301775" y="20196000"/>
            <a:ext cx="1080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規則</a:t>
            </a:r>
          </a:p>
        </p:txBody>
      </p:sp>
      <p:sp>
        <p:nvSpPr>
          <p:cNvPr id="193" name="TextBox 192"/>
          <p:cNvSpPr txBox="1"/>
          <p:nvPr>
            <p:custDataLst>
              <p:tags r:id="rId96"/>
            </p:custDataLst>
          </p:nvPr>
        </p:nvSpPr>
        <p:spPr>
          <a:xfrm>
            <a:off x="10624250" y="19836000"/>
            <a:ext cx="3456000" cy="7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背景保留 6/6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Segoe UI"/>
                <a:ea typeface="Microsoft JhengHei"/>
                <a:cs typeface="Segoe UI"/>
              </a:rPr>
              <a:t>到期回復 6/6</a:t>
            </a:r>
          </a:p>
        </p:txBody>
      </p:sp>
      <p:sp>
        <p:nvSpPr>
          <p:cNvPr id="194" name="TextBox 193"/>
          <p:cNvSpPr txBox="1"/>
          <p:nvPr>
            <p:custDataLst>
              <p:tags r:id="rId97"/>
            </p:custDataLst>
          </p:nvPr>
        </p:nvSpPr>
        <p:spPr>
          <a:xfrm>
            <a:off x="837807" y="20736000"/>
            <a:ext cx="13392000" cy="252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7A"/>
                </a:solidFill>
                <a:latin typeface="Segoe UI"/>
                <a:ea typeface="Microsoft JhengHei"/>
                <a:cs typeface="Segoe UI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8.7401542663574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9.8582572937011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0.976360321044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2.094463348388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9.7637786865234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1.1811275482177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69.1653804779052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7.1496334075928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5.1338863372803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83.118139266967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48.346435546875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9.133850097656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71652221679688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482910156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0.6299133300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4.17321777343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8.1102371215820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889892578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52.44096374511719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.031494140625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3.9370040893554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7.08660888671875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0.3149719238281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543304443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8.8189086914062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1.5748291015625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9.66931152343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37.7637939453125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3.07089233398438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70.07874298095703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763793945312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02.51968383789063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6.0629882812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89.6062927246093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3.14962768554688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6.692901611328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5.1181030273437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7373046875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15233A"/>
      </a:dk1>
      <a:lt1>
        <a:srgbClr val="FFFFFF"/>
      </a:lt1>
      <a:dk2>
        <a:srgbClr val="0B1B2E"/>
      </a:dk2>
      <a:lt2>
        <a:srgbClr val="F3F6FA"/>
      </a:lt2>
      <a:accent1>
        <a:srgbClr val="1D4ED8"/>
      </a:accent1>
      <a:accent2>
        <a:srgbClr val="F59E0B"/>
      </a:accent2>
      <a:accent3>
        <a:srgbClr val="0F766E"/>
      </a:accent3>
      <a:accent4>
        <a:srgbClr val="1D4ED8"/>
      </a:accent4>
      <a:accent5>
        <a:srgbClr val="0B1B2E"/>
      </a:accent5>
      <a:accent6>
        <a:srgbClr val="52637A"/>
      </a:accent6>
      <a:hlink>
        <a:srgbClr val="1D4ED8"/>
      </a:hlink>
      <a:folHlink>
        <a:srgbClr val="0B1B2E"/>
      </a:folHlink>
    </a:clrScheme>
    <a:fontScheme name="Office">
      <a:maj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ajorFont>
      <a:minorFont>
        <a:latin typeface="Segoe UI"/>
        <a:ea typeface="Microsoft JhengHei"/>
        <a:cs typeface="Segoe UI"/>
        <a:font script="Jpan" typeface="Segoe UI"/>
        <a:font script="Hang" typeface="Segoe UI"/>
        <a:font script="Hans" typeface="Microsoft JhengHei"/>
        <a:font script="Hant" typeface="Microsoft JhengHei"/>
        <a:font script="Arab" typeface="Segoe UI"/>
        <a:font script="Hebr" typeface="Segoe UI"/>
        <a:font script="Thai" typeface="Segoe UI"/>
        <a:font script="Ethi" typeface="Segoe UI"/>
        <a:font script="Beng" typeface="Segoe UI"/>
        <a:font script="Gujr" typeface="Segoe UI"/>
        <a:font script="Khmr" typeface="Segoe UI"/>
        <a:font script="Knda" typeface="Segoe UI"/>
        <a:font script="Guru" typeface="Segoe UI"/>
        <a:font script="Cans" typeface="Segoe UI"/>
        <a:font script="Cher" typeface="Segoe UI"/>
        <a:font script="Yiii" typeface="Segoe UI"/>
        <a:font script="Tibt" typeface="Segoe UI"/>
        <a:font script="Thaa" typeface="Segoe UI"/>
        <a:font script="Deva" typeface="Segoe UI"/>
        <a:font script="Telu" typeface="Segoe UI"/>
        <a:font script="Taml" typeface="Segoe UI"/>
        <a:font script="Syrc" typeface="Segoe UI"/>
        <a:font script="Orya" typeface="Segoe UI"/>
        <a:font script="Mlym" typeface="Segoe UI"/>
        <a:font script="Laoo" typeface="Segoe UI"/>
        <a:font script="Sinh" typeface="Segoe UI"/>
        <a:font script="Mong" typeface="Segoe UI"/>
        <a:font script="Viet" typeface="Segoe UI"/>
        <a:font script="Uigh" typeface="Segoe UI"/>
        <a:font script="Geor"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280</Words>
  <Application>Microsoft Office PowerPoint</Application>
  <PresentationFormat>自訂</PresentationFormat>
  <Paragraphs>110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Segoe UI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2026-10-31T10:38:40Z</dcterms:modified>
  <cp:category/>
</cp:coreProperties>
</file>