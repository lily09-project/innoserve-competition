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0" y="5832000"/>
            <a:ext cx="15120000" cy="0"/>
          </a:xfrm>
          <a:prstGeom prst="line">
            <a:avLst/>
          </a:prstGeom>
          <a:ln w="1905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832250" y="432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5" name="PosterTitle_Masthead"/>
          <p:cNvSpPr txBox="1"/>
          <p:nvPr>
            <p:custDataLst>
              <p:tags r:id="rId2"/>
            </p:custDataLst>
          </p:nvPr>
        </p:nvSpPr>
        <p:spPr>
          <a:xfrm>
            <a:off x="763987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融合新型內容相依時序方向模型入侵偵測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與任務導向檢索增強稽核之 AI 資安框架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7128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816375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833044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000" y="4266000"/>
            <a:ext cx="9360000" cy="288000"/>
          </a:xfrm>
          <a:prstGeom prst="roundRect">
            <a:avLst>
              <a:gd name="adj" fmla="val 30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2855394" y="4266000"/>
            <a:ext cx="9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Segoe UI"/>
                <a:ea typeface="Microsoft JhengHei"/>
                <a:cs typeface="Segoe UI"/>
              </a:rPr>
              <a:t>★ </a:t>
            </a:r>
            <a:r>
              <a:rPr sz="14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本團隊原創：CTBM、校準融合、任務導向檢索、本機AI稽核、受控回復　｜　引用既有：PBCNN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6000" y="5004000"/>
            <a:ext cx="11088000" cy="0"/>
          </a:xfrm>
          <a:prstGeom prst="line">
            <a:avLst/>
          </a:prstGeom>
          <a:ln w="254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7280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3" name="Picture 12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836000" y="4824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12610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5" name="Oval 14"/>
          <p:cNvSpPr/>
          <p:nvPr/>
        </p:nvSpPr>
        <p:spPr>
          <a:xfrm>
            <a:off x="54252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6" name="Picture 15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533200" y="4824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>
            <p:custDataLst>
              <p:tags r:id="rId7"/>
            </p:custDataLst>
          </p:nvPr>
        </p:nvSpPr>
        <p:spPr>
          <a:xfrm>
            <a:off x="4958274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8" name="Oval 17"/>
          <p:cNvSpPr/>
          <p:nvPr/>
        </p:nvSpPr>
        <p:spPr>
          <a:xfrm>
            <a:off x="91224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95200" y="4824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9345888" y="491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345888" y="500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345888" y="509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>
            <p:custDataLst>
              <p:tags r:id="rId8"/>
            </p:custDataLst>
          </p:nvPr>
        </p:nvSpPr>
        <p:spPr>
          <a:xfrm>
            <a:off x="86554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4" name="Oval 23"/>
          <p:cNvSpPr/>
          <p:nvPr/>
        </p:nvSpPr>
        <p:spPr>
          <a:xfrm>
            <a:off x="128196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5" name="Picture 24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2927600" y="4824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>
            <p:custDataLst>
              <p:tags r:id="rId9"/>
            </p:custDataLst>
          </p:nvPr>
        </p:nvSpPr>
        <p:spPr>
          <a:xfrm>
            <a:off x="123526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7" name="TextBox 26"/>
          <p:cNvSpPr txBox="1"/>
          <p:nvPr>
            <p:custDataLst>
              <p:tags r:id="rId10"/>
            </p:custDataLst>
          </p:nvPr>
        </p:nvSpPr>
        <p:spPr>
          <a:xfrm>
            <a:off x="818756" y="6030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0" name="TextBox 29"/>
          <p:cNvSpPr txBox="1"/>
          <p:nvPr>
            <p:custDataLst>
              <p:tags r:id="rId11"/>
            </p:custDataLst>
          </p:nvPr>
        </p:nvSpPr>
        <p:spPr>
          <a:xfrm>
            <a:off x="897106" y="6876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31" name="TextBox 30"/>
          <p:cNvSpPr txBox="1"/>
          <p:nvPr>
            <p:custDataLst>
              <p:tags r:id="rId12"/>
            </p:custDataLst>
          </p:nvPr>
        </p:nvSpPr>
        <p:spPr>
          <a:xfrm>
            <a:off x="911394" y="7200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2" name="TextBox 31"/>
          <p:cNvSpPr txBox="1"/>
          <p:nvPr>
            <p:custDataLst>
              <p:tags r:id="rId13"/>
            </p:custDataLst>
          </p:nvPr>
        </p:nvSpPr>
        <p:spPr>
          <a:xfrm>
            <a:off x="909806" y="7524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5" name="TextBox 34"/>
          <p:cNvSpPr txBox="1"/>
          <p:nvPr>
            <p:custDataLst>
              <p:tags r:id="rId14"/>
            </p:custDataLst>
          </p:nvPr>
        </p:nvSpPr>
        <p:spPr>
          <a:xfrm>
            <a:off x="897106" y="8568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任務檢索</a:t>
            </a:r>
          </a:p>
        </p:txBody>
      </p:sp>
      <p:sp>
        <p:nvSpPr>
          <p:cNvPr id="36" name="TextBox 35"/>
          <p:cNvSpPr txBox="1"/>
          <p:nvPr>
            <p:custDataLst>
              <p:tags r:id="rId15"/>
            </p:custDataLst>
          </p:nvPr>
        </p:nvSpPr>
        <p:spPr>
          <a:xfrm>
            <a:off x="911394" y="8892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909806" y="9216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TextBox 39"/>
          <p:cNvSpPr txBox="1"/>
          <p:nvPr>
            <p:custDataLst>
              <p:tags r:id="rId17"/>
            </p:custDataLst>
          </p:nvPr>
        </p:nvSpPr>
        <p:spPr>
          <a:xfrm>
            <a:off x="897106" y="10260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證據稽核</a:t>
            </a:r>
          </a:p>
        </p:txBody>
      </p:sp>
      <p:sp>
        <p:nvSpPr>
          <p:cNvPr id="41" name="TextBox 40"/>
          <p:cNvSpPr txBox="1"/>
          <p:nvPr>
            <p:custDataLst>
              <p:tags r:id="rId18"/>
            </p:custDataLst>
          </p:nvPr>
        </p:nvSpPr>
        <p:spPr>
          <a:xfrm>
            <a:off x="911394" y="10584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2" name="TextBox 41"/>
          <p:cNvSpPr txBox="1"/>
          <p:nvPr>
            <p:custDataLst>
              <p:tags r:id="rId19"/>
            </p:custDataLst>
          </p:nvPr>
        </p:nvSpPr>
        <p:spPr>
          <a:xfrm>
            <a:off x="909806" y="10908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5" name="TextBox 44"/>
          <p:cNvSpPr txBox="1"/>
          <p:nvPr>
            <p:custDataLst>
              <p:tags r:id="rId20"/>
            </p:custDataLst>
          </p:nvPr>
        </p:nvSpPr>
        <p:spPr>
          <a:xfrm>
            <a:off x="897106" y="11952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04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受控回復</a:t>
            </a:r>
          </a:p>
        </p:txBody>
      </p:sp>
      <p:sp>
        <p:nvSpPr>
          <p:cNvPr id="46" name="TextBox 45"/>
          <p:cNvSpPr txBox="1"/>
          <p:nvPr>
            <p:custDataLst>
              <p:tags r:id="rId21"/>
            </p:custDataLst>
          </p:nvPr>
        </p:nvSpPr>
        <p:spPr>
          <a:xfrm>
            <a:off x="911394" y="12276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47" name="TextBox 46"/>
          <p:cNvSpPr txBox="1"/>
          <p:nvPr>
            <p:custDataLst>
              <p:tags r:id="rId22"/>
            </p:custDataLst>
          </p:nvPr>
        </p:nvSpPr>
        <p:spPr>
          <a:xfrm>
            <a:off x="909806" y="12600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9" name="TextBox 48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0" name="TextBox 49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2" name="TextBox 51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3" name="TextBox 52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短窗位元組模式·既有模型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9" name="TextBox 58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0" name="TextBox 59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3" name="TextBox 62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4" name="TextBox 63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6" name="TextBox 65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TextBox 67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ight Arrow 71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4" name="TextBox 73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75" name="TextBox 74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TextBox 77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0" name="TextBox 79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TextBox 81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4" name="TextBox 83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6" name="TextBox 85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8" name="TextBox 87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0" name="TextBox 89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2" name="TextBox 91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ight Arrow 95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8" name="TextBox 97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99" name="TextBox 98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4" name="TextBox 103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6" name="TextBox 105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07" name="TextBox 106"/>
          <p:cNvSpPr txBox="1"/>
          <p:nvPr>
            <p:custDataLst>
              <p:tags r:id="rId48"/>
            </p:custDataLst>
          </p:nvPr>
        </p:nvSpPr>
        <p:spPr>
          <a:xfrm>
            <a:off x="4508219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TextBox 108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7434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7920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2" name="TextBox 111"/>
          <p:cNvSpPr txBox="1"/>
          <p:nvPr>
            <p:custDataLst>
              <p:tags r:id="rId50"/>
            </p:custDataLst>
          </p:nvPr>
        </p:nvSpPr>
        <p:spPr>
          <a:xfrm>
            <a:off x="7886663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10818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1304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5" name="TextBox 114"/>
          <p:cNvSpPr txBox="1"/>
          <p:nvPr>
            <p:custDataLst>
              <p:tags r:id="rId51"/>
            </p:custDataLst>
          </p:nvPr>
        </p:nvSpPr>
        <p:spPr>
          <a:xfrm>
            <a:off x="11270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16" name="TextBox 115"/>
          <p:cNvSpPr txBox="1"/>
          <p:nvPr>
            <p:custDataLst>
              <p:tags r:id="rId52"/>
            </p:custDataLst>
          </p:nvPr>
        </p:nvSpPr>
        <p:spPr>
          <a:xfrm>
            <a:off x="4511394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2" name="TextBox 121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3" name="TextBox 122"/>
          <p:cNvSpPr txBox="1"/>
          <p:nvPr>
            <p:custDataLst>
              <p:tags r:id="rId54"/>
            </p:custDataLst>
          </p:nvPr>
        </p:nvSpPr>
        <p:spPr>
          <a:xfrm>
            <a:off x="818756" y="1427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277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TextBox 126"/>
          <p:cNvSpPr txBox="1"/>
          <p:nvPr>
            <p:custDataLst>
              <p:tags r:id="rId55"/>
            </p:custDataLst>
          </p:nvPr>
        </p:nvSpPr>
        <p:spPr>
          <a:xfrm>
            <a:off x="969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28" name="TextBox 127"/>
          <p:cNvSpPr txBox="1"/>
          <p:nvPr>
            <p:custDataLst>
              <p:tags r:id="rId56"/>
            </p:custDataLst>
          </p:nvPr>
        </p:nvSpPr>
        <p:spPr>
          <a:xfrm>
            <a:off x="981806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7308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1" name="TextBox 130"/>
          <p:cNvSpPr txBox="1"/>
          <p:nvPr>
            <p:custDataLst>
              <p:tags r:id="rId57"/>
            </p:custDataLst>
          </p:nvPr>
        </p:nvSpPr>
        <p:spPr>
          <a:xfrm>
            <a:off x="5505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2" name="TextBox 131"/>
          <p:cNvSpPr txBox="1"/>
          <p:nvPr>
            <p:custDataLst>
              <p:tags r:id="rId58"/>
            </p:custDataLst>
          </p:nvPr>
        </p:nvSpPr>
        <p:spPr>
          <a:xfrm>
            <a:off x="5517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1844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5" name="TextBox 134"/>
          <p:cNvSpPr txBox="1"/>
          <p:nvPr>
            <p:custDataLst>
              <p:tags r:id="rId59"/>
            </p:custDataLst>
          </p:nvPr>
        </p:nvSpPr>
        <p:spPr>
          <a:xfrm>
            <a:off x="10041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36" name="TextBox 135"/>
          <p:cNvSpPr txBox="1"/>
          <p:nvPr>
            <p:custDataLst>
              <p:tags r:id="rId60"/>
            </p:custDataLst>
          </p:nvPr>
        </p:nvSpPr>
        <p:spPr>
          <a:xfrm>
            <a:off x="10053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37" name="TextBox 136"/>
          <p:cNvSpPr txBox="1"/>
          <p:nvPr>
            <p:custDataLst>
              <p:tags r:id="rId61"/>
            </p:custDataLst>
          </p:nvPr>
        </p:nvSpPr>
        <p:spPr>
          <a:xfrm>
            <a:off x="818756" y="1679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>
            <p:custDataLst>
              <p:tags r:id="rId62"/>
            </p:custDataLst>
          </p:nvPr>
        </p:nvSpPr>
        <p:spPr>
          <a:xfrm>
            <a:off x="837806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0" name="TextBox 139"/>
          <p:cNvSpPr txBox="1"/>
          <p:nvPr>
            <p:custDataLst>
              <p:tags r:id="rId63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3" name="TextBox 142"/>
          <p:cNvSpPr txBox="1"/>
          <p:nvPr>
            <p:custDataLst>
              <p:tags r:id="rId64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44" name="TextBox 143"/>
          <p:cNvSpPr txBox="1"/>
          <p:nvPr>
            <p:custDataLst>
              <p:tags r:id="rId65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7" name="TextBox 146"/>
          <p:cNvSpPr txBox="1"/>
          <p:nvPr>
            <p:custDataLst>
              <p:tags r:id="rId66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48" name="TextBox 147"/>
          <p:cNvSpPr txBox="1"/>
          <p:nvPr>
            <p:custDataLst>
              <p:tags r:id="rId67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1" name="TextBox 150"/>
          <p:cNvSpPr txBox="1"/>
          <p:nvPr>
            <p:custDataLst>
              <p:tags r:id="rId68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>
            <p:custDataLst>
              <p:tags r:id="rId69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>
            <p:custDataLst>
              <p:tags r:id="rId70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>
            <p:custDataLst>
              <p:tags r:id="rId71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58" name="TextBox 157"/>
          <p:cNvSpPr txBox="1"/>
          <p:nvPr>
            <p:custDataLst>
              <p:tags r:id="rId72"/>
            </p:custDataLst>
          </p:nvPr>
        </p:nvSpPr>
        <p:spPr>
          <a:xfrm>
            <a:off x="837806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>
            <p:custDataLst>
              <p:tags r:id="rId73"/>
            </p:custDataLst>
          </p:nvPr>
        </p:nvSpPr>
        <p:spPr>
          <a:xfrm>
            <a:off x="7893807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1" name="TextBox 160"/>
          <p:cNvSpPr txBox="1"/>
          <p:nvPr>
            <p:custDataLst>
              <p:tags r:id="rId74"/>
            </p:custDataLst>
          </p:nvPr>
        </p:nvSpPr>
        <p:spPr>
          <a:xfrm>
            <a:off x="7860469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2" name="TextBox 161"/>
          <p:cNvSpPr txBox="1"/>
          <p:nvPr>
            <p:custDataLst>
              <p:tags r:id="rId75"/>
            </p:custDataLst>
          </p:nvPr>
        </p:nvSpPr>
        <p:spPr>
          <a:xfrm>
            <a:off x="7895395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4" name="TextBox 163"/>
          <p:cNvSpPr txBox="1"/>
          <p:nvPr>
            <p:custDataLst>
              <p:tags r:id="rId76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65" name="TextBox 164"/>
          <p:cNvSpPr txBox="1"/>
          <p:nvPr>
            <p:custDataLst>
              <p:tags r:id="rId77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7" name="TextBox 166"/>
          <p:cNvSpPr txBox="1"/>
          <p:nvPr>
            <p:custDataLst>
              <p:tags r:id="rId78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68" name="TextBox 167"/>
          <p:cNvSpPr txBox="1"/>
          <p:nvPr>
            <p:custDataLst>
              <p:tags r:id="rId79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0" name="TextBox 169"/>
          <p:cNvSpPr txBox="1"/>
          <p:nvPr>
            <p:custDataLst>
              <p:tags r:id="rId80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1" name="TextBox 170"/>
          <p:cNvSpPr txBox="1"/>
          <p:nvPr>
            <p:custDataLst>
              <p:tags r:id="rId81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2" name="TextBox 171"/>
          <p:cNvSpPr txBox="1"/>
          <p:nvPr>
            <p:custDataLst>
              <p:tags r:id="rId82"/>
            </p:custDataLst>
          </p:nvPr>
        </p:nvSpPr>
        <p:spPr>
          <a:xfrm>
            <a:off x="7896188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3"/>
            </p:custDataLst>
          </p:nvPr>
        </p:nvSpPr>
        <p:spPr>
          <a:xfrm>
            <a:off x="981807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6" name="TextBox 175"/>
          <p:cNvSpPr txBox="1"/>
          <p:nvPr>
            <p:custDataLst>
              <p:tags r:id="rId84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77" name="TextBox 176"/>
          <p:cNvSpPr txBox="1"/>
          <p:nvPr>
            <p:custDataLst>
              <p:tags r:id="rId85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9" name="TextBox 178"/>
          <p:cNvSpPr txBox="1"/>
          <p:nvPr>
            <p:custDataLst>
              <p:tags r:id="rId86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0" name="TextBox 179"/>
          <p:cNvSpPr txBox="1"/>
          <p:nvPr>
            <p:custDataLst>
              <p:tags r:id="rId87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2" name="TextBox 181"/>
          <p:cNvSpPr txBox="1"/>
          <p:nvPr>
            <p:custDataLst>
              <p:tags r:id="rId88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83" name="TextBox 182"/>
          <p:cNvSpPr txBox="1"/>
          <p:nvPr>
            <p:custDataLst>
              <p:tags r:id="rId89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5" name="TextBox 184"/>
          <p:cNvSpPr txBox="1"/>
          <p:nvPr>
            <p:custDataLst>
              <p:tags r:id="rId90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86" name="TextBox 185"/>
          <p:cNvSpPr txBox="1"/>
          <p:nvPr>
            <p:custDataLst>
              <p:tags r:id="rId91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8" name="TextBox 187"/>
          <p:cNvSpPr txBox="1"/>
          <p:nvPr>
            <p:custDataLst>
              <p:tags r:id="rId92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89" name="TextBox 188"/>
          <p:cNvSpPr txBox="1"/>
          <p:nvPr>
            <p:custDataLst>
              <p:tags r:id="rId93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1" name="TextBox 190"/>
          <p:cNvSpPr txBox="1"/>
          <p:nvPr>
            <p:custDataLst>
              <p:tags r:id="rId94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2" name="TextBox 191"/>
          <p:cNvSpPr txBox="1"/>
          <p:nvPr>
            <p:custDataLst>
              <p:tags r:id="rId95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3" name="TextBox 192"/>
          <p:cNvSpPr txBox="1"/>
          <p:nvPr>
            <p:custDataLst>
              <p:tags r:id="rId96"/>
            </p:custDataLst>
          </p:nvPr>
        </p:nvSpPr>
        <p:spPr>
          <a:xfrm>
            <a:off x="10624250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194" name="TextBox 193"/>
          <p:cNvSpPr txBox="1"/>
          <p:nvPr>
            <p:custDataLst>
              <p:tags r:id="rId97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482910156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0.6299133300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0.07874298095703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5.1181030273437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273</Words>
  <Application>Microsoft Office PowerPoint</Application>
  <PresentationFormat>自訂</PresentationFormat>
  <Paragraphs>110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2026-10-31T06:33:09Z</dcterms:modified>
  <cp:category/>
</cp:coreProperties>
</file>