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slideLayout" Target="../slideLayouts/slideLayout7.xml"/><Relationship Id="rId7" Type="http://schemas.openxmlformats.org/officeDocument/2006/relationships/tags" Target="../tags/tag7.xml"/><Relationship Id="rId71" Type="http://schemas.openxmlformats.org/officeDocument/2006/relationships/image" Target="../media/image3.pn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66" Type="http://schemas.openxmlformats.org/officeDocument/2006/relationships/tags" Target="../tags/tag66.xml"/><Relationship Id="rId5" Type="http://schemas.openxmlformats.org/officeDocument/2006/relationships/tags" Target="../tags/tag5.xml"/><Relationship Id="rId61" Type="http://schemas.openxmlformats.org/officeDocument/2006/relationships/tags" Target="../tags/tag61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tags" Target="../tags/tag56.xml"/><Relationship Id="rId64" Type="http://schemas.openxmlformats.org/officeDocument/2006/relationships/tags" Target="../tags/tag64.xml"/><Relationship Id="rId69" Type="http://schemas.openxmlformats.org/officeDocument/2006/relationships/image" Target="../media/image1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image" Target="../media/image4.png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image" Target="../media/image2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>
            <p:custDataLst>
              <p:tags r:id="rId1"/>
            </p:custDataLst>
          </p:nvPr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pic>
        <p:nvPicPr>
          <p:cNvPr id="4" name="Picture 3" descr="flat-icon-4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2384000" y="1044000"/>
            <a:ext cx="1800000" cy="1800000"/>
          </a:xfrm>
          <a:prstGeom prst="rect">
            <a:avLst/>
          </a:prstGeom>
        </p:spPr>
      </p:pic>
      <p:sp>
        <p:nvSpPr>
          <p:cNvPr id="5" name="TextBox 4"/>
          <p:cNvSpPr txBox="1"/>
          <p:nvPr>
            <p:custDataLst>
              <p:tags r:id="rId3"/>
            </p:custDataLst>
          </p:nvPr>
        </p:nvSpPr>
        <p:spPr>
          <a:xfrm>
            <a:off x="576000" y="2628000"/>
            <a:ext cx="1396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同一事件串起流量判定、案例證據與可回復的處置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313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lat-icon-1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576000" y="3384000"/>
            <a:ext cx="972000" cy="972000"/>
          </a:xfrm>
          <a:prstGeom prst="rect">
            <a:avLst/>
          </a:prstGeom>
        </p:spPr>
      </p:pic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1800000" y="3384000"/>
            <a:ext cx="1274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從辨識告警，走到可查核的資安處理流程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1800000" y="3852000"/>
            <a:ext cx="12744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面向校園與中小型組織的資安管理需求，協助管理者核對事件依據。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76000" y="4644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>
            <p:custDataLst>
              <p:tags r:id="rId7"/>
            </p:custDataLst>
          </p:nvPr>
        </p:nvSpPr>
        <p:spPr>
          <a:xfrm>
            <a:off x="1116000" y="4644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四階段方法，以同一事件銜接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64000" y="540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1404000" y="5400000"/>
            <a:ext cx="525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互補模型判定</a:t>
            </a:r>
          </a:p>
        </p:txBody>
      </p:sp>
      <p:pic>
        <p:nvPicPr>
          <p:cNvPr id="16" name="Picture 15" descr="flat-icon-2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864000" y="6012000"/>
            <a:ext cx="900000" cy="900000"/>
          </a:xfrm>
          <a:prstGeom prst="rect">
            <a:avLst/>
          </a:prstGeom>
        </p:spPr>
      </p:pic>
      <p:sp>
        <p:nvSpPr>
          <p:cNvPr id="17" name="TextBox 16"/>
          <p:cNvSpPr txBox="1"/>
          <p:nvPr>
            <p:custDataLst>
              <p:tags r:id="rId10"/>
            </p:custDataLst>
          </p:nvPr>
        </p:nvSpPr>
        <p:spPr>
          <a:xfrm>
            <a:off x="2016000" y="6048000"/>
            <a:ext cx="493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CTBM：內容、時間差、方向</a:t>
            </a:r>
          </a:p>
        </p:txBody>
      </p: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2016000" y="6552000"/>
            <a:ext cx="493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PBCNN：短窗位元組模式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564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TextBox 19"/>
          <p:cNvSpPr txBox="1"/>
          <p:nvPr>
            <p:custDataLst>
              <p:tags r:id="rId12"/>
            </p:custDataLst>
          </p:nvPr>
        </p:nvSpPr>
        <p:spPr>
          <a:xfrm>
            <a:off x="832250" y="7596000"/>
            <a:ext cx="604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校準＋OOF Gate 融合</a:t>
            </a:r>
          </a:p>
        </p:txBody>
      </p:sp>
      <p:sp>
        <p:nvSpPr>
          <p:cNvPr id="21" name="TextBox 20"/>
          <p:cNvSpPr txBox="1"/>
          <p:nvPr>
            <p:custDataLst>
              <p:tags r:id="rId13"/>
            </p:custDataLst>
          </p:nvPr>
        </p:nvSpPr>
        <p:spPr>
          <a:xfrm>
            <a:off x="840187" y="8100000"/>
            <a:ext cx="604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輸出：17類判定、信心與512維表徵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920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4" name="TextBox 23"/>
          <p:cNvSpPr txBox="1"/>
          <p:nvPr>
            <p:custDataLst>
              <p:tags r:id="rId14"/>
            </p:custDataLst>
          </p:nvPr>
        </p:nvSpPr>
        <p:spPr>
          <a:xfrm>
            <a:off x="8208000" y="540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25" name="TextBox 24"/>
          <p:cNvSpPr txBox="1"/>
          <p:nvPr>
            <p:custDataLst>
              <p:tags r:id="rId15"/>
            </p:custDataLst>
          </p:nvPr>
        </p:nvSpPr>
        <p:spPr>
          <a:xfrm>
            <a:off x="8748000" y="5400000"/>
            <a:ext cx="525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任務導向案例檢索</a:t>
            </a:r>
          </a:p>
        </p:txBody>
      </p:sp>
      <p:pic>
        <p:nvPicPr>
          <p:cNvPr id="26" name="Picture 25" descr="flat-icon-3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8208000" y="6012000"/>
            <a:ext cx="900000" cy="900000"/>
          </a:xfrm>
          <a:prstGeom prst="rect">
            <a:avLst/>
          </a:prstGeom>
        </p:spPr>
      </p:pic>
      <p:sp>
        <p:nvSpPr>
          <p:cNvPr id="27" name="TextBox 26"/>
          <p:cNvSpPr txBox="1"/>
          <p:nvPr>
            <p:custDataLst>
              <p:tags r:id="rId16"/>
            </p:custDataLst>
          </p:nvPr>
        </p:nvSpPr>
        <p:spPr>
          <a:xfrm>
            <a:off x="9360000" y="6048000"/>
            <a:ext cx="493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512維表徵＋17維機率</a:t>
            </a:r>
          </a:p>
        </p:txBody>
      </p:sp>
      <p:sp>
        <p:nvSpPr>
          <p:cNvPr id="28" name="TextBox 27"/>
          <p:cNvSpPr txBox="1"/>
          <p:nvPr>
            <p:custDataLst>
              <p:tags r:id="rId17"/>
            </p:custDataLst>
          </p:nvPr>
        </p:nvSpPr>
        <p:spPr>
          <a:xfrm>
            <a:off x="9360000" y="6552000"/>
            <a:ext cx="493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529維任務向量，L2正規化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908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0" name="TextBox 29"/>
          <p:cNvSpPr txBox="1"/>
          <p:nvPr>
            <p:custDataLst>
              <p:tags r:id="rId18"/>
            </p:custDataLst>
          </p:nvPr>
        </p:nvSpPr>
        <p:spPr>
          <a:xfrm>
            <a:off x="8176249" y="7596000"/>
            <a:ext cx="604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訓練案例證據</a:t>
            </a:r>
          </a:p>
        </p:txBody>
      </p:sp>
      <p:sp>
        <p:nvSpPr>
          <p:cNvPr id="31" name="TextBox 30"/>
          <p:cNvSpPr txBox="1"/>
          <p:nvPr>
            <p:custDataLst>
              <p:tags r:id="rId19"/>
            </p:custDataLst>
          </p:nvPr>
        </p:nvSpPr>
        <p:spPr>
          <a:xfrm>
            <a:off x="8184187" y="8100000"/>
            <a:ext cx="604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案例庫僅由訓練資料建立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272000" y="6588000"/>
            <a:ext cx="576000" cy="288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3" name="Down Arrow 32"/>
          <p:cNvSpPr/>
          <p:nvPr/>
        </p:nvSpPr>
        <p:spPr>
          <a:xfrm>
            <a:off x="11052000" y="8568000"/>
            <a:ext cx="360000" cy="468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20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920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TextBox 35"/>
          <p:cNvSpPr txBox="1"/>
          <p:nvPr>
            <p:custDataLst>
              <p:tags r:id="rId20"/>
            </p:custDataLst>
          </p:nvPr>
        </p:nvSpPr>
        <p:spPr>
          <a:xfrm>
            <a:off x="8208000" y="928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37" name="TextBox 36"/>
          <p:cNvSpPr txBox="1"/>
          <p:nvPr>
            <p:custDataLst>
              <p:tags r:id="rId21"/>
            </p:custDataLst>
          </p:nvPr>
        </p:nvSpPr>
        <p:spPr>
          <a:xfrm>
            <a:off x="8748000" y="9288000"/>
            <a:ext cx="525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本機AI證據稽核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2000" y="9972000"/>
            <a:ext cx="648000" cy="79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8460000" y="1015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60000" y="1033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60000" y="1051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820000" y="10620000"/>
            <a:ext cx="144000" cy="14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64000" y="10440000"/>
            <a:ext cx="216000" cy="32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>
            <p:custDataLst>
              <p:tags r:id="rId22"/>
            </p:custDataLst>
          </p:nvPr>
        </p:nvSpPr>
        <p:spPr>
          <a:xfrm>
            <a:off x="9360000" y="9900000"/>
            <a:ext cx="4932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核對正式判定與相似案例</a:t>
            </a:r>
          </a:p>
        </p:txBody>
      </p:sp>
      <p:sp>
        <p:nvSpPr>
          <p:cNvPr id="45" name="TextBox 44"/>
          <p:cNvSpPr txBox="1"/>
          <p:nvPr>
            <p:custDataLst>
              <p:tags r:id="rId23"/>
            </p:custDataLst>
          </p:nvPr>
        </p:nvSpPr>
        <p:spPr>
          <a:xfrm>
            <a:off x="9360000" y="10404000"/>
            <a:ext cx="4932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保留分類，附加稽核結論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7" name="TextBox 46"/>
          <p:cNvSpPr txBox="1"/>
          <p:nvPr>
            <p:custDataLst>
              <p:tags r:id="rId24"/>
            </p:custDataLst>
          </p:nvPr>
        </p:nvSpPr>
        <p:spPr>
          <a:xfrm>
            <a:off x="8176249" y="11088000"/>
            <a:ext cx="183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14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9" name="TextBox 48"/>
          <p:cNvSpPr txBox="1"/>
          <p:nvPr>
            <p:custDataLst>
              <p:tags r:id="rId25"/>
            </p:custDataLst>
          </p:nvPr>
        </p:nvSpPr>
        <p:spPr>
          <a:xfrm>
            <a:off x="10282250" y="11088000"/>
            <a:ext cx="183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420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TextBox 50"/>
          <p:cNvSpPr txBox="1"/>
          <p:nvPr>
            <p:custDataLst>
              <p:tags r:id="rId26"/>
            </p:custDataLst>
          </p:nvPr>
        </p:nvSpPr>
        <p:spPr>
          <a:xfrm>
            <a:off x="12388250" y="11088000"/>
            <a:ext cx="183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52" name="TextBox 51"/>
          <p:cNvSpPr txBox="1"/>
          <p:nvPr>
            <p:custDataLst>
              <p:tags r:id="rId27"/>
            </p:custDataLst>
          </p:nvPr>
        </p:nvSpPr>
        <p:spPr>
          <a:xfrm>
            <a:off x="8184187" y="11916000"/>
            <a:ext cx="60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複核與不確定事件保留監測或蒐證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76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TextBox 54"/>
          <p:cNvSpPr txBox="1"/>
          <p:nvPr>
            <p:custDataLst>
              <p:tags r:id="rId28"/>
            </p:custDataLst>
          </p:nvPr>
        </p:nvSpPr>
        <p:spPr>
          <a:xfrm>
            <a:off x="864000" y="928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56" name="TextBox 55"/>
          <p:cNvSpPr txBox="1"/>
          <p:nvPr>
            <p:custDataLst>
              <p:tags r:id="rId29"/>
            </p:custDataLst>
          </p:nvPr>
        </p:nvSpPr>
        <p:spPr>
          <a:xfrm>
            <a:off x="1404000" y="9288000"/>
            <a:ext cx="525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受控處置與回復</a:t>
            </a:r>
          </a:p>
        </p:txBody>
      </p:sp>
      <p:pic>
        <p:nvPicPr>
          <p:cNvPr id="57" name="Picture 56" descr="flat-icon-4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864000" y="9900000"/>
            <a:ext cx="900000" cy="900000"/>
          </a:xfrm>
          <a:prstGeom prst="rect">
            <a:avLst/>
          </a:prstGeom>
        </p:spPr>
      </p:pic>
      <p:sp>
        <p:nvSpPr>
          <p:cNvPr id="58" name="TextBox 57"/>
          <p:cNvSpPr txBox="1"/>
          <p:nvPr>
            <p:custDataLst>
              <p:tags r:id="rId30"/>
            </p:custDataLst>
          </p:nvPr>
        </p:nvSpPr>
        <p:spPr>
          <a:xfrm>
            <a:off x="2016000" y="9900000"/>
            <a:ext cx="4932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檢查範圍、允許動作與期限</a:t>
            </a:r>
          </a:p>
        </p:txBody>
      </p:sp>
      <p:sp>
        <p:nvSpPr>
          <p:cNvPr id="59" name="TextBox 58"/>
          <p:cNvSpPr txBox="1"/>
          <p:nvPr>
            <p:custDataLst>
              <p:tags r:id="rId31"/>
            </p:custDataLst>
          </p:nvPr>
        </p:nvSpPr>
        <p:spPr>
          <a:xfrm>
            <a:off x="2016000" y="10404000"/>
            <a:ext cx="4932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允許的策略才進入執行</a:t>
            </a:r>
          </a:p>
        </p:txBody>
      </p:sp>
      <p:sp>
        <p:nvSpPr>
          <p:cNvPr id="60" name="TextBox 59"/>
          <p:cNvSpPr txBox="1"/>
          <p:nvPr>
            <p:custDataLst>
              <p:tags r:id="rId32"/>
            </p:custDataLst>
          </p:nvPr>
        </p:nvSpPr>
        <p:spPr>
          <a:xfrm>
            <a:off x="830662" y="11088000"/>
            <a:ext cx="158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2484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2" name="TextBox 61"/>
          <p:cNvSpPr txBox="1"/>
          <p:nvPr>
            <p:custDataLst>
              <p:tags r:id="rId33"/>
            </p:custDataLst>
          </p:nvPr>
        </p:nvSpPr>
        <p:spPr>
          <a:xfrm>
            <a:off x="3062663" y="11088000"/>
            <a:ext cx="158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716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4" name="TextBox 63"/>
          <p:cNvSpPr txBox="1"/>
          <p:nvPr>
            <p:custDataLst>
              <p:tags r:id="rId34"/>
            </p:custDataLst>
          </p:nvPr>
        </p:nvSpPr>
        <p:spPr>
          <a:xfrm>
            <a:off x="5294662" y="11088000"/>
            <a:ext cx="158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回復</a:t>
            </a:r>
          </a:p>
        </p:txBody>
      </p:sp>
      <p:sp>
        <p:nvSpPr>
          <p:cNvPr id="65" name="TextBox 64"/>
          <p:cNvSpPr txBox="1"/>
          <p:nvPr>
            <p:custDataLst>
              <p:tags r:id="rId35"/>
            </p:custDataLst>
          </p:nvPr>
        </p:nvSpPr>
        <p:spPr>
          <a:xfrm>
            <a:off x="840187" y="11916000"/>
            <a:ext cx="60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同次執行回條綁定，規則到期撤銷</a:t>
            </a:r>
          </a:p>
        </p:txBody>
      </p:sp>
      <p:sp>
        <p:nvSpPr>
          <p:cNvPr id="66" name="Left Arrow 65"/>
          <p:cNvSpPr/>
          <p:nvPr/>
        </p:nvSpPr>
        <p:spPr>
          <a:xfrm>
            <a:off x="7272000" y="10476000"/>
            <a:ext cx="576000" cy="288000"/>
          </a:xfrm>
          <a:prstGeom prst="lef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576000" y="12636000"/>
            <a:ext cx="13968000" cy="468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8" name="TextBox 67"/>
          <p:cNvSpPr txBox="1"/>
          <p:nvPr>
            <p:custDataLst>
              <p:tags r:id="rId36"/>
            </p:custDataLst>
          </p:nvPr>
        </p:nvSpPr>
        <p:spPr>
          <a:xfrm>
            <a:off x="691425" y="12636000"/>
            <a:ext cx="1368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69" name="TextBox 68"/>
          <p:cNvSpPr txBox="1"/>
          <p:nvPr>
            <p:custDataLst>
              <p:tags r:id="rId37"/>
            </p:custDataLst>
          </p:nvPr>
        </p:nvSpPr>
        <p:spPr>
          <a:xfrm>
            <a:off x="576000" y="135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70" name="TextBox 69"/>
          <p:cNvSpPr txBox="1"/>
          <p:nvPr>
            <p:custDataLst>
              <p:tags r:id="rId38"/>
            </p:custDataLst>
          </p:nvPr>
        </p:nvSpPr>
        <p:spPr>
          <a:xfrm>
            <a:off x="1116000" y="13536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創新落在模型互補與證據銜接</a:t>
            </a:r>
          </a:p>
        </p:txBody>
      </p:sp>
      <p:sp>
        <p:nvSpPr>
          <p:cNvPr id="71" name="TextBox 70"/>
          <p:cNvSpPr txBox="1"/>
          <p:nvPr>
            <p:custDataLst>
              <p:tags r:id="rId39"/>
            </p:custDataLst>
          </p:nvPr>
        </p:nvSpPr>
        <p:spPr>
          <a:xfrm>
            <a:off x="576000" y="14184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72" name="TextBox 71"/>
          <p:cNvSpPr txBox="1"/>
          <p:nvPr>
            <p:custDataLst>
              <p:tags r:id="rId40"/>
            </p:custDataLst>
          </p:nvPr>
        </p:nvSpPr>
        <p:spPr>
          <a:xfrm>
            <a:off x="576000" y="14688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時序關係與局部內容共同判斷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由校準與Gate形成正式分類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48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>
            <p:custDataLst>
              <p:tags r:id="rId41"/>
            </p:custDataLst>
          </p:nvPr>
        </p:nvSpPr>
        <p:spPr>
          <a:xfrm>
            <a:off x="5364000" y="14184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75" name="TextBox 74"/>
          <p:cNvSpPr txBox="1"/>
          <p:nvPr>
            <p:custDataLst>
              <p:tags r:id="rId42"/>
            </p:custDataLst>
          </p:nvPr>
        </p:nvSpPr>
        <p:spPr>
          <a:xfrm>
            <a:off x="5364000" y="14688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為每個事件找可核對的案例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936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>
            <p:custDataLst>
              <p:tags r:id="rId43"/>
            </p:custDataLst>
          </p:nvPr>
        </p:nvSpPr>
        <p:spPr>
          <a:xfrm>
            <a:off x="10152000" y="14184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78" name="TextBox 77"/>
          <p:cNvSpPr txBox="1"/>
          <p:nvPr>
            <p:custDataLst>
              <p:tags r:id="rId44"/>
            </p:custDataLst>
          </p:nvPr>
        </p:nvSpPr>
        <p:spPr>
          <a:xfrm>
            <a:off x="10152000" y="14688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稽核附回原事件，策略另檢查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79" name="TextBox 78"/>
          <p:cNvSpPr txBox="1"/>
          <p:nvPr>
            <p:custDataLst>
              <p:tags r:id="rId45"/>
            </p:custDataLst>
          </p:nvPr>
        </p:nvSpPr>
        <p:spPr>
          <a:xfrm>
            <a:off x="576000" y="1594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80" name="TextBox 79"/>
          <p:cNvSpPr txBox="1"/>
          <p:nvPr>
            <p:custDataLst>
              <p:tags r:id="rId46"/>
            </p:custDataLst>
          </p:nvPr>
        </p:nvSpPr>
        <p:spPr>
          <a:xfrm>
            <a:off x="1116000" y="15948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81" name="TextBox 80"/>
          <p:cNvSpPr txBox="1"/>
          <p:nvPr>
            <p:custDataLst>
              <p:tags r:id="rId47"/>
            </p:custDataLst>
          </p:nvPr>
        </p:nvSpPr>
        <p:spPr>
          <a:xfrm>
            <a:off x="576000" y="16488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82" name="TextBox 81"/>
          <p:cNvSpPr txBox="1"/>
          <p:nvPr>
            <p:custDataLst>
              <p:tags r:id="rId48"/>
            </p:custDataLst>
          </p:nvPr>
        </p:nvSpPr>
        <p:spPr>
          <a:xfrm>
            <a:off x="576000" y="171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304000" y="172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2304000" y="17208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49"/>
            </p:custDataLst>
          </p:nvPr>
        </p:nvSpPr>
        <p:spPr>
          <a:xfrm>
            <a:off x="5729975" y="171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86" name="TextBox 85"/>
          <p:cNvSpPr txBox="1"/>
          <p:nvPr>
            <p:custDataLst>
              <p:tags r:id="rId50"/>
            </p:custDataLst>
          </p:nvPr>
        </p:nvSpPr>
        <p:spPr>
          <a:xfrm>
            <a:off x="576000" y="177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304000" y="178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2304000" y="17820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9" name="TextBox 88"/>
          <p:cNvSpPr txBox="1"/>
          <p:nvPr>
            <p:custDataLst>
              <p:tags r:id="rId51"/>
            </p:custDataLst>
          </p:nvPr>
        </p:nvSpPr>
        <p:spPr>
          <a:xfrm>
            <a:off x="5729975" y="177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90" name="TextBox 89"/>
          <p:cNvSpPr txBox="1"/>
          <p:nvPr>
            <p:custDataLst>
              <p:tags r:id="rId52"/>
            </p:custDataLst>
          </p:nvPr>
        </p:nvSpPr>
        <p:spPr>
          <a:xfrm>
            <a:off x="576000" y="18360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04000" y="18432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2304000" y="18432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3" name="TextBox 92"/>
          <p:cNvSpPr txBox="1"/>
          <p:nvPr>
            <p:custDataLst>
              <p:tags r:id="rId53"/>
            </p:custDataLst>
          </p:nvPr>
        </p:nvSpPr>
        <p:spPr>
          <a:xfrm>
            <a:off x="5729975" y="18360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94" name="TextBox 93"/>
          <p:cNvSpPr txBox="1"/>
          <p:nvPr>
            <p:custDataLst>
              <p:tags r:id="rId54"/>
            </p:custDataLst>
          </p:nvPr>
        </p:nvSpPr>
        <p:spPr>
          <a:xfrm>
            <a:off x="576000" y="1908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融合判定 Accuracy 98.08%</a:t>
            </a:r>
          </a:p>
        </p:txBody>
      </p:sp>
      <p:sp>
        <p:nvSpPr>
          <p:cNvPr id="95" name="TextBox 94"/>
          <p:cNvSpPr txBox="1"/>
          <p:nvPr>
            <p:custDataLst>
              <p:tags r:id="rId55"/>
            </p:custDataLst>
          </p:nvPr>
        </p:nvSpPr>
        <p:spPr>
          <a:xfrm>
            <a:off x="576000" y="19512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比較使用相同資料與17類標籤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560000" y="16488000"/>
            <a:ext cx="0" cy="3312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>
            <p:custDataLst>
              <p:tags r:id="rId56"/>
            </p:custDataLst>
          </p:nvPr>
        </p:nvSpPr>
        <p:spPr>
          <a:xfrm>
            <a:off x="7920000" y="16488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98" name="TextBox 97"/>
          <p:cNvSpPr txBox="1"/>
          <p:nvPr>
            <p:custDataLst>
              <p:tags r:id="rId57"/>
            </p:custDataLst>
          </p:nvPr>
        </p:nvSpPr>
        <p:spPr>
          <a:xfrm>
            <a:off x="7920000" y="17028000"/>
            <a:ext cx="6624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99" name="TextBox 98"/>
          <p:cNvSpPr txBox="1"/>
          <p:nvPr>
            <p:custDataLst>
              <p:tags r:id="rId58"/>
            </p:custDataLst>
          </p:nvPr>
        </p:nvSpPr>
        <p:spPr>
          <a:xfrm>
            <a:off x="7920000" y="17568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　訓練／查詢重疊0</a:t>
            </a:r>
          </a:p>
        </p:txBody>
      </p:sp>
      <p:sp>
        <p:nvSpPr>
          <p:cNvPr id="100" name="TextBox 99"/>
          <p:cNvSpPr txBox="1"/>
          <p:nvPr>
            <p:custDataLst>
              <p:tags r:id="rId59"/>
            </p:custDataLst>
          </p:nvPr>
        </p:nvSpPr>
        <p:spPr>
          <a:xfrm>
            <a:off x="7877138" y="1818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01" name="TextBox 100"/>
          <p:cNvSpPr txBox="1"/>
          <p:nvPr>
            <p:custDataLst>
              <p:tags r:id="rId60"/>
            </p:custDataLst>
          </p:nvPr>
        </p:nvSpPr>
        <p:spPr>
          <a:xfrm>
            <a:off x="7891425" y="18720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2" name="TextBox 101"/>
          <p:cNvSpPr txBox="1"/>
          <p:nvPr>
            <p:custDataLst>
              <p:tags r:id="rId61"/>
            </p:custDataLst>
          </p:nvPr>
        </p:nvSpPr>
        <p:spPr>
          <a:xfrm>
            <a:off x="10145137" y="1818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03" name="TextBox 102"/>
          <p:cNvSpPr txBox="1"/>
          <p:nvPr>
            <p:custDataLst>
              <p:tags r:id="rId62"/>
            </p:custDataLst>
          </p:nvPr>
        </p:nvSpPr>
        <p:spPr>
          <a:xfrm>
            <a:off x="10159425" y="18720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4" name="TextBox 103"/>
          <p:cNvSpPr txBox="1"/>
          <p:nvPr>
            <p:custDataLst>
              <p:tags r:id="rId63"/>
            </p:custDataLst>
          </p:nvPr>
        </p:nvSpPr>
        <p:spPr>
          <a:xfrm>
            <a:off x="12413138" y="1818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05" name="TextBox 104"/>
          <p:cNvSpPr txBox="1"/>
          <p:nvPr>
            <p:custDataLst>
              <p:tags r:id="rId64"/>
            </p:custDataLst>
          </p:nvPr>
        </p:nvSpPr>
        <p:spPr>
          <a:xfrm>
            <a:off x="12427426" y="18720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6" name="TextBox 105"/>
          <p:cNvSpPr txBox="1"/>
          <p:nvPr>
            <p:custDataLst>
              <p:tags r:id="rId65"/>
            </p:custDataLst>
          </p:nvPr>
        </p:nvSpPr>
        <p:spPr>
          <a:xfrm>
            <a:off x="7920000" y="19332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76000" y="20088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>
            <p:custDataLst>
              <p:tags r:id="rId66"/>
            </p:custDataLst>
          </p:nvPr>
        </p:nvSpPr>
        <p:spPr>
          <a:xfrm>
            <a:off x="576000" y="20268000"/>
            <a:ext cx="1396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整合驗證：17類真實張量重跑；6種隔離TCP情境，背景保留與回復皆6/6。</a:t>
            </a:r>
          </a:p>
        </p:txBody>
      </p:sp>
      <p:sp>
        <p:nvSpPr>
          <p:cNvPr id="109" name="TextBox 108"/>
          <p:cNvSpPr txBox="1"/>
          <p:nvPr>
            <p:custDataLst>
              <p:tags r:id="rId67"/>
            </p:custDataLst>
          </p:nvPr>
        </p:nvSpPr>
        <p:spPr>
          <a:xfrm>
            <a:off x="576000" y="20628000"/>
            <a:ext cx="1396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6種情境含4種套用規則、2種監測或蒐證；6/6為隔離交易與回復結果，非原生攻擊防禦率。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1.73228454589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1.73228454589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0.5511779785156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8081054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80810547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23632812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23632812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6.299194335937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8.818908691406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7.007873535156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7.007873535156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2382812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2382812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6.2991943359375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8.818908691406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7.007873535156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7.007873535156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8.582656860351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0.236221313476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238281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0.5511779785156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80810547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8081054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699645996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312622070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1.88976287841797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23632812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189</Words>
  <Application>Microsoft Office PowerPoint</Application>
  <PresentationFormat>自訂</PresentationFormat>
  <Paragraphs>73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2026-10-28T18:11:50Z</dcterms:modified>
  <cp:category/>
</cp:coreProperties>
</file>