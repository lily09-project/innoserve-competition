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16x9"/>
  <p:notesSz cx="6858000" cy="9144000"/>
  <p:defaultTextStyle>
    <a:defPPr>
      <a:defRPr lang="zh-TW"/>
    </a:defPPr>
    <a:lvl1pPr marL="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TW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  <Relationship Id="rId16" Type="http://schemas.openxmlformats.org/officeDocument/2006/relationships/notesMaster" Target="notesMasters/notesMaster1.xml"/>
</Relationships>
</file>

<file path=ppt/notesMasters/_rels/notesMaster1.xml.rels><?xml version="1.0" encoding="UTF-8" standalone="yes"?>
<Relationships xmlns="http://schemas.openxmlformats.org/package/2006/relationships">
  <Relationship Id="rId1" Type="http://schemas.openxmlformats.org/officeDocument/2006/relationships/theme" Target="../theme/theme2.xml"/>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TW">
        <a:latin typeface="Times New Roman"/>
        <a:ea typeface="DFKai-SB"/>
        <a:cs typeface="Times New Roman"/>
      </a:defRPr>
    </a:lvl1pPr>
  </p:notesStyle>
</p:notesMaster>
</file>

<file path=ppt/notesSlides/_rels/notesSlide1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1.xml"/>
</Relationships>
</file>

<file path=ppt/notesSlides/_rels/notesSlide2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2.xml"/>
</Relationships>
</file>

<file path=ppt/notesSlides/_rels/notesSlide3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3.xml"/>
</Relationships>
</file>

<file path=ppt/notesSlides/_rels/notesSlide4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4.xml"/>
</Relationships>
</file>

<file path=ppt/notesSlides/_rels/notesSlide5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5.xml"/>
</Relationships>
</file>

<file path=ppt/notesSlides/_rels/notesSlide6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6.xml"/>
</Relationships>
</file>

<file path=ppt/notesSlides/_rels/notesSlide7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7.xml"/>
</Relationships>
</file>

<file path=ppt/notesSlides/_rels/notesSlide8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8.xml"/>
</Relationships>
</file>

<file path=ppt/notesSlides/_rels/notesSlide9.xml.rels><?xml version="1.0" encoding="UTF-8" standalone="yes"?>
<Relationships xmlns="http://schemas.openxmlformats.org/package/2006/relationships">
  <Relationship Id="rId1" Type="http://schemas.openxmlformats.org/officeDocument/2006/relationships/notesMaster" Target="../notesMasters/notesMaster1.xml"/>
  <Relationship Id="rId2" Type="http://schemas.openxmlformats.org/officeDocument/2006/relationships/slide" Target="../slides/slide9.xml"/>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我們的作品將入侵偵測、案例檢索、AI稽核與受控處置，整合在同一條事件鏈。前段產生判定與模型表徵，後段依相似案例核對證據，最後留下可驗證、可回復的處置回條。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本頁保留三十秒方法動畫位置，先不嵌入影片。正式播放時使用既有三十秒、兩倍速影片，並計入五分鐘流程。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架構分為上下兩層的四個區域。流量表徵保留內容、時間差與方向，同一輸入平行送入兩個偵測模型，再融合為固定十七類、校準信心與流量表徵；後段以五百二十九維任務向量取得前五筆訓練案例，由本機AI給出支持、複核或不確定。策略閘門檢查範圍與期限，完成套用、讀回和到期撤銷。所有產物透過同一事件識別碼連結，AI不改寫正式分類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前段以兩種互補特徵平行判斷，並非先後串行。CTBM閱讀封包內容、時間差與方向；PBCNN補充短視窗位元組模式。校準後由OOF Gate依事件證據融合，輸出固定十七類，並保留信心與表徵交給後段。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後段不是只把類別名稱送進語言模型。我們結合五百一十二維流量表徵與十七維類別機率，建立任務向量，查詢只由訓練資料建立的案例庫。前五筆案例與類別共識交給本機AI核對，回傳支持、複核或不確定，連同正式分類留在同一事件紀錄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處置由政策閘門檢查範圍、白名單與有效期，通過後才套用並讀回規則，再於到期撤銷。六種隔離情境包含四種實際套用規則、兩種監測或蒐證；背景服務六種皆保留，回復完整性六種皆通過。這些結果量測隔離TCP交易與回條，不代表原始攻擊封包或正式場域的防禦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偵測效果在相同一萬八千九百九十八筆封存測試比較。PBCNN的Macro-F1為百分之七十九點七五，CTBM為九十二點一零，融合後為九十三點零五；整體準確率百分之九十八點零八。比較採同一個測試集，讓互補融合的效果可以直接核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在一千五百五十筆真實訓練案例和四百六十三筆測試查詢中，前五筆命中率為百分之九十七點六二，MRR為九十三點八九。相同四百六十三筆事件的本機稽核中，四百一十五筆支持、十三筆複核、三十五筆不確定；支持精確率九十七點一一。三十筆偵測誤判中，十八筆分流到複核或不確定，其餘十二筆仍獲支持，所以處置另受策略閘門控制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TW" dirty="0">
                <a:latin typeface="Times New Roman"/>
                <a:ea typeface="DFKai-SB"/>
                <a:cs typeface="Times New Roman"/>
              </a:rPr>
              <a:t>我們以十七類真實前處理張量重跑整合鏈，並以六種隔離情境確認處置回條與回復行為。作品把偵測、證據與處置放在同一個框架，讓判斷有依據、稽核有證據、處置可回復。前面播放的三十秒動畫以兩倍速說明流程，並可搭配本機執行紀錄展示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finals_editorial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TW" smtClean="0"/>
              <a:t>1/27/13</a:t>
            </a:fld>
            <a:endParaRPr lang="zh-TW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TW" smtClean="0"/>
              <a:t>‹#›</a:t>
            </a:fld>
            <a:endParaRPr lang="zh-TW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finals_editorial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TW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zh-TW" smtClean="0">
                <a:latin typeface="Times New Roman"/>
                <a:ea typeface="DFKai-SB"/>
                <a:cs typeface="Times New Roman"/>
              </a:rPr>
              <a:t>1/27/13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TW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zh-TW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TW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zh-TW" smtClean="0">
                <a:latin typeface="Times New Roman"/>
                <a:ea typeface="DFKai-SB"/>
                <a:cs typeface="Times New Roman"/>
              </a:rPr>
              <a:t>‹#›</a:t>
            </a:fld>
            <a:endParaRPr lang="zh-TW">
              <a:latin typeface="Times New Roman"/>
              <a:ea typeface="DFKai-SB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3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zh-TW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7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6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4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3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250" kern="1200" lang="zh-TW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1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0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900" kern="1200" lang="zh-TW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143cf26b65394a5.png"/>
  <Relationship Id="rId3" Type="http://schemas.openxmlformats.org/officeDocument/2006/relationships/notesSlide" Target="../notesSlides/notesSlide1.xml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2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4dc347da870737c4.png"/>
  <Relationship Id="rId3" Type="http://schemas.openxmlformats.org/officeDocument/2006/relationships/image" Target="../media/image_62ff4032e3a157d7.png"/>
  <Relationship Id="rId4" Type="http://schemas.openxmlformats.org/officeDocument/2006/relationships/image" Target="../media/image_e0bb307f87d4970c.png"/>
  <Relationship Id="rId5" Type="http://schemas.openxmlformats.org/officeDocument/2006/relationships/image" Target="../media/image_1143cf26b65394a5.png"/>
  <Relationship Id="rId6" Type="http://schemas.openxmlformats.org/officeDocument/2006/relationships/notesSlide" Target="../notesSlides/notesSlide3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4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e0bb307f87d4970c.png"/>
  <Relationship Id="rId3" Type="http://schemas.openxmlformats.org/officeDocument/2006/relationships/notesSlide" Target="../notesSlides/notesSlide5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6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8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notesSlide" Target="../notesSlides/notesSlide9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eadline"/>
          <p:cNvGrpSpPr/>
          <p:nvPr/>
        </p:nvGrpSpPr>
        <p:grpSpPr>
          <a:xfrm>
            <a:off x="603504" y="381000"/>
            <a:ext cx="1669316" cy="234696"/>
            <a:chOff x="603504" y="381000"/>
            <a:chExt cx="1669316" cy="234696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6693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2026 </a:t>
              </a:r>
              <a:r>
                <a:rPr lang="zh-TW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  <a:r>
                <a:rPr lang="zh-TW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決賽</a:t>
              </a:r>
            </a:p>
          </p:txBody>
        </p:sp>
      </p:grpSp>
      <p:grpSp>
        <p:nvGrpSpPr>
          <p:cNvPr id="23" name="page-content"/>
          <p:cNvGrpSpPr/>
          <p:nvPr/>
        </p:nvGrpSpPr>
        <p:grpSpPr>
          <a:xfrm>
            <a:off x="593217" y="1558925"/>
            <a:ext cx="10722483" cy="4518025"/>
            <a:chOff x="593217" y="1558925"/>
            <a:chExt cx="10722483" cy="4518025"/>
          </a:xfrm>
        </p:grpSpPr>
        <p:sp>
          <p:nvSpPr>
            <p:cNvPr id="4" name="TextBox 4"/>
            <p:cNvSpPr txBox="1"/>
            <p:nvPr/>
          </p:nvSpPr>
          <p:spPr>
            <a:xfrm>
              <a:off x="593217" y="1558925"/>
              <a:ext cx="610143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融合新型內容相依時序方向模型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93217" y="2178050"/>
              <a:ext cx="6534912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入侵偵測與任務導向檢索增強稽核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593217" y="2797175"/>
              <a:ext cx="3065086" cy="63074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之</a:t>
              </a:r>
              <a:r>
                <a:rPr lang="en-US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 xml:space="preserve"> AI </a:t>
              </a:r>
              <a:r>
                <a:rPr lang="zh-TW" sz="322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8932" y="3841750"/>
              <a:ext cx="4261866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1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從流量判定，走到有證據的處置。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2115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偵測</a:t>
              </a:r>
            </a:p>
          </p:txBody>
        </p:sp>
        <p:sp>
          <p:nvSpPr>
            <p:cNvPr id="10" name="Freeform 10"/>
            <p:cNvSpPr/>
            <p:nvPr/>
          </p:nvSpPr>
          <p:spPr>
            <a:xfrm>
              <a:off x="24003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Freeform 11"/>
            <p:cNvSpPr/>
            <p:nvPr/>
          </p:nvSpPr>
          <p:spPr>
            <a:xfrm>
              <a:off x="26574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7241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3261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451485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477202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83870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44068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6629400" y="5105400"/>
              <a:ext cx="323850" cy="9525"/>
            </a:xfrm>
            <a:custGeom>
              <a:avLst/>
              <a:gdLst/>
              <a:ahLst/>
              <a:cxnLst/>
              <a:rect l="l" t="t" r="r" b="b"/>
              <a:pathLst>
                <a:path w="323850" h="9525">
                  <a:moveTo>
                    <a:pt x="0" y="0"/>
                  </a:moveTo>
                  <a:lnTo>
                    <a:pt x="3238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6886575" y="5057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6953250" y="4762500"/>
              <a:ext cx="1790700" cy="685800"/>
            </a:xfrm>
            <a:prstGeom prst="roundRect">
              <a:avLst>
                <a:gd name="adj" fmla="val 1111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7555230" y="4946650"/>
              <a:ext cx="586740" cy="4107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1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回復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334500" y="4095750"/>
              <a:ext cx="1981200" cy="1981200"/>
            </a:xfrm>
            <a:prstGeom prst="rect">
              <a:avLst/>
            </a:prstGeom>
          </p:spPr>
        </p:pic>
      </p:grpSp>
      <p:grpSp>
        <p:nvGrpSpPr>
          <p:cNvPr id="26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4" name="TextBox 24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01 / 09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4696587" cy="958977"/>
            <a:chOff x="593598" y="381000"/>
            <a:chExt cx="4696587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54934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METHOD FILM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一個事件，走完完整流程</a:t>
              </a:r>
            </a:p>
          </p:txBody>
        </p:sp>
      </p:grpSp>
      <p:grpSp>
        <p:nvGrpSpPr>
          <p:cNvPr id="11" name="page-content"/>
          <p:cNvGrpSpPr/>
          <p:nvPr/>
        </p:nvGrpSpPr>
        <p:grpSpPr>
          <a:xfrm>
            <a:off x="1828800" y="1438275"/>
            <a:ext cx="8534400" cy="4800600"/>
            <a:chOff x="1828800" y="1438275"/>
            <a:chExt cx="8534400" cy="4800600"/>
          </a:xfrm>
        </p:grpSpPr>
        <p:grpSp>
          <p:nvGrpSpPr>
            <p:cNvPr id="10" name="video-slot"/>
            <p:cNvGrpSpPr/>
            <p:nvPr/>
          </p:nvGrpSpPr>
          <p:grpSpPr>
            <a:xfrm>
              <a:off x="1828800" y="1438275"/>
              <a:ext cx="8534400" cy="4800600"/>
              <a:chOff x="1828800" y="1438275"/>
              <a:chExt cx="8534400" cy="4800600"/>
            </a:xfrm>
          </p:grpSpPr>
          <p:sp>
            <p:nvSpPr>
              <p:cNvPr id="5" name="Rectangle 5"/>
              <p:cNvSpPr/>
              <p:nvPr/>
            </p:nvSpPr>
            <p:spPr>
              <a:xfrm>
                <a:off x="1828800" y="1438275"/>
                <a:ext cx="8534400" cy="4800600"/>
              </a:xfrm>
              <a:prstGeom prst="roundRect">
                <a:avLst>
                  <a:gd name="adj" fmla="val 1587"/>
                </a:avLst>
              </a:prstGeom>
              <a:solidFill>
                <a:schemeClr val="accent3"/>
              </a:solidFill>
              <a:ln w="9525">
                <a:solidFill>
                  <a:srgbClr val="D6E1EC"/>
                </a:solidFill>
              </a:ln>
            </p:spPr>
          </p:sp>
          <p:sp>
            <p:nvSpPr>
              <p:cNvPr id="6" name="Ellipse 6"/>
              <p:cNvSpPr/>
              <p:nvPr/>
            </p:nvSpPr>
            <p:spPr>
              <a:xfrm>
                <a:off x="5715000" y="2952750"/>
                <a:ext cx="762000" cy="762000"/>
              </a:xfrm>
              <a:prstGeom prst="ellipse">
                <a:avLst/>
              </a:prstGeom>
              <a:solidFill>
                <a:srgbClr val="E2EDF8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5970041" y="3130550"/>
                <a:ext cx="251917" cy="55740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2850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▶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5114544" y="3803650"/>
                <a:ext cx="1962912" cy="4693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240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產品方法動畫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5393367" y="4318000"/>
                <a:ext cx="1405267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72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 xml:space="preserve">30 </a:t>
                </a:r>
                <a:r>
                  <a:rPr lang="zh-TW" sz="172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秒</a:t>
                </a:r>
                <a:r>
                  <a:rPr lang="zh-TW" sz="172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 xml:space="preserve"> · 2 </a:t>
                </a:r>
                <a:r>
                  <a:rPr lang="zh-TW" sz="172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倍速</a:t>
                </a:r>
              </a:p>
            </p:txBody>
          </p:sp>
        </p:grpSp>
      </p:grpSp>
      <p:grpSp>
        <p:nvGrpSpPr>
          <p:cNvPr id="14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12" name="TextBox 12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02 / 09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4696587" cy="958977"/>
            <a:chOff x="593598" y="381000"/>
            <a:chExt cx="4696587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4513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FRAMEWORK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4696587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一個框架，四個連續階段</a:t>
              </a:r>
            </a:p>
          </p:txBody>
        </p:sp>
      </p:grpSp>
      <p:grpSp>
        <p:nvGrpSpPr>
          <p:cNvPr id="70" name="page-content"/>
          <p:cNvGrpSpPr/>
          <p:nvPr/>
        </p:nvGrpSpPr>
        <p:grpSpPr>
          <a:xfrm>
            <a:off x="47625" y="1504950"/>
            <a:ext cx="11991975" cy="4824857"/>
            <a:chOff x="47625" y="1504950"/>
            <a:chExt cx="11991975" cy="4824857"/>
          </a:xfrm>
        </p:grpSpPr>
        <p:sp>
          <p:nvSpPr>
            <p:cNvPr id="5" name="Rectangle 5"/>
            <p:cNvSpPr/>
            <p:nvPr/>
          </p:nvSpPr>
          <p:spPr>
            <a:xfrm>
              <a:off x="152400" y="1504950"/>
              <a:ext cx="21526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314706" y="1593850"/>
              <a:ext cx="1179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a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流量表徵</a:t>
              </a:r>
            </a:p>
          </p:txBody>
        </p:sp>
        <p:pic>
          <p:nvPicPr>
            <p:cNvPr id="7" name="Image 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9750" y="1543050"/>
              <a:ext cx="323850" cy="323850"/>
            </a:xfrm>
            <a:prstGeom prst="rect">
              <a:avLst/>
            </a:prstGeom>
          </p:spPr>
        </p:pic>
        <p:sp>
          <p:nvSpPr>
            <p:cNvPr id="8" name="TextBox 8"/>
            <p:cNvSpPr txBox="1"/>
            <p:nvPr/>
          </p:nvSpPr>
          <p:spPr>
            <a:xfrm>
              <a:off x="315849" y="2085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真實前處理張量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15468" y="2501900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5468" y="2806700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時間差・方向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16230" y="31178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遮罩欄位・流量切窗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2533650" y="1504950"/>
              <a:ext cx="9505950" cy="1952625"/>
            </a:xfrm>
            <a:prstGeom prst="roundRect">
              <a:avLst>
                <a:gd name="adj" fmla="val 3902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13" name="Image 1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86050" y="1562100"/>
              <a:ext cx="342900" cy="342900"/>
            </a:xfrm>
            <a:prstGeom prst="rect">
              <a:avLst/>
            </a:prstGeom>
          </p:spPr>
        </p:pic>
        <p:sp>
          <p:nvSpPr>
            <p:cNvPr id="14" name="TextBox 14"/>
            <p:cNvSpPr txBox="1"/>
            <p:nvPr/>
          </p:nvSpPr>
          <p:spPr>
            <a:xfrm>
              <a:off x="3115056" y="1593850"/>
              <a:ext cx="2547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b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互補模型與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17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類判定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2781300" y="201930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2943606" y="2051050"/>
              <a:ext cx="9509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2945130" y="23177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內容・時間差・方向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2781300" y="2762250"/>
              <a:ext cx="2857500" cy="571500"/>
            </a:xfrm>
            <a:prstGeom prst="roundRect">
              <a:avLst>
                <a:gd name="adj" fmla="val 13333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2943606" y="2794000"/>
              <a:ext cx="10891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945130" y="3060700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短窗位元組模式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209800"/>
              <a:ext cx="264795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486906" y="2308225"/>
              <a:ext cx="203012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87668" y="2673350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9201150" y="2209800"/>
              <a:ext cx="2628900" cy="857250"/>
            </a:xfrm>
            <a:prstGeom prst="roundRect">
              <a:avLst>
                <a:gd name="adj" fmla="val 8889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9382506" y="230822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80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類正式判定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84030" y="2698750"/>
              <a:ext cx="20688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512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維表徵＋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維機率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2305050" y="2305050"/>
              <a:ext cx="476250" cy="171450"/>
            </a:xfrm>
            <a:custGeom>
              <a:avLst/>
              <a:gdLst/>
              <a:ahLst/>
              <a:cxnLst/>
              <a:rect l="l" t="t" r="r" b="b"/>
              <a:pathLst>
                <a:path w="476250" h="171450">
                  <a:moveTo>
                    <a:pt x="0" y="171450"/>
                  </a:moveTo>
                  <a:lnTo>
                    <a:pt x="361950" y="171450"/>
                  </a:lnTo>
                  <a:lnTo>
                    <a:pt x="361950" y="0"/>
                  </a:lnTo>
                  <a:lnTo>
                    <a:pt x="4762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2714625" y="22574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2667000" y="2476500"/>
              <a:ext cx="114300" cy="571500"/>
            </a:xfrm>
            <a:custGeom>
              <a:avLst/>
              <a:gdLst/>
              <a:ahLst/>
              <a:cxnLst/>
              <a:rect l="l" t="t" r="r" b="b"/>
              <a:pathLst>
                <a:path w="114300" h="571500">
                  <a:moveTo>
                    <a:pt x="0" y="0"/>
                  </a:moveTo>
                  <a:lnTo>
                    <a:pt x="0" y="571500"/>
                  </a:lnTo>
                  <a:lnTo>
                    <a:pt x="114300" y="57150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2714625" y="30003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5638800" y="2305050"/>
              <a:ext cx="647700" cy="333375"/>
            </a:xfrm>
            <a:custGeom>
              <a:avLst/>
              <a:gdLst/>
              <a:ahLst/>
              <a:cxnLst/>
              <a:rect l="l" t="t" r="r" b="b"/>
              <a:pathLst>
                <a:path w="647700" h="333375">
                  <a:moveTo>
                    <a:pt x="0" y="0"/>
                  </a:moveTo>
                  <a:lnTo>
                    <a:pt x="314325" y="0"/>
                  </a:lnTo>
                  <a:lnTo>
                    <a:pt x="314325" y="333375"/>
                  </a:lnTo>
                  <a:lnTo>
                    <a:pt x="647700" y="33337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5638800" y="2638425"/>
              <a:ext cx="647700" cy="409575"/>
            </a:xfrm>
            <a:custGeom>
              <a:avLst/>
              <a:gdLst/>
              <a:ahLst/>
              <a:cxnLst/>
              <a:rect l="l" t="t" r="r" b="b"/>
              <a:pathLst>
                <a:path w="647700" h="409575">
                  <a:moveTo>
                    <a:pt x="0" y="409575"/>
                  </a:moveTo>
                  <a:lnTo>
                    <a:pt x="314325" y="409575"/>
                  </a:lnTo>
                  <a:lnTo>
                    <a:pt x="314325" y="0"/>
                  </a:lnTo>
                  <a:lnTo>
                    <a:pt x="647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621982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8934450" y="2638425"/>
              <a:ext cx="266700" cy="9525"/>
            </a:xfrm>
            <a:custGeom>
              <a:avLst/>
              <a:gdLst/>
              <a:ahLst/>
              <a:cxnLst/>
              <a:rect l="l" t="t" r="r" b="b"/>
              <a:pathLst>
                <a:path w="266700" h="9525">
                  <a:moveTo>
                    <a:pt x="0" y="0"/>
                  </a:moveTo>
                  <a:lnTo>
                    <a:pt x="2667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134475" y="25908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152400" y="4038600"/>
              <a:ext cx="80010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38" name="Image 3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3850" y="4095750"/>
              <a:ext cx="342900" cy="342900"/>
            </a:xfrm>
            <a:prstGeom prst="rect">
              <a:avLst/>
            </a:prstGeom>
          </p:spPr>
        </p:pic>
        <p:sp>
          <p:nvSpPr>
            <p:cNvPr id="39" name="TextBox 39"/>
            <p:cNvSpPr txBox="1"/>
            <p:nvPr/>
          </p:nvSpPr>
          <p:spPr>
            <a:xfrm>
              <a:off x="752856" y="4127500"/>
              <a:ext cx="28777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c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任務導向檢索與</a:t>
              </a:r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AI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381000" y="4591050"/>
              <a:ext cx="180975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505968" y="4711700"/>
              <a:ext cx="1538097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529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維任務向量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506730" y="5032375"/>
              <a:ext cx="97358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L2 </a:t>
              </a:r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2476500" y="4591050"/>
              <a:ext cx="23241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2601468" y="4711700"/>
              <a:ext cx="161090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Top-5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2602230" y="5032375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僅訓練資料案例庫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143500" y="4591050"/>
              <a:ext cx="2781300" cy="781050"/>
            </a:xfrm>
            <a:prstGeom prst="roundRect">
              <a:avLst>
                <a:gd name="adj" fmla="val 9756"/>
              </a:avLst>
            </a:prstGeom>
            <a:solidFill>
              <a:schemeClr val="lt1"/>
            </a:solidFill>
            <a:ln w="9525">
              <a:solidFill>
                <a:schemeClr val="accent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268468" y="4711700"/>
              <a:ext cx="13644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AI </a:t>
              </a:r>
              <a:r>
                <a:rPr lang="zh-TW" sz="1650" b="1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5269230" y="50323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49" name="Freeform 49"/>
            <p:cNvSpPr/>
            <p:nvPr/>
          </p:nvSpPr>
          <p:spPr>
            <a:xfrm>
              <a:off x="47625" y="3067050"/>
              <a:ext cx="10467975" cy="1914525"/>
            </a:xfrm>
            <a:custGeom>
              <a:avLst/>
              <a:gdLst/>
              <a:ahLst/>
              <a:cxnLst/>
              <a:rect l="l" t="t" r="r" b="b"/>
              <a:pathLst>
                <a:path w="10467975" h="1914525">
                  <a:moveTo>
                    <a:pt x="10467975" y="0"/>
                  </a:moveTo>
                  <a:lnTo>
                    <a:pt x="10467975" y="657225"/>
                  </a:lnTo>
                  <a:lnTo>
                    <a:pt x="0" y="657225"/>
                  </a:lnTo>
                  <a:lnTo>
                    <a:pt x="0" y="1914525"/>
                  </a:lnTo>
                  <a:lnTo>
                    <a:pt x="333375" y="1914525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0" name="Freeform 50"/>
            <p:cNvSpPr/>
            <p:nvPr/>
          </p:nvSpPr>
          <p:spPr>
            <a:xfrm>
              <a:off x="314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4564380" y="3435350"/>
              <a:ext cx="268224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ja-JP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正式類別・信心・模型表徵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2190750" y="4981575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3" name="Freeform 53"/>
            <p:cNvSpPr/>
            <p:nvPr/>
          </p:nvSpPr>
          <p:spPr>
            <a:xfrm>
              <a:off x="2409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4" name="Freeform 54"/>
            <p:cNvSpPr/>
            <p:nvPr/>
          </p:nvSpPr>
          <p:spPr>
            <a:xfrm>
              <a:off x="4800600" y="4981575"/>
              <a:ext cx="342900" cy="9525"/>
            </a:xfrm>
            <a:custGeom>
              <a:avLst/>
              <a:gdLst/>
              <a:ahLst/>
              <a:cxnLst/>
              <a:rect l="l" t="t" r="r" b="b"/>
              <a:pathLst>
                <a:path w="342900" h="9525">
                  <a:moveTo>
                    <a:pt x="0" y="0"/>
                  </a:moveTo>
                  <a:lnTo>
                    <a:pt x="3429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5" name="Freeform 55"/>
            <p:cNvSpPr/>
            <p:nvPr/>
          </p:nvSpPr>
          <p:spPr>
            <a:xfrm>
              <a:off x="50768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3107055" y="5499100"/>
              <a:ext cx="10248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57" name="Freeform 57"/>
            <p:cNvSpPr/>
            <p:nvPr/>
          </p:nvSpPr>
          <p:spPr>
            <a:xfrm>
              <a:off x="3619500" y="5372100"/>
              <a:ext cx="9525" cy="114300"/>
            </a:xfrm>
            <a:custGeom>
              <a:avLst/>
              <a:gdLst/>
              <a:ahLst/>
              <a:cxnLst/>
              <a:rect l="l" t="t" r="r" b="b"/>
              <a:pathLst>
                <a:path w="9525" h="114300">
                  <a:moveTo>
                    <a:pt x="0" y="1143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6B6B6B"/>
              </a:solidFill>
              <a:custDash>
                <a:ds d="250000" sp="200000"/>
              </a:custDash>
            </a:ln>
          </p:spPr>
        </p:sp>
        <p:sp>
          <p:nvSpPr>
            <p:cNvPr id="58" name="Freeform 58"/>
            <p:cNvSpPr/>
            <p:nvPr/>
          </p:nvSpPr>
          <p:spPr>
            <a:xfrm>
              <a:off x="3571875" y="537210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19050">
              <a:solidFill>
                <a:srgbClr val="6B6B6B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5269230" y="5499100"/>
              <a:ext cx="163068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稽核保留正式分類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8382000" y="4038600"/>
              <a:ext cx="3657600" cy="1771650"/>
            </a:xfrm>
            <a:prstGeom prst="roundRect">
              <a:avLst>
                <a:gd name="adj" fmla="val 4301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pic>
          <p:nvPicPr>
            <p:cNvPr id="61" name="Image 61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3450" y="4086225"/>
              <a:ext cx="342900" cy="342900"/>
            </a:xfrm>
            <a:prstGeom prst="rect">
              <a:avLst/>
            </a:prstGeom>
          </p:spPr>
        </p:pic>
        <p:sp>
          <p:nvSpPr>
            <p:cNvPr id="62" name="TextBox 62"/>
            <p:cNvSpPr txBox="1"/>
            <p:nvPr/>
          </p:nvSpPr>
          <p:spPr>
            <a:xfrm>
              <a:off x="8982456" y="4127500"/>
              <a:ext cx="1920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d </a:t>
              </a:r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受控處置與回復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601456" y="4603750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策略檢查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8601456" y="4956175"/>
              <a:ext cx="18562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到期撤銷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602980" y="5470525"/>
              <a:ext cx="19507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複核／不確定</a:t>
              </a:r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150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蒐證</a:t>
              </a:r>
            </a:p>
          </p:txBody>
        </p:sp>
        <p:sp>
          <p:nvSpPr>
            <p:cNvPr id="66" name="Freeform 66"/>
            <p:cNvSpPr/>
            <p:nvPr/>
          </p:nvSpPr>
          <p:spPr>
            <a:xfrm>
              <a:off x="7924800" y="498157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7" name="Freeform 67"/>
            <p:cNvSpPr/>
            <p:nvPr/>
          </p:nvSpPr>
          <p:spPr>
            <a:xfrm>
              <a:off x="8315325" y="4933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19050">
              <a:solidFill>
                <a:schemeClr val="accent1"/>
              </a:solidFill>
            </a:ln>
          </p:spPr>
        </p:sp>
        <p:sp>
          <p:nvSpPr>
            <p:cNvPr id="68" name="Rectangle 68"/>
            <p:cNvSpPr/>
            <p:nvPr/>
          </p:nvSpPr>
          <p:spPr>
            <a:xfrm>
              <a:off x="152400" y="5962650"/>
              <a:ext cx="11887200" cy="361950"/>
            </a:xfrm>
            <a:prstGeom prst="roundRect">
              <a:avLst>
                <a:gd name="adj" fmla="val 21053"/>
              </a:avLst>
            </a:prstGeom>
            <a:solidFill>
              <a:schemeClr val="accent3"/>
            </a:solidFill>
            <a:ln w="9525">
              <a:solidFill>
                <a:schemeClr val="accent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2822546" y="6007100"/>
              <a:ext cx="654690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共用事件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ID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：正式判定｜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Top-5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證據｜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稽核｜處置與回復回條</a:t>
              </a:r>
            </a:p>
          </p:txBody>
        </p:sp>
      </p:grpSp>
      <p:grpSp>
        <p:nvGrpSpPr>
          <p:cNvPr id="73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71" name="TextBox 71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03 / 09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120640" cy="958977"/>
            <a:chOff x="593598" y="381000"/>
            <a:chExt cx="5120640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2561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DETECTION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512064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互補模型，形成同一次判定</a:t>
              </a:r>
            </a:p>
          </p:txBody>
        </p:sp>
      </p:grpSp>
      <p:grpSp>
        <p:nvGrpSpPr>
          <p:cNvPr id="49" name="page-content"/>
          <p:cNvGrpSpPr/>
          <p:nvPr/>
        </p:nvGrpSpPr>
        <p:grpSpPr>
          <a:xfrm>
            <a:off x="609600" y="1809750"/>
            <a:ext cx="10972800" cy="4181475"/>
            <a:chOff x="609600" y="1809750"/>
            <a:chExt cx="10972800" cy="4181475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2095500" cy="3333750"/>
            </a:xfrm>
            <a:prstGeom prst="roundRect">
              <a:avLst>
                <a:gd name="adj" fmla="val 3636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09244" y="1968500"/>
              <a:ext cx="1594866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同一流量輸入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0006" y="2565400"/>
              <a:ext cx="9875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封包內容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1866900" y="25527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192405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204787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2171700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2295525" y="26098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810006" y="334645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866900" y="333375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924050" y="3390900"/>
              <a:ext cx="66675" cy="7620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2047875" y="3390900"/>
              <a:ext cx="66675" cy="10477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2171700" y="3390900"/>
              <a:ext cx="66675" cy="1333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2295525" y="3390900"/>
              <a:ext cx="66675" cy="161925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10006" y="41275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1866900" y="4114800"/>
              <a:ext cx="628650" cy="285750"/>
            </a:xfrm>
            <a:prstGeom prst="roundRect">
              <a:avLst>
                <a:gd name="adj" fmla="val 13333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192405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204787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2171700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295525" y="4171950"/>
              <a:ext cx="66675" cy="171450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5" name="Freeform 25"/>
            <p:cNvSpPr/>
            <p:nvPr/>
          </p:nvSpPr>
          <p:spPr>
            <a:xfrm>
              <a:off x="2705100" y="2571750"/>
              <a:ext cx="819150" cy="904875"/>
            </a:xfrm>
            <a:custGeom>
              <a:avLst/>
              <a:gdLst/>
              <a:ahLst/>
              <a:cxnLst/>
              <a:rect l="l" t="t" r="r" b="b"/>
              <a:pathLst>
                <a:path w="819150" h="904875">
                  <a:moveTo>
                    <a:pt x="0" y="904875"/>
                  </a:moveTo>
                  <a:lnTo>
                    <a:pt x="419100" y="904875"/>
                  </a:lnTo>
                  <a:lnTo>
                    <a:pt x="419100" y="0"/>
                  </a:lnTo>
                  <a:lnTo>
                    <a:pt x="8191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3457575" y="25241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3124200" y="3476625"/>
              <a:ext cx="400050" cy="857250"/>
            </a:xfrm>
            <a:custGeom>
              <a:avLst/>
              <a:gdLst/>
              <a:ahLst/>
              <a:cxnLst/>
              <a:rect l="l" t="t" r="r" b="b"/>
              <a:pathLst>
                <a:path w="400050" h="857250">
                  <a:moveTo>
                    <a:pt x="0" y="0"/>
                  </a:moveTo>
                  <a:lnTo>
                    <a:pt x="0" y="857250"/>
                  </a:lnTo>
                  <a:lnTo>
                    <a:pt x="400050" y="857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8" name="Freeform 28"/>
            <p:cNvSpPr/>
            <p:nvPr/>
          </p:nvSpPr>
          <p:spPr>
            <a:xfrm>
              <a:off x="3457575" y="42862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3524250" y="1866900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3740658" y="1993900"/>
              <a:ext cx="1267968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CTBM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3743706" y="2508250"/>
              <a:ext cx="22593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內容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×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時間差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×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方向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744849" y="28479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讀取流量的時序關係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3524250" y="3629025"/>
              <a:ext cx="3238500" cy="1409700"/>
            </a:xfrm>
            <a:prstGeom prst="roundRect">
              <a:avLst>
                <a:gd name="adj" fmla="val 540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740658" y="3756025"/>
              <a:ext cx="1452184" cy="4693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4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PBCNN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743706" y="4270375"/>
              <a:ext cx="195681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短視窗位元組模式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744849" y="4610100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補充局部內容特徵</a:t>
              </a:r>
            </a:p>
          </p:txBody>
        </p:sp>
        <p:sp>
          <p:nvSpPr>
            <p:cNvPr id="37" name="Freeform 37"/>
            <p:cNvSpPr/>
            <p:nvPr/>
          </p:nvSpPr>
          <p:spPr>
            <a:xfrm>
              <a:off x="6762750" y="2571750"/>
              <a:ext cx="952500" cy="904875"/>
            </a:xfrm>
            <a:custGeom>
              <a:avLst/>
              <a:gdLst/>
              <a:ahLst/>
              <a:cxnLst/>
              <a:rect l="l" t="t" r="r" b="b"/>
              <a:pathLst>
                <a:path w="952500" h="904875">
                  <a:moveTo>
                    <a:pt x="0" y="0"/>
                  </a:moveTo>
                  <a:lnTo>
                    <a:pt x="476250" y="0"/>
                  </a:lnTo>
                  <a:lnTo>
                    <a:pt x="476250" y="904875"/>
                  </a:lnTo>
                  <a:lnTo>
                    <a:pt x="952500" y="9048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648575" y="34290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6762750" y="3476625"/>
              <a:ext cx="476250" cy="857250"/>
            </a:xfrm>
            <a:custGeom>
              <a:avLst/>
              <a:gdLst/>
              <a:ahLst/>
              <a:cxnLst/>
              <a:rect l="l" t="t" r="r" b="b"/>
              <a:pathLst>
                <a:path w="476250" h="857250">
                  <a:moveTo>
                    <a:pt x="0" y="857250"/>
                  </a:moveTo>
                  <a:lnTo>
                    <a:pt x="476250" y="857250"/>
                  </a:lnTo>
                  <a:lnTo>
                    <a:pt x="476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191375" y="34766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66675"/>
                  </a:moveTo>
                  <a:lnTo>
                    <a:pt x="47625" y="0"/>
                  </a:lnTo>
                  <a:lnTo>
                    <a:pt x="95250" y="666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7715250" y="2600325"/>
              <a:ext cx="3867150" cy="1714500"/>
            </a:xfrm>
            <a:prstGeom prst="roundRect">
              <a:avLst>
                <a:gd name="adj" fmla="val 4444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7941945" y="2768600"/>
              <a:ext cx="2537656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校準＋</a:t>
              </a:r>
              <a:r>
                <a:rPr lang="en-US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OOF Gate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943850" y="3248025"/>
              <a:ext cx="1790649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依事件證據融合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944612" y="370840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形成同一次正式判定</a:t>
              </a:r>
            </a:p>
          </p:txBody>
        </p:sp>
        <p:sp>
          <p:nvSpPr>
            <p:cNvPr id="45" name="Freeform 45"/>
            <p:cNvSpPr/>
            <p:nvPr/>
          </p:nvSpPr>
          <p:spPr>
            <a:xfrm>
              <a:off x="9648825" y="4314825"/>
              <a:ext cx="9525" cy="1066800"/>
            </a:xfrm>
            <a:custGeom>
              <a:avLst/>
              <a:gdLst/>
              <a:ahLst/>
              <a:cxnLst/>
              <a:rect l="l" t="t" r="r" b="b"/>
              <a:pathLst>
                <a:path w="9525" h="1066800">
                  <a:moveTo>
                    <a:pt x="0" y="0"/>
                  </a:moveTo>
                  <a:lnTo>
                    <a:pt x="0" y="10668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601200" y="5314950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9600" y="5381625"/>
              <a:ext cx="10972800" cy="609600"/>
            </a:xfrm>
            <a:prstGeom prst="roundRect">
              <a:avLst>
                <a:gd name="adj" fmla="val 125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28675" y="5534025"/>
              <a:ext cx="608355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類判定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校準信心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模型表徵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後段檢索與稽核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50" name="TextBox 50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04 / 09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968746" cy="958977"/>
            <a:chOff x="593598" y="381000"/>
            <a:chExt cx="5968746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1063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EVIDENCE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把偵測表徵，變成可核對的證據</a:t>
              </a:r>
            </a:p>
          </p:txBody>
        </p:sp>
      </p:grpSp>
      <p:grpSp>
        <p:nvGrpSpPr>
          <p:cNvPr id="57" name="page-content"/>
          <p:cNvGrpSpPr/>
          <p:nvPr/>
        </p:nvGrpSpPr>
        <p:grpSpPr>
          <a:xfrm>
            <a:off x="600456" y="1612900"/>
            <a:ext cx="10981944" cy="4504944"/>
            <a:chOff x="600456" y="1612900"/>
            <a:chExt cx="10981944" cy="4504944"/>
          </a:xfrm>
        </p:grpSpPr>
        <p:sp>
          <p:nvSpPr>
            <p:cNvPr id="5" name="TextBox 5"/>
            <p:cNvSpPr txBox="1"/>
            <p:nvPr/>
          </p:nvSpPr>
          <p:spPr>
            <a:xfrm>
              <a:off x="60083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01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組合任務向量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152650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1008888" y="2374900"/>
              <a:ext cx="167792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512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維流量表徵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84972" y="2911475"/>
              <a:ext cx="3257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09600" y="3400425"/>
              <a:ext cx="2476500" cy="714375"/>
            </a:xfrm>
            <a:prstGeom prst="roundRect">
              <a:avLst>
                <a:gd name="adj" fmla="val 10667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072896" y="3622675"/>
              <a:ext cx="15499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維類別機率</a:t>
              </a:r>
            </a:p>
          </p:txBody>
        </p:sp>
        <p:sp>
          <p:nvSpPr>
            <p:cNvPr id="11" name="Freeform 11"/>
            <p:cNvSpPr/>
            <p:nvPr/>
          </p:nvSpPr>
          <p:spPr>
            <a:xfrm>
              <a:off x="1847850" y="2514600"/>
              <a:ext cx="1485900" cy="2038350"/>
            </a:xfrm>
            <a:custGeom>
              <a:avLst/>
              <a:gdLst/>
              <a:ahLst/>
              <a:cxnLst/>
              <a:rect l="l" t="t" r="r" b="b"/>
              <a:pathLst>
                <a:path w="1485900" h="2038350">
                  <a:moveTo>
                    <a:pt x="1238250" y="0"/>
                  </a:moveTo>
                  <a:lnTo>
                    <a:pt x="1485900" y="0"/>
                  </a:lnTo>
                  <a:lnTo>
                    <a:pt x="1485900" y="1866900"/>
                  </a:lnTo>
                  <a:lnTo>
                    <a:pt x="0" y="1866900"/>
                  </a:lnTo>
                  <a:lnTo>
                    <a:pt x="0" y="20383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3" name="Freeform 13"/>
            <p:cNvSpPr/>
            <p:nvPr/>
          </p:nvSpPr>
          <p:spPr>
            <a:xfrm>
              <a:off x="1847850" y="4114800"/>
              <a:ext cx="9525" cy="438150"/>
            </a:xfrm>
            <a:custGeom>
              <a:avLst/>
              <a:gdLst/>
              <a:ahLst/>
              <a:cxnLst/>
              <a:rect l="l" t="t" r="r" b="b"/>
              <a:pathLst>
                <a:path w="9525" h="438150">
                  <a:moveTo>
                    <a:pt x="0" y="0"/>
                  </a:moveTo>
                  <a:lnTo>
                    <a:pt x="0" y="4381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1800225" y="44862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Rectangle 15"/>
            <p:cNvSpPr/>
            <p:nvPr/>
          </p:nvSpPr>
          <p:spPr>
            <a:xfrm>
              <a:off x="609600" y="4552950"/>
              <a:ext cx="2476500" cy="933450"/>
            </a:xfrm>
            <a:prstGeom prst="roundRect">
              <a:avLst>
                <a:gd name="adj" fmla="val 816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938974" y="4721225"/>
              <a:ext cx="1817751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529 </a:t>
              </a:r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維任務向量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35120" y="5105400"/>
              <a:ext cx="10254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L2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正規化</a:t>
              </a:r>
            </a:p>
          </p:txBody>
        </p:sp>
        <p:sp>
          <p:nvSpPr>
            <p:cNvPr id="18" name="Freeform 18"/>
            <p:cNvSpPr/>
            <p:nvPr/>
          </p:nvSpPr>
          <p:spPr>
            <a:xfrm>
              <a:off x="3086100" y="3076575"/>
              <a:ext cx="1009650" cy="1943100"/>
            </a:xfrm>
            <a:custGeom>
              <a:avLst/>
              <a:gdLst/>
              <a:ahLst/>
              <a:cxnLst/>
              <a:rect l="l" t="t" r="r" b="b"/>
              <a:pathLst>
                <a:path w="1009650" h="1943100">
                  <a:moveTo>
                    <a:pt x="0" y="1943100"/>
                  </a:moveTo>
                  <a:lnTo>
                    <a:pt x="628650" y="1943100"/>
                  </a:lnTo>
                  <a:lnTo>
                    <a:pt x="628650" y="0"/>
                  </a:lnTo>
                  <a:lnTo>
                    <a:pt x="10096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4029075" y="30289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086987" y="1612900"/>
              <a:ext cx="171262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02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找出相似案例</a:t>
              </a:r>
            </a:p>
          </p:txBody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29100" y="2028825"/>
              <a:ext cx="1285875" cy="1285875"/>
            </a:xfrm>
            <a:prstGeom prst="rect">
              <a:avLst/>
            </a:prstGeom>
          </p:spPr>
        </p:pic>
        <p:sp>
          <p:nvSpPr>
            <p:cNvPr id="22" name="TextBox 22"/>
            <p:cNvSpPr txBox="1"/>
            <p:nvPr/>
          </p:nvSpPr>
          <p:spPr>
            <a:xfrm>
              <a:off x="5762625" y="2143125"/>
              <a:ext cx="128447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訓練案例庫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763768" y="2520950"/>
              <a:ext cx="126987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1,550 </a:t>
              </a:r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筆案例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0957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2892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7244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9179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2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53530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5465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98170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17524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610350" y="3714750"/>
              <a:ext cx="533400" cy="85725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 w="9525">
              <a:solidFill>
                <a:schemeClr val="accent1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803898" y="4013200"/>
              <a:ext cx="1463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5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086225" y="4724400"/>
              <a:ext cx="180319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Top-5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相似案例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087749" y="51149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只檢索訓練資料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7200900" y="2819400"/>
              <a:ext cx="895350" cy="1323975"/>
            </a:xfrm>
            <a:custGeom>
              <a:avLst/>
              <a:gdLst/>
              <a:ahLst/>
              <a:cxnLst/>
              <a:rect l="l" t="t" r="r" b="b"/>
              <a:pathLst>
                <a:path w="895350" h="1323975">
                  <a:moveTo>
                    <a:pt x="0" y="1323975"/>
                  </a:moveTo>
                  <a:lnTo>
                    <a:pt x="419100" y="1323975"/>
                  </a:lnTo>
                  <a:lnTo>
                    <a:pt x="419100" y="0"/>
                  </a:lnTo>
                  <a:lnTo>
                    <a:pt x="8953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8029575" y="277177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087487" y="1612900"/>
              <a:ext cx="172824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03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AI </a:t>
              </a:r>
              <a:r>
                <a:rPr lang="zh-TW" sz="17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096250" y="2286000"/>
              <a:ext cx="3486150" cy="1066800"/>
            </a:xfrm>
            <a:prstGeom prst="roundRect">
              <a:avLst>
                <a:gd name="adj" fmla="val 7143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8910638" y="2501900"/>
              <a:ext cx="1857375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判定＋案例證據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64574" y="28924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6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核對同一事件</a:t>
              </a:r>
            </a:p>
          </p:txBody>
        </p:sp>
        <p:sp>
          <p:nvSpPr>
            <p:cNvPr id="42" name="Freeform 42"/>
            <p:cNvSpPr/>
            <p:nvPr/>
          </p:nvSpPr>
          <p:spPr>
            <a:xfrm>
              <a:off x="8658225" y="3352800"/>
              <a:ext cx="1181100" cy="361950"/>
            </a:xfrm>
            <a:custGeom>
              <a:avLst/>
              <a:gdLst/>
              <a:ahLst/>
              <a:cxnLst/>
              <a:rect l="l" t="t" r="r" b="b"/>
              <a:pathLst>
                <a:path w="1181100" h="361950">
                  <a:moveTo>
                    <a:pt x="1181100" y="0"/>
                  </a:moveTo>
                  <a:lnTo>
                    <a:pt x="1181100" y="180975"/>
                  </a:lnTo>
                  <a:lnTo>
                    <a:pt x="0" y="180975"/>
                  </a:ln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3" name="Freeform 43"/>
            <p:cNvSpPr/>
            <p:nvPr/>
          </p:nvSpPr>
          <p:spPr>
            <a:xfrm>
              <a:off x="86106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4" name="Freeform 44"/>
            <p:cNvSpPr/>
            <p:nvPr/>
          </p:nvSpPr>
          <p:spPr>
            <a:xfrm>
              <a:off x="9839325" y="3533775"/>
              <a:ext cx="9525" cy="180975"/>
            </a:xfrm>
            <a:custGeom>
              <a:avLst/>
              <a:gdLst/>
              <a:ahLst/>
              <a:cxnLst/>
              <a:rect l="l" t="t" r="r" b="b"/>
              <a:pathLst>
                <a:path w="9525" h="180975">
                  <a:moveTo>
                    <a:pt x="0" y="0"/>
                  </a:moveTo>
                  <a:lnTo>
                    <a:pt x="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5" name="Freeform 45"/>
            <p:cNvSpPr/>
            <p:nvPr/>
          </p:nvSpPr>
          <p:spPr>
            <a:xfrm>
              <a:off x="97917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6" name="Freeform 46"/>
            <p:cNvSpPr/>
            <p:nvPr/>
          </p:nvSpPr>
          <p:spPr>
            <a:xfrm>
              <a:off x="9839325" y="3533775"/>
              <a:ext cx="1181100" cy="180975"/>
            </a:xfrm>
            <a:custGeom>
              <a:avLst/>
              <a:gdLst/>
              <a:ahLst/>
              <a:cxnLst/>
              <a:rect l="l" t="t" r="r" b="b"/>
              <a:pathLst>
                <a:path w="1181100" h="180975">
                  <a:moveTo>
                    <a:pt x="0" y="0"/>
                  </a:moveTo>
                  <a:lnTo>
                    <a:pt x="1181100" y="0"/>
                  </a:lnTo>
                  <a:lnTo>
                    <a:pt x="1181100" y="180975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7" name="Freeform 47"/>
            <p:cNvSpPr/>
            <p:nvPr/>
          </p:nvSpPr>
          <p:spPr>
            <a:xfrm>
              <a:off x="10972800" y="364807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80962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84067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92773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9587865" y="3898900"/>
              <a:ext cx="50292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10458450" y="3714750"/>
              <a:ext cx="1123950" cy="619125"/>
            </a:xfrm>
            <a:prstGeom prst="roundRect">
              <a:avLst>
                <a:gd name="adj" fmla="val 1230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10647807" y="3898900"/>
              <a:ext cx="74523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086725" y="4724400"/>
              <a:ext cx="1537564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保留正式分類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088249" y="511492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稽核結論附回事件紀錄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00456" y="5765800"/>
              <a:ext cx="5270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ID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：分類結果與檢索證據一路可追溯。</a:t>
              </a:r>
            </a:p>
          </p:txBody>
        </p:sp>
      </p:grpSp>
      <p:grpSp>
        <p:nvGrpSpPr>
          <p:cNvPr id="60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58" name="TextBox 58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05 / 09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6392799" cy="958977"/>
            <a:chOff x="593598" y="381000"/>
            <a:chExt cx="6392799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10601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CONTROL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6392799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受控執行，留下可回復的處置紀錄</a:t>
              </a:r>
            </a:p>
          </p:txBody>
        </p:sp>
      </p:grpSp>
      <p:grpSp>
        <p:nvGrpSpPr>
          <p:cNvPr id="33" name="page-content"/>
          <p:cNvGrpSpPr/>
          <p:nvPr/>
        </p:nvGrpSpPr>
        <p:grpSpPr>
          <a:xfrm>
            <a:off x="609600" y="2190750"/>
            <a:ext cx="10972800" cy="3905250"/>
            <a:chOff x="609600" y="2190750"/>
            <a:chExt cx="10972800" cy="3905250"/>
          </a:xfrm>
        </p:grpSpPr>
        <p:sp>
          <p:nvSpPr>
            <p:cNvPr id="5" name="Rectangle 5"/>
            <p:cNvSpPr/>
            <p:nvPr/>
          </p:nvSpPr>
          <p:spPr>
            <a:xfrm>
              <a:off x="6096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3058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01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267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政策檢查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01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ja-JP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範圍・白名單・期限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813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432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4099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63093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271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套用規則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30549" y="3457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受允許策略才執行</a:t>
              </a:r>
            </a:p>
          </p:txBody>
        </p:sp>
        <p:sp>
          <p:nvSpPr>
            <p:cNvPr id="15" name="Freeform 15"/>
            <p:cNvSpPr/>
            <p:nvPr/>
          </p:nvSpPr>
          <p:spPr>
            <a:xfrm>
              <a:off x="598170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614362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21030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43128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2747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讀回驗證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3089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確認規則及事件回條</a:t>
              </a:r>
            </a:p>
          </p:txBody>
        </p:sp>
        <p:sp>
          <p:nvSpPr>
            <p:cNvPr id="21" name="Freeform 21"/>
            <p:cNvSpPr/>
            <p:nvPr/>
          </p:nvSpPr>
          <p:spPr>
            <a:xfrm>
              <a:off x="8782050" y="3143250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8943975" y="3095625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9010650" y="2190750"/>
              <a:ext cx="2571750" cy="1905000"/>
            </a:xfrm>
            <a:prstGeom prst="roundRect">
              <a:avLst>
                <a:gd name="adj" fmla="val 400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9231630" y="2384425"/>
              <a:ext cx="2286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227820" y="28733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到期回復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231249" y="34575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撤銷並確認服務恢復</a:t>
              </a:r>
            </a:p>
          </p:txBody>
        </p:sp>
        <p:sp>
          <p:nvSpPr>
            <p:cNvPr id="27" name="Freeform 27"/>
            <p:cNvSpPr/>
            <p:nvPr/>
          </p:nvSpPr>
          <p:spPr>
            <a:xfrm>
              <a:off x="1895475" y="4095750"/>
              <a:ext cx="2143125" cy="714375"/>
            </a:xfrm>
            <a:custGeom>
              <a:avLst/>
              <a:gdLst/>
              <a:ahLst/>
              <a:cxnLst/>
              <a:rect l="l" t="t" r="r" b="b"/>
              <a:pathLst>
                <a:path w="2143125" h="714375">
                  <a:moveTo>
                    <a:pt x="0" y="0"/>
                  </a:moveTo>
                  <a:lnTo>
                    <a:pt x="0" y="714375"/>
                  </a:lnTo>
                  <a:lnTo>
                    <a:pt x="2143125" y="714375"/>
                  </a:lnTo>
                </a:path>
              </a:pathLst>
            </a:custGeom>
            <a:noFill/>
            <a:ln w="23812">
              <a:solidFill>
                <a:srgbClr val="6B6B6B"/>
              </a:solidFill>
              <a:custDash>
                <a:ds d="240000" sp="200000"/>
              </a:custDash>
            </a:ln>
          </p:spPr>
        </p:sp>
        <p:sp>
          <p:nvSpPr>
            <p:cNvPr id="28" name="Freeform 28"/>
            <p:cNvSpPr/>
            <p:nvPr/>
          </p:nvSpPr>
          <p:spPr>
            <a:xfrm>
              <a:off x="3971925" y="476250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rgbClr val="6B6B6B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4038600" y="4505325"/>
              <a:ext cx="7543800" cy="647700"/>
            </a:xfrm>
            <a:prstGeom prst="roundRect">
              <a:avLst>
                <a:gd name="adj" fmla="val 11765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4257675" y="4686300"/>
              <a:ext cx="497570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複核／不確定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監測或蒐證，保留事件紀錄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" y="5467350"/>
              <a:ext cx="10972800" cy="628650"/>
            </a:xfrm>
            <a:prstGeom prst="roundRect">
              <a:avLst>
                <a:gd name="adj" fmla="val 12121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29818" y="5654675"/>
              <a:ext cx="778800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6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種隔離</a:t>
              </a:r>
              <a:r>
                <a:rPr lang="en-US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TCP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情境：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4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種套用規則、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2 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種監測或蒐證；背景保留與回復皆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6/6</a:t>
              </a:r>
              <a:r>
                <a:rPr lang="zh-TW" sz="16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。</a:t>
              </a:r>
            </a:p>
          </p:txBody>
        </p:sp>
      </p:grpSp>
      <p:grpSp>
        <p:nvGrpSpPr>
          <p:cNvPr id="36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34" name="TextBox 34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06 / 09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544693" cy="958977"/>
            <a:chOff x="593598" y="381000"/>
            <a:chExt cx="5544693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21948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5544693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互補融合，提升整體辨識效果</a:t>
              </a:r>
            </a:p>
          </p:txBody>
        </p:sp>
      </p:grpSp>
      <p:grpSp>
        <p:nvGrpSpPr>
          <p:cNvPr id="28" name="page-content"/>
          <p:cNvGrpSpPr/>
          <p:nvPr/>
        </p:nvGrpSpPr>
        <p:grpSpPr>
          <a:xfrm>
            <a:off x="600837" y="1498600"/>
            <a:ext cx="10981563" cy="4642676"/>
            <a:chOff x="600837" y="1498600"/>
            <a:chExt cx="10981563" cy="4642676"/>
          </a:xfrm>
        </p:grpSpPr>
        <p:sp>
          <p:nvSpPr>
            <p:cNvPr id="5" name="TextBox 5"/>
            <p:cNvSpPr txBox="1"/>
            <p:nvPr/>
          </p:nvSpPr>
          <p:spPr>
            <a:xfrm>
              <a:off x="600837" y="1498600"/>
              <a:ext cx="370007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相同</a:t>
              </a:r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18,998 </a:t>
              </a:r>
              <a:r>
                <a:rPr lang="zh-TW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筆封存測試</a:t>
              </a:r>
              <a:r>
                <a:rPr lang="en-US" sz="172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Macro-F1</a:t>
              </a:r>
            </a:p>
          </p:txBody>
        </p:sp>
        <p:grpSp>
          <p:nvGrpSpPr>
            <p:cNvPr id="21" name="detector-comparison-chartArea"/>
            <p:cNvGrpSpPr/>
            <p:nvPr/>
          </p:nvGrpSpPr>
          <p:grpSpPr>
            <a:xfrm>
              <a:off x="600837" y="2095500"/>
              <a:ext cx="7983329" cy="3592195"/>
              <a:chOff x="600837" y="2095500"/>
              <a:chExt cx="7983329" cy="3592195"/>
            </a:xfrm>
          </p:grpSpPr>
          <p:sp>
            <p:nvSpPr>
              <p:cNvPr id="6" name="Line 6"/>
              <p:cNvSpPr/>
              <p:nvPr/>
            </p:nvSpPr>
            <p:spPr>
              <a:xfrm>
                <a:off x="190500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1755176" y="5394325"/>
                <a:ext cx="29964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0%</a:t>
                </a:r>
              </a:p>
            </p:txBody>
          </p:sp>
          <p:sp>
            <p:nvSpPr>
              <p:cNvPr id="8" name="Line 8"/>
              <p:cNvSpPr/>
              <p:nvPr/>
            </p:nvSpPr>
            <p:spPr>
              <a:xfrm>
                <a:off x="5000625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9" name="TextBox 9"/>
              <p:cNvSpPr txBox="1"/>
              <p:nvPr/>
            </p:nvSpPr>
            <p:spPr>
              <a:xfrm>
                <a:off x="4797461" y="5394325"/>
                <a:ext cx="40632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50%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8096250" y="2095500"/>
                <a:ext cx="9525" cy="31432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143250">
                    <a:moveTo>
                      <a:pt x="0" y="0"/>
                    </a:moveTo>
                    <a:lnTo>
                      <a:pt x="0" y="3143250"/>
                    </a:lnTo>
                  </a:path>
                </a:pathLst>
              </a:custGeom>
              <a:noFill/>
              <a:ln w="9525">
                <a:solidFill>
                  <a:srgbClr val="DDE5ED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7839746" y="5394325"/>
                <a:ext cx="513009" cy="2933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TW" sz="1500" dirty="0">
                    <a:solidFill>
                      <a:schemeClr val="accent5"/>
                    </a:solidFill>
                    <a:latin typeface="Times New Roman"/>
                    <a:ea typeface="DFKai-SB"/>
                    <a:cs typeface="Times New Roman"/>
                  </a:rPr>
                  <a:t>100%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600837" y="2479675"/>
                <a:ext cx="1008164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PBCNN</a:t>
                </a:r>
              </a:p>
            </p:txBody>
          </p:sp>
          <p:sp>
            <p:nvSpPr>
              <p:cNvPr id="13" name="Rectangle 13"/>
              <p:cNvSpPr/>
              <p:nvPr/>
            </p:nvSpPr>
            <p:spPr>
              <a:xfrm>
                <a:off x="1905000" y="2419350"/>
                <a:ext cx="4937396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4" name="TextBox 14"/>
              <p:cNvSpPr txBox="1"/>
              <p:nvPr/>
            </p:nvSpPr>
            <p:spPr>
              <a:xfrm>
                <a:off x="6947933" y="24796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79.75%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600837" y="3527425"/>
                <a:ext cx="859446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CTBM</a:t>
                </a:r>
              </a:p>
            </p:txBody>
          </p:sp>
          <p:sp>
            <p:nvSpPr>
              <p:cNvPr id="16" name="Rectangle 16"/>
              <p:cNvSpPr/>
              <p:nvPr/>
            </p:nvSpPr>
            <p:spPr>
              <a:xfrm>
                <a:off x="1905000" y="3467100"/>
                <a:ext cx="5702313" cy="400050"/>
              </a:xfrm>
              <a:prstGeom prst="rect">
                <a:avLst/>
              </a:prstGeom>
              <a:solidFill>
                <a:srgbClr val="9ABDE0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7712850" y="352742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rgbClr val="121314"/>
                    </a:solidFill>
                    <a:latin typeface="Times New Roman"/>
                    <a:ea typeface="DFKai-SB"/>
                    <a:cs typeface="Times New Roman"/>
                  </a:rPr>
                  <a:t>92.10%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00837" y="4575175"/>
                <a:ext cx="1245309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OOF Gate</a:t>
                </a:r>
              </a:p>
            </p:txBody>
          </p:sp>
          <p:sp>
            <p:nvSpPr>
              <p:cNvPr id="19" name="Rectangle 19"/>
              <p:cNvSpPr/>
              <p:nvPr/>
            </p:nvSpPr>
            <p:spPr>
              <a:xfrm>
                <a:off x="1905000" y="4514850"/>
                <a:ext cx="5760981" cy="40005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7771518" y="4575175"/>
                <a:ext cx="812648" cy="3373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TW" sz="1720" b="1" dirty="0">
                    <a:solidFill>
                      <a:schemeClr val="accent1"/>
                    </a:solidFill>
                    <a:latin typeface="Times New Roman"/>
                    <a:ea typeface="DFKai-SB"/>
                    <a:cs typeface="Times New Roman"/>
                  </a:rPr>
                  <a:t>93.05%</a:t>
                </a:r>
              </a:p>
            </p:txBody>
          </p:sp>
        </p:grpSp>
        <p:sp>
          <p:nvSpPr>
            <p:cNvPr id="22" name="Rectangle 22"/>
            <p:cNvSpPr/>
            <p:nvPr/>
          </p:nvSpPr>
          <p:spPr>
            <a:xfrm>
              <a:off x="9077325" y="2105025"/>
              <a:ext cx="2505075" cy="3133725"/>
            </a:xfrm>
            <a:prstGeom prst="roundRect">
              <a:avLst>
                <a:gd name="adj" fmla="val 3042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9305544" y="2387600"/>
              <a:ext cx="133235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整體準確率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9297162" y="3041650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98.08%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305925" y="3819525"/>
              <a:ext cx="111257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類分類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307449" y="43719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同一封存測試集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00837" y="5803900"/>
              <a:ext cx="800135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融合相較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PBCNN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13.30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個百分點；相較</a:t>
              </a:r>
              <a:r>
                <a:rPr lang="en-US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CTBM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提升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0.95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個百分點。</a:t>
              </a:r>
            </a:p>
          </p:txBody>
        </p:sp>
      </p:grpSp>
      <p:grpSp>
        <p:nvGrpSpPr>
          <p:cNvPr id="31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9" name="TextBox 29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07 / 09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270688" cy="958977"/>
            <a:chOff x="593598" y="381000"/>
            <a:chExt cx="5270688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219480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MEASURED RESULTS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52706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案例提供證據，</a:t>
              </a:r>
              <a:r>
                <a:rPr lang="en-US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AI</a:t>
              </a:r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完成分流</a:t>
              </a:r>
            </a:p>
          </p:txBody>
        </p:sp>
      </p:grpSp>
      <p:grpSp>
        <p:nvGrpSpPr>
          <p:cNvPr id="32" name="page-content"/>
          <p:cNvGrpSpPr/>
          <p:nvPr/>
        </p:nvGrpSpPr>
        <p:grpSpPr>
          <a:xfrm>
            <a:off x="609600" y="1809750"/>
            <a:ext cx="10972800" cy="4333875"/>
            <a:chOff x="609600" y="1809750"/>
            <a:chExt cx="10972800" cy="4333875"/>
          </a:xfrm>
        </p:grpSpPr>
        <p:sp>
          <p:nvSpPr>
            <p:cNvPr id="5" name="Rectangle 5"/>
            <p:cNvSpPr/>
            <p:nvPr/>
          </p:nvSpPr>
          <p:spPr>
            <a:xfrm>
              <a:off x="609600" y="1809750"/>
              <a:ext cx="3448050" cy="3514725"/>
            </a:xfrm>
            <a:prstGeom prst="roundRect">
              <a:avLst>
                <a:gd name="adj" fmla="val 2210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828675" y="1981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檢索效果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819912" y="2498725"/>
              <a:ext cx="161526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6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97.62%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29056" y="3089275"/>
              <a:ext cx="14841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Top-5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命中率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21436" y="3651250"/>
              <a:ext cx="148066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30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93.89%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829056" y="4194175"/>
              <a:ext cx="219821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MRR@5 </a:t>
              </a:r>
              <a:r>
                <a:rPr lang="zh-TW" sz="180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排序品質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0199" y="4829175"/>
              <a:ext cx="203464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1,550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案例／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463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查詢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905375" y="1809750"/>
              <a:ext cx="5867400" cy="666750"/>
            </a:xfrm>
            <a:prstGeom prst="roundRect">
              <a:avLst>
                <a:gd name="adj" fmla="val 11429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6129018" y="1987550"/>
              <a:ext cx="3420115" cy="396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463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筆事件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→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本機</a:t>
              </a:r>
              <a:r>
                <a:rPr lang="en-US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 xml:space="preserve"> AI </a:t>
              </a:r>
              <a:r>
                <a:rPr lang="zh-TW" sz="202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486400" y="2476500"/>
              <a:ext cx="2352675" cy="723900"/>
            </a:xfrm>
            <a:custGeom>
              <a:avLst/>
              <a:gdLst/>
              <a:ahLst/>
              <a:cxnLst/>
              <a:rect l="l" t="t" r="r" b="b"/>
              <a:pathLst>
                <a:path w="2352675" h="723900">
                  <a:moveTo>
                    <a:pt x="2352675" y="0"/>
                  </a:moveTo>
                  <a:lnTo>
                    <a:pt x="2352675" y="361950"/>
                  </a:lnTo>
                  <a:lnTo>
                    <a:pt x="0" y="361950"/>
                  </a:lnTo>
                  <a:lnTo>
                    <a:pt x="0" y="72390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543877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7839075" y="2838450"/>
              <a:ext cx="9525" cy="361950"/>
            </a:xfrm>
            <a:custGeom>
              <a:avLst/>
              <a:gdLst/>
              <a:ahLst/>
              <a:cxnLst/>
              <a:rect l="l" t="t" r="r" b="b"/>
              <a:pathLst>
                <a:path w="9525" h="361950">
                  <a:moveTo>
                    <a:pt x="0" y="0"/>
                  </a:moveTo>
                  <a:lnTo>
                    <a:pt x="0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7" name="Freeform 17"/>
            <p:cNvSpPr/>
            <p:nvPr/>
          </p:nvSpPr>
          <p:spPr>
            <a:xfrm>
              <a:off x="7791450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7839075" y="2838450"/>
              <a:ext cx="2352675" cy="361950"/>
            </a:xfrm>
            <a:custGeom>
              <a:avLst/>
              <a:gdLst/>
              <a:ahLst/>
              <a:cxnLst/>
              <a:rect l="l" t="t" r="r" b="b"/>
              <a:pathLst>
                <a:path w="2352675" h="361950">
                  <a:moveTo>
                    <a:pt x="0" y="0"/>
                  </a:moveTo>
                  <a:lnTo>
                    <a:pt x="2352675" y="0"/>
                  </a:lnTo>
                  <a:lnTo>
                    <a:pt x="2352675" y="3619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9" name="Freeform 19"/>
            <p:cNvSpPr/>
            <p:nvPr/>
          </p:nvSpPr>
          <p:spPr>
            <a:xfrm>
              <a:off x="10144125" y="3133725"/>
              <a:ext cx="95250" cy="66675"/>
            </a:xfrm>
            <a:custGeom>
              <a:avLst/>
              <a:gdLst/>
              <a:ahLst/>
              <a:cxnLst/>
              <a:rect l="l" t="t" r="r" b="b"/>
              <a:pathLst>
                <a:path w="95250" h="66675">
                  <a:moveTo>
                    <a:pt x="0" y="0"/>
                  </a:moveTo>
                  <a:lnTo>
                    <a:pt x="47625" y="66675"/>
                  </a:lnTo>
                  <a:lnTo>
                    <a:pt x="9525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47675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5134356" y="3381375"/>
              <a:ext cx="704088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415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223789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829425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599045" y="3381375"/>
              <a:ext cx="48006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13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76464" y="4029075"/>
              <a:ext cx="525221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複核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9182100" y="3200400"/>
              <a:ext cx="2019300" cy="1438275"/>
            </a:xfrm>
            <a:prstGeom prst="roundRect">
              <a:avLst>
                <a:gd name="adj" fmla="val 5298"/>
              </a:avLst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9951720" y="3381375"/>
              <a:ext cx="480060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3150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35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802597" y="4029075"/>
              <a:ext cx="778307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不確定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67987" y="4908550"/>
              <a:ext cx="427839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支持精確率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97.11% · </a:t>
              </a:r>
              <a:r>
                <a:rPr lang="zh-TW" sz="172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正式分類保持可追溯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9600" y="5562600"/>
              <a:ext cx="10972800" cy="581025"/>
            </a:xfrm>
            <a:prstGeom prst="roundRect">
              <a:avLst>
                <a:gd name="adj" fmla="val 13115"/>
              </a:avLst>
            </a:prstGeom>
            <a:solidFill>
              <a:srgbClr val="EAF3F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8675" y="5715000"/>
              <a:ext cx="6797718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18 / 30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偵測誤判分流至複核或不確定；其餘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12 </a:t>
              </a:r>
              <a:r>
                <a:rPr lang="zh-TW" sz="188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筆仍獲支持。</a:t>
              </a:r>
            </a:p>
          </p:txBody>
        </p:sp>
      </p:grpSp>
      <p:grpSp>
        <p:nvGrpSpPr>
          <p:cNvPr id="35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33" name="TextBox 33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08 / 09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headline"/>
          <p:cNvGrpSpPr/>
          <p:nvPr/>
        </p:nvGrpSpPr>
        <p:grpSpPr>
          <a:xfrm>
            <a:off x="593598" y="381000"/>
            <a:ext cx="5968746" cy="958977"/>
            <a:chOff x="593598" y="381000"/>
            <a:chExt cx="5968746" cy="958977"/>
          </a:xfrm>
        </p:grpSpPr>
        <p:sp>
          <p:nvSpPr>
            <p:cNvPr id="2" name="TextBox 2"/>
            <p:cNvSpPr txBox="1"/>
            <p:nvPr/>
          </p:nvSpPr>
          <p:spPr>
            <a:xfrm>
              <a:off x="603504" y="381000"/>
              <a:ext cx="285655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AI SECURITY FRAMEWORK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3598" y="723900"/>
              <a:ext cx="5968746" cy="61607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315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一套可展示、可查核的資安框架</a:t>
              </a:r>
            </a:p>
          </p:txBody>
        </p:sp>
      </p:grpSp>
      <p:grpSp>
        <p:nvGrpSpPr>
          <p:cNvPr id="27" name="page-content"/>
          <p:cNvGrpSpPr/>
          <p:nvPr/>
        </p:nvGrpSpPr>
        <p:grpSpPr>
          <a:xfrm>
            <a:off x="595884" y="1527175"/>
            <a:ext cx="10986516" cy="4527931"/>
            <a:chOff x="595884" y="1527175"/>
            <a:chExt cx="10986516" cy="4527931"/>
          </a:xfrm>
        </p:grpSpPr>
        <p:sp>
          <p:nvSpPr>
            <p:cNvPr id="5" name="TextBox 5"/>
            <p:cNvSpPr txBox="1"/>
            <p:nvPr/>
          </p:nvSpPr>
          <p:spPr>
            <a:xfrm>
              <a:off x="595884" y="1527175"/>
              <a:ext cx="6569964" cy="5280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700" dirty="0">
                  <a:solidFill>
                    <a:srgbClr val="121314"/>
                  </a:solidFill>
                  <a:latin typeface="Times New Roman"/>
                  <a:ea typeface="DFKai-SB"/>
                  <a:cs typeface="Times New Roman"/>
                </a:rPr>
                <a:t>偵測有依據，稽核有證據，處置可回復。</a:t>
              </a:r>
            </a:p>
          </p:txBody>
        </p:sp>
        <p:sp>
          <p:nvSpPr>
            <p:cNvPr id="6" name="Rectangle 6"/>
            <p:cNvSpPr/>
            <p:nvPr/>
          </p:nvSpPr>
          <p:spPr>
            <a:xfrm>
              <a:off x="6096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267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正式判定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0199" y="3705225"/>
              <a:ext cx="114772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類＋信心</a:t>
              </a:r>
            </a:p>
          </p:txBody>
        </p:sp>
        <p:sp>
          <p:nvSpPr>
            <p:cNvPr id="9" name="Freeform 9"/>
            <p:cNvSpPr/>
            <p:nvPr/>
          </p:nvSpPr>
          <p:spPr>
            <a:xfrm>
              <a:off x="31813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3432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34099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6271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檢索證據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30549" y="3705225"/>
              <a:ext cx="15154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Top-5 </a:t>
              </a:r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訓練案例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598170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5" name="Freeform 15"/>
            <p:cNvSpPr/>
            <p:nvPr/>
          </p:nvSpPr>
          <p:spPr>
            <a:xfrm>
              <a:off x="614362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621030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642747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稽核結論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30899" y="37052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支持／複核／不確定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782050" y="3609975"/>
              <a:ext cx="228600" cy="9525"/>
            </a:xfrm>
            <a:custGeom>
              <a:avLst/>
              <a:gdLst/>
              <a:ahLst/>
              <a:cxnLst/>
              <a:rect l="l" t="t" r="r" b="b"/>
              <a:pathLst>
                <a:path w="228600" h="9525">
                  <a:moveTo>
                    <a:pt x="0" y="0"/>
                  </a:moveTo>
                  <a:lnTo>
                    <a:pt x="228600" y="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8943975" y="3562350"/>
              <a:ext cx="66675" cy="95250"/>
            </a:xfrm>
            <a:custGeom>
              <a:avLst/>
              <a:gdLst/>
              <a:ahLst/>
              <a:cxnLst/>
              <a:rect l="l" t="t" r="r" b="b"/>
              <a:pathLst>
                <a:path w="66675" h="95250">
                  <a:moveTo>
                    <a:pt x="0" y="0"/>
                  </a:moveTo>
                  <a:lnTo>
                    <a:pt x="66675" y="47625"/>
                  </a:lnTo>
                  <a:lnTo>
                    <a:pt x="0" y="95250"/>
                  </a:lnTo>
                </a:path>
              </a:pathLst>
            </a:custGeom>
            <a:noFill/>
            <a:ln w="23812">
              <a:solidFill>
                <a:schemeClr val="accent1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9010650" y="2781300"/>
              <a:ext cx="2571750" cy="1657350"/>
            </a:xfrm>
            <a:prstGeom prst="roundRect">
              <a:avLst>
                <a:gd name="adj" fmla="val 4598"/>
              </a:avLst>
            </a:prstGeom>
            <a:solidFill>
              <a:schemeClr val="lt1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9227820" y="3025775"/>
              <a:ext cx="1234440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2250" b="1" dirty="0">
                  <a:solidFill>
                    <a:schemeClr val="accent1"/>
                  </a:solidFill>
                  <a:latin typeface="Times New Roman"/>
                  <a:ea typeface="DFKai-SB"/>
                  <a:cs typeface="Times New Roman"/>
                </a:rPr>
                <a:t>處置回條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231249" y="370522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58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讀回＋到期回復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09600" y="4781550"/>
              <a:ext cx="10972800" cy="533400"/>
            </a:xfrm>
            <a:prstGeom prst="roundRect">
              <a:avLst>
                <a:gd name="adj" fmla="val 14286"/>
              </a:avLst>
            </a:prstGeom>
            <a:solidFill>
              <a:srgbClr val="E2EDF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3109951" y="4902200"/>
              <a:ext cx="5972098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同一事件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ID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，串起分類、證據、判斷與回復紀錄。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99694" y="5673725"/>
              <a:ext cx="5266822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17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類真實張量重跑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· 6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種隔離</a:t>
              </a:r>
              <a:r>
                <a:rPr lang="en-US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 xml:space="preserve"> TCP </a:t>
              </a:r>
              <a:r>
                <a:rPr lang="zh-TW" sz="1950" dirty="0">
                  <a:solidFill>
                    <a:schemeClr val="dk1"/>
                  </a:solidFill>
                  <a:latin typeface="Times New Roman"/>
                  <a:ea typeface="DFKai-SB"/>
                  <a:cs typeface="Times New Roman"/>
                </a:rPr>
                <a:t>情境驗證</a:t>
              </a:r>
            </a:p>
          </p:txBody>
        </p:sp>
      </p:grpSp>
      <p:grpSp>
        <p:nvGrpSpPr>
          <p:cNvPr id="30" name="footer"/>
          <p:cNvGrpSpPr/>
          <p:nvPr/>
        </p:nvGrpSpPr>
        <p:grpSpPr>
          <a:xfrm>
            <a:off x="604266" y="6416675"/>
            <a:ext cx="10983468" cy="205359"/>
            <a:chOff x="604266" y="6416675"/>
            <a:chExt cx="10983468" cy="205359"/>
          </a:xfrm>
        </p:grpSpPr>
        <p:sp>
          <p:nvSpPr>
            <p:cNvPr id="28" name="TextBox 28"/>
            <p:cNvSpPr txBox="1"/>
            <p:nvPr/>
          </p:nvSpPr>
          <p:spPr>
            <a:xfrm>
              <a:off x="604266" y="6416675"/>
              <a:ext cx="164394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AI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資安框架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 xml:space="preserve"> · </a:t>
              </a:r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資安技術組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162196" y="6416675"/>
              <a:ext cx="42553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TW" sz="1050" dirty="0">
                  <a:solidFill>
                    <a:schemeClr val="accent5"/>
                  </a:solidFill>
                  <a:latin typeface="Times New Roman"/>
                  <a:ea typeface="DFKai-SB"/>
                  <a:cs typeface="Times New Roman"/>
                </a:rPr>
                <a:t>09 / 09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finals_editorial">
  <a:themeElements>
    <a:clrScheme name="finals_editorial">
      <a:dk1>
        <a:srgbClr val="000000"/>
      </a:dk1>
      <a:lt1>
        <a:srgbClr val="FFFFFF"/>
      </a:lt1>
      <a:dk2>
        <a:srgbClr val="1F497D"/>
      </a:dk2>
      <a:lt2>
        <a:srgbClr val="F2F7FC"/>
      </a:lt2>
      <a:accent1>
        <a:srgbClr val="0070D1"/>
      </a:accent1>
      <a:accent2>
        <a:srgbClr val="0070D1"/>
      </a:accent2>
      <a:accent3>
        <a:srgbClr val="F5F7FA"/>
      </a:accent3>
      <a:accent4>
        <a:srgbClr val="0070D1"/>
      </a:accent4>
      <a:accent5>
        <a:srgbClr val="6B6B6B"/>
      </a:accent5>
      <a:accent6>
        <a:srgbClr val="CCCCCC"/>
      </a:accent6>
      <a:hlink>
        <a:srgbClr val="0070D1"/>
      </a:hlink>
      <a:folHlink>
        <a:srgbClr val="F5F7FA"/>
      </a:folHlink>
    </a:clrScheme>
    <a:fontScheme name="finals_editorial">
      <a:maj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DFKai-SB"/>
        <a:font script="Hang" typeface="DFKai-SB"/>
        <a:font script="Hans" typeface="DFKai-SB"/>
        <a:font script="Hant" typeface="DFKai-SB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inals_editorial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zh-TW</dc:language>
  <cp:lastModifiedBy/>
  <cp:revision>1</cp:revision>
  <dcterms:created xsi:type="dcterms:W3CDTF">2026-10-28T02:04:57Z</dcterms:created>
  <dcterms:modified xsi:type="dcterms:W3CDTF">2026-10-28T02:04:57Z</dcterms:modified>
  <cp:category/>
  <cp:contentStatus/>
</cp:coreProperties>
</file>