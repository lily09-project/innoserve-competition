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charts/chart601.xml" ContentType="application/vnd.openxmlformats-officedocument.drawingml.chart+xml"/>
  <Override PartName="/ppt/charts/chart602.xml" ContentType="application/vnd.openxmlformats-officedocument.drawingml.chart+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601.xml.rels><?xml version="1.0" encoding="UTF-8" standalone="yes"?>
<Relationships xmlns="http://schemas.openxmlformats.org/package/2006/relationships">
<Relationship Id="rId1" Type="http://schemas.openxmlformats.org/officeDocument/2006/relationships/package" Target="../embeddings/Microsoft_Excel_Sheet601.xlsx"/>
</Relationships>
</file>

<file path=ppt/charts/_rels/chart602.xml.rels><?xml version="1.0" encoding="UTF-8" standalone="yes"?>
<Relationships xmlns="http://schemas.openxmlformats.org/package/2006/relationships">
<Relationship Id="rId1" Type="http://schemas.openxmlformats.org/officeDocument/2006/relationships/package" Target="../embeddings/Microsoft_Excel_Sheet602.xlsx"/>
</Relationships>
</file>

<file path=ppt/charts/chart601.xml><?xml version="1.0" encoding="utf-8"?>
<c:chartSpace xmlns:c="http://schemas.openxmlformats.org/drawingml/2006/chart" xmlns:a="http://schemas.openxmlformats.org/drawingml/2006/main" xmlns:r="http://schemas.openxmlformats.org/officeDocument/2006/relationships">
  <c:date1904 val="0"/>
  <c:lang val="zh-TW"/>
  <c:chart>
    <c:autoTitleDeleted val="1"/>
    <c:plotArea>
      <c:layout/>
      <c:barChart>
        <c:barDir val="bar"/>
        <c:grouping val="clustered"/>
        <c:varyColors val="0"/>
        <c:ser>
          <c:idx val="0"/>
          <c:order val="0"/>
          <c:tx>
            <c:strRef>
              <c:f>Sheet1!$B$1</c:f>
              <c:strCache>
                <c:ptCount val="1"/>
                <c:pt idx="0">
                  <c:v>Macro-F1</c:v>
                </c:pt>
              </c:strCache>
            </c:strRef>
          </c:tx>
          <c:spPr>
            <a:solidFill>
              <a:srgbClr val="93C5FD"/>
            </a:solidFill>
            <a:ln>
              <a:solidFill>
                <a:srgbClr val="93C5FD"/>
              </a:solidFill>
            </a:ln>
          </c:spPr>
          <c:invertIfNegative val="0"/>
          <c:cat>
            <c:strRef>
              <c:f>Sheet1!$A$2:$A$4</c:f>
              <c:strCache>
                <c:ptCount val="3"/>
                <c:pt idx="0">
                  <c:v>OOF Gate（本作）</c:v>
                </c:pt>
                <c:pt idx="1">
                  <c:v>CTBM</c:v>
                </c:pt>
                <c:pt idx="2">
                  <c:v>PBCNN</c:v>
                </c:pt>
              </c:strCache>
            </c:strRef>
          </c:cat>
          <c:val>
            <c:numRef>
              <c:f>Sheet1!$B$2:$B$4</c:f>
              <c:numCache>
                <c:formatCode>General</c:formatCode>
                <c:ptCount val="3"/>
                <c:pt idx="0">
                  <c:v>93.05036353744735</c:v>
                </c:pt>
                <c:pt idx="1">
                  <c:v>92.1027750496496</c:v>
                </c:pt>
                <c:pt idx="2">
                  <c:v>79.74796824158857</c:v>
                </c:pt>
              </c:numCache>
            </c:numRef>
          </c:val>
        </c:ser>
        <c:ser>
          <c:idx val="1"/>
          <c:order val="1"/>
          <c:tx>
            <c:strRef>
              <c:f>Sheet1!$C$1</c:f>
              <c:strCache>
                <c:ptCount val="1"/>
                <c:pt idx="0">
                  <c:v>Accuracy</c:v>
                </c:pt>
              </c:strCache>
            </c:strRef>
          </c:tx>
          <c:spPr>
            <a:solidFill>
              <a:srgbClr val="1D4ED8"/>
            </a:solidFill>
            <a:ln>
              <a:solidFill>
                <a:srgbClr val="1D4ED8"/>
              </a:solidFill>
            </a:ln>
          </c:spPr>
          <c:invertIfNegative val="0"/>
          <c:cat>
            <c:strRef>
              <c:f>Sheet1!$A$2:$A$4</c:f>
              <c:strCache>
                <c:ptCount val="3"/>
                <c:pt idx="0">
                  <c:v>OOF Gate（本作）</c:v>
                </c:pt>
                <c:pt idx="1">
                  <c:v>CTBM</c:v>
                </c:pt>
                <c:pt idx="2">
                  <c:v>PBCNN</c:v>
                </c:pt>
              </c:strCache>
            </c:strRef>
          </c:cat>
          <c:val>
            <c:numRef>
              <c:f>Sheet1!$C$2:$C$4</c:f>
              <c:numCache>
                <c:formatCode>General</c:formatCode>
                <c:ptCount val="3"/>
                <c:pt idx="0">
                  <c:v>98.0840088430361</c:v>
                </c:pt>
                <c:pt idx="1">
                  <c:v>97.17865038425097</c:v>
                </c:pt>
                <c:pt idx="2">
                  <c:v>90.46215391093799</c:v>
                </c:pt>
              </c:numCache>
            </c:numRef>
          </c:val>
        </c:ser>
        <c:dLbls>
          <c:numFmt formatCode="0.00" sourceLinked="0"/>
          <c:txPr>
            <a:bodyPr/>
            <a:lstStyle/>
            <a:p>
              <a:pPr>
                <a:defRPr lang="zh-TW" sz="1200" b="1">
                  <a:solidFill>
                    <a:srgbClr val="0B1B33"/>
                  </a:solidFill>
                </a:defRPr>
              </a:pPr>
              <a:endParaRPr lang="zh-TW"/>
            </a:p>
          </c:txPr>
          <c:dLblPos val="outEnd"/>
          <c:showLegendKey val="0"/>
          <c:showVal val="1"/>
          <c:showCatName val="0"/>
          <c:showSerName val="0"/>
          <c:showPercent val="0"/>
          <c:showBubbleSize val="0"/>
          <c:showLeaderLines val="1"/>
        </c:dLbls>
        <c:gapWidth val="150"/>
        <c:axId val="2068027336"/>
        <c:axId val="2113994440"/>
      </c:barChart>
      <c:catAx>
        <c:axId val="2068027336"/>
        <c:scaling>
          <c:orientation val="maxMin"/>
        </c:scaling>
        <c:delete val="0"/>
        <c:axPos val="l"/>
        <c:majorTickMark val="none"/>
        <c:minorTickMark val="none"/>
        <c:tickLblPos val="nextTo"/>
        <c:spPr>
          <a:ln w="9525" cap="flat" cmpd="sng" algn="ctr">
            <a:solidFill>
              <a:srgbClr val="404040"/>
            </a:solidFill>
            <a:round/>
          </a:ln>
        </c:spPr>
        <c:txPr>
          <a:bodyPr/>
          <a:lstStyle/>
          <a:p>
            <a:pPr>
              <a:defRPr lang="zh-TW" sz="900">
                <a:solidFill>
                  <a:srgbClr val="404040"/>
                </a:solidFill>
              </a:defRPr>
            </a:pPr>
            <a:endParaRPr lang="zh-TW"/>
          </a:p>
        </c:txPr>
        <c:crossAx val="2113994440"/>
        <c:crosses val="autoZero"/>
        <c:auto val="1"/>
        <c:lblAlgn val="ctr"/>
        <c:lblOffset val="100"/>
        <c:noMultiLvlLbl val="0"/>
      </c:catAx>
      <c:valAx>
        <c:axId val="2113994440"/>
        <c:scaling>
          <c:orientation val="minMax"/>
        </c:scaling>
        <c:delete val="0"/>
        <c:axPos val="b"/>
        <c:majorGridlines>
          <c:spPr>
            <a:ln w="6350" cap="flat" cmpd="sng" algn="ctr">
              <a:solidFill>
                <a:srgbClr val="D9DED8"/>
              </a:solidFill>
              <a:round/>
            </a:ln>
          </c:spPr>
        </c:majorGridlines>
        <c:majorTickMark val="none"/>
        <c:minorTickMark val="none"/>
        <c:tickLblPos val="nextTo"/>
        <c:spPr>
          <a:ln w="9525" cap="flat" cmpd="sng" algn="ctr">
            <a:solidFill>
              <a:srgbClr val="404040"/>
            </a:solidFill>
            <a:round/>
          </a:ln>
        </c:spPr>
        <c:txPr>
          <a:bodyPr/>
          <a:lstStyle/>
          <a:p>
            <a:pPr>
              <a:defRPr lang="zh-TW" sz="900">
                <a:solidFill>
                  <a:srgbClr val="404040"/>
                </a:solidFill>
              </a:defRPr>
            </a:pPr>
            <a:endParaRPr lang="zh-TW"/>
          </a:p>
        </c:txPr>
        <c:crossAx val="2068027336"/>
        <c:crosses val="max"/>
        <c:crossBetween val="between"/>
      </c:valAx>
      <c:spPr>
        <a:noFill/>
        <a:ln>
          <a:noFill/>
        </a:ln>
      </c:spPr>
    </c:plotArea>
    <c:legend>
      <c:legendPos val="t"/>
      <c:layout/>
      <c:overlay val="0"/>
      <c:txPr>
        <a:bodyPr/>
        <a:lstStyle/>
        <a:p>
          <a:pPr>
            <a:defRPr lang="zh-TW" sz="900">
              <a:solidFill>
                <a:srgbClr val="404040"/>
              </a:solidFill>
            </a:defRPr>
          </a:pPr>
          <a:endParaRPr lang="zh-TW"/>
        </a:p>
      </c:txPr>
    </c:legend>
    <c:plotVisOnly val="1"/>
    <c:dispBlanksAs val="gap"/>
  </c:chart>
  <c:spPr>
    <a:noFill/>
    <a:ln>
      <a:noFill/>
    </a:ln>
  </c:spPr>
  <c:txPr>
    <a:bodyPr/>
    <a:lstStyle/>
    <a:p>
      <a:pPr>
        <a:defRPr lang="zh-TW" sz="900">
          <a:solidFill>
            <a:srgbClr val="404040"/>
          </a:solidFill>
        </a:defRPr>
      </a:pPr>
      <a:endParaRPr lang="zh-TW"/>
    </a:p>
  </c:tx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lang val="zh-TW"/>
  <c:chart>
    <c:autoTitleDeleted val="1"/>
    <c:plotArea>
      <c:layout/>
      <c:barChart>
        <c:barDir val="bar"/>
        <c:grouping val="clustered"/>
        <c:varyColors val="0"/>
        <c:ser>
          <c:idx val="0"/>
          <c:order val="0"/>
          <c:tx>
            <c:strRef>
              <c:f>Sheet1!$B$1</c:f>
              <c:strCache>
                <c:ptCount val="1"/>
                <c:pt idx="0">
                  <c:v>事件數</c:v>
                </c:pt>
              </c:strCache>
            </c:strRef>
          </c:tx>
          <c:spPr>
            <a:solidFill>
              <a:srgbClr val="6D28D9"/>
            </a:solidFill>
            <a:ln>
              <a:solidFill>
                <a:srgbClr val="6D28D9"/>
              </a:solidFill>
            </a:ln>
          </c:spPr>
          <c:invertIfNegative val="0"/>
          <c:cat>
            <c:strRef>
              <c:f>Sheet1!$A$2:$A$4</c:f>
              <c:strCache>
                <c:ptCount val="3"/>
                <c:pt idx="0">
                  <c:v>不確定</c:v>
                </c:pt>
                <c:pt idx="1">
                  <c:v>複核</c:v>
                </c:pt>
                <c:pt idx="2">
                  <c:v>支持</c:v>
                </c:pt>
              </c:strCache>
            </c:strRef>
          </c:cat>
          <c:val>
            <c:numRef>
              <c:f>Sheet1!$B$2:$B$4</c:f>
              <c:numCache>
                <c:formatCode>General</c:formatCode>
                <c:ptCount val="3"/>
                <c:pt idx="0">
                  <c:v>35</c:v>
                </c:pt>
                <c:pt idx="1">
                  <c:v>13</c:v>
                </c:pt>
                <c:pt idx="2">
                  <c:v>415</c:v>
                </c:pt>
              </c:numCache>
            </c:numRef>
          </c:val>
        </c:ser>
        <c:dLbls>
          <c:numFmt formatCode="0" sourceLinked="0"/>
          <c:txPr>
            <a:bodyPr/>
            <a:lstStyle/>
            <a:p>
              <a:pPr>
                <a:defRPr lang="zh-TW" sz="1200" b="1">
                  <a:solidFill>
                    <a:srgbClr val="0B1B33"/>
                  </a:solidFill>
                </a:defRPr>
              </a:pPr>
              <a:endParaRPr lang="zh-TW"/>
            </a:p>
          </c:txPr>
          <c:dLblPos val="outEnd"/>
          <c:showLegendKey val="0"/>
          <c:showVal val="1"/>
          <c:showCatName val="0"/>
          <c:showSerName val="0"/>
          <c:showPercent val="0"/>
          <c:showBubbleSize val="0"/>
          <c:showLeaderLines val="1"/>
        </c:dLbls>
        <c:gapWidth val="150"/>
        <c:axId val="2068027336"/>
        <c:axId val="2113994440"/>
      </c:barChart>
      <c:catAx>
        <c:axId val="2068027336"/>
        <c:scaling>
          <c:orientation val="maxMin"/>
        </c:scaling>
        <c:delete val="0"/>
        <c:axPos val="l"/>
        <c:majorTickMark val="none"/>
        <c:minorTickMark val="none"/>
        <c:tickLblPos val="nextTo"/>
        <c:spPr>
          <a:ln w="9525" cap="flat" cmpd="sng" algn="ctr">
            <a:solidFill>
              <a:srgbClr val="404040"/>
            </a:solidFill>
            <a:round/>
          </a:ln>
        </c:spPr>
        <c:txPr>
          <a:bodyPr/>
          <a:lstStyle/>
          <a:p>
            <a:pPr>
              <a:defRPr lang="zh-TW" sz="900">
                <a:solidFill>
                  <a:srgbClr val="404040"/>
                </a:solidFill>
              </a:defRPr>
            </a:pPr>
            <a:endParaRPr lang="zh-TW"/>
          </a:p>
        </c:txPr>
        <c:crossAx val="2113994440"/>
        <c:crosses val="autoZero"/>
        <c:auto val="1"/>
        <c:lblAlgn val="ctr"/>
        <c:lblOffset val="100"/>
        <c:noMultiLvlLbl val="0"/>
      </c:catAx>
      <c:valAx>
        <c:axId val="2113994440"/>
        <c:scaling>
          <c:orientation val="minMax"/>
        </c:scaling>
        <c:delete val="0"/>
        <c:axPos val="b"/>
        <c:majorGridlines>
          <c:spPr>
            <a:ln w="6350" cap="flat" cmpd="sng" algn="ctr">
              <a:solidFill>
                <a:srgbClr val="D9DED8"/>
              </a:solidFill>
              <a:round/>
            </a:ln>
          </c:spPr>
        </c:majorGridlines>
        <c:majorTickMark val="none"/>
        <c:minorTickMark val="none"/>
        <c:tickLblPos val="nextTo"/>
        <c:spPr>
          <a:ln w="9525" cap="flat" cmpd="sng" algn="ctr">
            <a:solidFill>
              <a:srgbClr val="404040"/>
            </a:solidFill>
            <a:round/>
          </a:ln>
        </c:spPr>
        <c:txPr>
          <a:bodyPr/>
          <a:lstStyle/>
          <a:p>
            <a:pPr>
              <a:defRPr lang="zh-TW" sz="900">
                <a:solidFill>
                  <a:srgbClr val="404040"/>
                </a:solidFill>
              </a:defRPr>
            </a:pPr>
            <a:endParaRPr lang="zh-TW"/>
          </a:p>
        </c:txPr>
        <c:crossAx val="2068027336"/>
        <c:crosses val="max"/>
        <c:crossBetween val="between"/>
      </c:valAx>
      <c:spPr>
        <a:noFill/>
        <a:ln>
          <a:noFill/>
        </a:ln>
      </c:spPr>
    </c:plotArea>
    <c:legend>
      <c:legendPos val="t"/>
      <c:layout/>
      <c:overlay val="0"/>
      <c:txPr>
        <a:bodyPr/>
        <a:lstStyle/>
        <a:p>
          <a:pPr>
            <a:defRPr lang="zh-TW" sz="900">
              <a:solidFill>
                <a:srgbClr val="404040"/>
              </a:solidFill>
            </a:defRPr>
          </a:pPr>
          <a:endParaRPr lang="zh-TW"/>
        </a:p>
      </c:txPr>
    </c:legend>
    <c:plotVisOnly val="1"/>
    <c:dispBlanksAs val="gap"/>
  </c:chart>
  <c:spPr>
    <a:noFill/>
    <a:ln>
      <a:noFill/>
    </a:ln>
  </c:spPr>
  <c:txPr>
    <a:bodyPr/>
    <a:lstStyle/>
    <a:p>
      <a:pPr>
        <a:defRPr lang="zh-TW" sz="900">
          <a:solidFill>
            <a:srgbClr val="404040"/>
          </a:solidFill>
        </a:defRPr>
      </a:pPr>
      <a:endParaRPr lang="zh-TW"/>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TW" dirty="0"/>
              <a:t>各位評審好，我們的作品是「融合新型內容相依時序方向模型入侵偵測與任務導向檢索增強稽核之 AI 資安框架」。一句話：把只有標籤的告警，變成可查證、可稽核、可回復的事件鏈。</a:t>
            </a:r>
          </a:p>
          <a:p>
            <a:pPr/>
            <a:endParaRPr lang="zh-TW" dirty="0"/>
          </a:p>
          <a:p>
            <a:pPr/>
            <a:r>
              <a:rPr lang="zh-TW" dirty="0"/>
              <a:t>資料來源：results/detection_17class.json、retrieval_17class.json、local_judge_17class.json及framework_validation.json。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TW" dirty="0"/>
              <a:t>校園與企業每天有大量告警，一般 IDS 只輸出攻擊類別，後面的查證、處置與確認恢復都靠人工，告警一多就慢，也容易誤阻斷。我們把這四段人工接力，換成四個有依據、可回溯的自動化步驟。</a:t>
            </a:r>
          </a:p>
          <a:p>
            <a:pPr/>
            <a:endParaRPr lang="zh-TW" dirty="0"/>
          </a:p>
          <a:p>
            <a:pPr/>
            <a:r>
              <a:rPr lang="zh-TW" dirty="0"/>
              <a:t>資料來源：results/detection_17class.json、retrieval_17class.json、local_judge_17class.json及framework_validation.json。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TW" dirty="0"/>
              <a:t>這是完整架構。① 流量前處理產生內容位元組、時間差與方向張量，本機展示使用已備妥的真實張量輸入。② CTBM 讀內容、時序與方向，PBCNN 補短窗位元組，經溫度校準與 OOF Gate 輸出固定 17 類。③ 512 維表徵加 17 維機率組成 529 維任務向量，從訓練案例庫取回 Top-5，再由本機大語言模型三態稽核。④ Policy Guard 檢查白名單與門檻後才套用規則，讀回驗證並 30 秒到期自動回復。下方是貫穿全程的同一事件識別碼。</a:t>
            </a:r>
          </a:p>
          <a:p>
            <a:pPr/>
            <a:endParaRPr lang="zh-TW" dirty="0"/>
          </a:p>
          <a:p>
            <a:pPr/>
            <a:r>
              <a:rPr lang="zh-TW" dirty="0"/>
              <a:t>資料來源：results/detection_17class.json、retrieval_17class.json、local_judge_17class.json及framework_validation.json。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TW" dirty="0"/>
              <a:t>三項創新各解決一個瓶頸：第一，內容相依時序方向偵測，17 類 Macro-F1 93.05%；第二，任務導向檢索，讓每個判定都有 Top-5 案例可回查，命中率 97.62%；第三，AI 只做證據稽核、不覆寫分類，處置交給 Policy Guard 並且一定可回復，463筆事件的正式分類改寫0筆。接著用影片看一筆事件的實際輸入與輸出。</a:t>
            </a:r>
          </a:p>
          <a:p>
            <a:pPr/>
            <a:endParaRPr lang="zh-TW" dirty="0"/>
          </a:p>
          <a:p>
            <a:pPr/>
            <a:r>
              <a:rPr lang="zh-TW" dirty="0"/>
              <a:t>資料來源：results/detection_17class.json、retrieval_17class.json、local_judge_17class.json及framework_validation.json。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TW" dirty="0"/>
              <a:t>點擊播放影片（40秒快版，Packet Tracer 模擬模式）。旁白重點：輸入是真實預處理張量，處理是雙分支偵測、任務檢索、AI 稽核與受控處置，輸出是 17 類機率、Top-5 證據、結構化 JSON 稽核與網路處置回條。Bot 事件實測：攻擊型測試交易成功率 100% 降到 0%，背景服務 100% 保留，30.12 秒到期撤銷後完整回復。影片同時是網路不穩時的備案。</a:t>
            </a:r>
          </a:p>
          <a:p>
            <a:pPr/>
            <a:endParaRPr lang="zh-TW" dirty="0"/>
          </a:p>
          <a:p>
            <a:pPr/>
            <a:r>
              <a:rPr lang="zh-TW" dirty="0"/>
              <a:t>資料來源：results/detection_17class.json、retrieval_17class.json、local_judge_17class.json及framework_validation.json。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TW" dirty="0"/>
              <a:t>成果：17 類偵測 Accuracy 98.08%、Macro-F1 93.05%；任務檢索 Top-5 97.62%、MRR@5 93.89%。相同測試集下，融合模型 Macro-F1 較 PBCNN 提高13.30個百分點。463筆稽核分為415筆支持、13筆複核及35筆不確定；30筆偵測誤判中攔截18筆，12筆得到支持，策略閘門另行檢核。</a:t>
            </a:r>
          </a:p>
          <a:p>
            <a:pPr/>
            <a:endParaRPr lang="zh-TW" dirty="0"/>
          </a:p>
          <a:p>
            <a:pPr/>
            <a:r>
              <a:rPr lang="zh-TW" dirty="0"/>
              <a:t>資料來源：results/detection_17class.json、retrieval_17class.json、local_judge_17class.json及framework_validation.json。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TW" dirty="0"/>
              <a:t>落地可行性對應四個面向：穩定性，本次463筆分類改寫0筆、輸出格式463筆有效；成熟度，17 類即時重跑、6 種隔離情境全部完整回復；完整性，一個事件 ID 串起所有紀錄；擴充性，使用真實預處理張量作為輸入，模型、案例庫、白名單都能獨立更新，而且全程本機推論。</a:t>
            </a:r>
          </a:p>
          <a:p>
            <a:pPr/>
            <a:endParaRPr lang="zh-TW" dirty="0"/>
          </a:p>
          <a:p>
            <a:pPr/>
            <a:r>
              <a:rPr lang="zh-TW" dirty="0"/>
              <a:t>資料來源：results/detection_17class.json、retrieval_17class.json、local_judge_17class.json及framework_validation.json。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TW" dirty="0"/>
              <a:t>總結：偵測有依據、稽核有證據、處置可回復。感謝評審聆聽，敬請指教。</a:t>
            </a:r>
          </a:p>
          <a:p>
            <a:pPr/>
            <a:endParaRPr lang="zh-TW" dirty="0"/>
          </a:p>
          <a:p>
            <a:pPr/>
            <a:r>
              <a:rPr lang="zh-TW" dirty="0"/>
              <a:t>資料來源：results/detection_17class.json、retrieval_17class.json、local_judge_17class.json及framework_validation.json。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  <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  <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microsoft.com/office/2007/relationships/media" Target="../media/media1.mp4" /><Relationship Id="rId3" Type="http://schemas.openxmlformats.org/officeDocument/2006/relationships/video" Target="../media/media1.mp4" /><Relationship Id="rId4" Type="http://schemas.openxmlformats.org/officeDocument/2006/relationships/image" Target="../media/image3.png" />  <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5" Type="http://schemas.openxmlformats.org/officeDocument/2006/relationships/chart" Target="../charts/chart601.xml" /><Relationship Id="rId6" Type="http://schemas.openxmlformats.org/officeDocument/2006/relationships/chart" Target="../charts/chart602.xml" />  <Relationship Id="rId7" Type="http://schemas.openxmlformats.org/officeDocument/2006/relationships/notesSlide" Target="../notesSlides/notesSlide6.xml" />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  <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  <Relationship Id="rId2" Type="http://schemas.openxmlformats.org/officeDocument/2006/relationships/notesSlide" Target="../notesSlides/notesSlide8.xml"/>
</Relationships>
</file>

<file path=ppt/slides/slide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955279" y="91440"/>
            <a:ext cx="4236415" cy="6766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694944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2026 第 31 屆大專校院資訊應用服務創新競賽　·　資安技術組　·　決賽</a:t>
            </a:r>
          </a:p>
        </p:txBody>
      </p:sp>
      <p:sp>
        <p:nvSpPr>
          <p:cNvPr id="6" name="TextBox 5"/>
          <p:cNvSpPr txBox="1"/>
          <p:nvPr/>
        </p:nvSpPr>
        <p:spPr>
          <a:xfrm>
            <a:off x="731520" y="1417320"/>
            <a:ext cx="7040880" cy="2468880"/>
          </a:xfrm>
          <a:prstGeom prst="rect">
            <a:avLst/>
          </a:prstGeom>
          <a:noFill/>
        </p:spPr>
        <p:txBody>
          <a:bodyPr wrap="square" anchor="t" lIns="0" rIns="0" tIns="0" bIns="0">
            <a:spAutoFit/>
          </a:bodyPr>
          <a:lstStyle/>
          <a:p>
            <a:pPr algn="l">
              <a:lnSpc>
                <a:spcPct val="130000"/>
              </a:lnSpc>
            </a:pPr>
            <a:r>
              <a:rPr sz="3400" b="1" lang="zh-TW">
                <a:solidFill>
                  <a:srgbClr val="0B1B33"/>
                </a:solidFill>
                <a:latin typeface="Microsoft JhengHei"/>
                <a:ea typeface="Microsoft JhengHei"/>
              </a:rPr>
              <a:t>融合新型</a:t>
            </a:r>
            <a:r>
              <a:rPr sz="3400" b="1" lang="zh-TW">
                <a:solidFill>
                  <a:srgbClr val="1D4ED8"/>
                </a:solidFill>
                <a:latin typeface="Microsoft JhengHei"/>
                <a:ea typeface="Microsoft JhengHei"/>
              </a:rPr>
              <a:t>內容相依時序方向模型</a:t>
            </a:r>
          </a:p>
          <a:p>
            <a:pPr algn="l">
              <a:lnSpc>
                <a:spcPct val="130000"/>
              </a:lnSpc>
            </a:pPr>
            <a:r>
              <a:rPr sz="3400" b="1" lang="zh-TW">
                <a:solidFill>
                  <a:srgbClr val="0B1B33"/>
                </a:solidFill>
                <a:latin typeface="Microsoft JhengHei"/>
                <a:ea typeface="Microsoft JhengHei"/>
              </a:rPr>
              <a:t>入侵偵測與</a:t>
            </a:r>
            <a:r>
              <a:rPr sz="3400" b="1" lang="zh-TW">
                <a:solidFill>
                  <a:srgbClr val="1D4ED8"/>
                </a:solidFill>
                <a:latin typeface="Microsoft JhengHei"/>
                <a:ea typeface="Microsoft JhengHei"/>
              </a:rPr>
              <a:t>任務導向檢索增強稽核</a:t>
            </a:r>
          </a:p>
          <a:p>
            <a:pPr algn="l">
              <a:lnSpc>
                <a:spcPct val="130000"/>
              </a:lnSpc>
            </a:pPr>
            <a:r>
              <a:rPr sz="3400" b="1" lang="zh-TW">
                <a:solidFill>
                  <a:srgbClr val="0B1B33"/>
                </a:solidFill>
                <a:latin typeface="Microsoft JhengHei"/>
                <a:ea typeface="Microsoft JhengHei"/>
              </a:rPr>
              <a:t>之 AI 資安框架</a:t>
            </a:r>
          </a:p>
        </p:txBody>
      </p:sp>
      <p:sp>
        <p:nvSpPr>
          <p:cNvPr id="7" name="Rectangle 6"/>
          <p:cNvSpPr/>
          <p:nvPr/>
        </p:nvSpPr>
        <p:spPr>
          <a:xfrm>
            <a:off x="749808" y="4069080"/>
            <a:ext cx="1188720"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297680"/>
            <a:ext cx="6949440" cy="731520"/>
          </a:xfrm>
          <a:prstGeom prst="rect">
            <a:avLst/>
          </a:prstGeom>
          <a:noFill/>
        </p:spPr>
        <p:txBody>
          <a:bodyPr wrap="square" anchor="t" lIns="0" rIns="0" tIns="0" bIns="0">
            <a:spAutoFit/>
          </a:bodyPr>
          <a:lstStyle/>
          <a:p>
            <a:pPr algn="l">
              <a:lnSpc>
                <a:spcPct val="130000"/>
              </a:lnSpc>
            </a:pPr>
            <a:r>
              <a:rPr sz="1300" b="0" lang="zh-TW">
                <a:solidFill>
                  <a:srgbClr val="5B6B82"/>
                </a:solidFill>
                <a:latin typeface="Segoe UI"/>
                <a:ea typeface="Segoe UI"/>
              </a:rPr>
              <a:t>An AI Security Framework Integrating Novel Content Dependent Temporal Directional Intrusion Detection and Task Oriented Retrieval Augmented</a:t>
            </a:r>
          </a:p>
        </p:txBody>
      </p:sp>
      <p:cxnSp>
        <p:nvCxnSpPr>
          <p:cNvPr id="9" name="Connector 8"/>
          <p:cNvCxnSpPr/>
          <p:nvPr/>
        </p:nvCxnSpPr>
        <p:spPr>
          <a:xfrm>
            <a:off x="731520" y="5394960"/>
            <a:ext cx="2057400" cy="0"/>
          </a:xfrm>
          <a:prstGeom prst="line">
            <a:avLst/>
          </a:prstGeom>
          <a:ln w="15875">
            <a:solidFill>
              <a:srgbClr val="DCE3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1520" y="5486400"/>
            <a:ext cx="2194560" cy="457200"/>
          </a:xfrm>
          <a:prstGeom prst="rect">
            <a:avLst/>
          </a:prstGeom>
          <a:noFill/>
        </p:spPr>
        <p:txBody>
          <a:bodyPr wrap="square" anchor="t" lIns="0" rIns="0" tIns="0" bIns="0">
            <a:spAutoFit/>
          </a:bodyPr>
          <a:lstStyle/>
          <a:p>
            <a:pPr algn="l">
              <a:lnSpc>
                <a:spcPct val="100000"/>
              </a:lnSpc>
            </a:pPr>
            <a:r>
              <a:rPr sz="2400" b="1" lang="zh-TW">
                <a:solidFill>
                  <a:srgbClr val="1D4ED8"/>
                </a:solidFill>
                <a:latin typeface="Segoe UI"/>
                <a:ea typeface="Segoe UI"/>
              </a:rPr>
              <a:t>98.08%</a:t>
            </a:r>
          </a:p>
        </p:txBody>
      </p:sp>
      <p:sp>
        <p:nvSpPr>
          <p:cNvPr id="11" name="TextBox 10"/>
          <p:cNvSpPr txBox="1"/>
          <p:nvPr/>
        </p:nvSpPr>
        <p:spPr>
          <a:xfrm>
            <a:off x="731520" y="5943600"/>
            <a:ext cx="219456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17 類偵測 Accuracy</a:t>
            </a:r>
          </a:p>
        </p:txBody>
      </p:sp>
      <p:cxnSp>
        <p:nvCxnSpPr>
          <p:cNvPr id="12" name="Connector 11"/>
          <p:cNvCxnSpPr/>
          <p:nvPr/>
        </p:nvCxnSpPr>
        <p:spPr>
          <a:xfrm>
            <a:off x="3063239" y="5394960"/>
            <a:ext cx="2057401" cy="0"/>
          </a:xfrm>
          <a:prstGeom prst="line">
            <a:avLst/>
          </a:prstGeom>
          <a:ln w="15875">
            <a:solidFill>
              <a:srgbClr val="DCE3EE"/>
            </a:solidFill>
          </a:ln>
        </p:spPr>
        <p:style>
          <a:lnRef idx="2">
            <a:schemeClr val="accent1"/>
          </a:lnRef>
          <a:fillRef idx="0">
            <a:schemeClr val="accent1"/>
          </a:fillRef>
          <a:effectRef idx="1">
            <a:schemeClr val="accent1"/>
          </a:effectRef>
          <a:fontRef idx="minor">
            <a:schemeClr val="tx1"/>
          </a:fontRef>
        </p:style>
      </p:cxnSp>
      <p:sp>
        <p:nvSpPr>
          <p:cNvPr id="13" name="TextBox 12"/>
          <p:cNvSpPr/>
          <p:nvPr/>
        </p:nvSpPr>
        <p:spPr>
          <a:xfrm>
            <a:off x="3063240" y="5486400"/>
            <a:ext cx="2194560" cy="457200"/>
          </a:xfrm>
          <a:prstGeom prst="rect">
            <a:avLst/>
          </a:prstGeom>
          <a:noFill/>
          <a:ln>
            <a:noFill/>
          </a:ln>
        </p:spPr>
        <p:txBody>
          <a:bodyPr wrap="none" lIns="0" tIns="0" rIns="0" bIns="0" anchor="t" anchorCtr="0">
            <a:noAutofit/>
          </a:bodyPr>
          <a:lstStyle/>
          <a:p>
            <a:pPr algn="l"/>
            <a:r>
              <a:rPr lang="zh-TW" sz="2400" b="1" dirty="0">
                <a:solidFill>
                  <a:srgbClr val="6D28D9"/>
                </a:solidFill>
                <a:latin typeface="Segoe UI"/>
                <a:ea typeface="Segoe UI"/>
                <a:cs typeface="Segoe UI"/>
              </a:rPr>
              <a:t>97.62%</a:t>
            </a:r>
          </a:p>
        </p:txBody>
      </p:sp>
      <p:sp>
        <p:nvSpPr>
          <p:cNvPr id="14" name="TextBox 13"/>
          <p:cNvSpPr txBox="1"/>
          <p:nvPr/>
        </p:nvSpPr>
        <p:spPr>
          <a:xfrm>
            <a:off x="3063239" y="5943600"/>
            <a:ext cx="219456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任務檢索 Top-5</a:t>
            </a:r>
          </a:p>
        </p:txBody>
      </p:sp>
      <p:cxnSp>
        <p:nvCxnSpPr>
          <p:cNvPr id="15" name="Connector 14"/>
          <p:cNvCxnSpPr/>
          <p:nvPr/>
        </p:nvCxnSpPr>
        <p:spPr>
          <a:xfrm>
            <a:off x="5394959" y="5394960"/>
            <a:ext cx="2057400" cy="0"/>
          </a:xfrm>
          <a:prstGeom prst="line">
            <a:avLst/>
          </a:prstGeom>
          <a:ln w="15875">
            <a:solidFill>
              <a:srgbClr val="DCE3E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394959" y="5486400"/>
            <a:ext cx="2194560" cy="457200"/>
          </a:xfrm>
          <a:prstGeom prst="rect">
            <a:avLst/>
          </a:prstGeom>
          <a:noFill/>
        </p:spPr>
        <p:txBody>
          <a:bodyPr wrap="square" anchor="t" lIns="0" rIns="0" tIns="0" bIns="0">
            <a:spAutoFit/>
          </a:bodyPr>
          <a:lstStyle/>
          <a:p>
            <a:pPr algn="l">
              <a:lnSpc>
                <a:spcPct val="100000"/>
              </a:lnSpc>
            </a:pPr>
            <a:r>
              <a:rPr sz="2400" b="1" lang="zh-TW">
                <a:solidFill>
                  <a:srgbClr val="0F766E"/>
                </a:solidFill>
                <a:latin typeface="Segoe UI"/>
                <a:ea typeface="Segoe UI"/>
              </a:rPr>
              <a:t>6 / 6</a:t>
            </a:r>
          </a:p>
        </p:txBody>
      </p:sp>
      <p:sp>
        <p:nvSpPr>
          <p:cNvPr id="17" name="TextBox 16"/>
          <p:cNvSpPr txBox="1"/>
          <p:nvPr/>
        </p:nvSpPr>
        <p:spPr>
          <a:xfrm>
            <a:off x="5394959" y="5943600"/>
            <a:ext cx="219456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隔離情境完整回復</a:t>
            </a:r>
          </a:p>
        </p:txBody>
      </p:sp>
      <p:sp>
        <p:nvSpPr>
          <p:cNvPr id="18" name="TextBox 17"/>
          <p:cNvSpPr txBox="1"/>
          <p:nvPr/>
        </p:nvSpPr>
        <p:spPr>
          <a:xfrm>
            <a:off x="8412480" y="822960"/>
            <a:ext cx="3291840" cy="274320"/>
          </a:xfrm>
          <a:prstGeom prst="rect">
            <a:avLst/>
          </a:prstGeom>
          <a:noFill/>
        </p:spPr>
        <p:txBody>
          <a:bodyPr wrap="square" anchor="t" lIns="0" rIns="0" tIns="0" bIns="0">
            <a:spAutoFit/>
          </a:bodyPr>
          <a:lstStyle/>
          <a:p>
            <a:pPr algn="l">
              <a:lnSpc>
                <a:spcPct val="100000"/>
              </a:lnSpc>
            </a:pPr>
            <a:r>
              <a:rPr sz="1400" b="1" lang="zh-TW">
                <a:solidFill>
                  <a:srgbClr val="5B6B82"/>
                </a:solidFill>
                <a:latin typeface="Microsoft JhengHei"/>
                <a:ea typeface="Microsoft JhengHei"/>
              </a:rPr>
              <a:t>端到端事件鏈</a:t>
            </a:r>
          </a:p>
        </p:txBody>
      </p:sp>
      <p:cxnSp>
        <p:nvCxnSpPr>
          <p:cNvPr id="19" name="Connector 18"/>
          <p:cNvCxnSpPr/>
          <p:nvPr/>
        </p:nvCxnSpPr>
        <p:spPr>
          <a:xfrm>
            <a:off x="8668512" y="1856231"/>
            <a:ext cx="0" cy="448057"/>
          </a:xfrm>
          <a:prstGeom prst="line">
            <a:avLst/>
          </a:prstGeom>
          <a:ln w="25400">
            <a:solidFill>
              <a:srgbClr val="C9D3E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467344" y="1453895"/>
            <a:ext cx="402336" cy="402336"/>
          </a:xfrm>
          <a:prstGeom prst="ellipse">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67344" y="1527048"/>
            <a:ext cx="402336" cy="274320"/>
          </a:xfrm>
          <a:prstGeom prst="rect">
            <a:avLst/>
          </a:prstGeom>
          <a:noFill/>
        </p:spPr>
        <p:txBody>
          <a:bodyPr wrap="square" anchor="t" lIns="0" rIns="0" tIns="0" bIns="0">
            <a:spAutoFit/>
          </a:bodyPr>
          <a:lstStyle/>
          <a:p>
            <a:pPr algn="ctr">
              <a:lnSpc>
                <a:spcPct val="100000"/>
              </a:lnSpc>
            </a:pPr>
            <a:r>
              <a:rPr sz="1200" b="1" lang="zh-TW">
                <a:solidFill>
                  <a:srgbClr val="1D4ED8"/>
                </a:solidFill>
                <a:latin typeface="Segoe UI"/>
                <a:ea typeface="Segoe UI"/>
              </a:rPr>
              <a:t>1</a:t>
            </a:r>
          </a:p>
        </p:txBody>
      </p:sp>
      <p:sp>
        <p:nvSpPr>
          <p:cNvPr id="22" name="TextBox 21"/>
          <p:cNvSpPr txBox="1"/>
          <p:nvPr/>
        </p:nvSpPr>
        <p:spPr>
          <a:xfrm>
            <a:off x="9098280" y="1399032"/>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資料輸入</a:t>
            </a:r>
          </a:p>
        </p:txBody>
      </p:sp>
      <p:sp>
        <p:nvSpPr>
          <p:cNvPr id="23" name="TextBox 22"/>
          <p:cNvSpPr txBox="1"/>
          <p:nvPr/>
        </p:nvSpPr>
        <p:spPr>
          <a:xfrm>
            <a:off x="9098280" y="1719072"/>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PCAP・鏡像流量</a:t>
            </a:r>
          </a:p>
        </p:txBody>
      </p:sp>
      <p:cxnSp>
        <p:nvCxnSpPr>
          <p:cNvPr id="24" name="Connector 23"/>
          <p:cNvCxnSpPr/>
          <p:nvPr/>
        </p:nvCxnSpPr>
        <p:spPr>
          <a:xfrm>
            <a:off x="8668512" y="2706624"/>
            <a:ext cx="0" cy="448056"/>
          </a:xfrm>
          <a:prstGeom prst="line">
            <a:avLst/>
          </a:prstGeom>
          <a:ln w="25400">
            <a:solidFill>
              <a:srgbClr val="C9D3E3"/>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467344" y="2304288"/>
            <a:ext cx="402336" cy="402336"/>
          </a:xfrm>
          <a:prstGeom prst="ellipse">
            <a:avLst/>
          </a:prstGeom>
          <a:solidFill>
            <a:srgbClr val="FFFFFF"/>
          </a:solidFill>
          <a:ln w="254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7344" y="2377440"/>
            <a:ext cx="402336" cy="274320"/>
          </a:xfrm>
          <a:prstGeom prst="rect">
            <a:avLst/>
          </a:prstGeom>
          <a:noFill/>
        </p:spPr>
        <p:txBody>
          <a:bodyPr wrap="square" anchor="t" lIns="0" rIns="0" tIns="0" bIns="0">
            <a:spAutoFit/>
          </a:bodyPr>
          <a:lstStyle/>
          <a:p>
            <a:pPr algn="ctr">
              <a:lnSpc>
                <a:spcPct val="100000"/>
              </a:lnSpc>
            </a:pPr>
            <a:r>
              <a:rPr sz="1200" b="1" lang="zh-TW">
                <a:solidFill>
                  <a:srgbClr val="0F766E"/>
                </a:solidFill>
                <a:latin typeface="Segoe UI"/>
                <a:ea typeface="Segoe UI"/>
              </a:rPr>
              <a:t>2</a:t>
            </a:r>
          </a:p>
        </p:txBody>
      </p:sp>
      <p:sp>
        <p:nvSpPr>
          <p:cNvPr id="27" name="TextBox 26"/>
          <p:cNvSpPr txBox="1"/>
          <p:nvPr/>
        </p:nvSpPr>
        <p:spPr>
          <a:xfrm>
            <a:off x="9098280" y="2249424"/>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17 類偵測</a:t>
            </a:r>
          </a:p>
        </p:txBody>
      </p:sp>
      <p:sp>
        <p:nvSpPr>
          <p:cNvPr id="28" name="TextBox 27"/>
          <p:cNvSpPr txBox="1"/>
          <p:nvPr/>
        </p:nvSpPr>
        <p:spPr>
          <a:xfrm>
            <a:off x="9098280" y="2569464"/>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CTBM ＋ PBCNN</a:t>
            </a:r>
          </a:p>
        </p:txBody>
      </p:sp>
      <p:cxnSp>
        <p:nvCxnSpPr>
          <p:cNvPr id="29" name="Connector 28"/>
          <p:cNvCxnSpPr/>
          <p:nvPr/>
        </p:nvCxnSpPr>
        <p:spPr>
          <a:xfrm>
            <a:off x="8668512" y="3557016"/>
            <a:ext cx="0" cy="448056"/>
          </a:xfrm>
          <a:prstGeom prst="line">
            <a:avLst/>
          </a:prstGeom>
          <a:ln w="25400">
            <a:solidFill>
              <a:srgbClr val="C9D3E3"/>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8467344" y="3154680"/>
            <a:ext cx="402336" cy="402336"/>
          </a:xfrm>
          <a:prstGeom prst="ellipse">
            <a:avLst/>
          </a:prstGeom>
          <a:solidFill>
            <a:srgbClr val="FFFFFF"/>
          </a:solidFill>
          <a:ln w="254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67344" y="3227832"/>
            <a:ext cx="402336" cy="274320"/>
          </a:xfrm>
          <a:prstGeom prst="rect">
            <a:avLst/>
          </a:prstGeom>
          <a:noFill/>
        </p:spPr>
        <p:txBody>
          <a:bodyPr wrap="square" anchor="t" lIns="0" rIns="0" tIns="0" bIns="0">
            <a:spAutoFit/>
          </a:bodyPr>
          <a:lstStyle/>
          <a:p>
            <a:pPr algn="ctr">
              <a:lnSpc>
                <a:spcPct val="100000"/>
              </a:lnSpc>
            </a:pPr>
            <a:r>
              <a:rPr sz="1200" b="1" lang="zh-TW">
                <a:solidFill>
                  <a:srgbClr val="6D28D9"/>
                </a:solidFill>
                <a:latin typeface="Segoe UI"/>
                <a:ea typeface="Segoe UI"/>
              </a:rPr>
              <a:t>3</a:t>
            </a:r>
          </a:p>
        </p:txBody>
      </p:sp>
      <p:sp>
        <p:nvSpPr>
          <p:cNvPr id="32" name="TextBox 31"/>
          <p:cNvSpPr txBox="1"/>
          <p:nvPr/>
        </p:nvSpPr>
        <p:spPr>
          <a:xfrm>
            <a:off x="9098280" y="3099816"/>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Top-5 檢索</a:t>
            </a:r>
          </a:p>
        </p:txBody>
      </p:sp>
      <p:sp>
        <p:nvSpPr>
          <p:cNvPr id="33" name="TextBox 32"/>
          <p:cNvSpPr txBox="1"/>
          <p:nvPr/>
        </p:nvSpPr>
        <p:spPr>
          <a:xfrm>
            <a:off x="9098280" y="3419856"/>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529 維任務向量</a:t>
            </a:r>
          </a:p>
        </p:txBody>
      </p:sp>
      <p:cxnSp>
        <p:nvCxnSpPr>
          <p:cNvPr id="34" name="Connector 33"/>
          <p:cNvCxnSpPr/>
          <p:nvPr/>
        </p:nvCxnSpPr>
        <p:spPr>
          <a:xfrm>
            <a:off x="8668512" y="4407408"/>
            <a:ext cx="0" cy="448056"/>
          </a:xfrm>
          <a:prstGeom prst="line">
            <a:avLst/>
          </a:prstGeom>
          <a:ln w="25400">
            <a:solidFill>
              <a:srgbClr val="C9D3E3"/>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467344" y="4005072"/>
            <a:ext cx="402336" cy="402336"/>
          </a:xfrm>
          <a:prstGeom prst="ellipse">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67344" y="4078224"/>
            <a:ext cx="402336" cy="274320"/>
          </a:xfrm>
          <a:prstGeom prst="rect">
            <a:avLst/>
          </a:prstGeom>
          <a:noFill/>
        </p:spPr>
        <p:txBody>
          <a:bodyPr wrap="square" anchor="t" lIns="0" rIns="0" tIns="0" bIns="0">
            <a:spAutoFit/>
          </a:bodyPr>
          <a:lstStyle/>
          <a:p>
            <a:pPr algn="ctr">
              <a:lnSpc>
                <a:spcPct val="100000"/>
              </a:lnSpc>
            </a:pPr>
            <a:r>
              <a:rPr sz="1200" b="1" lang="zh-TW">
                <a:solidFill>
                  <a:srgbClr val="B45309"/>
                </a:solidFill>
                <a:latin typeface="Segoe UI"/>
                <a:ea typeface="Segoe UI"/>
              </a:rPr>
              <a:t>4</a:t>
            </a:r>
          </a:p>
        </p:txBody>
      </p:sp>
      <p:sp>
        <p:nvSpPr>
          <p:cNvPr id="37" name="TextBox 36"/>
          <p:cNvSpPr txBox="1"/>
          <p:nvPr/>
        </p:nvSpPr>
        <p:spPr>
          <a:xfrm>
            <a:off x="9098280" y="3950208"/>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AI 稽核</a:t>
            </a:r>
          </a:p>
        </p:txBody>
      </p:sp>
      <p:sp>
        <p:nvSpPr>
          <p:cNvPr id="38" name="TextBox 37"/>
          <p:cNvSpPr txBox="1"/>
          <p:nvPr/>
        </p:nvSpPr>
        <p:spPr>
          <a:xfrm>
            <a:off x="9098280" y="4270248"/>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支持・複核・不確定</a:t>
            </a:r>
          </a:p>
        </p:txBody>
      </p:sp>
      <p:cxnSp>
        <p:nvCxnSpPr>
          <p:cNvPr id="39" name="Connector 38"/>
          <p:cNvCxnSpPr/>
          <p:nvPr/>
        </p:nvCxnSpPr>
        <p:spPr>
          <a:xfrm>
            <a:off x="8668512" y="5257800"/>
            <a:ext cx="0" cy="448056"/>
          </a:xfrm>
          <a:prstGeom prst="line">
            <a:avLst/>
          </a:prstGeom>
          <a:ln w="25400">
            <a:solidFill>
              <a:srgbClr val="C9D3E3"/>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8467344" y="4855464"/>
            <a:ext cx="402336" cy="402336"/>
          </a:xfrm>
          <a:prstGeom prst="ellipse">
            <a:avLst/>
          </a:prstGeom>
          <a:solidFill>
            <a:srgbClr val="FFFFFF"/>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67344" y="4928616"/>
            <a:ext cx="402336" cy="274320"/>
          </a:xfrm>
          <a:prstGeom prst="rect">
            <a:avLst/>
          </a:prstGeom>
          <a:noFill/>
        </p:spPr>
        <p:txBody>
          <a:bodyPr wrap="square" anchor="t" lIns="0" rIns="0" tIns="0" bIns="0">
            <a:spAutoFit/>
          </a:bodyPr>
          <a:lstStyle/>
          <a:p>
            <a:pPr algn="ctr">
              <a:lnSpc>
                <a:spcPct val="100000"/>
              </a:lnSpc>
            </a:pPr>
            <a:r>
              <a:rPr sz="1200" b="1" lang="zh-TW">
                <a:solidFill>
                  <a:srgbClr val="C2410C"/>
                </a:solidFill>
                <a:latin typeface="Segoe UI"/>
                <a:ea typeface="Segoe UI"/>
              </a:rPr>
              <a:t>5</a:t>
            </a:r>
          </a:p>
        </p:txBody>
      </p:sp>
      <p:sp>
        <p:nvSpPr>
          <p:cNvPr id="42" name="TextBox 41"/>
          <p:cNvSpPr txBox="1"/>
          <p:nvPr/>
        </p:nvSpPr>
        <p:spPr>
          <a:xfrm>
            <a:off x="9098280" y="4800600"/>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受控處置</a:t>
            </a:r>
          </a:p>
        </p:txBody>
      </p:sp>
      <p:sp>
        <p:nvSpPr>
          <p:cNvPr id="43" name="TextBox 42"/>
          <p:cNvSpPr txBox="1"/>
          <p:nvPr/>
        </p:nvSpPr>
        <p:spPr>
          <a:xfrm>
            <a:off x="9098280" y="5120640"/>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Policy Guard・TTL</a:t>
            </a:r>
          </a:p>
        </p:txBody>
      </p:sp>
      <p:sp>
        <p:nvSpPr>
          <p:cNvPr id="44" name="Oval 43"/>
          <p:cNvSpPr/>
          <p:nvPr/>
        </p:nvSpPr>
        <p:spPr>
          <a:xfrm>
            <a:off x="8467344" y="5705856"/>
            <a:ext cx="402336" cy="402336"/>
          </a:xfrm>
          <a:prstGeom prst="ellipse">
            <a:avLst/>
          </a:prstGeom>
          <a:solidFill>
            <a:srgbClr val="FFFFFF"/>
          </a:solidFill>
          <a:ln w="25400">
            <a:solidFill>
              <a:srgbClr val="0B1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67344" y="5779008"/>
            <a:ext cx="402336" cy="274320"/>
          </a:xfrm>
          <a:prstGeom prst="rect">
            <a:avLst/>
          </a:prstGeom>
          <a:noFill/>
        </p:spPr>
        <p:txBody>
          <a:bodyPr wrap="square" anchor="t" lIns="0" rIns="0" tIns="0" bIns="0">
            <a:spAutoFit/>
          </a:bodyPr>
          <a:lstStyle/>
          <a:p>
            <a:pPr algn="ctr">
              <a:lnSpc>
                <a:spcPct val="100000"/>
              </a:lnSpc>
            </a:pPr>
            <a:r>
              <a:rPr sz="1200" b="1" lang="zh-TW">
                <a:solidFill>
                  <a:srgbClr val="0B1B33"/>
                </a:solidFill>
                <a:latin typeface="Segoe UI"/>
                <a:ea typeface="Segoe UI"/>
              </a:rPr>
              <a:t>6</a:t>
            </a:r>
          </a:p>
        </p:txBody>
      </p:sp>
      <p:sp>
        <p:nvSpPr>
          <p:cNvPr id="46" name="TextBox 45"/>
          <p:cNvSpPr txBox="1"/>
          <p:nvPr/>
        </p:nvSpPr>
        <p:spPr>
          <a:xfrm>
            <a:off x="9098280" y="5650992"/>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事件輸出</a:t>
            </a:r>
          </a:p>
        </p:txBody>
      </p:sp>
      <p:sp>
        <p:nvSpPr>
          <p:cNvPr id="47" name="TextBox 46"/>
          <p:cNvSpPr txBox="1"/>
          <p:nvPr/>
        </p:nvSpPr>
        <p:spPr>
          <a:xfrm>
            <a:off x="9098280" y="5971032"/>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雜湊鏈回條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01　問題與解方</a:t>
            </a:r>
          </a:p>
        </p:txBody>
      </p:sp>
      <p:sp>
        <p:nvSpPr>
          <p:cNvPr id="5" name="TextBox 4"/>
          <p:cNvSpPr txBox="1"/>
          <p:nvPr/>
        </p:nvSpPr>
        <p:spPr>
          <a:xfrm>
            <a:off x="548640" y="603504"/>
            <a:ext cx="10515600" cy="548640"/>
          </a:xfrm>
          <a:prstGeom prst="rect">
            <a:avLst/>
          </a:prstGeom>
          <a:noFill/>
        </p:spPr>
        <p:txBody>
          <a:bodyPr wrap="square" anchor="t" lIns="0" rIns="0" tIns="0" bIns="0">
            <a:spAutoFit/>
          </a:bodyPr>
          <a:lstStyle/>
          <a:p>
            <a:pPr algn="l">
              <a:lnSpc>
                <a:spcPct val="110000"/>
              </a:lnSpc>
            </a:pPr>
            <a:r>
              <a:rPr sz="3200" b="1" lang="zh-TW">
                <a:solidFill>
                  <a:srgbClr val="0B1B33"/>
                </a:solidFill>
                <a:latin typeface="Microsoft JhengHei"/>
                <a:ea typeface="Microsoft JhengHei"/>
              </a:rPr>
              <a:t>告警只有標籤，查證與處置全靠人工</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02 / 08</a:t>
            </a:r>
          </a:p>
        </p:txBody>
      </p:sp>
      <p:sp>
        <p:nvSpPr>
          <p:cNvPr id="8" name="Rounded Rectangle 7"/>
          <p:cNvSpPr/>
          <p:nvPr/>
        </p:nvSpPr>
        <p:spPr>
          <a:xfrm>
            <a:off x="548640" y="1417320"/>
            <a:ext cx="3547872" cy="86868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417320"/>
            <a:ext cx="73152" cy="868680"/>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517904"/>
            <a:ext cx="3200400" cy="365760"/>
          </a:xfrm>
          <a:prstGeom prst="rect">
            <a:avLst/>
          </a:prstGeom>
          <a:noFill/>
        </p:spPr>
        <p:txBody>
          <a:bodyPr wrap="square" anchor="t" lIns="0" rIns="0" tIns="0" bIns="0">
            <a:spAutoFit/>
          </a:bodyPr>
          <a:lstStyle/>
          <a:p>
            <a:pPr algn="l">
              <a:lnSpc>
                <a:spcPct val="100000"/>
              </a:lnSpc>
            </a:pPr>
            <a:r>
              <a:rPr sz="2000" b="1" lang="zh-TW">
                <a:solidFill>
                  <a:srgbClr val="B42318"/>
                </a:solidFill>
                <a:latin typeface="Microsoft JhengHei"/>
                <a:ea typeface="Microsoft JhengHei"/>
              </a:rPr>
              <a:t>缺乏佐證</a:t>
            </a:r>
          </a:p>
        </p:txBody>
      </p:sp>
      <p:sp>
        <p:nvSpPr>
          <p:cNvPr id="11" name="TextBox 10"/>
          <p:cNvSpPr txBox="1"/>
          <p:nvPr/>
        </p:nvSpPr>
        <p:spPr>
          <a:xfrm>
            <a:off x="822959" y="1901952"/>
            <a:ext cx="320040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告警只給類別與分數</a:t>
            </a:r>
          </a:p>
        </p:txBody>
      </p:sp>
      <p:sp>
        <p:nvSpPr>
          <p:cNvPr id="12" name="Rounded Rectangle 11"/>
          <p:cNvSpPr/>
          <p:nvPr/>
        </p:nvSpPr>
        <p:spPr>
          <a:xfrm>
            <a:off x="4279392" y="1417320"/>
            <a:ext cx="3547872" cy="86868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417320"/>
            <a:ext cx="73152" cy="8686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517904"/>
            <a:ext cx="3200400" cy="365760"/>
          </a:xfrm>
          <a:prstGeom prst="rect">
            <a:avLst/>
          </a:prstGeom>
          <a:noFill/>
        </p:spPr>
        <p:txBody>
          <a:bodyPr wrap="square" anchor="t" lIns="0" rIns="0" tIns="0" bIns="0">
            <a:spAutoFit/>
          </a:bodyPr>
          <a:lstStyle/>
          <a:p>
            <a:pPr algn="l">
              <a:lnSpc>
                <a:spcPct val="100000"/>
              </a:lnSpc>
            </a:pPr>
            <a:r>
              <a:rPr sz="2000" b="1" lang="zh-TW">
                <a:solidFill>
                  <a:srgbClr val="B45309"/>
                </a:solidFill>
                <a:latin typeface="Microsoft JhengHei"/>
                <a:ea typeface="Microsoft JhengHei"/>
              </a:rPr>
              <a:t>查證耗時</a:t>
            </a:r>
          </a:p>
        </p:txBody>
      </p:sp>
      <p:sp>
        <p:nvSpPr>
          <p:cNvPr id="15" name="TextBox 14"/>
          <p:cNvSpPr txBox="1"/>
          <p:nvPr/>
        </p:nvSpPr>
        <p:spPr>
          <a:xfrm>
            <a:off x="4553712" y="1901952"/>
            <a:ext cx="320040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人工調閱日誌比對</a:t>
            </a:r>
          </a:p>
        </p:txBody>
      </p:sp>
      <p:sp>
        <p:nvSpPr>
          <p:cNvPr id="16" name="Rounded Rectangle 15"/>
          <p:cNvSpPr/>
          <p:nvPr/>
        </p:nvSpPr>
        <p:spPr>
          <a:xfrm>
            <a:off x="8010144" y="1417320"/>
            <a:ext cx="3547872" cy="86868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10144" y="1417320"/>
            <a:ext cx="73152" cy="8686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1517904"/>
            <a:ext cx="3200400" cy="365760"/>
          </a:xfrm>
          <a:prstGeom prst="rect">
            <a:avLst/>
          </a:prstGeom>
          <a:noFill/>
        </p:spPr>
        <p:txBody>
          <a:bodyPr wrap="square" anchor="t" lIns="0" rIns="0" tIns="0" bIns="0">
            <a:spAutoFit/>
          </a:bodyPr>
          <a:lstStyle/>
          <a:p>
            <a:pPr algn="l">
              <a:lnSpc>
                <a:spcPct val="100000"/>
              </a:lnSpc>
            </a:pPr>
            <a:r>
              <a:rPr sz="2000" b="1" lang="zh-TW">
                <a:solidFill>
                  <a:srgbClr val="C2410C"/>
                </a:solidFill>
                <a:latin typeface="Microsoft JhengHei"/>
                <a:ea typeface="Microsoft JhengHei"/>
              </a:rPr>
              <a:t>誤阻斷風險</a:t>
            </a:r>
          </a:p>
        </p:txBody>
      </p:sp>
      <p:sp>
        <p:nvSpPr>
          <p:cNvPr id="19" name="TextBox 18"/>
          <p:cNvSpPr txBox="1"/>
          <p:nvPr/>
        </p:nvSpPr>
        <p:spPr>
          <a:xfrm>
            <a:off x="8284464" y="1901952"/>
            <a:ext cx="320040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手動下規則、撤銷易遺漏</a:t>
            </a:r>
          </a:p>
        </p:txBody>
      </p:sp>
      <p:pic>
        <p:nvPicPr>
          <p:cNvPr id="20" name="Picture 19" descr="fig_problem.png"/>
          <p:cNvPicPr>
            <a:picLocks noChangeAspect="1"/>
          </p:cNvPicPr>
          <p:nvPr/>
        </p:nvPicPr>
        <p:blipFill>
          <a:blip r:embed="rId2"/>
          <a:stretch>
            <a:fillRect/>
          </a:stretch>
        </p:blipFill>
        <p:spPr>
          <a:xfrm>
            <a:off x="548640" y="2468880"/>
            <a:ext cx="11091672" cy="3882085"/>
          </a:xfrm>
          <a:prstGeom prst="rect">
            <a:avLst/>
          </a:prstGeom>
        </p:spPr>
      </p:pic>
      <p:sp>
        <p:nvSpPr>
          <p:cNvPr id="21" name="TextBox 20"/>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本框架以同一事件識別碼串接偵測、證據、稽核與處置，任何一段未通過檢核即降級為人工複核。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02　系統架構</a:t>
            </a:r>
          </a:p>
        </p:txBody>
      </p:sp>
      <p:sp>
        <p:nvSpPr>
          <p:cNvPr id="5" name="TextBox 4"/>
          <p:cNvSpPr/>
          <p:nvPr/>
        </p:nvSpPr>
        <p:spPr>
          <a:xfrm>
            <a:off x="548640" y="603504"/>
            <a:ext cx="10515600" cy="548640"/>
          </a:xfrm>
          <a:prstGeom prst="rect">
            <a:avLst/>
          </a:prstGeom>
          <a:noFill/>
          <a:ln>
            <a:noFill/>
          </a:ln>
        </p:spPr>
        <p:txBody>
          <a:bodyPr wrap="none" lIns="0" tIns="12700" rIns="0" bIns="0" anchor="t" anchorCtr="0">
            <a:noAutofit/>
          </a:bodyPr>
          <a:lstStyle/>
          <a:p>
            <a:pPr algn="l"/>
            <a:r>
              <a:rPr lang="zh-TW" sz="3200" b="1" dirty="0">
                <a:solidFill>
                  <a:srgbClr val="0B1B33"/>
                </a:solidFill>
                <a:latin typeface="Microsoft JhengHei"/>
                <a:ea typeface="Microsoft JhengHei"/>
                <a:cs typeface="Microsoft JhengHei"/>
              </a:rPr>
              <a:t>四階段事件鏈：判定、證據、受控處置</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03 / 08</a:t>
            </a:r>
          </a:p>
        </p:txBody>
      </p:sp>
      <p:pic>
        <p:nvPicPr>
          <p:cNvPr id="8" name="Picture 7" descr="fig_architecture.png"/>
          <p:cNvPicPr>
            <a:picLocks noChangeAspect="1"/>
          </p:cNvPicPr>
          <p:nvPr/>
        </p:nvPicPr>
        <p:blipFill>
          <a:blip r:embed="rId2"/>
          <a:stretch>
            <a:fillRect/>
          </a:stretch>
        </p:blipFill>
        <p:spPr>
          <a:xfrm>
            <a:off x="1272387" y="1325880"/>
            <a:ext cx="9646920" cy="506463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03　核心技術創新</a:t>
            </a:r>
          </a:p>
        </p:txBody>
      </p:sp>
      <p:sp>
        <p:nvSpPr>
          <p:cNvPr id="5" name="TextBox 4"/>
          <p:cNvSpPr txBox="1"/>
          <p:nvPr/>
        </p:nvSpPr>
        <p:spPr>
          <a:xfrm>
            <a:off x="548640" y="603504"/>
            <a:ext cx="10515600" cy="548640"/>
          </a:xfrm>
          <a:prstGeom prst="rect">
            <a:avLst/>
          </a:prstGeom>
          <a:noFill/>
        </p:spPr>
        <p:txBody>
          <a:bodyPr wrap="square" anchor="t" lIns="0" rIns="0" tIns="0" bIns="0">
            <a:spAutoFit/>
          </a:bodyPr>
          <a:lstStyle/>
          <a:p>
            <a:pPr algn="l">
              <a:lnSpc>
                <a:spcPct val="110000"/>
              </a:lnSpc>
            </a:pPr>
            <a:r>
              <a:rPr sz="3200" b="1" lang="zh-TW">
                <a:solidFill>
                  <a:srgbClr val="0B1B33"/>
                </a:solidFill>
                <a:latin typeface="Microsoft JhengHei"/>
                <a:ea typeface="Microsoft JhengHei"/>
              </a:rPr>
              <a:t>三項創新，各自解決一個關鍵瓶頸</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04 / 08</a:t>
            </a:r>
          </a:p>
        </p:txBody>
      </p:sp>
      <p:sp>
        <p:nvSpPr>
          <p:cNvPr id="8" name="Rounded Rectangle 7"/>
          <p:cNvSpPr/>
          <p:nvPr/>
        </p:nvSpPr>
        <p:spPr>
          <a:xfrm>
            <a:off x="548640" y="1417320"/>
            <a:ext cx="3547872" cy="484632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417320"/>
            <a:ext cx="3547872" cy="6400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645920"/>
            <a:ext cx="914400" cy="411480"/>
          </a:xfrm>
          <a:prstGeom prst="rect">
            <a:avLst/>
          </a:prstGeom>
          <a:noFill/>
        </p:spPr>
        <p:txBody>
          <a:bodyPr wrap="square" anchor="t" lIns="0" rIns="0" tIns="0" bIns="0">
            <a:spAutoFit/>
          </a:bodyPr>
          <a:lstStyle/>
          <a:p>
            <a:pPr algn="l">
              <a:lnSpc>
                <a:spcPct val="100000"/>
              </a:lnSpc>
            </a:pPr>
            <a:r>
              <a:rPr sz="2400" b="1" lang="zh-TW">
                <a:solidFill>
                  <a:srgbClr val="1D4ED8"/>
                </a:solidFill>
                <a:latin typeface="Segoe UI"/>
                <a:ea typeface="Segoe UI"/>
              </a:rPr>
              <a:t>01</a:t>
            </a:r>
          </a:p>
        </p:txBody>
      </p:sp>
      <p:sp>
        <p:nvSpPr>
          <p:cNvPr id="11" name="TextBox 10"/>
          <p:cNvSpPr txBox="1"/>
          <p:nvPr/>
        </p:nvSpPr>
        <p:spPr>
          <a:xfrm>
            <a:off x="822959" y="2103120"/>
            <a:ext cx="3108960" cy="365760"/>
          </a:xfrm>
          <a:prstGeom prst="rect">
            <a:avLst/>
          </a:prstGeom>
          <a:noFill/>
        </p:spPr>
        <p:txBody>
          <a:bodyPr wrap="square" anchor="t" lIns="0" rIns="0" tIns="0" bIns="0">
            <a:spAutoFit/>
          </a:bodyPr>
          <a:lstStyle/>
          <a:p>
            <a:pPr algn="l">
              <a:lnSpc>
                <a:spcPct val="100000"/>
              </a:lnSpc>
            </a:pPr>
            <a:r>
              <a:rPr sz="2000" b="1" lang="zh-TW">
                <a:solidFill>
                  <a:srgbClr val="0B1B33"/>
                </a:solidFill>
                <a:latin typeface="Microsoft JhengHei"/>
                <a:ea typeface="Microsoft JhengHei"/>
              </a:rPr>
              <a:t>內容相依時序方向偵測</a:t>
            </a:r>
          </a:p>
        </p:txBody>
      </p:sp>
      <p:sp>
        <p:nvSpPr>
          <p:cNvPr id="12" name="TextBox 11"/>
          <p:cNvSpPr/>
          <p:nvPr/>
        </p:nvSpPr>
        <p:spPr>
          <a:xfrm>
            <a:off x="822960" y="2542032"/>
            <a:ext cx="3108960" cy="274320"/>
          </a:xfrm>
          <a:prstGeom prst="rect">
            <a:avLst/>
          </a:prstGeom>
          <a:noFill/>
          <a:ln>
            <a:noFill/>
          </a:ln>
        </p:spPr>
        <p:txBody>
          <a:bodyPr wrap="none" lIns="0" tIns="0" rIns="0" bIns="0" anchor="t" anchorCtr="0">
            <a:noAutofit/>
          </a:bodyPr>
          <a:lstStyle/>
          <a:p>
            <a:pPr algn="l"/>
            <a:r>
              <a:rPr lang="zh-TW" sz="1400" dirty="0">
                <a:solidFill>
                  <a:srgbClr val="5B6B82"/>
                </a:solidFill>
                <a:latin typeface="Microsoft JhengHei"/>
                <a:ea typeface="Microsoft JhengHei"/>
                <a:cs typeface="Microsoft JhengHei"/>
              </a:rPr>
              <a:t>重點：三種特徵與雙分支互補</a:t>
            </a:r>
          </a:p>
        </p:txBody>
      </p:sp>
      <p:sp>
        <p:nvSpPr>
          <p:cNvPr id="13" name="Oval 12"/>
          <p:cNvSpPr/>
          <p:nvPr/>
        </p:nvSpPr>
        <p:spPr>
          <a:xfrm>
            <a:off x="841247" y="3108960"/>
            <a:ext cx="109728" cy="10972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30175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CTBM：內容×時間差×方向</a:t>
            </a:r>
          </a:p>
        </p:txBody>
      </p:sp>
      <p:sp>
        <p:nvSpPr>
          <p:cNvPr id="15" name="Oval 14"/>
          <p:cNvSpPr/>
          <p:nvPr/>
        </p:nvSpPr>
        <p:spPr>
          <a:xfrm>
            <a:off x="841247" y="3566160"/>
            <a:ext cx="109728" cy="10972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4747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PBCNN：短窗位元組模式</a:t>
            </a:r>
          </a:p>
        </p:txBody>
      </p:sp>
      <p:sp>
        <p:nvSpPr>
          <p:cNvPr id="17" name="Oval 16"/>
          <p:cNvSpPr/>
          <p:nvPr/>
        </p:nvSpPr>
        <p:spPr>
          <a:xfrm>
            <a:off x="841247" y="4023359"/>
            <a:ext cx="109728" cy="10972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39319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溫度校準＋OOF Gate 融合</a:t>
            </a:r>
          </a:p>
        </p:txBody>
      </p:sp>
      <p:sp>
        <p:nvSpPr>
          <p:cNvPr id="19" name="Oval 18"/>
          <p:cNvSpPr/>
          <p:nvPr/>
        </p:nvSpPr>
        <p:spPr>
          <a:xfrm>
            <a:off x="841247" y="4480559"/>
            <a:ext cx="109728" cy="10972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43891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class-F1 guard 保護少數類別</a:t>
            </a:r>
          </a:p>
        </p:txBody>
      </p:sp>
      <p:sp>
        <p:nvSpPr>
          <p:cNvPr id="21" name="Rounded Rectangle 20"/>
          <p:cNvSpPr/>
          <p:nvPr/>
        </p:nvSpPr>
        <p:spPr>
          <a:xfrm>
            <a:off x="777240" y="5029200"/>
            <a:ext cx="3090672" cy="1051560"/>
          </a:xfrm>
          <a:prstGeom prst="roundRect">
            <a:avLst>
              <a:gd name="adj" fmla="val 10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5120640"/>
            <a:ext cx="2743200" cy="548640"/>
          </a:xfrm>
          <a:prstGeom prst="rect">
            <a:avLst/>
          </a:prstGeom>
          <a:noFill/>
        </p:spPr>
        <p:txBody>
          <a:bodyPr wrap="square" anchor="t" lIns="0" rIns="0" tIns="0" bIns="0">
            <a:spAutoFit/>
          </a:bodyPr>
          <a:lstStyle/>
          <a:p>
            <a:pPr algn="l">
              <a:lnSpc>
                <a:spcPct val="100000"/>
              </a:lnSpc>
            </a:pPr>
            <a:r>
              <a:rPr sz="3000" b="1" lang="zh-TW">
                <a:solidFill>
                  <a:srgbClr val="1D4ED8"/>
                </a:solidFill>
                <a:latin typeface="Segoe UI"/>
                <a:ea typeface="Segoe UI"/>
              </a:rPr>
              <a:t>93.05%</a:t>
            </a:r>
          </a:p>
        </p:txBody>
      </p:sp>
      <p:sp>
        <p:nvSpPr>
          <p:cNvPr id="23" name="TextBox 22"/>
          <p:cNvSpPr txBox="1"/>
          <p:nvPr/>
        </p:nvSpPr>
        <p:spPr>
          <a:xfrm>
            <a:off x="960120" y="5669280"/>
            <a:ext cx="274320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Macro-F1（17 類）</a:t>
            </a:r>
          </a:p>
        </p:txBody>
      </p:sp>
      <p:sp>
        <p:nvSpPr>
          <p:cNvPr id="24" name="Rounded Rectangle 23"/>
          <p:cNvSpPr/>
          <p:nvPr/>
        </p:nvSpPr>
        <p:spPr>
          <a:xfrm>
            <a:off x="4279392" y="1417320"/>
            <a:ext cx="3547872" cy="484632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79392" y="1417320"/>
            <a:ext cx="3547872"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1645920"/>
            <a:ext cx="914400" cy="411480"/>
          </a:xfrm>
          <a:prstGeom prst="rect">
            <a:avLst/>
          </a:prstGeom>
          <a:noFill/>
        </p:spPr>
        <p:txBody>
          <a:bodyPr wrap="square" anchor="t" lIns="0" rIns="0" tIns="0" bIns="0">
            <a:spAutoFit/>
          </a:bodyPr>
          <a:lstStyle/>
          <a:p>
            <a:pPr algn="l">
              <a:lnSpc>
                <a:spcPct val="100000"/>
              </a:lnSpc>
            </a:pPr>
            <a:r>
              <a:rPr sz="2400" b="1" lang="zh-TW">
                <a:solidFill>
                  <a:srgbClr val="6D28D9"/>
                </a:solidFill>
                <a:latin typeface="Segoe UI"/>
                <a:ea typeface="Segoe UI"/>
              </a:rPr>
              <a:t>02</a:t>
            </a:r>
          </a:p>
        </p:txBody>
      </p:sp>
      <p:sp>
        <p:nvSpPr>
          <p:cNvPr id="27" name="TextBox 26"/>
          <p:cNvSpPr txBox="1"/>
          <p:nvPr/>
        </p:nvSpPr>
        <p:spPr>
          <a:xfrm>
            <a:off x="4553712" y="2103120"/>
            <a:ext cx="3108960" cy="365760"/>
          </a:xfrm>
          <a:prstGeom prst="rect">
            <a:avLst/>
          </a:prstGeom>
          <a:noFill/>
        </p:spPr>
        <p:txBody>
          <a:bodyPr wrap="square" anchor="t" lIns="0" rIns="0" tIns="0" bIns="0">
            <a:spAutoFit/>
          </a:bodyPr>
          <a:lstStyle/>
          <a:p>
            <a:pPr algn="l">
              <a:lnSpc>
                <a:spcPct val="100000"/>
              </a:lnSpc>
            </a:pPr>
            <a:r>
              <a:rPr sz="2000" b="1" lang="zh-TW">
                <a:solidFill>
                  <a:srgbClr val="0B1B33"/>
                </a:solidFill>
                <a:latin typeface="Microsoft JhengHei"/>
                <a:ea typeface="Microsoft JhengHei"/>
              </a:rPr>
              <a:t>任務導向證據檢索</a:t>
            </a:r>
          </a:p>
        </p:txBody>
      </p:sp>
      <p:sp>
        <p:nvSpPr>
          <p:cNvPr id="28" name="TextBox 27"/>
          <p:cNvSpPr txBox="1"/>
          <p:nvPr/>
        </p:nvSpPr>
        <p:spPr>
          <a:xfrm>
            <a:off x="4553712" y="2542032"/>
            <a:ext cx="310896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解決：判定沒有可回查依據</a:t>
            </a:r>
          </a:p>
        </p:txBody>
      </p:sp>
      <p:sp>
        <p:nvSpPr>
          <p:cNvPr id="29" name="Oval 28"/>
          <p:cNvSpPr/>
          <p:nvPr/>
        </p:nvSpPr>
        <p:spPr>
          <a:xfrm>
            <a:off x="4572000" y="3108960"/>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9744" y="30175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529 維任務向量＝表徵 ∥ 機率</a:t>
            </a:r>
          </a:p>
        </p:txBody>
      </p:sp>
      <p:sp>
        <p:nvSpPr>
          <p:cNvPr id="31" name="Oval 30"/>
          <p:cNvSpPr/>
          <p:nvPr/>
        </p:nvSpPr>
        <p:spPr>
          <a:xfrm>
            <a:off x="4572000" y="3566160"/>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09744" y="34747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L2 正規化＋餘弦相似度</a:t>
            </a:r>
          </a:p>
        </p:txBody>
      </p:sp>
      <p:sp>
        <p:nvSpPr>
          <p:cNvPr id="33" name="Oval 32"/>
          <p:cNvSpPr/>
          <p:nvPr/>
        </p:nvSpPr>
        <p:spPr>
          <a:xfrm>
            <a:off x="4572000" y="4023359"/>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09744" y="39319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只查訓練資料案例庫</a:t>
            </a:r>
          </a:p>
        </p:txBody>
      </p:sp>
      <p:sp>
        <p:nvSpPr>
          <p:cNvPr id="35" name="Oval 34"/>
          <p:cNvSpPr/>
          <p:nvPr/>
        </p:nvSpPr>
        <p:spPr>
          <a:xfrm>
            <a:off x="4572000" y="4480559"/>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09744" y="43891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檢索中位數 1.01 ms</a:t>
            </a:r>
          </a:p>
        </p:txBody>
      </p:sp>
      <p:sp>
        <p:nvSpPr>
          <p:cNvPr id="37" name="Rounded Rectangle 36"/>
          <p:cNvSpPr/>
          <p:nvPr/>
        </p:nvSpPr>
        <p:spPr>
          <a:xfrm>
            <a:off x="4507992" y="5029200"/>
            <a:ext cx="3090672" cy="1051560"/>
          </a:xfrm>
          <a:prstGeom prst="roundRect">
            <a:avLst>
              <a:gd name="adj" fmla="val 10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p:nvPr/>
        </p:nvSpPr>
        <p:spPr>
          <a:xfrm>
            <a:off x="4690872" y="5120640"/>
            <a:ext cx="2743200" cy="548640"/>
          </a:xfrm>
          <a:prstGeom prst="rect">
            <a:avLst/>
          </a:prstGeom>
          <a:noFill/>
          <a:ln>
            <a:noFill/>
          </a:ln>
        </p:spPr>
        <p:txBody>
          <a:bodyPr wrap="none" lIns="0" tIns="0" rIns="0" bIns="0" anchor="t" anchorCtr="0">
            <a:noAutofit/>
          </a:bodyPr>
          <a:lstStyle/>
          <a:p>
            <a:pPr algn="l"/>
            <a:r>
              <a:rPr lang="zh-TW" sz="3000" b="1" dirty="0">
                <a:solidFill>
                  <a:srgbClr val="6D28D9"/>
                </a:solidFill>
                <a:latin typeface="Segoe UI"/>
                <a:ea typeface="Segoe UI"/>
                <a:cs typeface="Segoe UI"/>
              </a:rPr>
              <a:t>97.62%</a:t>
            </a:r>
          </a:p>
        </p:txBody>
      </p:sp>
      <p:sp>
        <p:nvSpPr>
          <p:cNvPr id="39" name="TextBox 38"/>
          <p:cNvSpPr txBox="1"/>
          <p:nvPr/>
        </p:nvSpPr>
        <p:spPr>
          <a:xfrm>
            <a:off x="4690872" y="5669280"/>
            <a:ext cx="274320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Top-5 命中率</a:t>
            </a:r>
          </a:p>
        </p:txBody>
      </p:sp>
      <p:sp>
        <p:nvSpPr>
          <p:cNvPr id="40" name="Rounded Rectangle 39"/>
          <p:cNvSpPr/>
          <p:nvPr/>
        </p:nvSpPr>
        <p:spPr>
          <a:xfrm>
            <a:off x="8010144" y="1417320"/>
            <a:ext cx="3547872" cy="484632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10144" y="1417320"/>
            <a:ext cx="3547872" cy="6400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84464" y="1645920"/>
            <a:ext cx="914400" cy="411480"/>
          </a:xfrm>
          <a:prstGeom prst="rect">
            <a:avLst/>
          </a:prstGeom>
          <a:noFill/>
        </p:spPr>
        <p:txBody>
          <a:bodyPr wrap="square" anchor="t" lIns="0" rIns="0" tIns="0" bIns="0">
            <a:spAutoFit/>
          </a:bodyPr>
          <a:lstStyle/>
          <a:p>
            <a:pPr algn="l">
              <a:lnSpc>
                <a:spcPct val="100000"/>
              </a:lnSpc>
            </a:pPr>
            <a:r>
              <a:rPr sz="2400" b="1" lang="zh-TW">
                <a:solidFill>
                  <a:srgbClr val="0F766E"/>
                </a:solidFill>
                <a:latin typeface="Segoe UI"/>
                <a:ea typeface="Segoe UI"/>
              </a:rPr>
              <a:t>03</a:t>
            </a:r>
          </a:p>
        </p:txBody>
      </p:sp>
      <p:sp>
        <p:nvSpPr>
          <p:cNvPr id="43" name="TextBox 42"/>
          <p:cNvSpPr txBox="1"/>
          <p:nvPr/>
        </p:nvSpPr>
        <p:spPr>
          <a:xfrm>
            <a:off x="8284464" y="2103120"/>
            <a:ext cx="3108960" cy="365760"/>
          </a:xfrm>
          <a:prstGeom prst="rect">
            <a:avLst/>
          </a:prstGeom>
          <a:noFill/>
        </p:spPr>
        <p:txBody>
          <a:bodyPr wrap="square" anchor="t" lIns="0" rIns="0" tIns="0" bIns="0">
            <a:spAutoFit/>
          </a:bodyPr>
          <a:lstStyle/>
          <a:p>
            <a:pPr algn="l">
              <a:lnSpc>
                <a:spcPct val="100000"/>
              </a:lnSpc>
            </a:pPr>
            <a:r>
              <a:rPr sz="2000" b="1" lang="zh-TW">
                <a:solidFill>
                  <a:srgbClr val="0B1B33"/>
                </a:solidFill>
                <a:latin typeface="Microsoft JhengHei"/>
                <a:ea typeface="Microsoft JhengHei"/>
              </a:rPr>
              <a:t>受控 AI 稽核與可回復處置</a:t>
            </a:r>
          </a:p>
        </p:txBody>
      </p:sp>
      <p:sp>
        <p:nvSpPr>
          <p:cNvPr id="44" name="TextBox 43"/>
          <p:cNvSpPr txBox="1"/>
          <p:nvPr/>
        </p:nvSpPr>
        <p:spPr>
          <a:xfrm>
            <a:off x="8284464" y="2542032"/>
            <a:ext cx="310896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解決：AI 幻覺與誤阻斷</a:t>
            </a:r>
          </a:p>
        </p:txBody>
      </p:sp>
      <p:sp>
        <p:nvSpPr>
          <p:cNvPr id="45" name="Oval 44"/>
          <p:cNvSpPr/>
          <p:nvPr/>
        </p:nvSpPr>
        <p:spPr>
          <a:xfrm>
            <a:off x="8302752" y="3108960"/>
            <a:ext cx="109728" cy="10972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0496" y="30175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本機 LLM 三態證據稽核</a:t>
            </a:r>
          </a:p>
        </p:txBody>
      </p:sp>
      <p:sp>
        <p:nvSpPr>
          <p:cNvPr id="47" name="Oval 46"/>
          <p:cNvSpPr/>
          <p:nvPr/>
        </p:nvSpPr>
        <p:spPr>
          <a:xfrm>
            <a:off x="8302752" y="3566160"/>
            <a:ext cx="109728" cy="10972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40496" y="34747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AI 不覆寫分類、不產生指令</a:t>
            </a:r>
          </a:p>
        </p:txBody>
      </p:sp>
      <p:sp>
        <p:nvSpPr>
          <p:cNvPr id="49" name="Oval 48"/>
          <p:cNvSpPr/>
          <p:nvPr/>
        </p:nvSpPr>
        <p:spPr>
          <a:xfrm>
            <a:off x="8302752" y="4023359"/>
            <a:ext cx="109728" cy="10972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40496" y="39319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Policy Guard 白名單＋門檻</a:t>
            </a:r>
          </a:p>
        </p:txBody>
      </p:sp>
      <p:sp>
        <p:nvSpPr>
          <p:cNvPr id="51" name="Oval 50"/>
          <p:cNvSpPr/>
          <p:nvPr/>
        </p:nvSpPr>
        <p:spPr>
          <a:xfrm>
            <a:off x="8302752" y="4480559"/>
            <a:ext cx="109728" cy="10972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40496" y="43891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TTL 到期撤銷與回復驗證</a:t>
            </a:r>
          </a:p>
        </p:txBody>
      </p:sp>
      <p:sp>
        <p:nvSpPr>
          <p:cNvPr id="53" name="Rounded Rectangle 52"/>
          <p:cNvSpPr/>
          <p:nvPr/>
        </p:nvSpPr>
        <p:spPr>
          <a:xfrm>
            <a:off x="8238744" y="5029200"/>
            <a:ext cx="3090672" cy="1051560"/>
          </a:xfrm>
          <a:prstGeom prst="roundRect">
            <a:avLst>
              <a:gd name="adj" fmla="val 10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p:nvPr/>
        </p:nvSpPr>
        <p:spPr>
          <a:xfrm>
            <a:off x="8421624" y="5120640"/>
            <a:ext cx="2743200" cy="548640"/>
          </a:xfrm>
          <a:prstGeom prst="rect">
            <a:avLst/>
          </a:prstGeom>
          <a:noFill/>
          <a:ln>
            <a:noFill/>
          </a:ln>
        </p:spPr>
        <p:txBody>
          <a:bodyPr wrap="none" lIns="0" tIns="0" rIns="0" bIns="0" anchor="t" anchorCtr="0">
            <a:noAutofit/>
          </a:bodyPr>
          <a:lstStyle/>
          <a:p>
            <a:pPr algn="l"/>
            <a:r>
              <a:rPr lang="zh-TW" sz="3000" b="1" dirty="0">
                <a:solidFill>
                  <a:srgbClr val="0F766E"/>
                </a:solidFill>
                <a:latin typeface="Segoe UI"/>
                <a:ea typeface="Segoe UI"/>
                <a:cs typeface="Segoe UI"/>
              </a:rPr>
              <a:t>0 / 463</a:t>
            </a:r>
          </a:p>
        </p:txBody>
      </p:sp>
      <p:sp>
        <p:nvSpPr>
          <p:cNvPr id="55" name="TextBox 54"/>
          <p:cNvSpPr/>
          <p:nvPr/>
        </p:nvSpPr>
        <p:spPr>
          <a:xfrm>
            <a:off x="8421624" y="5669280"/>
            <a:ext cx="2743200" cy="274320"/>
          </a:xfrm>
          <a:prstGeom prst="rect">
            <a:avLst/>
          </a:prstGeom>
          <a:noFill/>
          <a:ln>
            <a:noFill/>
          </a:ln>
        </p:spPr>
        <p:txBody>
          <a:bodyPr wrap="none" lIns="0" tIns="0" rIns="0" bIns="0" anchor="t" anchorCtr="0">
            <a:noAutofit/>
          </a:bodyPr>
          <a:lstStyle/>
          <a:p>
            <a:pPr algn="l"/>
            <a:r>
              <a:rPr lang="zh-TW" sz="1400" dirty="0">
                <a:solidFill>
                  <a:srgbClr val="5B6B82"/>
                </a:solidFill>
                <a:latin typeface="Microsoft JhengHei"/>
                <a:ea typeface="Microsoft JhengHei"/>
                <a:cs typeface="Microsoft JhengHei"/>
              </a:rPr>
              <a:t>AI改寫正式分類</a:t>
            </a:r>
          </a:p>
        </p:txBody>
      </p:sp>
    </p:spTree>
  </p:cSld>
  <p:clrMapOvr>
    <a:masterClrMapping/>
  </p:clrMapOvr>
</p:sld>
</file>

<file path=ppt/slides/slide5.xml><?xml version="1.0" encoding="utf-8"?>
<p:sld xmlns:a="http://schemas.openxmlformats.org/drawingml/2006/main" xmlns:p="http://schemas.openxmlformats.org/presentationml/2006/main" xmlns:p14="http://schemas.microsoft.com/office/powerpoint/2010/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04　系統展示</a:t>
            </a:r>
          </a:p>
        </p:txBody>
      </p:sp>
      <p:sp>
        <p:nvSpPr>
          <p:cNvPr id="5" name="TextBox 4"/>
          <p:cNvSpPr/>
          <p:nvPr/>
        </p:nvSpPr>
        <p:spPr>
          <a:xfrm>
            <a:off x="548640" y="603504"/>
            <a:ext cx="10515600" cy="548640"/>
          </a:xfrm>
          <a:prstGeom prst="rect">
            <a:avLst/>
          </a:prstGeom>
          <a:noFill/>
          <a:ln>
            <a:noFill/>
          </a:ln>
        </p:spPr>
        <p:txBody>
          <a:bodyPr wrap="none" lIns="0" tIns="12700" rIns="0" bIns="0" anchor="t" anchorCtr="0">
            <a:noAutofit/>
          </a:bodyPr>
          <a:lstStyle/>
          <a:p>
            <a:pPr algn="l"/>
            <a:r>
              <a:rPr lang="zh-TW" sz="3200" b="1" dirty="0">
                <a:solidFill>
                  <a:srgbClr val="0B1B33"/>
                </a:solidFill>
                <a:latin typeface="Microsoft JhengHei"/>
                <a:ea typeface="Microsoft JhengHei"/>
                <a:cs typeface="Microsoft JhengHei"/>
              </a:rPr>
              <a:t>方法流程動畫：真實張量判定與隔離TCP驗證</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05 / 08</a:t>
            </a:r>
          </a:p>
        </p:txBody>
      </p:sp>
      <p:sp>
        <p:nvSpPr>
          <p:cNvPr id="8" name="Rounded Rectangle 7"/>
          <p:cNvSpPr/>
          <p:nvPr/>
        </p:nvSpPr>
        <p:spPr>
          <a:xfrm>
            <a:off x="502920" y="1280160"/>
            <a:ext cx="8869680" cy="5029199"/>
          </a:xfrm>
          <a:prstGeom prst="roundRect">
            <a:avLst>
              <a:gd name="adj" fmla="val 2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AI資安框架_系統展示影片_60秒.mp4">
            <a:hlinkClick r:id="" action="ppaction://media"/>
          </p:cNvPr>
          <p:cNvPicPr>
            <a:picLocks noChangeAspect="1"/>
          </p:cNvPicPr>
          <p:nvPr>
            <a:videoFile r:link="rId3"/>
            <p:extLst>
              <p:ext uri="{DAA4B4D4-6D71-4841-9C94-3DE7FCFB9230}">
                <p14:media r:embed="rId2"/>
              </p:ext>
            </p:extLst>
          </p:nvPr>
        </p:nvPicPr>
        <p:blipFill>
          <a:blip r:embed="rId4"/>
          <a:stretch>
            <a:fillRect/>
          </a:stretch>
        </p:blipFill>
        <p:spPr>
          <a:xfrm>
            <a:off x="548640" y="1325880"/>
            <a:ext cx="8778240" cy="4937759"/>
          </a:xfrm>
          <a:prstGeom prst="rect">
            <a:avLst/>
          </a:prstGeom>
        </p:spPr>
      </p:pic>
      <p:sp>
        <p:nvSpPr>
          <p:cNvPr id="10" name="TextBox 9"/>
          <p:cNvSpPr/>
          <p:nvPr/>
        </p:nvSpPr>
        <p:spPr>
          <a:xfrm>
            <a:off x="9646920" y="1325880"/>
            <a:ext cx="2103120" cy="320040"/>
          </a:xfrm>
          <a:prstGeom prst="rect">
            <a:avLst/>
          </a:prstGeom>
          <a:noFill/>
          <a:ln>
            <a:noFill/>
          </a:ln>
        </p:spPr>
        <p:txBody>
          <a:bodyPr wrap="none" lIns="0" tIns="0" rIns="0" bIns="0" anchor="t" anchorCtr="0">
            <a:noAutofit/>
          </a:bodyPr>
          <a:lstStyle/>
          <a:p>
            <a:pPr algn="l"/>
            <a:r>
              <a:rPr lang="zh-TW" sz="1600" b="1" dirty="0">
                <a:solidFill>
                  <a:srgbClr val="5B6B82"/>
                </a:solidFill>
                <a:latin typeface="Microsoft JhengHei"/>
                <a:ea typeface="Microsoft JhengHei"/>
                <a:cs typeface="Microsoft JhengHei"/>
              </a:rPr>
              <a:t>影片段落 · 40 秒</a:t>
            </a:r>
          </a:p>
        </p:txBody>
      </p:sp>
      <p:sp>
        <p:nvSpPr>
          <p:cNvPr id="11" name="Oval 10"/>
          <p:cNvSpPr/>
          <p:nvPr/>
        </p:nvSpPr>
        <p:spPr>
          <a:xfrm>
            <a:off x="9646920" y="1837943"/>
            <a:ext cx="201168" cy="20116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66960" y="1783080"/>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資料輸入</a:t>
            </a:r>
          </a:p>
        </p:txBody>
      </p:sp>
      <p:sp>
        <p:nvSpPr>
          <p:cNvPr id="13" name="TextBox 12"/>
          <p:cNvSpPr txBox="1"/>
          <p:nvPr/>
        </p:nvSpPr>
        <p:spPr>
          <a:xfrm>
            <a:off x="9966960" y="2084831"/>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Mirror-TAP · 流量→張量</a:t>
            </a:r>
          </a:p>
        </p:txBody>
      </p:sp>
      <p:sp>
        <p:nvSpPr>
          <p:cNvPr id="14" name="Oval 13"/>
          <p:cNvSpPr/>
          <p:nvPr/>
        </p:nvSpPr>
        <p:spPr>
          <a:xfrm>
            <a:off x="9646920" y="2551176"/>
            <a:ext cx="201168" cy="20116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0" y="2496312"/>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17 類偵測</a:t>
            </a:r>
          </a:p>
        </p:txBody>
      </p:sp>
      <p:sp>
        <p:nvSpPr>
          <p:cNvPr id="16" name="TextBox 15"/>
          <p:cNvSpPr txBox="1"/>
          <p:nvPr/>
        </p:nvSpPr>
        <p:spPr>
          <a:xfrm>
            <a:off x="9966960" y="2798064"/>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IDS-Server · 17 類機率</a:t>
            </a:r>
          </a:p>
        </p:txBody>
      </p:sp>
      <p:sp>
        <p:nvSpPr>
          <p:cNvPr id="17" name="Oval 16"/>
          <p:cNvSpPr/>
          <p:nvPr/>
        </p:nvSpPr>
        <p:spPr>
          <a:xfrm>
            <a:off x="9646920" y="3264408"/>
            <a:ext cx="201168" cy="20116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0" y="3209544"/>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Top-5 檢索</a:t>
            </a:r>
          </a:p>
        </p:txBody>
      </p:sp>
      <p:sp>
        <p:nvSpPr>
          <p:cNvPr id="19" name="TextBox 18"/>
          <p:cNvSpPr txBox="1"/>
          <p:nvPr/>
        </p:nvSpPr>
        <p:spPr>
          <a:xfrm>
            <a:off x="9966960" y="3511296"/>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RAG-Store · Top-5</a:t>
            </a:r>
          </a:p>
        </p:txBody>
      </p:sp>
      <p:sp>
        <p:nvSpPr>
          <p:cNvPr id="20" name="Oval 19"/>
          <p:cNvSpPr/>
          <p:nvPr/>
        </p:nvSpPr>
        <p:spPr>
          <a:xfrm>
            <a:off x="9646920" y="3977639"/>
            <a:ext cx="201168" cy="20116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3922776"/>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AI 稽核</a:t>
            </a:r>
          </a:p>
        </p:txBody>
      </p:sp>
      <p:sp>
        <p:nvSpPr>
          <p:cNvPr id="22" name="TextBox 21"/>
          <p:cNvSpPr txBox="1"/>
          <p:nvPr/>
        </p:nvSpPr>
        <p:spPr>
          <a:xfrm>
            <a:off x="9966960" y="4224528"/>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LLM-Judge · 稽核 JSON</a:t>
            </a:r>
          </a:p>
        </p:txBody>
      </p:sp>
      <p:sp>
        <p:nvSpPr>
          <p:cNvPr id="23" name="Oval 22"/>
          <p:cNvSpPr/>
          <p:nvPr/>
        </p:nvSpPr>
        <p:spPr>
          <a:xfrm>
            <a:off x="9646920" y="4690872"/>
            <a:ext cx="201168" cy="201168"/>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66960" y="4636008"/>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受控處置</a:t>
            </a:r>
          </a:p>
        </p:txBody>
      </p:sp>
      <p:sp>
        <p:nvSpPr>
          <p:cNvPr id="25" name="TextBox 24"/>
          <p:cNvSpPr txBox="1"/>
          <p:nvPr/>
        </p:nvSpPr>
        <p:spPr>
          <a:xfrm>
            <a:off x="9966960" y="4937760"/>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Policy-Guard · ACL・回復</a:t>
            </a:r>
          </a:p>
        </p:txBody>
      </p:sp>
      <p:sp>
        <p:nvSpPr>
          <p:cNvPr id="26" name="Oval 25"/>
          <p:cNvSpPr/>
          <p:nvPr/>
        </p:nvSpPr>
        <p:spPr>
          <a:xfrm>
            <a:off x="9646920" y="5404104"/>
            <a:ext cx="201168" cy="201168"/>
          </a:xfrm>
          <a:prstGeom prst="ellipse">
            <a:avLst/>
          </a:prstGeom>
          <a:solidFill>
            <a:srgbClr val="0B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66960" y="5349240"/>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事件輸出</a:t>
            </a:r>
          </a:p>
        </p:txBody>
      </p:sp>
      <p:sp>
        <p:nvSpPr>
          <p:cNvPr id="28" name="TextBox 27"/>
          <p:cNvSpPr txBox="1"/>
          <p:nvPr/>
        </p:nvSpPr>
        <p:spPr>
          <a:xfrm>
            <a:off x="9966960" y="5650992"/>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Event Record · 匯出</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6.xml><?xml version="1.0" encoding="utf-8"?>
<p:sld xmlns:a="http://schemas.openxmlformats.org/drawingml/2006/main" xmlns:c="http://schemas.openxmlformats.org/drawingml/2006/chart"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05　實驗成果</a:t>
            </a:r>
          </a:p>
        </p:txBody>
      </p:sp>
      <p:sp>
        <p:nvSpPr>
          <p:cNvPr id="5" name="TextBox 4"/>
          <p:cNvSpPr/>
          <p:nvPr/>
        </p:nvSpPr>
        <p:spPr>
          <a:xfrm>
            <a:off x="548640" y="603504"/>
            <a:ext cx="10515600" cy="548640"/>
          </a:xfrm>
          <a:prstGeom prst="rect">
            <a:avLst/>
          </a:prstGeom>
          <a:noFill/>
          <a:ln>
            <a:noFill/>
          </a:ln>
        </p:spPr>
        <p:txBody>
          <a:bodyPr wrap="none" lIns="0" tIns="12700" rIns="0" bIns="0" anchor="t" anchorCtr="0">
            <a:noAutofit/>
          </a:bodyPr>
          <a:lstStyle/>
          <a:p>
            <a:pPr algn="l"/>
            <a:r>
              <a:rPr lang="zh-TW" sz="3200" b="1" dirty="0">
                <a:solidFill>
                  <a:srgbClr val="0B1B33"/>
                </a:solidFill>
                <a:latin typeface="Microsoft JhengHei"/>
                <a:ea typeface="Microsoft JhengHei"/>
                <a:cs typeface="Microsoft JhengHei"/>
              </a:rPr>
              <a:t>同一實驗口徑，呈現偵測與稽核成果</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06 / 08</a:t>
            </a:r>
          </a:p>
        </p:txBody>
      </p:sp>
      <p:sp>
        <p:nvSpPr>
          <p:cNvPr id="8" name="Rounded Rectangle 7"/>
          <p:cNvSpPr/>
          <p:nvPr/>
        </p:nvSpPr>
        <p:spPr>
          <a:xfrm>
            <a:off x="548640" y="1371600"/>
            <a:ext cx="2615184" cy="114300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44752"/>
            <a:ext cx="2286000" cy="548640"/>
          </a:xfrm>
          <a:prstGeom prst="rect">
            <a:avLst/>
          </a:prstGeom>
          <a:noFill/>
        </p:spPr>
        <p:txBody>
          <a:bodyPr wrap="square" anchor="t" lIns="0" rIns="0" tIns="0" bIns="0">
            <a:spAutoFit/>
          </a:bodyPr>
          <a:lstStyle/>
          <a:p>
            <a:pPr algn="l">
              <a:lnSpc>
                <a:spcPct val="100000"/>
              </a:lnSpc>
            </a:pPr>
            <a:r>
              <a:rPr sz="3000" b="1" lang="zh-TW">
                <a:solidFill>
                  <a:srgbClr val="1D4ED8"/>
                </a:solidFill>
                <a:latin typeface="Segoe UI"/>
                <a:ea typeface="Segoe UI"/>
              </a:rPr>
              <a:t>98.08%</a:t>
            </a:r>
          </a:p>
        </p:txBody>
      </p:sp>
      <p:sp>
        <p:nvSpPr>
          <p:cNvPr id="10" name="TextBox 9"/>
          <p:cNvSpPr txBox="1"/>
          <p:nvPr/>
        </p:nvSpPr>
        <p:spPr>
          <a:xfrm>
            <a:off x="777240" y="1984248"/>
            <a:ext cx="2286000" cy="274320"/>
          </a:xfrm>
          <a:prstGeom prst="rect">
            <a:avLst/>
          </a:prstGeom>
          <a:noFill/>
        </p:spPr>
        <p:txBody>
          <a:bodyPr wrap="square" anchor="t" lIns="0" rIns="0" tIns="0" bIns="0">
            <a:spAutoFit/>
          </a:bodyPr>
          <a:lstStyle/>
          <a:p>
            <a:pPr algn="l">
              <a:lnSpc>
                <a:spcPct val="100000"/>
              </a:lnSpc>
            </a:pPr>
            <a:r>
              <a:rPr sz="1400" b="1" lang="zh-TW">
                <a:solidFill>
                  <a:srgbClr val="0B1B33"/>
                </a:solidFill>
                <a:latin typeface="Segoe UI"/>
                <a:ea typeface="Segoe UI"/>
              </a:rPr>
              <a:t>Accuracy</a:t>
            </a:r>
          </a:p>
        </p:txBody>
      </p:sp>
      <p:sp>
        <p:nvSpPr>
          <p:cNvPr id="11" name="TextBox 10"/>
          <p:cNvSpPr txBox="1"/>
          <p:nvPr/>
        </p:nvSpPr>
        <p:spPr>
          <a:xfrm>
            <a:off x="777240" y="2221992"/>
            <a:ext cx="2286000" cy="274320"/>
          </a:xfrm>
          <a:prstGeom prst="rect">
            <a:avLst/>
          </a:prstGeom>
          <a:noFill/>
        </p:spPr>
        <p:txBody>
          <a:bodyPr wrap="square" anchor="t" lIns="0" rIns="0" tIns="0" bIns="0">
            <a:spAutoFit/>
          </a:bodyPr>
          <a:lstStyle/>
          <a:p>
            <a:pPr algn="l">
              <a:lnSpc>
                <a:spcPct val="100000"/>
              </a:lnSpc>
            </a:pPr>
            <a:r>
              <a:rPr sz="1100" b="0" lang="zh-TW">
                <a:solidFill>
                  <a:srgbClr val="5B6B82"/>
                </a:solidFill>
                <a:latin typeface="Microsoft JhengHei"/>
                <a:ea typeface="Microsoft JhengHei"/>
              </a:rPr>
              <a:t>17 類 · 18,998 筆</a:t>
            </a:r>
          </a:p>
        </p:txBody>
      </p:sp>
      <p:sp>
        <p:nvSpPr>
          <p:cNvPr id="12" name="Rounded Rectangle 11"/>
          <p:cNvSpPr/>
          <p:nvPr/>
        </p:nvSpPr>
        <p:spPr>
          <a:xfrm>
            <a:off x="3346704" y="1371600"/>
            <a:ext cx="2615184" cy="114300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1444752"/>
            <a:ext cx="2286000" cy="548640"/>
          </a:xfrm>
          <a:prstGeom prst="rect">
            <a:avLst/>
          </a:prstGeom>
          <a:noFill/>
        </p:spPr>
        <p:txBody>
          <a:bodyPr wrap="square" anchor="t" lIns="0" rIns="0" tIns="0" bIns="0">
            <a:spAutoFit/>
          </a:bodyPr>
          <a:lstStyle/>
          <a:p>
            <a:pPr algn="l">
              <a:lnSpc>
                <a:spcPct val="100000"/>
              </a:lnSpc>
            </a:pPr>
            <a:r>
              <a:rPr sz="3000" b="1" lang="zh-TW">
                <a:solidFill>
                  <a:srgbClr val="1D4ED8"/>
                </a:solidFill>
                <a:latin typeface="Segoe UI"/>
                <a:ea typeface="Segoe UI"/>
              </a:rPr>
              <a:t>93.05%</a:t>
            </a:r>
          </a:p>
        </p:txBody>
      </p:sp>
      <p:sp>
        <p:nvSpPr>
          <p:cNvPr id="14" name="TextBox 13"/>
          <p:cNvSpPr txBox="1"/>
          <p:nvPr/>
        </p:nvSpPr>
        <p:spPr>
          <a:xfrm>
            <a:off x="3575304" y="1984248"/>
            <a:ext cx="2286000" cy="274320"/>
          </a:xfrm>
          <a:prstGeom prst="rect">
            <a:avLst/>
          </a:prstGeom>
          <a:noFill/>
        </p:spPr>
        <p:txBody>
          <a:bodyPr wrap="square" anchor="t" lIns="0" rIns="0" tIns="0" bIns="0">
            <a:spAutoFit/>
          </a:bodyPr>
          <a:lstStyle/>
          <a:p>
            <a:pPr algn="l">
              <a:lnSpc>
                <a:spcPct val="100000"/>
              </a:lnSpc>
            </a:pPr>
            <a:r>
              <a:rPr sz="1400" b="1" lang="zh-TW">
                <a:solidFill>
                  <a:srgbClr val="0B1B33"/>
                </a:solidFill>
                <a:latin typeface="Segoe UI"/>
                <a:ea typeface="Segoe UI"/>
              </a:rPr>
              <a:t>Macro-F1</a:t>
            </a:r>
          </a:p>
        </p:txBody>
      </p:sp>
      <p:sp>
        <p:nvSpPr>
          <p:cNvPr id="15" name="TextBox 14"/>
          <p:cNvSpPr txBox="1"/>
          <p:nvPr/>
        </p:nvSpPr>
        <p:spPr>
          <a:xfrm>
            <a:off x="3575304" y="2221992"/>
            <a:ext cx="2286000" cy="274320"/>
          </a:xfrm>
          <a:prstGeom prst="rect">
            <a:avLst/>
          </a:prstGeom>
          <a:noFill/>
        </p:spPr>
        <p:txBody>
          <a:bodyPr wrap="square" anchor="t" lIns="0" rIns="0" tIns="0" bIns="0">
            <a:spAutoFit/>
          </a:bodyPr>
          <a:lstStyle/>
          <a:p>
            <a:pPr algn="l">
              <a:lnSpc>
                <a:spcPct val="100000"/>
              </a:lnSpc>
            </a:pPr>
            <a:r>
              <a:rPr sz="1100" b="0" lang="zh-TW">
                <a:solidFill>
                  <a:srgbClr val="5B6B82"/>
                </a:solidFill>
                <a:latin typeface="Microsoft JhengHei"/>
                <a:ea typeface="Microsoft JhengHei"/>
              </a:rPr>
              <a:t>17 類 · 18,998 筆</a:t>
            </a:r>
          </a:p>
        </p:txBody>
      </p:sp>
      <p:sp>
        <p:nvSpPr>
          <p:cNvPr id="16" name="Rounded Rectangle 15"/>
          <p:cNvSpPr/>
          <p:nvPr/>
        </p:nvSpPr>
        <p:spPr>
          <a:xfrm>
            <a:off x="6144768" y="1371600"/>
            <a:ext cx="2615184" cy="114300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p:nvPr/>
        </p:nvSpPr>
        <p:spPr>
          <a:xfrm>
            <a:off x="6373368" y="1444752"/>
            <a:ext cx="2286000" cy="548640"/>
          </a:xfrm>
          <a:prstGeom prst="rect">
            <a:avLst/>
          </a:prstGeom>
          <a:noFill/>
          <a:ln>
            <a:noFill/>
          </a:ln>
        </p:spPr>
        <p:txBody>
          <a:bodyPr wrap="none" lIns="0" tIns="0" rIns="0" bIns="0" anchor="t" anchorCtr="0">
            <a:noAutofit/>
          </a:bodyPr>
          <a:lstStyle/>
          <a:p>
            <a:pPr algn="l"/>
            <a:r>
              <a:rPr lang="zh-TW" sz="3000" b="1" dirty="0">
                <a:solidFill>
                  <a:srgbClr val="6D28D9"/>
                </a:solidFill>
                <a:latin typeface="Segoe UI"/>
                <a:ea typeface="Segoe UI"/>
                <a:cs typeface="Segoe UI"/>
              </a:rPr>
              <a:t>97.62%</a:t>
            </a:r>
          </a:p>
        </p:txBody>
      </p:sp>
      <p:sp>
        <p:nvSpPr>
          <p:cNvPr id="18" name="TextBox 17"/>
          <p:cNvSpPr txBox="1"/>
          <p:nvPr/>
        </p:nvSpPr>
        <p:spPr>
          <a:xfrm>
            <a:off x="6373368" y="1984248"/>
            <a:ext cx="2286000" cy="274320"/>
          </a:xfrm>
          <a:prstGeom prst="rect">
            <a:avLst/>
          </a:prstGeom>
          <a:noFill/>
        </p:spPr>
        <p:txBody>
          <a:bodyPr wrap="square" anchor="t" lIns="0" rIns="0" tIns="0" bIns="0">
            <a:spAutoFit/>
          </a:bodyPr>
          <a:lstStyle/>
          <a:p>
            <a:pPr algn="l">
              <a:lnSpc>
                <a:spcPct val="100000"/>
              </a:lnSpc>
            </a:pPr>
            <a:r>
              <a:rPr sz="1400" b="1" lang="zh-TW">
                <a:solidFill>
                  <a:srgbClr val="0B1B33"/>
                </a:solidFill>
                <a:latin typeface="Segoe UI"/>
                <a:ea typeface="Segoe UI"/>
              </a:rPr>
              <a:t>Top-5</a:t>
            </a:r>
          </a:p>
        </p:txBody>
      </p:sp>
      <p:sp>
        <p:nvSpPr>
          <p:cNvPr id="19" name="TextBox 18"/>
          <p:cNvSpPr txBox="1"/>
          <p:nvPr/>
        </p:nvSpPr>
        <p:spPr>
          <a:xfrm>
            <a:off x="6373368" y="2221992"/>
            <a:ext cx="2286000" cy="274320"/>
          </a:xfrm>
          <a:prstGeom prst="rect">
            <a:avLst/>
          </a:prstGeom>
          <a:noFill/>
        </p:spPr>
        <p:txBody>
          <a:bodyPr wrap="square" anchor="t" lIns="0" rIns="0" tIns="0" bIns="0">
            <a:spAutoFit/>
          </a:bodyPr>
          <a:lstStyle/>
          <a:p>
            <a:pPr algn="l">
              <a:lnSpc>
                <a:spcPct val="100000"/>
              </a:lnSpc>
            </a:pPr>
            <a:r>
              <a:rPr sz="1100" b="0" lang="zh-TW">
                <a:solidFill>
                  <a:srgbClr val="5B6B82"/>
                </a:solidFill>
                <a:latin typeface="Microsoft JhengHei"/>
                <a:ea typeface="Microsoft JhengHei"/>
              </a:rPr>
              <a:t>1,550 案例 / 463 查詢</a:t>
            </a:r>
          </a:p>
        </p:txBody>
      </p:sp>
      <p:sp>
        <p:nvSpPr>
          <p:cNvPr id="20" name="Rounded Rectangle 19"/>
          <p:cNvSpPr/>
          <p:nvPr/>
        </p:nvSpPr>
        <p:spPr>
          <a:xfrm>
            <a:off x="8942832" y="1371600"/>
            <a:ext cx="2615184" cy="114300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p:nvPr/>
        </p:nvSpPr>
        <p:spPr>
          <a:xfrm>
            <a:off x="9171432" y="1444752"/>
            <a:ext cx="2286000" cy="548640"/>
          </a:xfrm>
          <a:prstGeom prst="rect">
            <a:avLst/>
          </a:prstGeom>
          <a:noFill/>
          <a:ln>
            <a:noFill/>
          </a:ln>
        </p:spPr>
        <p:txBody>
          <a:bodyPr wrap="none" lIns="0" tIns="0" rIns="0" bIns="0" anchor="t" anchorCtr="0">
            <a:noAutofit/>
          </a:bodyPr>
          <a:lstStyle/>
          <a:p>
            <a:pPr algn="l"/>
            <a:r>
              <a:rPr lang="zh-TW" sz="3000" b="1" dirty="0">
                <a:solidFill>
                  <a:srgbClr val="6D28D9"/>
                </a:solidFill>
                <a:latin typeface="Segoe UI"/>
                <a:ea typeface="Segoe UI"/>
                <a:cs typeface="Segoe UI"/>
              </a:rPr>
              <a:t>93.89%</a:t>
            </a:r>
          </a:p>
        </p:txBody>
      </p:sp>
      <p:sp>
        <p:nvSpPr>
          <p:cNvPr id="22" name="TextBox 21"/>
          <p:cNvSpPr txBox="1"/>
          <p:nvPr/>
        </p:nvSpPr>
        <p:spPr>
          <a:xfrm>
            <a:off x="9171432" y="1984248"/>
            <a:ext cx="2286000" cy="274320"/>
          </a:xfrm>
          <a:prstGeom prst="rect">
            <a:avLst/>
          </a:prstGeom>
          <a:noFill/>
        </p:spPr>
        <p:txBody>
          <a:bodyPr wrap="square" anchor="t" lIns="0" rIns="0" tIns="0" bIns="0">
            <a:spAutoFit/>
          </a:bodyPr>
          <a:lstStyle/>
          <a:p>
            <a:pPr algn="l">
              <a:lnSpc>
                <a:spcPct val="100000"/>
              </a:lnSpc>
            </a:pPr>
            <a:r>
              <a:rPr sz="1400" b="1" lang="zh-TW">
                <a:solidFill>
                  <a:srgbClr val="0B1B33"/>
                </a:solidFill>
                <a:latin typeface="Segoe UI"/>
                <a:ea typeface="Segoe UI"/>
              </a:rPr>
              <a:t>MRR@5</a:t>
            </a:r>
          </a:p>
        </p:txBody>
      </p:sp>
      <p:sp>
        <p:nvSpPr>
          <p:cNvPr id="23" name="TextBox 22"/>
          <p:cNvSpPr txBox="1"/>
          <p:nvPr/>
        </p:nvSpPr>
        <p:spPr>
          <a:xfrm>
            <a:off x="9171432" y="2221992"/>
            <a:ext cx="2286000" cy="274320"/>
          </a:xfrm>
          <a:prstGeom prst="rect">
            <a:avLst/>
          </a:prstGeom>
          <a:noFill/>
        </p:spPr>
        <p:txBody>
          <a:bodyPr wrap="square" anchor="t" lIns="0" rIns="0" tIns="0" bIns="0">
            <a:spAutoFit/>
          </a:bodyPr>
          <a:lstStyle/>
          <a:p>
            <a:pPr algn="l">
              <a:lnSpc>
                <a:spcPct val="100000"/>
              </a:lnSpc>
            </a:pPr>
            <a:r>
              <a:rPr sz="1100" b="0" lang="zh-TW">
                <a:solidFill>
                  <a:srgbClr val="5B6B82"/>
                </a:solidFill>
                <a:latin typeface="Microsoft JhengHei"/>
                <a:ea typeface="Microsoft JhengHei"/>
              </a:rPr>
              <a:t>1,550 案例 / 463 查詢</a:t>
            </a:r>
          </a:p>
        </p:txBody>
      </p:sp>
      <p:sp>
        <p:nvSpPr>
          <p:cNvPr id="24" name="Rounded Rectangle 23"/>
          <p:cNvSpPr/>
          <p:nvPr/>
        </p:nvSpPr>
        <p:spPr>
          <a:xfrm>
            <a:off x="548640" y="2697480"/>
            <a:ext cx="5413248" cy="361188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2807208"/>
            <a:ext cx="36576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偵測模組比較（%）</a:t>
            </a:r>
          </a:p>
        </p:txBody>
      </p:sp>
      <p:sp>
        <p:nvSpPr>
          <p:cNvPr id="26" name="TextBox 25"/>
          <p:cNvSpPr txBox="1"/>
          <p:nvPr/>
        </p:nvSpPr>
        <p:spPr>
          <a:xfrm>
            <a:off x="3447288" y="2834640"/>
            <a:ext cx="2286000" cy="274320"/>
          </a:xfrm>
          <a:prstGeom prst="rect">
            <a:avLst/>
          </a:prstGeom>
          <a:noFill/>
        </p:spPr>
        <p:txBody>
          <a:bodyPr wrap="square" anchor="t" lIns="0" rIns="0" tIns="0" bIns="0">
            <a:spAutoFit/>
          </a:bodyPr>
          <a:lstStyle/>
          <a:p>
            <a:pPr algn="r">
              <a:lnSpc>
                <a:spcPct val="100000"/>
              </a:lnSpc>
            </a:pPr>
            <a:r>
              <a:rPr sz="1100" b="0" lang="zh-TW">
                <a:solidFill>
                  <a:srgbClr val="5B6B82"/>
                </a:solidFill>
                <a:latin typeface="Microsoft JhengHei"/>
                <a:ea typeface="Microsoft JhengHei"/>
              </a:rPr>
              <a:t>相同測試設定</a:t>
            </a:r>
          </a:p>
        </p:txBody>
      </p:sp>
      <p:sp>
        <p:nvSpPr>
          <p:cNvPr id="27" name="Rounded Rectangle 26"/>
          <p:cNvSpPr/>
          <p:nvPr/>
        </p:nvSpPr>
        <p:spPr>
          <a:xfrm>
            <a:off x="6144768" y="2697480"/>
            <a:ext cx="5413248" cy="361188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p:nvPr/>
        </p:nvSpPr>
        <p:spPr>
          <a:xfrm>
            <a:off x="6373368" y="2807208"/>
            <a:ext cx="3657600" cy="320040"/>
          </a:xfrm>
          <a:prstGeom prst="rect">
            <a:avLst/>
          </a:prstGeom>
          <a:noFill/>
          <a:ln>
            <a:noFill/>
          </a:ln>
        </p:spPr>
        <p:txBody>
          <a:bodyPr wrap="none" lIns="0" tIns="0" rIns="0" bIns="0" anchor="t" anchorCtr="0">
            <a:noAutofit/>
          </a:bodyPr>
          <a:lstStyle/>
          <a:p>
            <a:pPr algn="l"/>
            <a:r>
              <a:rPr lang="zh-TW" sz="1600" b="1" dirty="0">
                <a:solidFill>
                  <a:srgbClr val="0B1B33"/>
                </a:solidFill>
                <a:latin typeface="Microsoft JhengHei"/>
                <a:ea typeface="Microsoft JhengHei"/>
                <a:cs typeface="Microsoft JhengHei"/>
              </a:rPr>
              <a:t>本機AI稽核分流（筆）</a:t>
            </a:r>
          </a:p>
        </p:txBody>
      </p:sp>
      <p:sp>
        <p:nvSpPr>
          <p:cNvPr id="29" name="TextBox 28"/>
          <p:cNvSpPr/>
          <p:nvPr/>
        </p:nvSpPr>
        <p:spPr>
          <a:xfrm>
            <a:off x="9043416" y="2834640"/>
            <a:ext cx="2286000" cy="274320"/>
          </a:xfrm>
          <a:prstGeom prst="rect">
            <a:avLst/>
          </a:prstGeom>
          <a:noFill/>
          <a:ln>
            <a:noFill/>
          </a:ln>
        </p:spPr>
        <p:txBody>
          <a:bodyPr wrap="none" lIns="0" tIns="0" rIns="0" bIns="0" anchor="t" anchorCtr="0">
            <a:noAutofit/>
          </a:bodyPr>
          <a:lstStyle/>
          <a:p>
            <a:pPr algn="r"/>
            <a:r>
              <a:rPr lang="ja-JP" sz="1100" dirty="0">
                <a:solidFill>
                  <a:srgbClr val="5B6B82"/>
                </a:solidFill>
                <a:latin typeface="Microsoft JhengHei"/>
                <a:ea typeface="Microsoft JhengHei"/>
                <a:cs typeface="Microsoft JhengHei"/>
              </a:rPr>
              <a:t>17類・463筆事件</a:t>
            </a:r>
          </a:p>
        </p:txBody>
      </p:sp>
      <p:graphicFrame>
        <p:nvGraphicFramePr>
          <p:cNvPr id="60" name="Chart 29"/>
          <p:cNvGraphicFramePr>
            <a:graphicFrameLocks noGrp="1"/>
          </p:cNvGraphicFramePr>
          <p:nvPr/>
        </p:nvGraphicFramePr>
        <p:xfrm>
          <a:off x="685800" y="3154680"/>
          <a:ext cx="5120640" cy="3108960"/>
        </p:xfrm>
        <a:graphic>
          <a:graphicData uri="http://schemas.openxmlformats.org/drawingml/2006/chart">
            <c:chart r:id="rId5"/>
          </a:graphicData>
        </a:graphic>
      </p:graphicFrame>
      <p:graphicFrame>
        <p:nvGraphicFramePr>
          <p:cNvPr id="61" name="Chart 30"/>
          <p:cNvGraphicFramePr>
            <a:graphicFrameLocks noGrp="1"/>
          </p:cNvGraphicFramePr>
          <p:nvPr/>
        </p:nvGraphicFramePr>
        <p:xfrm>
          <a:off x="6281928" y="3154680"/>
          <a:ext cx="5120640" cy="3108960"/>
        </p:xfrm>
        <a:graphic>
          <a:graphicData uri="http://schemas.openxmlformats.org/drawingml/2006/chart">
            <c:chart r:id="rId6"/>
          </a:graphicData>
        </a:graphic>
      </p:graphicFrame>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06　競爭優勢與落地可行性</a:t>
            </a:r>
          </a:p>
        </p:txBody>
      </p:sp>
      <p:sp>
        <p:nvSpPr>
          <p:cNvPr id="5" name="TextBox 4"/>
          <p:cNvSpPr/>
          <p:nvPr/>
        </p:nvSpPr>
        <p:spPr>
          <a:xfrm>
            <a:off x="548640" y="603504"/>
            <a:ext cx="10515600" cy="548640"/>
          </a:xfrm>
          <a:prstGeom prst="rect">
            <a:avLst/>
          </a:prstGeom>
          <a:noFill/>
          <a:ln>
            <a:noFill/>
          </a:ln>
        </p:spPr>
        <p:txBody>
          <a:bodyPr wrap="none" lIns="0" tIns="12700" rIns="0" bIns="0" anchor="t" anchorCtr="0">
            <a:noAutofit/>
          </a:bodyPr>
          <a:lstStyle/>
          <a:p>
            <a:pPr algn="l"/>
            <a:r>
              <a:rPr lang="zh-TW" sz="3200" b="1" dirty="0">
                <a:solidFill>
                  <a:srgbClr val="0B1B33"/>
                </a:solidFill>
                <a:latin typeface="Microsoft JhengHei"/>
                <a:ea typeface="Microsoft JhengHei"/>
                <a:cs typeface="Microsoft JhengHei"/>
              </a:rPr>
              <a:t>本機完成執行，事件與回條可核對</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07 / 08</a:t>
            </a:r>
          </a:p>
        </p:txBody>
      </p:sp>
      <p:sp>
        <p:nvSpPr>
          <p:cNvPr id="8" name="Rounded Rectangle 7"/>
          <p:cNvSpPr/>
          <p:nvPr/>
        </p:nvSpPr>
        <p:spPr>
          <a:xfrm>
            <a:off x="548640" y="1371600"/>
            <a:ext cx="3493008" cy="2286000"/>
          </a:xfrm>
          <a:prstGeom prst="roundRect">
            <a:avLst>
              <a:gd name="adj" fmla="val 5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00200"/>
            <a:ext cx="64008" cy="4572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572768"/>
            <a:ext cx="3017520" cy="411480"/>
          </a:xfrm>
          <a:prstGeom prst="rect">
            <a:avLst/>
          </a:prstGeom>
          <a:noFill/>
        </p:spPr>
        <p:txBody>
          <a:bodyPr wrap="square" anchor="t" lIns="0" rIns="0" tIns="0" bIns="0">
            <a:spAutoFit/>
          </a:bodyPr>
          <a:lstStyle/>
          <a:p>
            <a:pPr algn="l">
              <a:lnSpc>
                <a:spcPct val="100000"/>
              </a:lnSpc>
            </a:pPr>
            <a:r>
              <a:rPr sz="2000" b="1" lang="zh-TW">
                <a:solidFill>
                  <a:srgbClr val="1D4ED8"/>
                </a:solidFill>
                <a:latin typeface="Microsoft JhengHei"/>
                <a:ea typeface="Microsoft JhengHei"/>
              </a:rPr>
              <a:t>穩定性</a:t>
            </a:r>
          </a:p>
        </p:txBody>
      </p:sp>
      <p:sp>
        <p:nvSpPr>
          <p:cNvPr id="11" name="TextBox 10"/>
          <p:cNvSpPr txBox="1"/>
          <p:nvPr/>
        </p:nvSpPr>
        <p:spPr>
          <a:xfrm>
            <a:off x="822959" y="2148840"/>
            <a:ext cx="3154680" cy="320040"/>
          </a:xfrm>
          <a:prstGeom prst="rect">
            <a:avLst/>
          </a:prstGeom>
          <a:noFill/>
        </p:spPr>
        <p:txBody>
          <a:bodyPr wrap="square" anchor="t" lIns="0" rIns="0" tIns="0" bIns="0">
            <a:spAutoFit/>
          </a:bodyPr>
          <a:lstStyle/>
          <a:p>
            <a:pPr algn="l">
              <a:lnSpc>
                <a:spcPct val="100000"/>
              </a:lnSpc>
            </a:pPr>
            <a:r>
              <a:rPr sz="1400" b="1" lang="zh-TW">
                <a:solidFill>
                  <a:srgbClr val="1D4ED8"/>
                </a:solidFill>
                <a:latin typeface="Segoe UI Symbol"/>
                <a:ea typeface="Segoe UI Symbol"/>
              </a:rPr>
              <a:t>✓  </a:t>
            </a:r>
            <a:r>
              <a:rPr sz="1400" b="0" lang="zh-TW">
                <a:solidFill>
                  <a:srgbClr val="0B1B33"/>
                </a:solidFill>
                <a:latin typeface="Microsoft JhengHei"/>
                <a:ea typeface="Microsoft JhengHei"/>
              </a:rPr>
              <a:t>AI 改寫分類 0 / 463 筆</a:t>
            </a:r>
          </a:p>
        </p:txBody>
      </p:sp>
      <p:sp>
        <p:nvSpPr>
          <p:cNvPr id="12" name="TextBox 11"/>
          <p:cNvSpPr txBox="1"/>
          <p:nvPr/>
        </p:nvSpPr>
        <p:spPr>
          <a:xfrm>
            <a:off x="822959" y="2606040"/>
            <a:ext cx="3154680" cy="320040"/>
          </a:xfrm>
          <a:prstGeom prst="rect">
            <a:avLst/>
          </a:prstGeom>
          <a:noFill/>
        </p:spPr>
        <p:txBody>
          <a:bodyPr wrap="square" anchor="t" lIns="0" rIns="0" tIns="0" bIns="0">
            <a:spAutoFit/>
          </a:bodyPr>
          <a:lstStyle/>
          <a:p>
            <a:pPr algn="l">
              <a:lnSpc>
                <a:spcPct val="100000"/>
              </a:lnSpc>
            </a:pPr>
            <a:r>
              <a:rPr sz="1400" b="1" lang="zh-TW">
                <a:solidFill>
                  <a:srgbClr val="1D4ED8"/>
                </a:solidFill>
                <a:latin typeface="Segoe UI Symbol"/>
                <a:ea typeface="Segoe UI Symbol"/>
              </a:rPr>
              <a:t>✓  </a:t>
            </a:r>
            <a:r>
              <a:rPr sz="1400" b="0" lang="zh-TW">
                <a:solidFill>
                  <a:srgbClr val="0B1B33"/>
                </a:solidFill>
                <a:latin typeface="Microsoft JhengHei"/>
                <a:ea typeface="Microsoft JhengHei"/>
              </a:rPr>
              <a:t>稽核 JSON 有效率 463 / 463</a:t>
            </a:r>
          </a:p>
        </p:txBody>
      </p:sp>
      <p:sp>
        <p:nvSpPr>
          <p:cNvPr id="13" name="TextBox 12"/>
          <p:cNvSpPr txBox="1"/>
          <p:nvPr/>
        </p:nvSpPr>
        <p:spPr>
          <a:xfrm>
            <a:off x="822959" y="3063240"/>
            <a:ext cx="3154680" cy="320040"/>
          </a:xfrm>
          <a:prstGeom prst="rect">
            <a:avLst/>
          </a:prstGeom>
          <a:noFill/>
        </p:spPr>
        <p:txBody>
          <a:bodyPr wrap="square" anchor="t" lIns="0" rIns="0" tIns="0" bIns="0">
            <a:spAutoFit/>
          </a:bodyPr>
          <a:lstStyle/>
          <a:p>
            <a:pPr algn="l">
              <a:lnSpc>
                <a:spcPct val="100000"/>
              </a:lnSpc>
            </a:pPr>
            <a:r>
              <a:rPr sz="1400" b="1" lang="zh-TW">
                <a:solidFill>
                  <a:srgbClr val="1D4ED8"/>
                </a:solidFill>
                <a:latin typeface="Segoe UI Symbol"/>
                <a:ea typeface="Segoe UI Symbol"/>
              </a:rPr>
              <a:t>✓  </a:t>
            </a:r>
            <a:r>
              <a:rPr sz="1400" b="0" lang="zh-TW">
                <a:solidFill>
                  <a:srgbClr val="0B1B33"/>
                </a:solidFill>
                <a:latin typeface="Microsoft JhengHei"/>
                <a:ea typeface="Microsoft JhengHei"/>
              </a:rPr>
              <a:t>任一檢核失敗即轉人工複核</a:t>
            </a:r>
          </a:p>
        </p:txBody>
      </p:sp>
      <p:sp>
        <p:nvSpPr>
          <p:cNvPr id="14" name="Rounded Rectangle 13"/>
          <p:cNvSpPr/>
          <p:nvPr/>
        </p:nvSpPr>
        <p:spPr>
          <a:xfrm>
            <a:off x="4206240" y="1371600"/>
            <a:ext cx="3493008" cy="2286000"/>
          </a:xfrm>
          <a:prstGeom prst="roundRect">
            <a:avLst>
              <a:gd name="adj" fmla="val 5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6240" y="1600200"/>
            <a:ext cx="6400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1572768"/>
            <a:ext cx="3017520" cy="411480"/>
          </a:xfrm>
          <a:prstGeom prst="rect">
            <a:avLst/>
          </a:prstGeom>
          <a:noFill/>
        </p:spPr>
        <p:txBody>
          <a:bodyPr wrap="square" anchor="t" lIns="0" rIns="0" tIns="0" bIns="0">
            <a:spAutoFit/>
          </a:bodyPr>
          <a:lstStyle/>
          <a:p>
            <a:pPr algn="l">
              <a:lnSpc>
                <a:spcPct val="100000"/>
              </a:lnSpc>
            </a:pPr>
            <a:r>
              <a:rPr sz="2000" b="1" lang="zh-TW">
                <a:solidFill>
                  <a:srgbClr val="0F766E"/>
                </a:solidFill>
                <a:latin typeface="Microsoft JhengHei"/>
                <a:ea typeface="Microsoft JhengHei"/>
              </a:rPr>
              <a:t>成熟度</a:t>
            </a:r>
          </a:p>
        </p:txBody>
      </p:sp>
      <p:sp>
        <p:nvSpPr>
          <p:cNvPr id="17" name="TextBox 16"/>
          <p:cNvSpPr txBox="1"/>
          <p:nvPr/>
        </p:nvSpPr>
        <p:spPr>
          <a:xfrm>
            <a:off x="4480559" y="2148840"/>
            <a:ext cx="3154680" cy="320040"/>
          </a:xfrm>
          <a:prstGeom prst="rect">
            <a:avLst/>
          </a:prstGeom>
          <a:noFill/>
        </p:spPr>
        <p:txBody>
          <a:bodyPr wrap="square" anchor="t" lIns="0" rIns="0" tIns="0" bIns="0">
            <a:spAutoFit/>
          </a:bodyPr>
          <a:lstStyle/>
          <a:p>
            <a:pPr algn="l">
              <a:lnSpc>
                <a:spcPct val="100000"/>
              </a:lnSpc>
            </a:pPr>
            <a:r>
              <a:rPr sz="1400" b="1" lang="zh-TW">
                <a:solidFill>
                  <a:srgbClr val="0F766E"/>
                </a:solidFill>
                <a:latin typeface="Segoe UI Symbol"/>
                <a:ea typeface="Segoe UI Symbol"/>
              </a:rPr>
              <a:t>✓  </a:t>
            </a:r>
            <a:r>
              <a:rPr sz="1400" b="0" lang="zh-TW">
                <a:solidFill>
                  <a:srgbClr val="0B1B33"/>
                </a:solidFill>
                <a:latin typeface="Microsoft JhengHei"/>
                <a:ea typeface="Microsoft JhengHei"/>
              </a:rPr>
              <a:t>17 類即時重跑 17 / 17</a:t>
            </a:r>
          </a:p>
        </p:txBody>
      </p:sp>
      <p:sp>
        <p:nvSpPr>
          <p:cNvPr id="18" name="TextBox 17"/>
          <p:cNvSpPr/>
          <p:nvPr/>
        </p:nvSpPr>
        <p:spPr>
          <a:xfrm>
            <a:off x="4480560" y="2606040"/>
            <a:ext cx="3154680" cy="320040"/>
          </a:xfrm>
          <a:prstGeom prst="rect">
            <a:avLst/>
          </a:prstGeom>
          <a:noFill/>
          <a:ln>
            <a:noFill/>
          </a:ln>
        </p:spPr>
        <p:txBody>
          <a:bodyPr wrap="none" lIns="0" tIns="0" rIns="0" bIns="0" anchor="t" anchorCtr="0">
            <a:noAutofit/>
          </a:bodyPr>
          <a:lstStyle/>
          <a:p>
            <a:pPr algn="l"/>
            <a:r>
              <a:rPr lang="zh-TW" sz="1400" b="1" dirty="0">
                <a:solidFill>
                  <a:srgbClr val="0F766E"/>
                </a:solidFill>
                <a:latin typeface="Segoe UI Symbol"/>
                <a:ea typeface="Segoe UI Symbol"/>
                <a:cs typeface="Segoe UI Symbol"/>
              </a:rPr>
              <a:t xml:space="preserve">✓  </a:t>
            </a:r>
            <a:r>
              <a:rPr lang="zh-TW" sz="1400" b="1" dirty="0">
                <a:solidFill>
                  <a:srgbClr val="0B1B33"/>
                </a:solidFill>
                <a:latin typeface="Microsoft JhengHei"/>
                <a:ea typeface="Microsoft JhengHei"/>
                <a:cs typeface="Microsoft JhengHei"/>
              </a:rPr>
              <a:t>6/6隔離TCP情境保留背景服務</a:t>
            </a:r>
          </a:p>
        </p:txBody>
      </p:sp>
      <p:sp>
        <p:nvSpPr>
          <p:cNvPr id="19" name="TextBox 18"/>
          <p:cNvSpPr/>
          <p:nvPr/>
        </p:nvSpPr>
        <p:spPr>
          <a:xfrm>
            <a:off x="4480560" y="3063240"/>
            <a:ext cx="3154680" cy="320040"/>
          </a:xfrm>
          <a:prstGeom prst="rect">
            <a:avLst/>
          </a:prstGeom>
          <a:noFill/>
          <a:ln>
            <a:noFill/>
          </a:ln>
        </p:spPr>
        <p:txBody>
          <a:bodyPr wrap="none" lIns="0" tIns="0" rIns="0" bIns="0" anchor="t" anchorCtr="0">
            <a:noAutofit/>
          </a:bodyPr>
          <a:lstStyle/>
          <a:p>
            <a:pPr algn="l"/>
            <a:r>
              <a:rPr lang="zh-TW" sz="1400" b="1" dirty="0">
                <a:solidFill>
                  <a:srgbClr val="0F766E"/>
                </a:solidFill>
                <a:latin typeface="Segoe UI Symbol"/>
                <a:ea typeface="Segoe UI Symbol"/>
                <a:cs typeface="Segoe UI Symbol"/>
              </a:rPr>
              <a:t xml:space="preserve">✓  </a:t>
            </a:r>
            <a:r>
              <a:rPr lang="zh-TW" sz="1400" b="1" dirty="0">
                <a:solidFill>
                  <a:srgbClr val="0B1B33"/>
                </a:solidFill>
                <a:latin typeface="Microsoft JhengHei"/>
                <a:ea typeface="Microsoft JhengHei"/>
                <a:cs typeface="Microsoft JhengHei"/>
              </a:rPr>
              <a:t>4情境套規則，30秒到期回復</a:t>
            </a:r>
          </a:p>
        </p:txBody>
      </p:sp>
      <p:sp>
        <p:nvSpPr>
          <p:cNvPr id="20" name="Rounded Rectangle 19"/>
          <p:cNvSpPr/>
          <p:nvPr/>
        </p:nvSpPr>
        <p:spPr>
          <a:xfrm>
            <a:off x="548640" y="3840480"/>
            <a:ext cx="3493008" cy="2286000"/>
          </a:xfrm>
          <a:prstGeom prst="roundRect">
            <a:avLst>
              <a:gd name="adj" fmla="val 5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69080"/>
            <a:ext cx="64008" cy="4572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4041648"/>
            <a:ext cx="3017520" cy="411480"/>
          </a:xfrm>
          <a:prstGeom prst="rect">
            <a:avLst/>
          </a:prstGeom>
          <a:noFill/>
        </p:spPr>
        <p:txBody>
          <a:bodyPr wrap="square" anchor="t" lIns="0" rIns="0" tIns="0" bIns="0">
            <a:spAutoFit/>
          </a:bodyPr>
          <a:lstStyle/>
          <a:p>
            <a:pPr algn="l">
              <a:lnSpc>
                <a:spcPct val="100000"/>
              </a:lnSpc>
            </a:pPr>
            <a:r>
              <a:rPr sz="2000" b="1" lang="zh-TW">
                <a:solidFill>
                  <a:srgbClr val="6D28D9"/>
                </a:solidFill>
                <a:latin typeface="Microsoft JhengHei"/>
                <a:ea typeface="Microsoft JhengHei"/>
              </a:rPr>
              <a:t>完整性</a:t>
            </a:r>
          </a:p>
        </p:txBody>
      </p:sp>
      <p:sp>
        <p:nvSpPr>
          <p:cNvPr id="23" name="TextBox 22"/>
          <p:cNvSpPr txBox="1"/>
          <p:nvPr/>
        </p:nvSpPr>
        <p:spPr>
          <a:xfrm>
            <a:off x="822959" y="4617720"/>
            <a:ext cx="3154680" cy="320040"/>
          </a:xfrm>
          <a:prstGeom prst="rect">
            <a:avLst/>
          </a:prstGeom>
          <a:noFill/>
        </p:spPr>
        <p:txBody>
          <a:bodyPr wrap="square" anchor="t" lIns="0" rIns="0" tIns="0" bIns="0">
            <a:spAutoFit/>
          </a:bodyPr>
          <a:lstStyle/>
          <a:p>
            <a:pPr algn="l">
              <a:lnSpc>
                <a:spcPct val="100000"/>
              </a:lnSpc>
            </a:pPr>
            <a:r>
              <a:rPr sz="1400" b="1" lang="zh-TW">
                <a:solidFill>
                  <a:srgbClr val="6D28D9"/>
                </a:solidFill>
                <a:latin typeface="Segoe UI Symbol"/>
                <a:ea typeface="Segoe UI Symbol"/>
              </a:rPr>
              <a:t>✓  </a:t>
            </a:r>
            <a:r>
              <a:rPr sz="1400" b="0" lang="zh-TW">
                <a:solidFill>
                  <a:srgbClr val="0B1B33"/>
                </a:solidFill>
                <a:latin typeface="Microsoft JhengHei"/>
                <a:ea typeface="Microsoft JhengHei"/>
              </a:rPr>
              <a:t>偵測→證據→稽核→處置→回條</a:t>
            </a:r>
          </a:p>
        </p:txBody>
      </p:sp>
      <p:sp>
        <p:nvSpPr>
          <p:cNvPr id="24" name="TextBox 23"/>
          <p:cNvSpPr txBox="1"/>
          <p:nvPr/>
        </p:nvSpPr>
        <p:spPr>
          <a:xfrm>
            <a:off x="822959" y="5074920"/>
            <a:ext cx="3154680" cy="320040"/>
          </a:xfrm>
          <a:prstGeom prst="rect">
            <a:avLst/>
          </a:prstGeom>
          <a:noFill/>
        </p:spPr>
        <p:txBody>
          <a:bodyPr wrap="square" anchor="t" lIns="0" rIns="0" tIns="0" bIns="0">
            <a:spAutoFit/>
          </a:bodyPr>
          <a:lstStyle/>
          <a:p>
            <a:pPr algn="l">
              <a:lnSpc>
                <a:spcPct val="100000"/>
              </a:lnSpc>
            </a:pPr>
            <a:r>
              <a:rPr sz="1400" b="1" lang="zh-TW">
                <a:solidFill>
                  <a:srgbClr val="6D28D9"/>
                </a:solidFill>
                <a:latin typeface="Segoe UI Symbol"/>
                <a:ea typeface="Segoe UI Symbol"/>
              </a:rPr>
              <a:t>✓  </a:t>
            </a:r>
            <a:r>
              <a:rPr sz="1400" b="0" lang="zh-TW">
                <a:solidFill>
                  <a:srgbClr val="0B1B33"/>
                </a:solidFill>
                <a:latin typeface="Microsoft JhengHei"/>
                <a:ea typeface="Microsoft JhengHei"/>
              </a:rPr>
              <a:t>事件 ID 與執行 ID 雙重綁定</a:t>
            </a:r>
          </a:p>
        </p:txBody>
      </p:sp>
      <p:sp>
        <p:nvSpPr>
          <p:cNvPr id="25" name="TextBox 24"/>
          <p:cNvSpPr txBox="1"/>
          <p:nvPr/>
        </p:nvSpPr>
        <p:spPr>
          <a:xfrm>
            <a:off x="822959" y="5532120"/>
            <a:ext cx="3154680" cy="320040"/>
          </a:xfrm>
          <a:prstGeom prst="rect">
            <a:avLst/>
          </a:prstGeom>
          <a:noFill/>
        </p:spPr>
        <p:txBody>
          <a:bodyPr wrap="square" anchor="t" lIns="0" rIns="0" tIns="0" bIns="0">
            <a:spAutoFit/>
          </a:bodyPr>
          <a:lstStyle/>
          <a:p>
            <a:pPr algn="l">
              <a:lnSpc>
                <a:spcPct val="100000"/>
              </a:lnSpc>
            </a:pPr>
            <a:r>
              <a:rPr sz="1400" b="1" lang="zh-TW">
                <a:solidFill>
                  <a:srgbClr val="6D28D9"/>
                </a:solidFill>
                <a:latin typeface="Segoe UI Symbol"/>
                <a:ea typeface="Segoe UI Symbol"/>
              </a:rPr>
              <a:t>✓  </a:t>
            </a:r>
            <a:r>
              <a:rPr sz="1400" b="0" lang="zh-TW">
                <a:solidFill>
                  <a:srgbClr val="0B1B33"/>
                </a:solidFill>
                <a:latin typeface="Microsoft JhengHei"/>
                <a:ea typeface="Microsoft JhengHei"/>
              </a:rPr>
              <a:t>雜湊鏈紀錄可匯出稽核</a:t>
            </a:r>
          </a:p>
        </p:txBody>
      </p:sp>
      <p:sp>
        <p:nvSpPr>
          <p:cNvPr id="26" name="Rounded Rectangle 25"/>
          <p:cNvSpPr/>
          <p:nvPr/>
        </p:nvSpPr>
        <p:spPr>
          <a:xfrm>
            <a:off x="4206240" y="3840480"/>
            <a:ext cx="3493008" cy="2286000"/>
          </a:xfrm>
          <a:prstGeom prst="roundRect">
            <a:avLst>
              <a:gd name="adj" fmla="val 5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06240" y="4069080"/>
            <a:ext cx="64008" cy="4572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59" y="4041648"/>
            <a:ext cx="3017520" cy="411480"/>
          </a:xfrm>
          <a:prstGeom prst="rect">
            <a:avLst/>
          </a:prstGeom>
          <a:noFill/>
        </p:spPr>
        <p:txBody>
          <a:bodyPr wrap="square" anchor="t" lIns="0" rIns="0" tIns="0" bIns="0">
            <a:spAutoFit/>
          </a:bodyPr>
          <a:lstStyle/>
          <a:p>
            <a:pPr algn="l">
              <a:lnSpc>
                <a:spcPct val="100000"/>
              </a:lnSpc>
            </a:pPr>
            <a:r>
              <a:rPr sz="2000" b="1" lang="zh-TW">
                <a:solidFill>
                  <a:srgbClr val="C2410C"/>
                </a:solidFill>
                <a:latin typeface="Microsoft JhengHei"/>
                <a:ea typeface="Microsoft JhengHei"/>
              </a:rPr>
              <a:t>擴充性</a:t>
            </a:r>
          </a:p>
        </p:txBody>
      </p:sp>
      <p:sp>
        <p:nvSpPr>
          <p:cNvPr id="29" name="TextBox 28"/>
          <p:cNvSpPr/>
          <p:nvPr/>
        </p:nvSpPr>
        <p:spPr>
          <a:xfrm>
            <a:off x="4480560" y="4617720"/>
            <a:ext cx="3154680" cy="320040"/>
          </a:xfrm>
          <a:prstGeom prst="rect">
            <a:avLst/>
          </a:prstGeom>
          <a:noFill/>
          <a:ln>
            <a:noFill/>
          </a:ln>
        </p:spPr>
        <p:txBody>
          <a:bodyPr wrap="none" lIns="0" tIns="0" rIns="0" bIns="0" anchor="t" anchorCtr="0">
            <a:noAutofit/>
          </a:bodyPr>
          <a:lstStyle/>
          <a:p>
            <a:pPr algn="l"/>
            <a:r>
              <a:rPr lang="zh-TW" sz="1400" b="1" dirty="0">
                <a:solidFill>
                  <a:srgbClr val="C2410C"/>
                </a:solidFill>
                <a:latin typeface="Segoe UI Symbol"/>
                <a:ea typeface="Segoe UI Symbol"/>
                <a:cs typeface="Segoe UI Symbol"/>
              </a:rPr>
              <a:t xml:space="preserve">✓  </a:t>
            </a:r>
            <a:r>
              <a:rPr lang="zh-TW" sz="1400" b="1" dirty="0">
                <a:solidFill>
                  <a:srgbClr val="0B1B33"/>
                </a:solidFill>
                <a:latin typeface="Microsoft JhengHei"/>
                <a:ea typeface="Microsoft JhengHei"/>
                <a:cs typeface="Microsoft JhengHei"/>
              </a:rPr>
              <a:t>真實預處理張量作為模型輸入</a:t>
            </a:r>
          </a:p>
        </p:txBody>
      </p:sp>
      <p:sp>
        <p:nvSpPr>
          <p:cNvPr id="30" name="TextBox 29"/>
          <p:cNvSpPr txBox="1"/>
          <p:nvPr/>
        </p:nvSpPr>
        <p:spPr>
          <a:xfrm>
            <a:off x="4480559" y="5074920"/>
            <a:ext cx="3154680" cy="320040"/>
          </a:xfrm>
          <a:prstGeom prst="rect">
            <a:avLst/>
          </a:prstGeom>
          <a:noFill/>
        </p:spPr>
        <p:txBody>
          <a:bodyPr wrap="square" anchor="t" lIns="0" rIns="0" tIns="0" bIns="0">
            <a:spAutoFit/>
          </a:bodyPr>
          <a:lstStyle/>
          <a:p>
            <a:pPr algn="l">
              <a:lnSpc>
                <a:spcPct val="100000"/>
              </a:lnSpc>
            </a:pPr>
            <a:r>
              <a:rPr sz="1400" b="1" lang="zh-TW">
                <a:solidFill>
                  <a:srgbClr val="C2410C"/>
                </a:solidFill>
                <a:latin typeface="Segoe UI Symbol"/>
                <a:ea typeface="Segoe UI Symbol"/>
              </a:rPr>
              <a:t>✓  </a:t>
            </a:r>
            <a:r>
              <a:rPr sz="1400" b="0" lang="zh-TW">
                <a:solidFill>
                  <a:srgbClr val="0B1B33"/>
                </a:solidFill>
                <a:latin typeface="Microsoft JhengHei"/>
                <a:ea typeface="Microsoft JhengHei"/>
              </a:rPr>
              <a:t>模型、案例庫、白名單獨立更新</a:t>
            </a:r>
          </a:p>
        </p:txBody>
      </p:sp>
      <p:sp>
        <p:nvSpPr>
          <p:cNvPr id="31" name="TextBox 30"/>
          <p:cNvSpPr txBox="1"/>
          <p:nvPr/>
        </p:nvSpPr>
        <p:spPr>
          <a:xfrm>
            <a:off x="4480559" y="5532120"/>
            <a:ext cx="3154680" cy="320040"/>
          </a:xfrm>
          <a:prstGeom prst="rect">
            <a:avLst/>
          </a:prstGeom>
          <a:noFill/>
        </p:spPr>
        <p:txBody>
          <a:bodyPr wrap="square" anchor="t" lIns="0" rIns="0" tIns="0" bIns="0">
            <a:spAutoFit/>
          </a:bodyPr>
          <a:lstStyle/>
          <a:p>
            <a:pPr algn="l">
              <a:lnSpc>
                <a:spcPct val="100000"/>
              </a:lnSpc>
            </a:pPr>
            <a:r>
              <a:rPr sz="1400" b="1" lang="zh-TW">
                <a:solidFill>
                  <a:srgbClr val="C2410C"/>
                </a:solidFill>
                <a:latin typeface="Segoe UI Symbol"/>
                <a:ea typeface="Segoe UI Symbol"/>
              </a:rPr>
              <a:t>✓  </a:t>
            </a:r>
            <a:r>
              <a:rPr sz="1400" b="0" lang="zh-TW">
                <a:solidFill>
                  <a:srgbClr val="0B1B33"/>
                </a:solidFill>
                <a:latin typeface="Microsoft JhengHei"/>
                <a:ea typeface="Microsoft JhengHei"/>
              </a:rPr>
              <a:t>全程本機推論，外部 API 0 次</a:t>
            </a:r>
          </a:p>
        </p:txBody>
      </p:sp>
      <p:sp>
        <p:nvSpPr>
          <p:cNvPr id="32" name="Rounded Rectangle 31"/>
          <p:cNvSpPr/>
          <p:nvPr/>
        </p:nvSpPr>
        <p:spPr>
          <a:xfrm>
            <a:off x="8001000" y="1371600"/>
            <a:ext cx="3639312" cy="475488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p:nvPr/>
        </p:nvSpPr>
        <p:spPr>
          <a:xfrm>
            <a:off x="8275320" y="1536192"/>
            <a:ext cx="3200400" cy="365760"/>
          </a:xfrm>
          <a:prstGeom prst="rect">
            <a:avLst/>
          </a:prstGeom>
          <a:noFill/>
          <a:ln>
            <a:noFill/>
          </a:ln>
        </p:spPr>
        <p:txBody>
          <a:bodyPr wrap="none" lIns="0" tIns="0" rIns="0" bIns="0" anchor="t" anchorCtr="0">
            <a:noAutofit/>
          </a:bodyPr>
          <a:lstStyle/>
          <a:p>
            <a:pPr algn="l"/>
            <a:r>
              <a:rPr lang="zh-TW" sz="1800" b="1" dirty="0">
                <a:solidFill>
                  <a:srgbClr val="0B1B33"/>
                </a:solidFill>
                <a:latin typeface="Microsoft JhengHei"/>
                <a:ea typeface="Microsoft JhengHei"/>
                <a:cs typeface="Microsoft JhengHei"/>
              </a:rPr>
              <a:t>事件處理的輸入與輸出</a:t>
            </a:r>
          </a:p>
        </p:txBody>
      </p:sp>
      <p:sp>
        <p:nvSpPr>
          <p:cNvPr id="34" name="TextBox 33"/>
          <p:cNvSpPr txBox="1"/>
          <p:nvPr/>
        </p:nvSpPr>
        <p:spPr>
          <a:xfrm>
            <a:off x="8275320" y="2029968"/>
            <a:ext cx="1097280" cy="274320"/>
          </a:xfrm>
          <a:prstGeom prst="rect">
            <a:avLst/>
          </a:prstGeom>
          <a:noFill/>
        </p:spPr>
        <p:txBody>
          <a:bodyPr wrap="square" anchor="t" lIns="0" rIns="0" tIns="0" bIns="0">
            <a:spAutoFit/>
          </a:bodyPr>
          <a:lstStyle/>
          <a:p>
            <a:pPr algn="l">
              <a:lnSpc>
                <a:spcPct val="100000"/>
              </a:lnSpc>
            </a:pPr>
            <a:r>
              <a:rPr sz="1100" b="0" lang="zh-TW">
                <a:solidFill>
                  <a:srgbClr val="5B6B82"/>
                </a:solidFill>
                <a:latin typeface="Microsoft JhengHei"/>
                <a:ea typeface="Microsoft JhengHei"/>
              </a:rPr>
              <a:t>面向</a:t>
            </a:r>
          </a:p>
        </p:txBody>
      </p:sp>
      <p:sp>
        <p:nvSpPr>
          <p:cNvPr id="35" name="TextBox 34"/>
          <p:cNvSpPr/>
          <p:nvPr/>
        </p:nvSpPr>
        <p:spPr>
          <a:xfrm>
            <a:off x="9326880" y="2029968"/>
            <a:ext cx="1097280" cy="274320"/>
          </a:xfrm>
          <a:prstGeom prst="rect">
            <a:avLst/>
          </a:prstGeom>
          <a:noFill/>
          <a:ln>
            <a:noFill/>
          </a:ln>
        </p:spPr>
        <p:txBody>
          <a:bodyPr wrap="none" lIns="0" tIns="0" rIns="0" bIns="0" anchor="t" anchorCtr="0">
            <a:noAutofit/>
          </a:bodyPr>
          <a:lstStyle/>
          <a:p>
            <a:pPr algn="l"/>
            <a:r>
              <a:rPr lang="zh-TW" sz="1100" dirty="0">
                <a:solidFill>
                  <a:srgbClr val="5B6B82"/>
                </a:solidFill>
                <a:latin typeface="Microsoft JhengHei"/>
                <a:ea typeface="Microsoft JhengHei"/>
                <a:cs typeface="Microsoft JhengHei"/>
              </a:rPr>
              <a:t>輸入</a:t>
            </a:r>
          </a:p>
        </p:txBody>
      </p:sp>
      <p:sp>
        <p:nvSpPr>
          <p:cNvPr id="36" name="TextBox 35"/>
          <p:cNvSpPr/>
          <p:nvPr/>
        </p:nvSpPr>
        <p:spPr>
          <a:xfrm>
            <a:off x="10378440" y="2029968"/>
            <a:ext cx="1188720" cy="274320"/>
          </a:xfrm>
          <a:prstGeom prst="rect">
            <a:avLst/>
          </a:prstGeom>
          <a:noFill/>
          <a:ln>
            <a:noFill/>
          </a:ln>
        </p:spPr>
        <p:txBody>
          <a:bodyPr wrap="none" lIns="0" tIns="0" rIns="0" bIns="0" anchor="t" anchorCtr="0">
            <a:noAutofit/>
          </a:bodyPr>
          <a:lstStyle/>
          <a:p>
            <a:pPr algn="l"/>
            <a:r>
              <a:rPr lang="zh-TW" sz="1100" b="1" dirty="0">
                <a:solidFill>
                  <a:srgbClr val="1D4ED8"/>
                </a:solidFill>
                <a:latin typeface="Microsoft JhengHei"/>
                <a:ea typeface="Microsoft JhengHei"/>
                <a:cs typeface="Microsoft JhengHei"/>
              </a:rPr>
              <a:t>輸出</a:t>
            </a:r>
          </a:p>
        </p:txBody>
      </p:sp>
      <p:cxnSp>
        <p:nvCxnSpPr>
          <p:cNvPr id="37" name="Connector 36"/>
          <p:cNvCxnSpPr/>
          <p:nvPr/>
        </p:nvCxnSpPr>
        <p:spPr>
          <a:xfrm>
            <a:off x="8275320" y="2304288"/>
            <a:ext cx="3108960" cy="0"/>
          </a:xfrm>
          <a:prstGeom prst="line">
            <a:avLst/>
          </a:prstGeom>
          <a:ln w="12700">
            <a:solidFill>
              <a:srgbClr val="DCE3EE"/>
            </a:solidFill>
          </a:ln>
        </p:spPr>
        <p:style>
          <a:lnRef idx="2">
            <a:schemeClr val="accent1"/>
          </a:lnRef>
          <a:fillRef idx="0">
            <a:schemeClr val="accent1"/>
          </a:fillRef>
          <a:effectRef idx="1">
            <a:schemeClr val="accent1"/>
          </a:effectRef>
          <a:fontRef idx="minor">
            <a:schemeClr val="tx1"/>
          </a:fontRef>
        </p:style>
      </p:cxnSp>
      <p:sp>
        <p:nvSpPr>
          <p:cNvPr id="38" name="TextBox 37"/>
          <p:cNvSpPr/>
          <p:nvPr/>
        </p:nvSpPr>
        <p:spPr>
          <a:xfrm>
            <a:off x="8275320" y="2450592"/>
            <a:ext cx="1051560" cy="457200"/>
          </a:xfrm>
          <a:prstGeom prst="rect">
            <a:avLst/>
          </a:prstGeom>
          <a:noFill/>
          <a:ln>
            <a:noFill/>
          </a:ln>
        </p:spPr>
        <p:txBody>
          <a:bodyPr wrap="none" lIns="0" tIns="0" rIns="0" bIns="0" anchor="t" anchorCtr="0">
            <a:noAutofit/>
          </a:bodyPr>
          <a:lstStyle/>
          <a:p>
            <a:pPr algn="l"/>
            <a:r>
              <a:rPr lang="zh-TW" sz="1300" b="1" dirty="0">
                <a:solidFill>
                  <a:srgbClr val="0B1B33"/>
                </a:solidFill>
                <a:latin typeface="Microsoft JhengHei"/>
                <a:ea typeface="Microsoft JhengHei"/>
                <a:cs typeface="Microsoft JhengHei"/>
              </a:rPr>
              <a:t>威脅判定</a:t>
            </a:r>
          </a:p>
        </p:txBody>
      </p:sp>
      <p:sp>
        <p:nvSpPr>
          <p:cNvPr id="39" name="TextBox 38"/>
          <p:cNvSpPr/>
          <p:nvPr/>
        </p:nvSpPr>
        <p:spPr>
          <a:xfrm>
            <a:off x="9326880" y="2450592"/>
            <a:ext cx="1051560" cy="457200"/>
          </a:xfrm>
          <a:prstGeom prst="rect">
            <a:avLst/>
          </a:prstGeom>
          <a:noFill/>
          <a:ln>
            <a:noFill/>
          </a:ln>
        </p:spPr>
        <p:txBody>
          <a:bodyPr wrap="none" lIns="0" tIns="0" rIns="0" bIns="0" anchor="t" anchorCtr="0">
            <a:noAutofit/>
          </a:bodyPr>
          <a:lstStyle/>
          <a:p>
            <a:pPr algn="l"/>
            <a:r>
              <a:rPr lang="zh-TW" sz="1200" dirty="0">
                <a:solidFill>
                  <a:srgbClr val="5B6B82"/>
                </a:solidFill>
                <a:latin typeface="Microsoft JhengHei"/>
                <a:ea typeface="Microsoft JhengHei"/>
                <a:cs typeface="Microsoft JhengHei"/>
              </a:rPr>
              <a:t>預處理張量</a:t>
            </a:r>
          </a:p>
        </p:txBody>
      </p:sp>
      <p:sp>
        <p:nvSpPr>
          <p:cNvPr id="40" name="TextBox 39"/>
          <p:cNvSpPr txBox="1"/>
          <p:nvPr/>
        </p:nvSpPr>
        <p:spPr>
          <a:xfrm>
            <a:off x="10378440" y="2450592"/>
            <a:ext cx="1188720" cy="548640"/>
          </a:xfrm>
          <a:prstGeom prst="rect">
            <a:avLst/>
          </a:prstGeom>
          <a:noFill/>
        </p:spPr>
        <p:txBody>
          <a:bodyPr wrap="square" anchor="t" lIns="0" rIns="0" tIns="0" bIns="0">
            <a:spAutoFit/>
          </a:bodyPr>
          <a:lstStyle/>
          <a:p>
            <a:pPr algn="l">
              <a:lnSpc>
                <a:spcPct val="110000"/>
              </a:lnSpc>
            </a:pPr>
            <a:r>
              <a:rPr sz="1200" b="1" lang="zh-TW">
                <a:solidFill>
                  <a:srgbClr val="1D4ED8"/>
                </a:solidFill>
                <a:latin typeface="Microsoft JhengHei"/>
                <a:ea typeface="Microsoft JhengHei"/>
              </a:rPr>
              <a:t>17 類＋校準信心</a:t>
            </a:r>
          </a:p>
        </p:txBody>
      </p:sp>
      <p:cxnSp>
        <p:nvCxnSpPr>
          <p:cNvPr id="41" name="Connector 40"/>
          <p:cNvCxnSpPr/>
          <p:nvPr/>
        </p:nvCxnSpPr>
        <p:spPr>
          <a:xfrm>
            <a:off x="8275320" y="3035808"/>
            <a:ext cx="3108960" cy="0"/>
          </a:xfrm>
          <a:prstGeom prst="line">
            <a:avLst/>
          </a:prstGeom>
          <a:ln w="12700">
            <a:solidFill>
              <a:srgbClr val="DCE3EE"/>
            </a:solidFill>
          </a:ln>
        </p:spPr>
        <p:style>
          <a:lnRef idx="2">
            <a:schemeClr val="accent1"/>
          </a:lnRef>
          <a:fillRef idx="0">
            <a:schemeClr val="accent1"/>
          </a:fillRef>
          <a:effectRef idx="1">
            <a:schemeClr val="accent1"/>
          </a:effectRef>
          <a:fontRef idx="minor">
            <a:schemeClr val="tx1"/>
          </a:fontRef>
        </p:style>
      </p:cxnSp>
      <p:sp>
        <p:nvSpPr>
          <p:cNvPr id="42" name="TextBox 41"/>
          <p:cNvSpPr/>
          <p:nvPr/>
        </p:nvSpPr>
        <p:spPr>
          <a:xfrm>
            <a:off x="8275320" y="3182112"/>
            <a:ext cx="1051560" cy="457200"/>
          </a:xfrm>
          <a:prstGeom prst="rect">
            <a:avLst/>
          </a:prstGeom>
          <a:noFill/>
          <a:ln>
            <a:noFill/>
          </a:ln>
        </p:spPr>
        <p:txBody>
          <a:bodyPr wrap="none" lIns="0" tIns="0" rIns="0" bIns="0" anchor="t" anchorCtr="0">
            <a:noAutofit/>
          </a:bodyPr>
          <a:lstStyle/>
          <a:p>
            <a:pPr algn="l"/>
            <a:r>
              <a:rPr lang="zh-TW" sz="1300" b="1" dirty="0">
                <a:solidFill>
                  <a:srgbClr val="0B1B33"/>
                </a:solidFill>
                <a:latin typeface="Microsoft JhengHei"/>
                <a:ea typeface="Microsoft JhengHei"/>
                <a:cs typeface="Microsoft JhengHei"/>
              </a:rPr>
              <a:t>案例檢索</a:t>
            </a:r>
          </a:p>
        </p:txBody>
      </p:sp>
      <p:sp>
        <p:nvSpPr>
          <p:cNvPr id="43" name="TextBox 42"/>
          <p:cNvSpPr/>
          <p:nvPr/>
        </p:nvSpPr>
        <p:spPr>
          <a:xfrm>
            <a:off x="9326880" y="3182112"/>
            <a:ext cx="1051560" cy="457200"/>
          </a:xfrm>
          <a:prstGeom prst="rect">
            <a:avLst/>
          </a:prstGeom>
          <a:noFill/>
          <a:ln>
            <a:noFill/>
          </a:ln>
        </p:spPr>
        <p:txBody>
          <a:bodyPr wrap="none" lIns="0" tIns="0" rIns="0" bIns="0" anchor="t" anchorCtr="0">
            <a:noAutofit/>
          </a:bodyPr>
          <a:lstStyle/>
          <a:p>
            <a:pPr algn="l"/>
            <a:r>
              <a:rPr lang="zh-TW" sz="1200" dirty="0">
                <a:solidFill>
                  <a:srgbClr val="5B6B82"/>
                </a:solidFill>
                <a:latin typeface="Microsoft JhengHei"/>
                <a:ea typeface="Microsoft JhengHei"/>
                <a:cs typeface="Microsoft JhengHei"/>
              </a:rPr>
              <a:t>529維向量</a:t>
            </a:r>
          </a:p>
        </p:txBody>
      </p:sp>
      <p:sp>
        <p:nvSpPr>
          <p:cNvPr id="44" name="TextBox 43"/>
          <p:cNvSpPr txBox="1"/>
          <p:nvPr/>
        </p:nvSpPr>
        <p:spPr>
          <a:xfrm>
            <a:off x="10378440" y="3182112"/>
            <a:ext cx="1188720" cy="548640"/>
          </a:xfrm>
          <a:prstGeom prst="rect">
            <a:avLst/>
          </a:prstGeom>
          <a:noFill/>
        </p:spPr>
        <p:txBody>
          <a:bodyPr wrap="square" anchor="t" lIns="0" rIns="0" tIns="0" bIns="0">
            <a:spAutoFit/>
          </a:bodyPr>
          <a:lstStyle/>
          <a:p>
            <a:pPr algn="l">
              <a:lnSpc>
                <a:spcPct val="110000"/>
              </a:lnSpc>
            </a:pPr>
            <a:r>
              <a:rPr sz="1200" b="1" lang="zh-TW">
                <a:solidFill>
                  <a:srgbClr val="1D4ED8"/>
                </a:solidFill>
                <a:latin typeface="Microsoft JhengHei"/>
                <a:ea typeface="Microsoft JhengHei"/>
              </a:rPr>
              <a:t>Top-5 案例證據</a:t>
            </a:r>
          </a:p>
        </p:txBody>
      </p:sp>
      <p:cxnSp>
        <p:nvCxnSpPr>
          <p:cNvPr id="45" name="Connector 44"/>
          <p:cNvCxnSpPr/>
          <p:nvPr/>
        </p:nvCxnSpPr>
        <p:spPr>
          <a:xfrm>
            <a:off x="8275320" y="3767328"/>
            <a:ext cx="3108960" cy="0"/>
          </a:xfrm>
          <a:prstGeom prst="line">
            <a:avLst/>
          </a:prstGeom>
          <a:ln w="12700">
            <a:solidFill>
              <a:srgbClr val="DCE3EE"/>
            </a:solidFill>
          </a:ln>
        </p:spPr>
        <p:style>
          <a:lnRef idx="2">
            <a:schemeClr val="accent1"/>
          </a:lnRef>
          <a:fillRef idx="0">
            <a:schemeClr val="accent1"/>
          </a:fillRef>
          <a:effectRef idx="1">
            <a:schemeClr val="accent1"/>
          </a:effectRef>
          <a:fontRef idx="minor">
            <a:schemeClr val="tx1"/>
          </a:fontRef>
        </p:style>
      </p:cxnSp>
      <p:sp>
        <p:nvSpPr>
          <p:cNvPr id="46" name="TextBox 45"/>
          <p:cNvSpPr/>
          <p:nvPr/>
        </p:nvSpPr>
        <p:spPr>
          <a:xfrm>
            <a:off x="8275320" y="3913632"/>
            <a:ext cx="1051560" cy="457200"/>
          </a:xfrm>
          <a:prstGeom prst="rect">
            <a:avLst/>
          </a:prstGeom>
          <a:noFill/>
          <a:ln>
            <a:noFill/>
          </a:ln>
        </p:spPr>
        <p:txBody>
          <a:bodyPr wrap="none" lIns="0" tIns="0" rIns="0" bIns="0" anchor="t" anchorCtr="0">
            <a:noAutofit/>
          </a:bodyPr>
          <a:lstStyle/>
          <a:p>
            <a:pPr algn="l"/>
            <a:r>
              <a:rPr lang="zh-TW" sz="1300" b="1" dirty="0">
                <a:solidFill>
                  <a:srgbClr val="0B1B33"/>
                </a:solidFill>
                <a:latin typeface="Microsoft JhengHei"/>
                <a:ea typeface="Microsoft JhengHei"/>
                <a:cs typeface="Microsoft JhengHei"/>
              </a:rPr>
              <a:t>AI稽核</a:t>
            </a:r>
          </a:p>
        </p:txBody>
      </p:sp>
      <p:sp>
        <p:nvSpPr>
          <p:cNvPr id="47" name="TextBox 46"/>
          <p:cNvSpPr/>
          <p:nvPr/>
        </p:nvSpPr>
        <p:spPr>
          <a:xfrm>
            <a:off x="9326880" y="3913632"/>
            <a:ext cx="1051560" cy="457200"/>
          </a:xfrm>
          <a:prstGeom prst="rect">
            <a:avLst/>
          </a:prstGeom>
          <a:noFill/>
          <a:ln>
            <a:noFill/>
          </a:ln>
        </p:spPr>
        <p:txBody>
          <a:bodyPr wrap="none" lIns="0" tIns="0" rIns="0" bIns="0" anchor="t" anchorCtr="0">
            <a:noAutofit/>
          </a:bodyPr>
          <a:lstStyle/>
          <a:p>
            <a:pPr algn="l"/>
            <a:r>
              <a:rPr lang="zh-TW" sz="1200" dirty="0">
                <a:solidFill>
                  <a:srgbClr val="5B6B82"/>
                </a:solidFill>
                <a:latin typeface="Microsoft JhengHei"/>
                <a:ea typeface="Microsoft JhengHei"/>
                <a:cs typeface="Microsoft JhengHei"/>
              </a:rPr>
              <a:t>分類與證據</a:t>
            </a:r>
          </a:p>
        </p:txBody>
      </p:sp>
      <p:sp>
        <p:nvSpPr>
          <p:cNvPr id="48" name="TextBox 47"/>
          <p:cNvSpPr/>
          <p:nvPr/>
        </p:nvSpPr>
        <p:spPr>
          <a:xfrm>
            <a:off x="10378440" y="3913632"/>
            <a:ext cx="1188720" cy="548640"/>
          </a:xfrm>
          <a:prstGeom prst="rect">
            <a:avLst/>
          </a:prstGeom>
          <a:noFill/>
          <a:ln>
            <a:noFill/>
          </a:ln>
        </p:spPr>
        <p:txBody>
          <a:bodyPr wrap="none" lIns="0" tIns="0" rIns="0" bIns="0" anchor="t" anchorCtr="0">
            <a:noAutofit/>
          </a:bodyPr>
          <a:lstStyle/>
          <a:p>
            <a:pPr algn="l"/>
            <a:r>
              <a:rPr lang="zh-TW" sz="1200" b="1" dirty="0">
                <a:solidFill>
                  <a:srgbClr val="1D4ED8"/>
                </a:solidFill>
                <a:latin typeface="Microsoft JhengHei"/>
                <a:ea typeface="Microsoft JhengHei"/>
                <a:cs typeface="Microsoft JhengHei"/>
              </a:rPr>
              <a:t>三態稽核與理由</a:t>
            </a:r>
          </a:p>
        </p:txBody>
      </p:sp>
      <p:cxnSp>
        <p:nvCxnSpPr>
          <p:cNvPr id="49" name="Connector 48"/>
          <p:cNvCxnSpPr/>
          <p:nvPr/>
        </p:nvCxnSpPr>
        <p:spPr>
          <a:xfrm>
            <a:off x="8275320" y="4498848"/>
            <a:ext cx="3108960" cy="0"/>
          </a:xfrm>
          <a:prstGeom prst="line">
            <a:avLst/>
          </a:prstGeom>
          <a:ln w="12700">
            <a:solidFill>
              <a:srgbClr val="DCE3EE"/>
            </a:solidFill>
          </a:ln>
        </p:spPr>
        <p:style>
          <a:lnRef idx="2">
            <a:schemeClr val="accent1"/>
          </a:lnRef>
          <a:fillRef idx="0">
            <a:schemeClr val="accent1"/>
          </a:fillRef>
          <a:effectRef idx="1">
            <a:schemeClr val="accent1"/>
          </a:effectRef>
          <a:fontRef idx="minor">
            <a:schemeClr val="tx1"/>
          </a:fontRef>
        </p:style>
      </p:cxnSp>
      <p:sp>
        <p:nvSpPr>
          <p:cNvPr id="50" name="TextBox 49"/>
          <p:cNvSpPr/>
          <p:nvPr/>
        </p:nvSpPr>
        <p:spPr>
          <a:xfrm>
            <a:off x="8275320" y="4645152"/>
            <a:ext cx="1051560" cy="457200"/>
          </a:xfrm>
          <a:prstGeom prst="rect">
            <a:avLst/>
          </a:prstGeom>
          <a:noFill/>
          <a:ln>
            <a:noFill/>
          </a:ln>
        </p:spPr>
        <p:txBody>
          <a:bodyPr wrap="none" lIns="0" tIns="0" rIns="0" bIns="0" anchor="t" anchorCtr="0">
            <a:noAutofit/>
          </a:bodyPr>
          <a:lstStyle/>
          <a:p>
            <a:pPr algn="l"/>
            <a:r>
              <a:rPr lang="zh-TW" sz="1300" b="1" dirty="0">
                <a:solidFill>
                  <a:srgbClr val="0B1B33"/>
                </a:solidFill>
                <a:latin typeface="Microsoft JhengHei"/>
                <a:ea typeface="Microsoft JhengHei"/>
                <a:cs typeface="Microsoft JhengHei"/>
              </a:rPr>
              <a:t>策略檢核</a:t>
            </a:r>
          </a:p>
        </p:txBody>
      </p:sp>
      <p:sp>
        <p:nvSpPr>
          <p:cNvPr id="51" name="TextBox 50"/>
          <p:cNvSpPr/>
          <p:nvPr/>
        </p:nvSpPr>
        <p:spPr>
          <a:xfrm>
            <a:off x="9326880" y="4645152"/>
            <a:ext cx="1051560" cy="457200"/>
          </a:xfrm>
          <a:prstGeom prst="rect">
            <a:avLst/>
          </a:prstGeom>
          <a:noFill/>
          <a:ln>
            <a:noFill/>
          </a:ln>
        </p:spPr>
        <p:txBody>
          <a:bodyPr wrap="none" lIns="0" tIns="0" rIns="0" bIns="0" anchor="t" anchorCtr="0">
            <a:noAutofit/>
          </a:bodyPr>
          <a:lstStyle/>
          <a:p>
            <a:pPr algn="l"/>
            <a:r>
              <a:rPr lang="zh-TW" sz="1200" dirty="0">
                <a:solidFill>
                  <a:srgbClr val="5B6B82"/>
                </a:solidFill>
                <a:latin typeface="Microsoft JhengHei"/>
                <a:ea typeface="Microsoft JhengHei"/>
                <a:cs typeface="Microsoft JhengHei"/>
              </a:rPr>
              <a:t>稽核與門檻</a:t>
            </a:r>
          </a:p>
        </p:txBody>
      </p:sp>
      <p:sp>
        <p:nvSpPr>
          <p:cNvPr id="52" name="TextBox 51"/>
          <p:cNvSpPr/>
          <p:nvPr/>
        </p:nvSpPr>
        <p:spPr>
          <a:xfrm>
            <a:off x="10378440" y="4645152"/>
            <a:ext cx="1188720" cy="548640"/>
          </a:xfrm>
          <a:prstGeom prst="rect">
            <a:avLst/>
          </a:prstGeom>
          <a:noFill/>
          <a:ln>
            <a:noFill/>
          </a:ln>
        </p:spPr>
        <p:txBody>
          <a:bodyPr wrap="none" lIns="0" tIns="0" rIns="0" bIns="0" anchor="t" anchorCtr="0">
            <a:noAutofit/>
          </a:bodyPr>
          <a:lstStyle/>
          <a:p>
            <a:pPr algn="l"/>
            <a:r>
              <a:rPr lang="zh-TW" sz="1200" b="1" dirty="0">
                <a:solidFill>
                  <a:srgbClr val="1D4ED8"/>
                </a:solidFill>
                <a:latin typeface="Microsoft JhengHei"/>
                <a:ea typeface="Microsoft JhengHei"/>
                <a:cs typeface="Microsoft JhengHei"/>
              </a:rPr>
              <a:t>動作與範圍</a:t>
            </a:r>
          </a:p>
        </p:txBody>
      </p:sp>
      <p:cxnSp>
        <p:nvCxnSpPr>
          <p:cNvPr id="53" name="Connector 52"/>
          <p:cNvCxnSpPr/>
          <p:nvPr/>
        </p:nvCxnSpPr>
        <p:spPr>
          <a:xfrm>
            <a:off x="8275320" y="5230368"/>
            <a:ext cx="3108960" cy="0"/>
          </a:xfrm>
          <a:prstGeom prst="line">
            <a:avLst/>
          </a:prstGeom>
          <a:ln w="12700">
            <a:solidFill>
              <a:srgbClr val="DCE3EE"/>
            </a:solidFill>
          </a:ln>
        </p:spPr>
        <p:style>
          <a:lnRef idx="2">
            <a:schemeClr val="accent1"/>
          </a:lnRef>
          <a:fillRef idx="0">
            <a:schemeClr val="accent1"/>
          </a:fillRef>
          <a:effectRef idx="1">
            <a:schemeClr val="accent1"/>
          </a:effectRef>
          <a:fontRef idx="minor">
            <a:schemeClr val="tx1"/>
          </a:fontRef>
        </p:style>
      </p:cxnSp>
      <p:sp>
        <p:nvSpPr>
          <p:cNvPr id="54" name="TextBox 53"/>
          <p:cNvSpPr/>
          <p:nvPr/>
        </p:nvSpPr>
        <p:spPr>
          <a:xfrm>
            <a:off x="8275320" y="5376672"/>
            <a:ext cx="1051560" cy="457200"/>
          </a:xfrm>
          <a:prstGeom prst="rect">
            <a:avLst/>
          </a:prstGeom>
          <a:noFill/>
          <a:ln>
            <a:noFill/>
          </a:ln>
        </p:spPr>
        <p:txBody>
          <a:bodyPr wrap="none" lIns="0" tIns="0" rIns="0" bIns="0" anchor="t" anchorCtr="0">
            <a:noAutofit/>
          </a:bodyPr>
          <a:lstStyle/>
          <a:p>
            <a:pPr algn="l"/>
            <a:r>
              <a:rPr lang="zh-TW" sz="1300" b="1" dirty="0">
                <a:solidFill>
                  <a:srgbClr val="0B1B33"/>
                </a:solidFill>
                <a:latin typeface="Microsoft JhengHei"/>
                <a:ea typeface="Microsoft JhengHei"/>
                <a:cs typeface="Microsoft JhengHei"/>
              </a:rPr>
              <a:t>隔離驗證</a:t>
            </a:r>
          </a:p>
        </p:txBody>
      </p:sp>
      <p:sp>
        <p:nvSpPr>
          <p:cNvPr id="55" name="TextBox 54"/>
          <p:cNvSpPr/>
          <p:nvPr/>
        </p:nvSpPr>
        <p:spPr>
          <a:xfrm>
            <a:off x="9326880" y="5376672"/>
            <a:ext cx="1051560" cy="457200"/>
          </a:xfrm>
          <a:prstGeom prst="rect">
            <a:avLst/>
          </a:prstGeom>
          <a:noFill/>
          <a:ln>
            <a:noFill/>
          </a:ln>
        </p:spPr>
        <p:txBody>
          <a:bodyPr wrap="none" lIns="0" tIns="0" rIns="0" bIns="0" anchor="t" anchorCtr="0">
            <a:noAutofit/>
          </a:bodyPr>
          <a:lstStyle/>
          <a:p>
            <a:pPr algn="l"/>
            <a:r>
              <a:rPr lang="zh-TW" sz="1200" dirty="0">
                <a:solidFill>
                  <a:srgbClr val="5B6B82"/>
                </a:solidFill>
                <a:latin typeface="Microsoft JhengHei"/>
                <a:ea typeface="Microsoft JhengHei"/>
                <a:cs typeface="Microsoft JhengHei"/>
              </a:rPr>
              <a:t>同事件策略</a:t>
            </a:r>
          </a:p>
        </p:txBody>
      </p:sp>
      <p:sp>
        <p:nvSpPr>
          <p:cNvPr id="56" name="TextBox 55"/>
          <p:cNvSpPr txBox="1"/>
          <p:nvPr/>
        </p:nvSpPr>
        <p:spPr>
          <a:xfrm>
            <a:off x="10378440" y="5376672"/>
            <a:ext cx="1188720" cy="548640"/>
          </a:xfrm>
          <a:prstGeom prst="rect">
            <a:avLst/>
          </a:prstGeom>
          <a:noFill/>
        </p:spPr>
        <p:txBody>
          <a:bodyPr wrap="square" anchor="t" lIns="0" rIns="0" tIns="0" bIns="0">
            <a:spAutoFit/>
          </a:bodyPr>
          <a:lstStyle/>
          <a:p>
            <a:pPr algn="l">
              <a:lnSpc>
                <a:spcPct val="110000"/>
              </a:lnSpc>
            </a:pPr>
            <a:r>
              <a:rPr sz="1200" b="1" lang="zh-TW">
                <a:solidFill>
                  <a:srgbClr val="1D4ED8"/>
                </a:solidFill>
                <a:latin typeface="Microsoft JhengHei"/>
                <a:ea typeface="Microsoft JhengHei"/>
              </a:rPr>
              <a:t>TTL・讀回・回復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709160"/>
            <a:ext cx="12191695"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5486400" cy="274320"/>
          </a:xfrm>
          <a:prstGeom prst="rect">
            <a:avLst/>
          </a:prstGeom>
          <a:noFill/>
        </p:spPr>
        <p:txBody>
          <a:bodyPr wrap="square" anchor="t" lIns="0" rIns="0" tIns="0" bIns="0">
            <a:spAutoFit/>
          </a:bodyPr>
          <a:lstStyle/>
          <a:p>
            <a:pPr algn="l">
              <a:lnSpc>
                <a:spcPct val="100000"/>
              </a:lnSpc>
            </a:pPr>
            <a:r>
              <a:rPr sz="1400" b="1" lang="zh-TW">
                <a:solidFill>
                  <a:srgbClr val="1D4ED8"/>
                </a:solidFill>
                <a:latin typeface="Microsoft JhengHei"/>
                <a:ea typeface="Microsoft JhengHei"/>
              </a:rPr>
              <a:t>結語</a:t>
            </a:r>
          </a:p>
        </p:txBody>
      </p:sp>
      <p:sp>
        <p:nvSpPr>
          <p:cNvPr id="6" name="TextBox 5"/>
          <p:cNvSpPr txBox="1"/>
          <p:nvPr/>
        </p:nvSpPr>
        <p:spPr>
          <a:xfrm>
            <a:off x="731520" y="1280160"/>
            <a:ext cx="10789920" cy="1463040"/>
          </a:xfrm>
          <a:prstGeom prst="rect">
            <a:avLst/>
          </a:prstGeom>
          <a:noFill/>
        </p:spPr>
        <p:txBody>
          <a:bodyPr wrap="square" anchor="t" lIns="0" rIns="0" tIns="0" bIns="0">
            <a:spAutoFit/>
          </a:bodyPr>
          <a:lstStyle/>
          <a:p>
            <a:pPr algn="l">
              <a:lnSpc>
                <a:spcPct val="130000"/>
              </a:lnSpc>
            </a:pPr>
            <a:r>
              <a:rPr sz="4000" b="1" lang="zh-TW">
                <a:solidFill>
                  <a:srgbClr val="0B1B33"/>
                </a:solidFill>
                <a:latin typeface="Microsoft JhengHei"/>
                <a:ea typeface="Microsoft JhengHei"/>
              </a:rPr>
              <a:t>讓每一筆告警，</a:t>
            </a:r>
          </a:p>
          <a:p>
            <a:pPr algn="l">
              <a:lnSpc>
                <a:spcPct val="130000"/>
              </a:lnSpc>
            </a:pPr>
            <a:r>
              <a:rPr sz="4000" b="1" lang="zh-TW">
                <a:solidFill>
                  <a:srgbClr val="1D4ED8"/>
                </a:solidFill>
                <a:latin typeface="Microsoft JhengHei"/>
                <a:ea typeface="Microsoft JhengHei"/>
              </a:rPr>
              <a:t>都有依據、有證據、可回復。</a:t>
            </a:r>
          </a:p>
        </p:txBody>
      </p:sp>
      <p:sp>
        <p:nvSpPr>
          <p:cNvPr id="7" name="Rectangle 6"/>
          <p:cNvSpPr/>
          <p:nvPr/>
        </p:nvSpPr>
        <p:spPr>
          <a:xfrm>
            <a:off x="731520" y="3246120"/>
            <a:ext cx="73152"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246120"/>
            <a:ext cx="3200400" cy="411480"/>
          </a:xfrm>
          <a:prstGeom prst="rect">
            <a:avLst/>
          </a:prstGeom>
          <a:noFill/>
        </p:spPr>
        <p:txBody>
          <a:bodyPr wrap="square" anchor="t" lIns="0" rIns="0" tIns="0" bIns="0">
            <a:spAutoFit/>
          </a:bodyPr>
          <a:lstStyle/>
          <a:p>
            <a:pPr algn="l">
              <a:lnSpc>
                <a:spcPct val="100000"/>
              </a:lnSpc>
            </a:pPr>
            <a:r>
              <a:rPr sz="2200" b="1" lang="zh-TW">
                <a:solidFill>
                  <a:srgbClr val="1D4ED8"/>
                </a:solidFill>
                <a:latin typeface="Microsoft JhengHei"/>
                <a:ea typeface="Microsoft JhengHei"/>
              </a:rPr>
              <a:t>偵測有依據</a:t>
            </a:r>
          </a:p>
        </p:txBody>
      </p:sp>
      <p:sp>
        <p:nvSpPr>
          <p:cNvPr id="9" name="TextBox 8"/>
          <p:cNvSpPr txBox="1"/>
          <p:nvPr/>
        </p:nvSpPr>
        <p:spPr>
          <a:xfrm>
            <a:off x="1005840" y="3703320"/>
            <a:ext cx="3291840" cy="32004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內容相依時序方向判定 · 固定 17 類</a:t>
            </a:r>
          </a:p>
        </p:txBody>
      </p:sp>
      <p:sp>
        <p:nvSpPr>
          <p:cNvPr id="10" name="Rectangle 9"/>
          <p:cNvSpPr/>
          <p:nvPr/>
        </p:nvSpPr>
        <p:spPr>
          <a:xfrm>
            <a:off x="4389120" y="3246120"/>
            <a:ext cx="73152" cy="8686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3246120"/>
            <a:ext cx="3200400" cy="411480"/>
          </a:xfrm>
          <a:prstGeom prst="rect">
            <a:avLst/>
          </a:prstGeom>
          <a:noFill/>
        </p:spPr>
        <p:txBody>
          <a:bodyPr wrap="square" anchor="t" lIns="0" rIns="0" tIns="0" bIns="0">
            <a:spAutoFit/>
          </a:bodyPr>
          <a:lstStyle/>
          <a:p>
            <a:pPr algn="l">
              <a:lnSpc>
                <a:spcPct val="100000"/>
              </a:lnSpc>
            </a:pPr>
            <a:r>
              <a:rPr sz="2200" b="1" lang="zh-TW">
                <a:solidFill>
                  <a:srgbClr val="6D28D9"/>
                </a:solidFill>
                <a:latin typeface="Microsoft JhengHei"/>
                <a:ea typeface="Microsoft JhengHei"/>
              </a:rPr>
              <a:t>稽核有證據</a:t>
            </a:r>
          </a:p>
        </p:txBody>
      </p:sp>
      <p:sp>
        <p:nvSpPr>
          <p:cNvPr id="12" name="TextBox 11"/>
          <p:cNvSpPr txBox="1"/>
          <p:nvPr/>
        </p:nvSpPr>
        <p:spPr>
          <a:xfrm>
            <a:off x="4663440" y="3703320"/>
            <a:ext cx="3291840" cy="32004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529 維任務向量 · Top-5 案例證據</a:t>
            </a:r>
          </a:p>
        </p:txBody>
      </p:sp>
      <p:sp>
        <p:nvSpPr>
          <p:cNvPr id="13" name="Rectangle 12"/>
          <p:cNvSpPr/>
          <p:nvPr/>
        </p:nvSpPr>
        <p:spPr>
          <a:xfrm>
            <a:off x="8046720" y="3246120"/>
            <a:ext cx="73152" cy="8686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3246120"/>
            <a:ext cx="3200400" cy="411480"/>
          </a:xfrm>
          <a:prstGeom prst="rect">
            <a:avLst/>
          </a:prstGeom>
          <a:noFill/>
        </p:spPr>
        <p:txBody>
          <a:bodyPr wrap="square" anchor="t" lIns="0" rIns="0" tIns="0" bIns="0">
            <a:spAutoFit/>
          </a:bodyPr>
          <a:lstStyle/>
          <a:p>
            <a:pPr algn="l">
              <a:lnSpc>
                <a:spcPct val="100000"/>
              </a:lnSpc>
            </a:pPr>
            <a:r>
              <a:rPr sz="2200" b="1" lang="zh-TW">
                <a:solidFill>
                  <a:srgbClr val="0F766E"/>
                </a:solidFill>
                <a:latin typeface="Microsoft JhengHei"/>
                <a:ea typeface="Microsoft JhengHei"/>
              </a:rPr>
              <a:t>處置可回復</a:t>
            </a:r>
          </a:p>
        </p:txBody>
      </p:sp>
      <p:sp>
        <p:nvSpPr>
          <p:cNvPr id="15" name="TextBox 14"/>
          <p:cNvSpPr txBox="1"/>
          <p:nvPr/>
        </p:nvSpPr>
        <p:spPr>
          <a:xfrm>
            <a:off x="8321040" y="3703320"/>
            <a:ext cx="3291840" cy="32004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Policy Guard · 讀回驗證 · 自動回復</a:t>
            </a:r>
          </a:p>
        </p:txBody>
      </p:sp>
      <p:sp>
        <p:nvSpPr>
          <p:cNvPr id="16" name="TextBox 15"/>
          <p:cNvSpPr txBox="1"/>
          <p:nvPr/>
        </p:nvSpPr>
        <p:spPr>
          <a:xfrm>
            <a:off x="731520" y="5074920"/>
            <a:ext cx="10789920" cy="36576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融合新型內容相依時序方向模型入侵偵測與任務導向檢索增強稽核之 AI 資安框架</a:t>
            </a:r>
          </a:p>
        </p:txBody>
      </p:sp>
      <p:sp>
        <p:nvSpPr>
          <p:cNvPr id="17" name="TextBox 16"/>
          <p:cNvSpPr txBox="1"/>
          <p:nvPr/>
        </p:nvSpPr>
        <p:spPr>
          <a:xfrm>
            <a:off x="731520" y="5486400"/>
            <a:ext cx="10789920" cy="320040"/>
          </a:xfrm>
          <a:prstGeom prst="rect">
            <a:avLst/>
          </a:prstGeom>
          <a:noFill/>
        </p:spPr>
        <p:txBody>
          <a:bodyPr wrap="square" anchor="t" lIns="0" rIns="0" tIns="0" bIns="0">
            <a:spAutoFit/>
          </a:bodyPr>
          <a:lstStyle/>
          <a:p>
            <a:pPr algn="l">
              <a:lnSpc>
                <a:spcPct val="100000"/>
              </a:lnSpc>
            </a:pPr>
            <a:r>
              <a:rPr sz="2000" b="1" lang="zh-TW">
                <a:solidFill>
                  <a:srgbClr val="1D4ED8"/>
                </a:solidFill>
                <a:latin typeface="Microsoft JhengHei"/>
                <a:ea typeface="Microsoft JhengHei"/>
              </a:rPr>
              <a:t>感謝聆聽　敬請指教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ns0:coreProperties xmlns:dc="http://purl.org/dc/elements/1.1/" xmlns:ns0="http://schemas.openxmlformats.org/package/2006/metadata/core-properties" xmlns:ns2="http://purl.org/dc/terms/" xmlns:xsi="http://www.w3.org/2001/XMLSchema-instance">
  <dc:title/>
  <dc:subject/>
  <ns0:keywords/>
  <ns0:revision>1</ns0:revision>
  <ns2:created xsi:type="dcterms:W3CDTF">2013-01-27T09:14:16Z</ns2:created>
  <ns2:modified xsi:type="dcterms:W3CDTF">2013-01-27T09:15:58Z</ns2:modified>
  <ns0:category/>
</ns0:coreProperties>
</file>