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15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16x9"/>
  <p:notesSz cx="6858000" cy="9144000"/>
  <p:defaultTextStyle>
    <a:defPPr>
      <a:defRPr lang="zh-TW"/>
    </a:defPPr>
    <a:lvl1pPr marL="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  <Relationship Id="rId15" Type="http://schemas.openxmlformats.org/officeDocument/2006/relationships/notesMaster" Target="notesMasters/notesMaster1.xml"/>
</Relationships>
</file>

<file path=ppt/notesMasters/_rels/notesMaster1.xml.rels><?xml version="1.0" encoding="UTF-8" standalone="yes"?>
<Relationships xmlns="http://schemas.openxmlformats.org/package/2006/relationships">
  <Relationship Id="rId1" Type="http://schemas.openxmlformats.org/officeDocument/2006/relationships/theme" Target="../theme/theme2.xml"/>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TW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TW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TW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TW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TW"/>
    </a:lvl1pPr>
  </p:notesStyle>
</p:notesMaster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.xml"/>
</Relationships>
</file>

<file path=ppt/notesSlides/_rels/notesSlide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.xml"/>
</Relationships>
</file>

<file path=ppt/notesSlides/_rels/notesSlide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.xml"/>
</Relationships>
</file>

<file path=ppt/notesSlides/_rels/notesSlide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4.xml"/>
</Relationships>
</file>

<file path=ppt/notesSlides/_rels/notesSlide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5.xml"/>
</Relationships>
</file>

<file path=ppt/notesSlides/_rels/notesSlide6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6.xml"/>
</Relationships>
</file>

<file path=ppt/notesSlides/_rels/notesSlide7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7.xml"/>
</Relationships>
</file>

<file path=ppt/notesSlides/_rels/notesSlide8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8.xml"/>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TW" dirty="0"/>
              <a:t>我們的作品將入侵偵測、案例檢索、AI稽核與受控處置，整合在同一條事件鏈。前段產生判定與模型表徵，後段依相似案例核對證據，最後留下可驗證、可回復的處置回條。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TW" dirty="0"/>
              <a:t>架構分為四個階段。流量表徵保留內容、時間差與方向，前段模型輸出固定十七類、校準信心與流量表徵；後段以五百二十九維任務向量取得前五筆訓練案例，由本機AI給出支持、複核或不確定。策略閘門檢查範圍與期限，完成套用、讀回和到期撤銷。所有產物透過同一事件識別碼連結，AI不改寫正式分類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TW" dirty="0"/>
              <a:t>前段以兩種互補特徵共同判斷。CTBM閱讀封包內容、時間差與方向；PBCNN補充短視窗位元組模式。校準後由OOF Gate依事件證據融合，輸出固定十七類，並保留信心與表徵交給後段。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TW" dirty="0"/>
              <a:t>後段不是只把類別名稱送進語言模型。我們結合五百一十二維流量表徵與十七維類別機率，建立任務向量，查詢只由訓練資料建立的案例庫。前五筆案例與類別共識交給本機AI核對，回傳支持、複核或不確定，連同正式分類留在同一事件紀錄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TW" dirty="0"/>
              <a:t>處置由政策閘門檢查範圍、白名單與有效期，通過後才套用並讀回規則，再於到期撤銷。六種隔離情境包含四種實際套用規則、兩種監測或蒐證；背景服務六種皆保留，回復完整性六種皆通過。這些結果量測隔離TCP交易與回條，不代表原始攻擊封包或正式場域的防禦率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TW" dirty="0"/>
              <a:t>偵測效果在相同一萬八千九百九十八筆封存測試比較。PBCNN的Macro-F1為百分之七十九點七五，CTBM為九十二點一零，融合後為九十三點零五；整體準確率百分之九十八點零八。比較採同一個測試集，讓互補融合的效果可以直接核對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TW" dirty="0"/>
              <a:t>在一千五百五十筆真實訓練案例和四百六十三筆測試查詢中，前五筆命中率為百分之九十七點六二，MRR為九十三點八九。相同四百六十三筆事件的本機稽核中，四百一十五筆支持、十三筆複核、三十五筆不確定；支持精確率九十七點一一。三十筆偵測誤判中，十八筆分流到複核或不確定，其餘十二筆仍獲支持，所以處置另受策略閘門控制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TW" dirty="0"/>
              <a:t>我們以十七類真實前處理張量重跑整合鏈，並以六種隔離情境確認處置回條與回復行為。作品把偵測、證據與處置放在同一個框架，讓判斷有依據、稽核有證據、處置可回復。方法動畫獨立交付，可搭配本機執行紀錄展示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finals_editorial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TW" smtClean="0"/>
              <a:t>1/27/13</a:t>
            </a:fld>
            <a:endParaRPr lang="zh-TW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TW" smtClean="0"/>
              <a:t>‹#›</a:t>
            </a:fld>
            <a:endParaRPr lang="zh-TW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finals_editorial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TW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TW" smtClean="0"/>
              <a:t>1/27/13</a:t>
            </a:fld>
            <a:endParaRPr lang="zh-TW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TW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TW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TW" smtClean="0"/>
              <a:t>‹#›</a:t>
            </a:fld>
            <a:endParaRPr 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300" kern="1200" lang="zh-TW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700" kern="1200" lang="zh-TW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 lang="zh-TW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50" kern="1200" lang="zh-TW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350" kern="1200" lang="zh-TW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250" kern="1200" lang="zh-TW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100" kern="1200" lang="zh-TW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zh-TW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900" kern="1200" lang="zh-TW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700" kern="1200" lang="zh-TW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600" kern="1200" lang="zh-TW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450" kern="1200" lang="zh-TW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350" kern="1200" lang="zh-TW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250" kern="1200" lang="zh-TW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100" kern="1200" lang="zh-TW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000" kern="1200" lang="zh-TW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900" kern="1200" lang="zh-TW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143cf26b65394a5.png"/>
  <Relationship Id="rId3" Type="http://schemas.openxmlformats.org/officeDocument/2006/relationships/notesSlide" Target="../notesSlides/notesSlide1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4dc347da870737c4.png"/>
  <Relationship Id="rId3" Type="http://schemas.openxmlformats.org/officeDocument/2006/relationships/image" Target="../media/image_62ff4032e3a157d7.png"/>
  <Relationship Id="rId4" Type="http://schemas.openxmlformats.org/officeDocument/2006/relationships/image" Target="../media/image_e0bb307f87d4970c.png"/>
  <Relationship Id="rId5" Type="http://schemas.openxmlformats.org/officeDocument/2006/relationships/image" Target="../media/image_1143cf26b65394a5.png"/>
  <Relationship Id="rId6" Type="http://schemas.openxmlformats.org/officeDocument/2006/relationships/notesSlide" Target="../notesSlides/notesSlide2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62ff4032e3a157d7.png"/>
  <Relationship Id="rId3" Type="http://schemas.openxmlformats.org/officeDocument/2006/relationships/image" Target="../media/image_4dc347da870737c4.png"/>
  <Relationship Id="rId4" Type="http://schemas.openxmlformats.org/officeDocument/2006/relationships/image" Target="../media/image_62ff4032e3a157d7.png"/>
  <Relationship Id="rId5" Type="http://schemas.openxmlformats.org/officeDocument/2006/relationships/notesSlide" Target="../notesSlides/notesSlide3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e0bb307f87d4970c.png"/>
  <Relationship Id="rId3" Type="http://schemas.openxmlformats.org/officeDocument/2006/relationships/notesSlide" Target="../notesSlides/notesSlide4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5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6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143cf26b65394a5.png"/>
  <Relationship Id="rId3" Type="http://schemas.openxmlformats.org/officeDocument/2006/relationships/notesSlide" Target="../notesSlides/notesSlide8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2742" y="463550"/>
            <a:ext cx="1982382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350" b="1" dirty="0">
                <a:solidFill>
                  <a:schemeClr val="accent2"/>
                </a:solidFill>
                <a:latin typeface="Microsoft JhengHei"/>
                <a:ea typeface="Microsoft JhengHei"/>
                <a:cs typeface="Microsoft JhengHei"/>
              </a:rPr>
              <a:t>2026 資安技術組 · 決賽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93217" y="1568450"/>
            <a:ext cx="6101436" cy="63074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322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融合新型內容相依時序方向模型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93217" y="2216150"/>
            <a:ext cx="6534912" cy="63074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322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入侵偵測與任務導向檢索增強稽核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3217" y="2863850"/>
            <a:ext cx="2864267" cy="63074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322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之 AI 資安框架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98932" y="4222750"/>
            <a:ext cx="4261866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2100" dirty="0">
                <a:solidFill>
                  <a:schemeClr val="accent6"/>
                </a:solidFill>
                <a:latin typeface="Microsoft JhengHei"/>
                <a:ea typeface="Microsoft JhengHei"/>
                <a:cs typeface="Microsoft JhengHei"/>
              </a:rPr>
              <a:t>從流量判定，走到有證據的處置。</a:t>
            </a:r>
          </a:p>
        </p:txBody>
      </p:sp>
      <p:sp>
        <p:nvSpPr>
          <p:cNvPr id="7" name="Rectangle 7"/>
          <p:cNvSpPr/>
          <p:nvPr/>
        </p:nvSpPr>
        <p:spPr>
          <a:xfrm>
            <a:off x="609600" y="4953000"/>
            <a:ext cx="253365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868591" y="5105400"/>
            <a:ext cx="2015669" cy="25031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TW" sz="1280" b="1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偵測 → 檢索 → 稽核 → 回復</a:t>
            </a:r>
          </a:p>
        </p:txBody>
      </p:sp>
      <p:pic>
        <p:nvPicPr>
          <p:cNvPr id="9" name="Imag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0" y="3667125"/>
            <a:ext cx="2381250" cy="238125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3504" y="390525"/>
            <a:ext cx="100687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b="1" dirty="0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</a:rPr>
              <a:t>FRAMEWORK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92836" y="736600"/>
            <a:ext cx="4920234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33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一個框架，四個連續階段</a:t>
            </a:r>
          </a:p>
        </p:txBody>
      </p:sp>
      <p:sp>
        <p:nvSpPr>
          <p:cNvPr id="4" name="Rectangle 4"/>
          <p:cNvSpPr/>
          <p:nvPr/>
        </p:nvSpPr>
        <p:spPr>
          <a:xfrm>
            <a:off x="190500" y="1663446"/>
            <a:ext cx="2809875" cy="3655314"/>
          </a:xfrm>
          <a:prstGeom prst="roundRect">
            <a:avLst>
              <a:gd name="adj" fmla="val 2712"/>
            </a:avLst>
          </a:prstGeom>
          <a:solidFill>
            <a:srgbClr val="F5F7FA"/>
          </a:solidFill>
          <a:ln w="9525">
            <a:solidFill>
              <a:schemeClr val="accent6"/>
            </a:solidFill>
          </a:ln>
        </p:spPr>
      </p:sp>
      <p:sp>
        <p:nvSpPr>
          <p:cNvPr id="5" name="TextBox 5"/>
          <p:cNvSpPr txBox="1"/>
          <p:nvPr/>
        </p:nvSpPr>
        <p:spPr>
          <a:xfrm>
            <a:off x="353568" y="1742567"/>
            <a:ext cx="145040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b="1" dirty="0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</a:rPr>
              <a:t>a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38937" y="1729867"/>
            <a:ext cx="943712" cy="33737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720" b="1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流量表徵</a:t>
            </a:r>
          </a:p>
        </p:txBody>
      </p:sp>
      <p:pic>
        <p:nvPicPr>
          <p:cNvPr id="7" name="Imag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" y="2064639"/>
            <a:ext cx="891540" cy="89154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334518" y="3094736"/>
            <a:ext cx="2460117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ja-JP" sz="165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封包內容・時間差・方向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34518" y="3391916"/>
            <a:ext cx="2460117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ja-JP" sz="165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遮罩識別欄位・流量切窗</a:t>
            </a:r>
          </a:p>
        </p:txBody>
      </p:sp>
      <p:sp>
        <p:nvSpPr>
          <p:cNvPr id="10" name="Rectangle 10"/>
          <p:cNvSpPr/>
          <p:nvPr/>
        </p:nvSpPr>
        <p:spPr>
          <a:xfrm>
            <a:off x="323850" y="3862578"/>
            <a:ext cx="2543175" cy="1188720"/>
          </a:xfrm>
          <a:prstGeom prst="roundRect">
            <a:avLst>
              <a:gd name="adj" fmla="val 6410"/>
            </a:avLst>
          </a:prstGeom>
          <a:solidFill>
            <a:schemeClr val="lt1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421005" y="3998976"/>
            <a:ext cx="203454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5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輸入：真實前處理張量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21005" y="4355592"/>
            <a:ext cx="183261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5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輸出：統一事件表徵</a:t>
            </a:r>
          </a:p>
        </p:txBody>
      </p:sp>
      <p:sp>
        <p:nvSpPr>
          <p:cNvPr id="13" name="Freeform 13"/>
          <p:cNvSpPr/>
          <p:nvPr/>
        </p:nvSpPr>
        <p:spPr>
          <a:xfrm>
            <a:off x="3019425" y="3671697"/>
            <a:ext cx="133350" cy="114300"/>
          </a:xfrm>
          <a:custGeom>
            <a:avLst/>
            <a:gdLst/>
            <a:ahLst/>
            <a:cxnLst/>
            <a:rect l="l" t="t" r="r" b="b"/>
            <a:pathLst>
              <a:path w="133350" h="114300">
                <a:moveTo>
                  <a:pt x="0" y="57150"/>
                </a:moveTo>
                <a:lnTo>
                  <a:pt x="133350" y="57150"/>
                </a:lnTo>
                <a:moveTo>
                  <a:pt x="76200" y="0"/>
                </a:moveTo>
                <a:lnTo>
                  <a:pt x="133350" y="57150"/>
                </a:lnTo>
                <a:lnTo>
                  <a:pt x="76200" y="114300"/>
                </a:lnTo>
              </a:path>
            </a:pathLst>
          </a:custGeom>
          <a:noFill/>
          <a:ln w="28575">
            <a:solidFill>
              <a:schemeClr val="accent1"/>
            </a:solidFill>
          </a:ln>
        </p:spPr>
      </p:sp>
      <p:sp>
        <p:nvSpPr>
          <p:cNvPr id="14" name="Rectangle 14"/>
          <p:cNvSpPr/>
          <p:nvPr/>
        </p:nvSpPr>
        <p:spPr>
          <a:xfrm>
            <a:off x="3190875" y="1663446"/>
            <a:ext cx="2809875" cy="3655314"/>
          </a:xfrm>
          <a:prstGeom prst="roundRect">
            <a:avLst>
              <a:gd name="adj" fmla="val 2712"/>
            </a:avLst>
          </a:prstGeom>
          <a:solidFill>
            <a:srgbClr val="F5F7FA"/>
          </a:solidFill>
          <a:ln w="9525">
            <a:solidFill>
              <a:schemeClr val="accent6"/>
            </a:solidFill>
          </a:ln>
        </p:spPr>
      </p:sp>
      <p:sp>
        <p:nvSpPr>
          <p:cNvPr id="15" name="TextBox 15"/>
          <p:cNvSpPr txBox="1"/>
          <p:nvPr/>
        </p:nvSpPr>
        <p:spPr>
          <a:xfrm>
            <a:off x="3353943" y="1742567"/>
            <a:ext cx="145040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b="1" dirty="0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</a:rPr>
              <a:t>b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639312" y="1729867"/>
            <a:ext cx="1052538" cy="33737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720" b="1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17 類判定</a:t>
            </a:r>
          </a:p>
        </p:txBody>
      </p:sp>
      <p:pic>
        <p:nvPicPr>
          <p:cNvPr id="17" name="Image 1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5755" y="2064639"/>
            <a:ext cx="891540" cy="891540"/>
          </a:xfrm>
          <a:prstGeom prst="rect">
            <a:avLst/>
          </a:prstGeom>
        </p:spPr>
      </p:pic>
      <p:sp>
        <p:nvSpPr>
          <p:cNvPr id="18" name="TextBox 18"/>
          <p:cNvSpPr txBox="1"/>
          <p:nvPr/>
        </p:nvSpPr>
        <p:spPr>
          <a:xfrm>
            <a:off x="3334893" y="3094736"/>
            <a:ext cx="144757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65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CTBM＋PBCNN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334893" y="3391916"/>
            <a:ext cx="2170728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ja-JP" sz="165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校準信心・OOF Gate</a:t>
            </a:r>
          </a:p>
        </p:txBody>
      </p:sp>
      <p:sp>
        <p:nvSpPr>
          <p:cNvPr id="20" name="Rectangle 20"/>
          <p:cNvSpPr/>
          <p:nvPr/>
        </p:nvSpPr>
        <p:spPr>
          <a:xfrm>
            <a:off x="3324225" y="3862578"/>
            <a:ext cx="2543175" cy="1188720"/>
          </a:xfrm>
          <a:prstGeom prst="roundRect">
            <a:avLst>
              <a:gd name="adj" fmla="val 6410"/>
            </a:avLst>
          </a:prstGeom>
          <a:solidFill>
            <a:schemeClr val="lt1"/>
          </a:solidFill>
          <a:ln>
            <a:noFill/>
          </a:ln>
        </p:spPr>
      </p:sp>
      <p:sp>
        <p:nvSpPr>
          <p:cNvPr id="21" name="TextBox 21"/>
          <p:cNvSpPr txBox="1"/>
          <p:nvPr/>
        </p:nvSpPr>
        <p:spPr>
          <a:xfrm>
            <a:off x="3421380" y="3998976"/>
            <a:ext cx="142875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5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輸出：正式類別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421380" y="4355592"/>
            <a:ext cx="2105216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5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512 維表徵＋17 維機率</a:t>
            </a:r>
          </a:p>
        </p:txBody>
      </p:sp>
      <p:sp>
        <p:nvSpPr>
          <p:cNvPr id="23" name="Freeform 23"/>
          <p:cNvSpPr/>
          <p:nvPr/>
        </p:nvSpPr>
        <p:spPr>
          <a:xfrm>
            <a:off x="6019800" y="3671697"/>
            <a:ext cx="133350" cy="114300"/>
          </a:xfrm>
          <a:custGeom>
            <a:avLst/>
            <a:gdLst/>
            <a:ahLst/>
            <a:cxnLst/>
            <a:rect l="l" t="t" r="r" b="b"/>
            <a:pathLst>
              <a:path w="133350" h="114300">
                <a:moveTo>
                  <a:pt x="0" y="57150"/>
                </a:moveTo>
                <a:lnTo>
                  <a:pt x="133350" y="57150"/>
                </a:lnTo>
                <a:moveTo>
                  <a:pt x="76200" y="0"/>
                </a:moveTo>
                <a:lnTo>
                  <a:pt x="133350" y="57150"/>
                </a:lnTo>
                <a:lnTo>
                  <a:pt x="76200" y="114300"/>
                </a:lnTo>
              </a:path>
            </a:pathLst>
          </a:custGeom>
          <a:noFill/>
          <a:ln w="28575">
            <a:solidFill>
              <a:schemeClr val="accent1"/>
            </a:solidFill>
          </a:ln>
        </p:spPr>
      </p:sp>
      <p:sp>
        <p:nvSpPr>
          <p:cNvPr id="24" name="Rectangle 24"/>
          <p:cNvSpPr/>
          <p:nvPr/>
        </p:nvSpPr>
        <p:spPr>
          <a:xfrm>
            <a:off x="6191250" y="1663446"/>
            <a:ext cx="2809875" cy="3655314"/>
          </a:xfrm>
          <a:prstGeom prst="roundRect">
            <a:avLst>
              <a:gd name="adj" fmla="val 2712"/>
            </a:avLst>
          </a:prstGeom>
          <a:solidFill>
            <a:srgbClr val="F5F7FA"/>
          </a:solidFill>
          <a:ln w="9525">
            <a:solidFill>
              <a:schemeClr val="accent6"/>
            </a:solidFill>
          </a:ln>
        </p:spPr>
      </p:sp>
      <p:sp>
        <p:nvSpPr>
          <p:cNvPr id="25" name="TextBox 25"/>
          <p:cNvSpPr txBox="1"/>
          <p:nvPr/>
        </p:nvSpPr>
        <p:spPr>
          <a:xfrm>
            <a:off x="6354318" y="1742567"/>
            <a:ext cx="145040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b="1" dirty="0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</a:rPr>
              <a:t>c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6639687" y="1729867"/>
            <a:ext cx="1638351" cy="33737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720" b="1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證據檢索與稽核</a:t>
            </a:r>
          </a:p>
        </p:txBody>
      </p:sp>
      <p:pic>
        <p:nvPicPr>
          <p:cNvPr id="27" name="Image 2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6130" y="2064639"/>
            <a:ext cx="891540" cy="891540"/>
          </a:xfrm>
          <a:prstGeom prst="rect">
            <a:avLst/>
          </a:prstGeom>
        </p:spPr>
      </p:pic>
      <p:sp>
        <p:nvSpPr>
          <p:cNvPr id="28" name="TextBox 28"/>
          <p:cNvSpPr txBox="1"/>
          <p:nvPr/>
        </p:nvSpPr>
        <p:spPr>
          <a:xfrm>
            <a:off x="6335268" y="3094736"/>
            <a:ext cx="2443143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65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529 維任務向量 → Top-5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335268" y="3391916"/>
            <a:ext cx="2134057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65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本機 AI 核對訓練案例</a:t>
            </a:r>
          </a:p>
        </p:txBody>
      </p:sp>
      <p:sp>
        <p:nvSpPr>
          <p:cNvPr id="30" name="Rectangle 30"/>
          <p:cNvSpPr/>
          <p:nvPr/>
        </p:nvSpPr>
        <p:spPr>
          <a:xfrm>
            <a:off x="6324600" y="3862578"/>
            <a:ext cx="2543175" cy="1188720"/>
          </a:xfrm>
          <a:prstGeom prst="roundRect">
            <a:avLst>
              <a:gd name="adj" fmla="val 6410"/>
            </a:avLst>
          </a:prstGeom>
          <a:solidFill>
            <a:schemeClr val="lt1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6421755" y="3998976"/>
            <a:ext cx="183261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5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支持／複核／不確定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6421755" y="4355592"/>
            <a:ext cx="183261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5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稽核不改寫正式分類</a:t>
            </a:r>
          </a:p>
        </p:txBody>
      </p:sp>
      <p:sp>
        <p:nvSpPr>
          <p:cNvPr id="33" name="Freeform 33"/>
          <p:cNvSpPr/>
          <p:nvPr/>
        </p:nvSpPr>
        <p:spPr>
          <a:xfrm>
            <a:off x="9020175" y="3671697"/>
            <a:ext cx="133350" cy="114300"/>
          </a:xfrm>
          <a:custGeom>
            <a:avLst/>
            <a:gdLst/>
            <a:ahLst/>
            <a:cxnLst/>
            <a:rect l="l" t="t" r="r" b="b"/>
            <a:pathLst>
              <a:path w="133350" h="114300">
                <a:moveTo>
                  <a:pt x="0" y="57150"/>
                </a:moveTo>
                <a:lnTo>
                  <a:pt x="133350" y="57150"/>
                </a:lnTo>
                <a:moveTo>
                  <a:pt x="76200" y="0"/>
                </a:moveTo>
                <a:lnTo>
                  <a:pt x="133350" y="57150"/>
                </a:lnTo>
                <a:lnTo>
                  <a:pt x="76200" y="114300"/>
                </a:lnTo>
              </a:path>
            </a:pathLst>
          </a:custGeom>
          <a:noFill/>
          <a:ln w="28575">
            <a:solidFill>
              <a:schemeClr val="accent1"/>
            </a:solidFill>
          </a:ln>
        </p:spPr>
      </p:sp>
      <p:sp>
        <p:nvSpPr>
          <p:cNvPr id="34" name="Rectangle 34"/>
          <p:cNvSpPr/>
          <p:nvPr/>
        </p:nvSpPr>
        <p:spPr>
          <a:xfrm>
            <a:off x="9191625" y="1663446"/>
            <a:ext cx="2809875" cy="3655314"/>
          </a:xfrm>
          <a:prstGeom prst="roundRect">
            <a:avLst>
              <a:gd name="adj" fmla="val 2712"/>
            </a:avLst>
          </a:prstGeom>
          <a:solidFill>
            <a:srgbClr val="F5F7FA"/>
          </a:solidFill>
          <a:ln w="9525">
            <a:solidFill>
              <a:schemeClr val="accent6"/>
            </a:solidFill>
          </a:ln>
        </p:spPr>
      </p:sp>
      <p:sp>
        <p:nvSpPr>
          <p:cNvPr id="35" name="TextBox 35"/>
          <p:cNvSpPr txBox="1"/>
          <p:nvPr/>
        </p:nvSpPr>
        <p:spPr>
          <a:xfrm>
            <a:off x="9354693" y="1742567"/>
            <a:ext cx="145040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b="1" dirty="0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</a:rPr>
              <a:t>d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9640062" y="1729867"/>
            <a:ext cx="1638351" cy="33737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720" b="1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受控處置與回復</a:t>
            </a:r>
          </a:p>
        </p:txBody>
      </p:sp>
      <p:pic>
        <p:nvPicPr>
          <p:cNvPr id="37" name="Image 3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6505" y="2064639"/>
            <a:ext cx="891540" cy="891540"/>
          </a:xfrm>
          <a:prstGeom prst="rect">
            <a:avLst/>
          </a:prstGeom>
        </p:spPr>
      </p:pic>
      <p:sp>
        <p:nvSpPr>
          <p:cNvPr id="38" name="TextBox 38"/>
          <p:cNvSpPr txBox="1"/>
          <p:nvPr/>
        </p:nvSpPr>
        <p:spPr>
          <a:xfrm>
            <a:off x="9335643" y="3094736"/>
            <a:ext cx="2460117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65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策略閘門檢查範圍與期限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9335643" y="3391916"/>
            <a:ext cx="230463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65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套用 → 讀回 → 到期撤銷</a:t>
            </a:r>
          </a:p>
        </p:txBody>
      </p:sp>
      <p:sp>
        <p:nvSpPr>
          <p:cNvPr id="40" name="Rectangle 40"/>
          <p:cNvSpPr/>
          <p:nvPr/>
        </p:nvSpPr>
        <p:spPr>
          <a:xfrm>
            <a:off x="9324975" y="3862578"/>
            <a:ext cx="2543175" cy="1188720"/>
          </a:xfrm>
          <a:prstGeom prst="roundRect">
            <a:avLst>
              <a:gd name="adj" fmla="val 6410"/>
            </a:avLst>
          </a:prstGeom>
          <a:solidFill>
            <a:schemeClr val="lt1"/>
          </a:solidFill>
          <a:ln>
            <a:noFill/>
          </a:ln>
        </p:spPr>
      </p:sp>
      <p:sp>
        <p:nvSpPr>
          <p:cNvPr id="41" name="TextBox 41"/>
          <p:cNvSpPr txBox="1"/>
          <p:nvPr/>
        </p:nvSpPr>
        <p:spPr>
          <a:xfrm>
            <a:off x="9422130" y="3998976"/>
            <a:ext cx="203454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5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輸出：處置與回復回條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9422130" y="4355592"/>
            <a:ext cx="163068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5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複核事件保留蒐證</a:t>
            </a:r>
          </a:p>
        </p:txBody>
      </p:sp>
      <p:sp>
        <p:nvSpPr>
          <p:cNvPr id="43" name="Freeform 43"/>
          <p:cNvSpPr/>
          <p:nvPr/>
        </p:nvSpPr>
        <p:spPr>
          <a:xfrm>
            <a:off x="1571625" y="5333619"/>
            <a:ext cx="9001125" cy="289750"/>
          </a:xfrm>
          <a:custGeom>
            <a:avLst/>
            <a:gdLst/>
            <a:ahLst/>
            <a:cxnLst/>
            <a:rect l="l" t="t" r="r" b="b"/>
            <a:pathLst>
              <a:path w="9001125" h="289750">
                <a:moveTo>
                  <a:pt x="9001125" y="0"/>
                </a:moveTo>
                <a:lnTo>
                  <a:pt x="9001125" y="289750"/>
                </a:lnTo>
                <a:lnTo>
                  <a:pt x="0" y="289750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6B6B6B"/>
            </a:solidFill>
            <a:custDash>
              <a:ds d="350000" sp="250000"/>
            </a:custDash>
          </a:ln>
        </p:spPr>
      </p:sp>
      <p:sp>
        <p:nvSpPr>
          <p:cNvPr id="44" name="TextBox 44"/>
          <p:cNvSpPr txBox="1"/>
          <p:nvPr/>
        </p:nvSpPr>
        <p:spPr>
          <a:xfrm>
            <a:off x="3807295" y="5687632"/>
            <a:ext cx="4577410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TW" sz="165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同一事件 ID 串接偵測、證據、稽核與處置回條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604266" y="6416675"/>
            <a:ext cx="161713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05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AI 資安框架 · 資安技術組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103540" y="6416675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TW" sz="105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02 / 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3504" y="390525"/>
            <a:ext cx="890382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b="1" dirty="0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</a:rPr>
              <a:t>DETECTION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92836" y="736600"/>
            <a:ext cx="5808726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330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創新一：讓互補模型共同判斷</a:t>
            </a:r>
          </a:p>
        </p:txBody>
      </p:sp>
      <p:pic>
        <p:nvPicPr>
          <p:cNvPr id="4" name="Imag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6350" y="1714500"/>
            <a:ext cx="1905000" cy="19050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598170" y="3911600"/>
            <a:ext cx="1537335" cy="4400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225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內容與時序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1980" y="4438650"/>
            <a:ext cx="2610612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500" dirty="0">
                <a:solidFill>
                  <a:schemeClr val="accent6"/>
                </a:solidFill>
                <a:latin typeface="Microsoft JhengHei"/>
                <a:ea typeface="Microsoft JhengHei"/>
                <a:cs typeface="Microsoft JhengHei"/>
              </a:rPr>
              <a:t>CTBM 讀取內容、時間與方向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834384" y="2546350"/>
            <a:ext cx="227343" cy="5280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2700" dirty="0">
                <a:solidFill>
                  <a:schemeClr val="accent2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pic>
        <p:nvPicPr>
          <p:cNvPr id="8" name="Imag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8725" y="1714500"/>
            <a:ext cx="1905000" cy="19050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4360545" y="3911600"/>
            <a:ext cx="1234440" cy="4400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225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短窗模式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364355" y="4438650"/>
            <a:ext cx="2483358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500" dirty="0">
                <a:solidFill>
                  <a:schemeClr val="accent6"/>
                </a:solidFill>
                <a:latin typeface="Microsoft JhengHei"/>
                <a:ea typeface="Microsoft JhengHei"/>
                <a:cs typeface="Microsoft JhengHei"/>
              </a:rPr>
              <a:t>PBCNN 補充局部位元組特徵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596759" y="2546350"/>
            <a:ext cx="227343" cy="5280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2700" dirty="0">
                <a:solidFill>
                  <a:schemeClr val="accent2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pic>
        <p:nvPicPr>
          <p:cNvPr id="12" name="Image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01100" y="1714500"/>
            <a:ext cx="1905000" cy="19050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8122920" y="3911600"/>
            <a:ext cx="1234440" cy="4400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225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融合判定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126730" y="4438650"/>
            <a:ext cx="243840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500" dirty="0">
                <a:solidFill>
                  <a:schemeClr val="accent6"/>
                </a:solidFill>
                <a:latin typeface="Microsoft JhengHei"/>
                <a:ea typeface="Microsoft JhengHei"/>
                <a:cs typeface="Microsoft JhengHei"/>
              </a:rPr>
              <a:t>校準後依事件證據動態調權</a:t>
            </a:r>
          </a:p>
        </p:txBody>
      </p:sp>
      <p:sp>
        <p:nvSpPr>
          <p:cNvPr id="15" name="Rectangle 15"/>
          <p:cNvSpPr/>
          <p:nvPr/>
        </p:nvSpPr>
        <p:spPr>
          <a:xfrm>
            <a:off x="609600" y="5238750"/>
            <a:ext cx="10972800" cy="533400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829056" y="5384800"/>
            <a:ext cx="5761177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80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固定 17 類輸出，連同校準信心與模型表徵交給後端。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04266" y="6416675"/>
            <a:ext cx="161713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050" dirty="0">
                <a:solidFill>
                  <a:schemeClr val="accent6"/>
                </a:solidFill>
                <a:latin typeface="Microsoft JhengHei"/>
                <a:ea typeface="Microsoft JhengHei"/>
                <a:cs typeface="Microsoft JhengHei"/>
              </a:rPr>
              <a:t>AI 資安框架 · 資安技術組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1103540" y="6416675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TW" sz="1050" dirty="0">
                <a:solidFill>
                  <a:schemeClr val="accent6"/>
                </a:solidFill>
                <a:latin typeface="Microsoft JhengHei"/>
                <a:ea typeface="Microsoft JhengHei"/>
                <a:cs typeface="Microsoft JhengHei"/>
              </a:rPr>
              <a:t>03 / 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3504" y="390525"/>
            <a:ext cx="755965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b="1" dirty="0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</a:rPr>
              <a:t>EVIDENCE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92836" y="736600"/>
            <a:ext cx="5808726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33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創新二：用任務證據完成稽核</a:t>
            </a:r>
          </a:p>
        </p:txBody>
      </p:sp>
      <p:pic>
        <p:nvPicPr>
          <p:cNvPr id="4" name="Imag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733550"/>
            <a:ext cx="2381250" cy="2381250"/>
          </a:xfrm>
          <a:prstGeom prst="rect">
            <a:avLst/>
          </a:prstGeom>
        </p:spPr>
      </p:pic>
      <p:sp>
        <p:nvSpPr>
          <p:cNvPr id="5" name="Rectangle 5"/>
          <p:cNvSpPr/>
          <p:nvPr/>
        </p:nvSpPr>
        <p:spPr>
          <a:xfrm>
            <a:off x="3333750" y="1743075"/>
            <a:ext cx="8248650" cy="904875"/>
          </a:xfrm>
          <a:prstGeom prst="roundRect">
            <a:avLst>
              <a:gd name="adj" fmla="val 8421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3551682" y="1803400"/>
            <a:ext cx="2240547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21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512＋17 → 529 維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553968" y="2216150"/>
            <a:ext cx="3570732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65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流量表徵＋類別機率，建立任務向量</a:t>
            </a:r>
          </a:p>
        </p:txBody>
      </p:sp>
      <p:sp>
        <p:nvSpPr>
          <p:cNvPr id="8" name="Rectangle 8"/>
          <p:cNvSpPr/>
          <p:nvPr/>
        </p:nvSpPr>
        <p:spPr>
          <a:xfrm>
            <a:off x="3333750" y="2847975"/>
            <a:ext cx="8248650" cy="904875"/>
          </a:xfrm>
          <a:prstGeom prst="roundRect">
            <a:avLst>
              <a:gd name="adj" fmla="val 8421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3551682" y="2908300"/>
            <a:ext cx="2030654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21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Top-5 訓練案例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553968" y="3321050"/>
            <a:ext cx="4014978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65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只檢索訓練庫；保留相似案例與類別共識</a:t>
            </a:r>
          </a:p>
        </p:txBody>
      </p:sp>
      <p:sp>
        <p:nvSpPr>
          <p:cNvPr id="11" name="Rectangle 11"/>
          <p:cNvSpPr/>
          <p:nvPr/>
        </p:nvSpPr>
        <p:spPr>
          <a:xfrm>
            <a:off x="3333750" y="3952875"/>
            <a:ext cx="8248650" cy="904875"/>
          </a:xfrm>
          <a:prstGeom prst="roundRect">
            <a:avLst>
              <a:gd name="adj" fmla="val 8421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3551682" y="4013200"/>
            <a:ext cx="2150669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21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本機 AI 證據稽核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553968" y="4425950"/>
            <a:ext cx="3570732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65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支持、複核、不確定；保留正式分類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99694" y="5664200"/>
            <a:ext cx="5532501" cy="3813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95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同一事件識別碼貫穿判定、案例、稽核與回條。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04266" y="6416675"/>
            <a:ext cx="161713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05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AI 資安框架 · 資安技術組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103540" y="6416675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TW" sz="105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04 / 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3504" y="390525"/>
            <a:ext cx="773887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b="1" dirty="0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</a:rPr>
              <a:t>CONTROL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92836" y="736600"/>
            <a:ext cx="6252972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330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創新三：處置可驗證，也可回復</a:t>
            </a:r>
          </a:p>
        </p:txBody>
      </p:sp>
      <p:sp>
        <p:nvSpPr>
          <p:cNvPr id="4" name="Rectangle 4"/>
          <p:cNvSpPr/>
          <p:nvPr/>
        </p:nvSpPr>
        <p:spPr>
          <a:xfrm>
            <a:off x="609600" y="1981200"/>
            <a:ext cx="3429000" cy="2762250"/>
          </a:xfrm>
          <a:prstGeom prst="roundRect">
            <a:avLst>
              <a:gd name="adj" fmla="val 2759"/>
            </a:avLst>
          </a:prstGeom>
          <a:solidFill>
            <a:schemeClr val="accent3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840105" y="2276475"/>
            <a:ext cx="237363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500" dirty="0">
                <a:solidFill>
                  <a:schemeClr val="accent2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35533" y="2946400"/>
            <a:ext cx="1316736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240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政策閘門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39343" y="3644900"/>
            <a:ext cx="2460117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650" dirty="0">
                <a:solidFill>
                  <a:schemeClr val="accent6"/>
                </a:solidFill>
                <a:latin typeface="Microsoft JhengHei"/>
                <a:ea typeface="Microsoft JhengHei"/>
                <a:cs typeface="Microsoft JhengHei"/>
              </a:rPr>
              <a:t>確認範圍、白名單與期限</a:t>
            </a:r>
          </a:p>
        </p:txBody>
      </p:sp>
      <p:sp>
        <p:nvSpPr>
          <p:cNvPr id="8" name="Rectangle 8"/>
          <p:cNvSpPr/>
          <p:nvPr/>
        </p:nvSpPr>
        <p:spPr>
          <a:xfrm>
            <a:off x="4371975" y="1981200"/>
            <a:ext cx="3429000" cy="2762250"/>
          </a:xfrm>
          <a:prstGeom prst="roundRect">
            <a:avLst>
              <a:gd name="adj" fmla="val 2759"/>
            </a:avLst>
          </a:prstGeom>
          <a:solidFill>
            <a:schemeClr val="accent3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4602480" y="2276475"/>
            <a:ext cx="237363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500" dirty="0">
                <a:solidFill>
                  <a:schemeClr val="accent2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597908" y="2946400"/>
            <a:ext cx="1639824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240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套用與讀回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601718" y="3644900"/>
            <a:ext cx="2460117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650" dirty="0">
                <a:solidFill>
                  <a:schemeClr val="accent6"/>
                </a:solidFill>
                <a:latin typeface="Microsoft JhengHei"/>
                <a:ea typeface="Microsoft JhengHei"/>
                <a:cs typeface="Microsoft JhengHei"/>
              </a:rPr>
              <a:t>回條綁定同次事件與執行</a:t>
            </a:r>
          </a:p>
        </p:txBody>
      </p:sp>
      <p:sp>
        <p:nvSpPr>
          <p:cNvPr id="12" name="Rectangle 12"/>
          <p:cNvSpPr/>
          <p:nvPr/>
        </p:nvSpPr>
        <p:spPr>
          <a:xfrm>
            <a:off x="8134350" y="1981200"/>
            <a:ext cx="3429000" cy="2762250"/>
          </a:xfrm>
          <a:prstGeom prst="roundRect">
            <a:avLst>
              <a:gd name="adj" fmla="val 2759"/>
            </a:avLst>
          </a:prstGeom>
          <a:solidFill>
            <a:schemeClr val="accent3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8364855" y="2276475"/>
            <a:ext cx="237363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500" dirty="0">
                <a:solidFill>
                  <a:schemeClr val="accent2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360283" y="2946400"/>
            <a:ext cx="1639824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240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到期與回復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364093" y="3644900"/>
            <a:ext cx="2460117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650" dirty="0">
                <a:solidFill>
                  <a:schemeClr val="accent6"/>
                </a:solidFill>
                <a:latin typeface="Microsoft JhengHei"/>
                <a:ea typeface="Microsoft JhengHei"/>
                <a:cs typeface="Microsoft JhengHei"/>
              </a:rPr>
              <a:t>撤銷規則，確認服務恢復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99313" y="5137150"/>
            <a:ext cx="4289913" cy="396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202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 種規則情境＋2 種監測或蒐證情境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01218" y="5607050"/>
            <a:ext cx="6290272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650" dirty="0">
                <a:solidFill>
                  <a:schemeClr val="accent6"/>
                </a:solidFill>
                <a:latin typeface="Microsoft JhengHei"/>
                <a:ea typeface="Microsoft JhengHei"/>
                <a:cs typeface="Microsoft JhengHei"/>
              </a:rPr>
              <a:t>隔離TCP交易驗證：背景服務 6/6 保留，回復完整性 6/6 通過。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04266" y="6416675"/>
            <a:ext cx="161713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050" dirty="0">
                <a:solidFill>
                  <a:schemeClr val="accent6"/>
                </a:solidFill>
                <a:latin typeface="Microsoft JhengHei"/>
                <a:ea typeface="Microsoft JhengHei"/>
                <a:cs typeface="Microsoft JhengHei"/>
              </a:rPr>
              <a:t>AI 資安框架 · 資安技術組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103540" y="6416675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TW" sz="1050" dirty="0">
                <a:solidFill>
                  <a:schemeClr val="accent6"/>
                </a:solidFill>
                <a:latin typeface="Microsoft JhengHei"/>
                <a:ea typeface="Microsoft JhengHei"/>
                <a:cs typeface="Microsoft JhengHei"/>
              </a:rPr>
              <a:t>05 / 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3504" y="390525"/>
            <a:ext cx="158038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b="1" dirty="0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</a:rPr>
              <a:t>MEASURED RESULTS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92836" y="736600"/>
            <a:ext cx="5808726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33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互補融合，提升整體辨識效果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01218" y="1682750"/>
            <a:ext cx="2437905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65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相同 18,998 筆封存測試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9694" y="2425700"/>
            <a:ext cx="782574" cy="3813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95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PBCNN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90550" y="2908300"/>
            <a:ext cx="2017014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42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79.75%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01980" y="3676650"/>
            <a:ext cx="961644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50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Macro-F1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362069" y="2425700"/>
            <a:ext cx="685495" cy="3813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95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CTBM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352925" y="2908300"/>
            <a:ext cx="2017014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42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92.10%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364355" y="3676650"/>
            <a:ext cx="961644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50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Macro-F1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124444" y="2425700"/>
            <a:ext cx="1314514" cy="3813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950" b="1" dirty="0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</a:rPr>
              <a:t>OOF Gate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115300" y="2908300"/>
            <a:ext cx="2017014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42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93.05%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126730" y="3676650"/>
            <a:ext cx="961644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50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Macro-F1</a:t>
            </a:r>
          </a:p>
        </p:txBody>
      </p:sp>
      <p:sp>
        <p:nvSpPr>
          <p:cNvPr id="14" name="Rectangle 14"/>
          <p:cNvSpPr/>
          <p:nvPr/>
        </p:nvSpPr>
        <p:spPr>
          <a:xfrm>
            <a:off x="609600" y="4524375"/>
            <a:ext cx="10972800" cy="1238250"/>
          </a:xfrm>
          <a:prstGeom prst="roundRect">
            <a:avLst>
              <a:gd name="adj" fmla="val 6154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819912" y="4546600"/>
            <a:ext cx="1732788" cy="7040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3600" dirty="0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</a:rPr>
              <a:t>98.08%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704082" y="4737100"/>
            <a:ext cx="2113331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21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</a:rPr>
              <a:t>17 類整體準確率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29056" y="5213350"/>
            <a:ext cx="53492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80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各模型使用相同測試集，呈現融合後的分類效果。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04266" y="6416675"/>
            <a:ext cx="161713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05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AI 資安框架 · 資安技術組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103540" y="6416675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TW" sz="1050" dirty="0">
                <a:solidFill>
                  <a:schemeClr val="accent5"/>
                </a:solidFill>
                <a:latin typeface="Microsoft JhengHei"/>
                <a:ea typeface="Microsoft JhengHei"/>
                <a:cs typeface="Microsoft JhengHei"/>
              </a:rPr>
              <a:t>06 / 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3504" y="390525"/>
            <a:ext cx="158038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b="1" dirty="0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</a:rPr>
              <a:t>MEASURED RESULTS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92836" y="736600"/>
            <a:ext cx="6252972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330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從相似案例，走到可核對的結論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90550" y="2038350"/>
            <a:ext cx="1946338" cy="7905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405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97.62%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8932" y="2870200"/>
            <a:ext cx="1747952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210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Top-5 命中率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2361" y="3479800"/>
            <a:ext cx="2690724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420" dirty="0">
                <a:solidFill>
                  <a:schemeClr val="accent6"/>
                </a:solidFill>
                <a:latin typeface="Microsoft JhengHei"/>
                <a:ea typeface="Microsoft JhengHei"/>
                <a:cs typeface="Microsoft JhengHei"/>
              </a:rPr>
              <a:t>463 筆查詢／1,550 筆訓練案例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352925" y="2038350"/>
            <a:ext cx="1946338" cy="7905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405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93.89%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361307" y="2870200"/>
            <a:ext cx="902513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10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MRR@5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364736" y="3479800"/>
            <a:ext cx="1926082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420" dirty="0">
                <a:solidFill>
                  <a:schemeClr val="accent6"/>
                </a:solidFill>
                <a:latin typeface="Microsoft JhengHei"/>
                <a:ea typeface="Microsoft JhengHei"/>
                <a:cs typeface="Microsoft JhengHei"/>
              </a:rPr>
              <a:t>前五筆結果的排序品質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115300" y="2038350"/>
            <a:ext cx="1946338" cy="7905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405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97.11%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123682" y="2870200"/>
            <a:ext cx="1434846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210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支持精確率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127111" y="3479800"/>
            <a:ext cx="2642934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420" dirty="0">
                <a:solidFill>
                  <a:schemeClr val="accent6"/>
                </a:solidFill>
                <a:latin typeface="Microsoft JhengHei"/>
                <a:ea typeface="Microsoft JhengHei"/>
                <a:cs typeface="Microsoft JhengHei"/>
              </a:rPr>
              <a:t>415 支持／13 複核／35 不確定</a:t>
            </a:r>
          </a:p>
        </p:txBody>
      </p:sp>
      <p:sp>
        <p:nvSpPr>
          <p:cNvPr id="13" name="Rectangle 13"/>
          <p:cNvSpPr/>
          <p:nvPr/>
        </p:nvSpPr>
        <p:spPr>
          <a:xfrm>
            <a:off x="609600" y="4533900"/>
            <a:ext cx="10972800" cy="1238250"/>
          </a:xfrm>
          <a:prstGeom prst="roundRect">
            <a:avLst>
              <a:gd name="adj" fmla="val 6154"/>
            </a:avLst>
          </a:prstGeom>
          <a:solidFill>
            <a:schemeClr val="accent3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821055" y="4581525"/>
            <a:ext cx="1558592" cy="66103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3380" dirty="0">
                <a:solidFill>
                  <a:schemeClr val="accent2"/>
                </a:solidFill>
                <a:latin typeface="Microsoft JhengHei"/>
                <a:ea typeface="Microsoft JhengHei"/>
                <a:cs typeface="Microsoft JhengHei"/>
              </a:rPr>
              <a:t>18 / 30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704844" y="4759325"/>
            <a:ext cx="3432429" cy="3813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95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偵測誤判分流至複核或不確定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29437" y="5213350"/>
            <a:ext cx="5392898" cy="33737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720" dirty="0">
                <a:solidFill>
                  <a:schemeClr val="accent6"/>
                </a:solidFill>
                <a:latin typeface="Microsoft JhengHei"/>
                <a:ea typeface="Microsoft JhengHei"/>
                <a:cs typeface="Microsoft JhengHei"/>
              </a:rPr>
              <a:t>AI 依案例證據給出稽核結論；正式分類保持可追溯。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04266" y="6416675"/>
            <a:ext cx="161713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050" dirty="0">
                <a:solidFill>
                  <a:schemeClr val="accent6"/>
                </a:solidFill>
                <a:latin typeface="Microsoft JhengHei"/>
                <a:ea typeface="Microsoft JhengHei"/>
                <a:cs typeface="Microsoft JhengHei"/>
              </a:rPr>
              <a:t>AI 資安框架 · 資安技術組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1103540" y="6416675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TW" sz="1050" dirty="0">
                <a:solidFill>
                  <a:schemeClr val="accent6"/>
                </a:solidFill>
                <a:latin typeface="Microsoft JhengHei"/>
                <a:ea typeface="Microsoft JhengHei"/>
                <a:cs typeface="Microsoft JhengHei"/>
              </a:rPr>
              <a:t>07 / 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2742" y="711200"/>
            <a:ext cx="226183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b="1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AI SECURITY FRAMEWORK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90550" y="1622425"/>
            <a:ext cx="2865120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420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偵測有依據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90550" y="2432050"/>
            <a:ext cx="2865120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420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稽核有證據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0550" y="3241675"/>
            <a:ext cx="2865120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420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處置可回復</a:t>
            </a:r>
          </a:p>
        </p:txBody>
      </p:sp>
      <p:pic>
        <p:nvPicPr>
          <p:cNvPr id="6" name="Imag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0" y="1666875"/>
            <a:ext cx="2619375" cy="2619375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598932" y="5175250"/>
            <a:ext cx="4940351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210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17 類真實張量重跑 · 6 種隔離情境驗證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1218" y="5702300"/>
            <a:ext cx="4903470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650" dirty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方法動畫獨立交付，可搭配本機流程與回條展示。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finals_editorial">
  <a:themeElements>
    <a:clrScheme name="finals_editorial">
      <a:dk1>
        <a:srgbClr val="000000"/>
      </a:dk1>
      <a:lt1>
        <a:srgbClr val="FFFFFF"/>
      </a:lt1>
      <a:dk2>
        <a:srgbClr val="1F497D"/>
      </a:dk2>
      <a:lt2>
        <a:srgbClr val="000000"/>
      </a:lt2>
      <a:accent1>
        <a:srgbClr val="0070D1"/>
      </a:accent1>
      <a:accent2>
        <a:srgbClr val="53B1FF"/>
      </a:accent2>
      <a:accent3>
        <a:srgbClr val="181818"/>
      </a:accent3>
      <a:accent4>
        <a:srgbClr val="0070D1"/>
      </a:accent4>
      <a:accent5>
        <a:srgbClr val="6B6B6B"/>
      </a:accent5>
      <a:accent6>
        <a:srgbClr val="CCCCCC"/>
      </a:accent6>
      <a:hlink>
        <a:srgbClr val="53B1FF"/>
      </a:hlink>
      <a:folHlink>
        <a:srgbClr val="181818"/>
      </a:folHlink>
    </a:clrScheme>
    <a:fontScheme name="finals_editorial">
      <a:majorFont>
        <a:latin typeface="Arial"/>
        <a:ea typeface="Microsoft JhengHei"/>
        <a:cs typeface="Arial"/>
        <a:font script="Jpan" typeface="Microsoft JhengHei"/>
        <a:font script="Hang" typeface="Microsoft JhengHei"/>
        <a:font script="Hans" typeface="Microsoft JhengHei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JhengHei"/>
        <a:cs typeface="Arial"/>
        <a:font script="Jpan" typeface="Microsoft JhengHei"/>
        <a:font script="Hang" typeface="Microsoft JhengHei"/>
        <a:font script="Hans" typeface="Microsoft JhengHei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inals_editorial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finals_editorial">
  <a:themeElements>
    <a:clrScheme name="finals_editorial">
      <a:dk1>
        <a:srgbClr val="000000"/>
      </a:dk1>
      <a:lt1>
        <a:srgbClr val="FFFFFF"/>
      </a:lt1>
      <a:dk2>
        <a:srgbClr val="1F497D"/>
      </a:dk2>
      <a:lt2>
        <a:srgbClr val="000000"/>
      </a:lt2>
      <a:accent1>
        <a:srgbClr val="0070D1"/>
      </a:accent1>
      <a:accent2>
        <a:srgbClr val="53B1FF"/>
      </a:accent2>
      <a:accent3>
        <a:srgbClr val="181818"/>
      </a:accent3>
      <a:accent4>
        <a:srgbClr val="0070D1"/>
      </a:accent4>
      <a:accent5>
        <a:srgbClr val="6B6B6B"/>
      </a:accent5>
      <a:accent6>
        <a:srgbClr val="CCCCCC"/>
      </a:accent6>
      <a:hlink>
        <a:srgbClr val="53B1FF"/>
      </a:hlink>
      <a:folHlink>
        <a:srgbClr val="181818"/>
      </a:folHlink>
    </a:clrScheme>
    <a:fontScheme name="finals_editorial">
      <a:majorFont>
        <a:latin typeface="Arial"/>
        <a:ea typeface="Microsoft JhengHei"/>
        <a:cs typeface="Arial"/>
        <a:font script="Jpan" typeface="Microsoft JhengHei"/>
        <a:font script="Hang" typeface="Microsoft JhengHei"/>
        <a:font script="Hans" typeface="Microsoft JhengHei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JhengHei"/>
        <a:cs typeface="Arial"/>
        <a:font script="Jpan" typeface="Microsoft JhengHei"/>
        <a:font script="Hang" typeface="Microsoft JhengHei"/>
        <a:font script="Hans" typeface="Microsoft JhengHei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inals_editorial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ns0:coreProperties xmlns:dc="http://purl.org/dc/elements/1.1/" xmlns:ns0="http://schemas.openxmlformats.org/package/2006/metadata/core-properties" xmlns:ns2="http://purl.org/dc/terms/" xmlns:xsi="http://www.w3.org/2001/XMLSchema-instance">
  <dc:title/>
  <dc:subject/>
  <dc:creator/>
  <ns0:keywords/>
  <dc:description/>
  <dc:language>zh-TW</dc:language>
  <ns0:lastModifiedBy/>
  <ns0:revision>1</ns0:revision>
  <ns2:created xsi:type="dcterms:W3CDTF">2026-10-27T18:21:38Z</ns2:created>
  <ns2:modified xsi:type="dcterms:W3CDTF">2026-10-27T18:21:38Z</ns2:modified>
  <ns0:category/>
  <ns0:contentStatus/>
</ns0:coreProperties>
</file>