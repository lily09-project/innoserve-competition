
<file path=[Content_Types].xml><?xml version="1.0" encoding="utf-8"?>
<ns0:Types xmlns:ns0="http://schemas.openxmlformats.org/package/2006/content-types">
  <ns0:Default Extension="jpeg" ContentType="image/jpeg"/>
  <ns0:Default Extension="mp4" ContentType="video/mp4"/>
  <ns0:Default Extension="png" ContentType="image/png"/>
  <ns0:Default Extension="rels" ContentType="application/vnd.openxmlformats-package.relationships+xml"/>
  <ns0:Default Extension="xml" ContentType="application/xml"/>
  <ns0:Override PartName="/ppt/presentation.xml" ContentType="application/vnd.openxmlformats-officedocument.presentationml.presentation.main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notesMasters/notesMaster1.xml" ContentType="application/vnd.openxmlformats-officedocument.presentationml.notesMaster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theme/theme2.xml" ContentType="application/vnd.openxmlformats-officedocument.theme+xml"/>
  <ns0:Override PartName="/ppt/tags/tag1.xml" ContentType="application/vnd.openxmlformats-officedocument.presentationml.tags+xml"/>
  <ns0:Override PartName="/ppt/tags/tag2.xml" ContentType="application/vnd.openxmlformats-officedocument.presentationml.tags+xml"/>
  <ns0:Override PartName="/ppt/tags/tag3.xml" ContentType="application/vnd.openxmlformats-officedocument.presentationml.tags+xml"/>
  <ns0:Override PartName="/ppt/tags/tag4.xml" ContentType="application/vnd.openxmlformats-officedocument.presentationml.tags+xml"/>
  <ns0:Override PartName="/ppt/tags/tag5.xml" ContentType="application/vnd.openxmlformats-officedocument.presentationml.tags+xml"/>
  <ns0:Override PartName="/ppt/tags/tag6.xml" ContentType="application/vnd.openxmlformats-officedocument.presentationml.tags+xml"/>
  <ns0:Override PartName="/ppt/tags/tag7.xml" ContentType="application/vnd.openxmlformats-officedocument.presentationml.tags+xml"/>
  <ns0:Override PartName="/ppt/tags/tag8.xml" ContentType="application/vnd.openxmlformats-officedocument.presentationml.tags+xml"/>
  <ns0:Override PartName="/ppt/tags/tag9.xml" ContentType="application/vnd.openxmlformats-officedocument.presentationml.tags+xml"/>
  <ns0:Override PartName="/ppt/tags/tag10.xml" ContentType="application/vnd.openxmlformats-officedocument.presentationml.tags+xml"/>
  <ns0:Override PartName="/ppt/tags/tag11.xml" ContentType="application/vnd.openxmlformats-officedocument.presentationml.tags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tags/tag12.xml" ContentType="application/vnd.openxmlformats-officedocument.presentationml.tags+xml"/>
  <ns0:Override PartName="/ppt/tags/tag13.xml" ContentType="application/vnd.openxmlformats-officedocument.presentationml.tags+xml"/>
  <ns0:Override PartName="/ppt/tags/tag14.xml" ContentType="application/vnd.openxmlformats-officedocument.presentationml.tags+xml"/>
  <ns0:Override PartName="/ppt/tags/tag15.xml" ContentType="application/vnd.openxmlformats-officedocument.presentationml.tags+xml"/>
  <ns0:Override PartName="/ppt/tags/tag16.xml" ContentType="application/vnd.openxmlformats-officedocument.presentationml.tags+xml"/>
  <ns0:Override PartName="/ppt/tags/tag17.xml" ContentType="application/vnd.openxmlformats-officedocument.presentationml.tags+xml"/>
  <ns0:Override PartName="/ppt/tags/tag18.xml" ContentType="application/vnd.openxmlformats-officedocument.presentationml.tags+xml"/>
  <ns0:Override PartName="/ppt/tags/tag19.xml" ContentType="application/vnd.openxmlformats-officedocument.presentationml.tags+xml"/>
  <ns0:Override PartName="/ppt/tags/tag20.xml" ContentType="application/vnd.openxmlformats-officedocument.presentationml.tags+xml"/>
  <ns0:Override PartName="/ppt/tags/tag21.xml" ContentType="application/vnd.openxmlformats-officedocument.presentationml.tags+xml"/>
  <ns0:Override PartName="/ppt/tags/tag22.xml" ContentType="application/vnd.openxmlformats-officedocument.presentationml.tags+xml"/>
  <ns0:Override PartName="/ppt/tags/tag23.xml" ContentType="application/vnd.openxmlformats-officedocument.presentationml.tags+xml"/>
  <ns0:Override PartName="/ppt/tags/tag24.xml" ContentType="application/vnd.openxmlformats-officedocument.presentationml.tags+xml"/>
  <ns0:Override PartName="/ppt/tags/tag25.xml" ContentType="application/vnd.openxmlformats-officedocument.presentationml.tags+xml"/>
  <ns0:Override PartName="/ppt/tags/tag26.xml" ContentType="application/vnd.openxmlformats-officedocument.presentationml.tags+xml"/>
  <ns0:Override PartName="/ppt/tags/tag27.xml" ContentType="application/vnd.openxmlformats-officedocument.presentationml.tags+xml"/>
  <ns0:Override PartName="/ppt/tags/tag28.xml" ContentType="application/vnd.openxmlformats-officedocument.presentationml.tags+xml"/>
  <ns0:Override PartName="/ppt/tags/tag29.xml" ContentType="application/vnd.openxmlformats-officedocument.presentationml.tags+xml"/>
  <ns0:Override PartName="/ppt/tags/tag30.xml" ContentType="application/vnd.openxmlformats-officedocument.presentationml.tags+xml"/>
  <ns0:Override PartName="/ppt/tags/tag31.xml" ContentType="application/vnd.openxmlformats-officedocument.presentationml.tags+xml"/>
  <ns0:Override PartName="/ppt/tags/tag32.xml" ContentType="application/vnd.openxmlformats-officedocument.presentationml.tags+xml"/>
  <ns0:Override PartName="/ppt/tags/tag33.xml" ContentType="application/vnd.openxmlformats-officedocument.presentationml.tags+xml"/>
  <ns0:Override PartName="/ppt/tags/tag34.xml" ContentType="application/vnd.openxmlformats-officedocument.presentationml.tags+xml"/>
  <ns0:Override PartName="/ppt/tags/tag35.xml" ContentType="application/vnd.openxmlformats-officedocument.presentationml.tags+xml"/>
  <ns0:Override PartName="/ppt/tags/tag36.xml" ContentType="application/vnd.openxmlformats-officedocument.presentationml.tags+xml"/>
  <ns0:Override PartName="/ppt/tags/tag37.xml" ContentType="application/vnd.openxmlformats-officedocument.presentationml.tags+xml"/>
  <ns0:Override PartName="/ppt/tags/tag38.xml" ContentType="application/vnd.openxmlformats-officedocument.presentationml.tags+xml"/>
  <ns0:Override PartName="/ppt/tags/tag39.xml" ContentType="application/vnd.openxmlformats-officedocument.presentationml.tags+xml"/>
  <ns0:Override PartName="/ppt/tags/tag40.xml" ContentType="application/vnd.openxmlformats-officedocument.presentationml.tags+xml"/>
  <ns0:Override PartName="/ppt/tags/tag41.xml" ContentType="application/vnd.openxmlformats-officedocument.presentationml.tags+xml"/>
  <ns0:Override PartName="/ppt/tags/tag42.xml" ContentType="application/vnd.openxmlformats-officedocument.presentationml.tags+xml"/>
  <ns0:Override PartName="/ppt/tags/tag43.xml" ContentType="application/vnd.openxmlformats-officedocument.presentationml.tags+xml"/>
  <ns0:Override PartName="/ppt/tags/tag44.xml" ContentType="application/vnd.openxmlformats-officedocument.presentationml.tags+xml"/>
  <ns0:Override PartName="/ppt/notesSlides/notesSlide3.xml" ContentType="application/vnd.openxmlformats-officedocument.presentationml.notesSlide+xml"/>
  <ns0:Override PartName="/ppt/tags/tag45.xml" ContentType="application/vnd.openxmlformats-officedocument.presentationml.tags+xml"/>
  <ns0:Override PartName="/ppt/tags/tag46.xml" ContentType="application/vnd.openxmlformats-officedocument.presentationml.tags+xml"/>
  <ns0:Override PartName="/ppt/tags/tag47.xml" ContentType="application/vnd.openxmlformats-officedocument.presentationml.tags+xml"/>
  <ns0:Override PartName="/ppt/tags/tag48.xml" ContentType="application/vnd.openxmlformats-officedocument.presentationml.tags+xml"/>
  <ns0:Override PartName="/ppt/tags/tag49.xml" ContentType="application/vnd.openxmlformats-officedocument.presentationml.tags+xml"/>
  <ns0:Override PartName="/ppt/tags/tag50.xml" ContentType="application/vnd.openxmlformats-officedocument.presentationml.tags+xml"/>
  <ns0:Override PartName="/ppt/tags/tag51.xml" ContentType="application/vnd.openxmlformats-officedocument.presentationml.tags+xml"/>
  <ns0:Override PartName="/ppt/tags/tag52.xml" ContentType="application/vnd.openxmlformats-officedocument.presentationml.tags+xml"/>
  <ns0:Override PartName="/ppt/tags/tag53.xml" ContentType="application/vnd.openxmlformats-officedocument.presentationml.tags+xml"/>
  <ns0:Override PartName="/ppt/tags/tag54.xml" ContentType="application/vnd.openxmlformats-officedocument.presentationml.tags+xml"/>
  <ns0:Override PartName="/ppt/tags/tag55.xml" ContentType="application/vnd.openxmlformats-officedocument.presentationml.tags+xml"/>
  <ns0:Override PartName="/ppt/tags/tag56.xml" ContentType="application/vnd.openxmlformats-officedocument.presentationml.tags+xml"/>
  <ns0:Override PartName="/ppt/tags/tag57.xml" ContentType="application/vnd.openxmlformats-officedocument.presentationml.tags+xml"/>
  <ns0:Override PartName="/ppt/tags/tag58.xml" ContentType="application/vnd.openxmlformats-officedocument.presentationml.tags+xml"/>
  <ns0:Override PartName="/ppt/tags/tag59.xml" ContentType="application/vnd.openxmlformats-officedocument.presentationml.tags+xml"/>
  <ns0:Override PartName="/ppt/tags/tag60.xml" ContentType="application/vnd.openxmlformats-officedocument.presentationml.tags+xml"/>
  <ns0:Override PartName="/ppt/tags/tag61.xml" ContentType="application/vnd.openxmlformats-officedocument.presentationml.tags+xml"/>
  <ns0:Override PartName="/ppt/tags/tag62.xml" ContentType="application/vnd.openxmlformats-officedocument.presentationml.tags+xml"/>
  <ns0:Override PartName="/ppt/notesSlides/notesSlide4.xml" ContentType="application/vnd.openxmlformats-officedocument.presentationml.notesSlide+xml"/>
  <ns0:Override PartName="/ppt/tags/tag63.xml" ContentType="application/vnd.openxmlformats-officedocument.presentationml.tags+xml"/>
  <ns0:Override PartName="/ppt/tags/tag64.xml" ContentType="application/vnd.openxmlformats-officedocument.presentationml.tags+xml"/>
  <ns0:Override PartName="/ppt/tags/tag65.xml" ContentType="application/vnd.openxmlformats-officedocument.presentationml.tags+xml"/>
  <ns0:Override PartName="/ppt/tags/tag66.xml" ContentType="application/vnd.openxmlformats-officedocument.presentationml.tags+xml"/>
  <ns0:Override PartName="/ppt/tags/tag67.xml" ContentType="application/vnd.openxmlformats-officedocument.presentationml.tags+xml"/>
  <ns0:Override PartName="/ppt/tags/tag68.xml" ContentType="application/vnd.openxmlformats-officedocument.presentationml.tags+xml"/>
  <ns0:Override PartName="/ppt/tags/tag69.xml" ContentType="application/vnd.openxmlformats-officedocument.presentationml.tags+xml"/>
  <ns0:Override PartName="/ppt/tags/tag70.xml" ContentType="application/vnd.openxmlformats-officedocument.presentationml.tags+xml"/>
  <ns0:Override PartName="/ppt/tags/tag71.xml" ContentType="application/vnd.openxmlformats-officedocument.presentationml.tags+xml"/>
  <ns0:Override PartName="/ppt/tags/tag72.xml" ContentType="application/vnd.openxmlformats-officedocument.presentationml.tags+xml"/>
  <ns0:Override PartName="/ppt/tags/tag73.xml" ContentType="application/vnd.openxmlformats-officedocument.presentationml.tags+xml"/>
  <ns0:Override PartName="/ppt/tags/tag74.xml" ContentType="application/vnd.openxmlformats-officedocument.presentationml.tags+xml"/>
  <ns0:Override PartName="/ppt/tags/tag75.xml" ContentType="application/vnd.openxmlformats-officedocument.presentationml.tags+xml"/>
  <ns0:Override PartName="/ppt/tags/tag76.xml" ContentType="application/vnd.openxmlformats-officedocument.presentationml.tags+xml"/>
  <ns0:Override PartName="/ppt/tags/tag77.xml" ContentType="application/vnd.openxmlformats-officedocument.presentationml.tags+xml"/>
  <ns0:Override PartName="/ppt/tags/tag78.xml" ContentType="application/vnd.openxmlformats-officedocument.presentationml.tags+xml"/>
  <ns0:Override PartName="/ppt/tags/tag79.xml" ContentType="application/vnd.openxmlformats-officedocument.presentationml.tags+xml"/>
  <ns0:Override PartName="/ppt/tags/tag80.xml" ContentType="application/vnd.openxmlformats-officedocument.presentationml.tags+xml"/>
  <ns0:Override PartName="/ppt/tags/tag81.xml" ContentType="application/vnd.openxmlformats-officedocument.presentationml.tags+xml"/>
  <ns0:Override PartName="/ppt/tags/tag82.xml" ContentType="application/vnd.openxmlformats-officedocument.presentationml.tags+xml"/>
  <ns0:Override PartName="/ppt/tags/tag83.xml" ContentType="application/vnd.openxmlformats-officedocument.presentationml.tags+xml"/>
  <ns0:Override PartName="/ppt/tags/tag84.xml" ContentType="application/vnd.openxmlformats-officedocument.presentationml.tags+xml"/>
  <ns0:Override PartName="/ppt/tags/tag85.xml" ContentType="application/vnd.openxmlformats-officedocument.presentationml.tags+xml"/>
  <ns0:Override PartName="/ppt/tags/tag86.xml" ContentType="application/vnd.openxmlformats-officedocument.presentationml.tags+xml"/>
  <ns0:Override PartName="/ppt/tags/tag87.xml" ContentType="application/vnd.openxmlformats-officedocument.presentationml.tags+xml"/>
  <ns0:Override PartName="/ppt/tags/tag88.xml" ContentType="application/vnd.openxmlformats-officedocument.presentationml.tags+xml"/>
  <ns0:Override PartName="/ppt/tags/tag89.xml" ContentType="application/vnd.openxmlformats-officedocument.presentationml.tags+xml"/>
  <ns0:Override PartName="/ppt/tags/tag90.xml" ContentType="application/vnd.openxmlformats-officedocument.presentationml.tags+xml"/>
  <ns0:Override PartName="/ppt/tags/tag91.xml" ContentType="application/vnd.openxmlformats-officedocument.presentationml.tags+xml"/>
  <ns0:Override PartName="/ppt/notesSlides/notesSlide5.xml" ContentType="application/vnd.openxmlformats-officedocument.presentationml.notesSlide+xml"/>
  <ns0:Override PartName="/ppt/tags/tag92.xml" ContentType="application/vnd.openxmlformats-officedocument.presentationml.tags+xml"/>
  <ns0:Override PartName="/ppt/tags/tag93.xml" ContentType="application/vnd.openxmlformats-officedocument.presentationml.tags+xml"/>
  <ns0:Override PartName="/ppt/tags/tag94.xml" ContentType="application/vnd.openxmlformats-officedocument.presentationml.tags+xml"/>
  <ns0:Override PartName="/ppt/tags/tag95.xml" ContentType="application/vnd.openxmlformats-officedocument.presentationml.tags+xml"/>
  <ns0:Override PartName="/ppt/tags/tag96.xml" ContentType="application/vnd.openxmlformats-officedocument.presentationml.tags+xml"/>
  <ns0:Override PartName="/ppt/tags/tag97.xml" ContentType="application/vnd.openxmlformats-officedocument.presentationml.tags+xml"/>
  <ns0:Override PartName="/ppt/tags/tag98.xml" ContentType="application/vnd.openxmlformats-officedocument.presentationml.tags+xml"/>
  <ns0:Override PartName="/ppt/tags/tag99.xml" ContentType="application/vnd.openxmlformats-officedocument.presentationml.tags+xml"/>
  <ns0:Override PartName="/ppt/tags/tag100.xml" ContentType="application/vnd.openxmlformats-officedocument.presentationml.tags+xml"/>
  <ns0:Override PartName="/ppt/tags/tag101.xml" ContentType="application/vnd.openxmlformats-officedocument.presentationml.tags+xml"/>
  <ns0:Override PartName="/ppt/tags/tag102.xml" ContentType="application/vnd.openxmlformats-officedocument.presentationml.tags+xml"/>
  <ns0:Override PartName="/ppt/tags/tag103.xml" ContentType="application/vnd.openxmlformats-officedocument.presentationml.tags+xml"/>
  <ns0:Override PartName="/ppt/tags/tag104.xml" ContentType="application/vnd.openxmlformats-officedocument.presentationml.tags+xml"/>
  <ns0:Override PartName="/ppt/tags/tag105.xml" ContentType="application/vnd.openxmlformats-officedocument.presentationml.tags+xml"/>
  <ns0:Override PartName="/ppt/tags/tag106.xml" ContentType="application/vnd.openxmlformats-officedocument.presentationml.tags+xml"/>
  <ns0:Override PartName="/ppt/tags/tag107.xml" ContentType="application/vnd.openxmlformats-officedocument.presentationml.tags+xml"/>
  <ns0:Override PartName="/ppt/tags/tag108.xml" ContentType="application/vnd.openxmlformats-officedocument.presentationml.tags+xml"/>
  <ns0:Override PartName="/ppt/tags/tag109.xml" ContentType="application/vnd.openxmlformats-officedocument.presentationml.tags+xml"/>
  <ns0:Override PartName="/ppt/notesSlides/notesSlide6.xml" ContentType="application/vnd.openxmlformats-officedocument.presentationml.notesSlide+xml"/>
  <ns0:Override PartName="/ppt/tags/tag110.xml" ContentType="application/vnd.openxmlformats-officedocument.presentationml.tags+xml"/>
  <ns0:Override PartName="/ppt/tags/tag111.xml" ContentType="application/vnd.openxmlformats-officedocument.presentationml.tags+xml"/>
  <ns0:Override PartName="/ppt/tags/tag112.xml" ContentType="application/vnd.openxmlformats-officedocument.presentationml.tags+xml"/>
  <ns0:Override PartName="/ppt/tags/tag113.xml" ContentType="application/vnd.openxmlformats-officedocument.presentationml.tags+xml"/>
  <ns0:Override PartName="/ppt/tags/tag114.xml" ContentType="application/vnd.openxmlformats-officedocument.presentationml.tags+xml"/>
  <ns0:Override PartName="/ppt/tags/tag115.xml" ContentType="application/vnd.openxmlformats-officedocument.presentationml.tags+xml"/>
  <ns0:Override PartName="/ppt/tags/tag116.xml" ContentType="application/vnd.openxmlformats-officedocument.presentationml.tags+xml"/>
  <ns0:Override PartName="/ppt/tags/tag117.xml" ContentType="application/vnd.openxmlformats-officedocument.presentationml.tags+xml"/>
  <ns0:Override PartName="/ppt/tags/tag118.xml" ContentType="application/vnd.openxmlformats-officedocument.presentationml.tags+xml"/>
  <ns0:Override PartName="/ppt/tags/tag119.xml" ContentType="application/vnd.openxmlformats-officedocument.presentationml.tags+xml"/>
  <ns0:Override PartName="/ppt/tags/tag120.xml" ContentType="application/vnd.openxmlformats-officedocument.presentationml.tags+xml"/>
  <ns0:Override PartName="/ppt/tags/tag121.xml" ContentType="application/vnd.openxmlformats-officedocument.presentationml.tags+xml"/>
  <ns0:Override PartName="/ppt/tags/tag122.xml" ContentType="application/vnd.openxmlformats-officedocument.presentationml.tags+xml"/>
  <ns0:Override PartName="/ppt/tags/tag123.xml" ContentType="application/vnd.openxmlformats-officedocument.presentationml.tags+xml"/>
  <ns0:Override PartName="/ppt/tags/tag124.xml" ContentType="application/vnd.openxmlformats-officedocument.presentationml.tags+xml"/>
  <ns0:Override PartName="/ppt/tags/tag125.xml" ContentType="application/vnd.openxmlformats-officedocument.presentationml.tags+xml"/>
  <ns0:Override PartName="/ppt/tags/tag126.xml" ContentType="application/vnd.openxmlformats-officedocument.presentationml.tags+xml"/>
  <ns0:Override PartName="/ppt/tags/tag127.xml" ContentType="application/vnd.openxmlformats-officedocument.presentationml.tags+xml"/>
  <ns0:Override PartName="/ppt/tags/tag128.xml" ContentType="application/vnd.openxmlformats-officedocument.presentationml.tags+xml"/>
  <ns0:Override PartName="/ppt/notesSlides/notesSlide7.xml" ContentType="application/vnd.openxmlformats-officedocument.presentationml.notesSlide+xml"/>
  <ns0:Override PartName="/ppt/tags/tag129.xml" ContentType="application/vnd.openxmlformats-officedocument.presentationml.tags+xml"/>
  <ns0:Override PartName="/ppt/tags/tag130.xml" ContentType="application/vnd.openxmlformats-officedocument.presentationml.tags+xml"/>
  <ns0:Override PartName="/ppt/tags/tag131.xml" ContentType="application/vnd.openxmlformats-officedocument.presentationml.tags+xml"/>
  <ns0:Override PartName="/ppt/tags/tag132.xml" ContentType="application/vnd.openxmlformats-officedocument.presentationml.tags+xml"/>
  <ns0:Override PartName="/ppt/tags/tag133.xml" ContentType="application/vnd.openxmlformats-officedocument.presentationml.tags+xml"/>
  <ns0:Override PartName="/ppt/tags/tag134.xml" ContentType="application/vnd.openxmlformats-officedocument.presentationml.tags+xml"/>
  <ns0:Override PartName="/ppt/tags/tag135.xml" ContentType="application/vnd.openxmlformats-officedocument.presentationml.tags+xml"/>
  <ns0:Override PartName="/ppt/tags/tag136.xml" ContentType="application/vnd.openxmlformats-officedocument.presentationml.tags+xml"/>
  <ns0:Override PartName="/ppt/tags/tag137.xml" ContentType="application/vnd.openxmlformats-officedocument.presentationml.tags+xml"/>
  <ns0:Override PartName="/ppt/tags/tag138.xml" ContentType="application/vnd.openxmlformats-officedocument.presentationml.tags+xml"/>
  <ns0:Override PartName="/ppt/tags/tag139.xml" ContentType="application/vnd.openxmlformats-officedocument.presentationml.tags+xml"/>
  <ns0:Override PartName="/ppt/tags/tag140.xml" ContentType="application/vnd.openxmlformats-officedocument.presentationml.tags+xml"/>
  <ns0:Override PartName="/ppt/tags/tag141.xml" ContentType="application/vnd.openxmlformats-officedocument.presentationml.tags+xml"/>
  <ns0:Override PartName="/ppt/tags/tag142.xml" ContentType="application/vnd.openxmlformats-officedocument.presentationml.tags+xml"/>
  <ns0:Override PartName="/ppt/tags/tag143.xml" ContentType="application/vnd.openxmlformats-officedocument.presentationml.tags+xml"/>
  <ns0:Override PartName="/ppt/tags/tag144.xml" ContentType="application/vnd.openxmlformats-officedocument.presentationml.tags+xml"/>
  <ns0:Override PartName="/ppt/tags/tag145.xml" ContentType="application/vnd.openxmlformats-officedocument.presentationml.tags+xml"/>
  <ns0:Override PartName="/ppt/tags/tag146.xml" ContentType="application/vnd.openxmlformats-officedocument.presentationml.tags+xml"/>
  <ns0:Override PartName="/ppt/tags/tag147.xml" ContentType="application/vnd.openxmlformats-officedocument.presentationml.tags+xml"/>
  <ns0:Override PartName="/ppt/tags/tag148.xml" ContentType="application/vnd.openxmlformats-officedocument.presentationml.tags+xml"/>
  <ns0:Override PartName="/ppt/notesSlides/notesSlide8.xml" ContentType="application/vnd.openxmlformats-officedocument.presentationml.notesSlide+xml"/>
  <ns0:Override PartName="/ppt/tags/tag149.xml" ContentType="application/vnd.openxmlformats-officedocument.presentationml.tags+xml"/>
  <ns0:Override PartName="/ppt/tags/tag150.xml" ContentType="application/vnd.openxmlformats-officedocument.presentationml.tags+xml"/>
  <ns0:Override PartName="/ppt/tags/tag151.xml" ContentType="application/vnd.openxmlformats-officedocument.presentationml.tags+xml"/>
  <ns0:Override PartName="/ppt/tags/tag152.xml" ContentType="application/vnd.openxmlformats-officedocument.presentationml.tags+xml"/>
  <ns0:Override PartName="/ppt/tags/tag153.xml" ContentType="application/vnd.openxmlformats-officedocument.presentationml.tags+xml"/>
  <ns0:Override PartName="/ppt/tags/tag154.xml" ContentType="application/vnd.openxmlformats-officedocument.presentationml.tags+xml"/>
  <ns0:Override PartName="/ppt/tags/tag155.xml" ContentType="application/vnd.openxmlformats-officedocument.presentationml.tags+xml"/>
  <ns0:Override PartName="/ppt/tags/tag156.xml" ContentType="application/vnd.openxmlformats-officedocument.presentationml.tags+xml"/>
  <ns0:Override PartName="/ppt/tags/tag157.xml" ContentType="application/vnd.openxmlformats-officedocument.presentationml.tags+xml"/>
  <ns0:Override PartName="/ppt/tags/tag158.xml" ContentType="application/vnd.openxmlformats-officedocument.presentationml.tags+xml"/>
  <ns0:Override PartName="/ppt/tags/tag159.xml" ContentType="application/vnd.openxmlformats-officedocument.presentationml.tags+xml"/>
  <ns0:Override PartName="/ppt/tags/tag160.xml" ContentType="application/vnd.openxmlformats-officedocument.presentationml.tags+xml"/>
  <ns0:Override PartName="/ppt/tags/tag161.xml" ContentType="application/vnd.openxmlformats-officedocument.presentationml.tags+xml"/>
  <ns0:Override PartName="/ppt/tags/tag162.xml" ContentType="application/vnd.openxmlformats-officedocument.presentationml.tags+xml"/>
  <ns0:Override PartName="/ppt/tags/tag163.xml" ContentType="application/vnd.openxmlformats-officedocument.presentationml.tags+xml"/>
  <ns0:Override PartName="/ppt/tags/tag164.xml" ContentType="application/vnd.openxmlformats-officedocument.presentationml.tags+xml"/>
  <ns0:Override PartName="/ppt/notesSlides/notesSlide9.xml" ContentType="application/vnd.openxmlformats-officedocument.presentationml.notesSlide+xml"/>
  <ns0:Override PartName="/ppt/tags/tag165.xml" ContentType="application/vnd.openxmlformats-officedocument.presentationml.tags+xml"/>
  <ns0:Override PartName="/ppt/tags/tag166.xml" ContentType="application/vnd.openxmlformats-officedocument.presentationml.tags+xml"/>
  <ns0:Override PartName="/ppt/tags/tag167.xml" ContentType="application/vnd.openxmlformats-officedocument.presentationml.tags+xml"/>
  <ns0:Override PartName="/ppt/tags/tag168.xml" ContentType="application/vnd.openxmlformats-officedocument.presentationml.tags+xml"/>
  <ns0:Override PartName="/ppt/tags/tag169.xml" ContentType="application/vnd.openxmlformats-officedocument.presentationml.tags+xml"/>
  <ns0:Override PartName="/ppt/tags/tag170.xml" ContentType="application/vnd.openxmlformats-officedocument.presentationml.tags+xml"/>
  <ns0:Override PartName="/ppt/tags/tag171.xml" ContentType="application/vnd.openxmlformats-officedocument.presentationml.tags+xml"/>
  <ns0:Override PartName="/ppt/tags/tag172.xml" ContentType="application/vnd.openxmlformats-officedocument.presentationml.tags+xml"/>
  <ns0:Override PartName="/ppt/tags/tag173.xml" ContentType="application/vnd.openxmlformats-officedocument.presentationml.tags+xml"/>
  <ns0:Override PartName="/ppt/tags/tag174.xml" ContentType="application/vnd.openxmlformats-officedocument.presentationml.tags+xml"/>
  <ns0:Override PartName="/ppt/tags/tag175.xml" ContentType="application/vnd.openxmlformats-officedocument.presentationml.tags+xml"/>
  <ns0:Override PartName="/ppt/tags/tag176.xml" ContentType="application/vnd.openxmlformats-officedocument.presentationml.tags+xml"/>
  <ns0:Override PartName="/ppt/tags/tag177.xml" ContentType="application/vnd.openxmlformats-officedocument.presentationml.tags+xml"/>
  <ns0:Override PartName="/ppt/tags/tag178.xml" ContentType="application/vnd.openxmlformats-officedocument.presentationml.tags+xml"/>
  <ns0:Override PartName="/ppt/tags/tag179.xml" ContentType="application/vnd.openxmlformats-officedocument.presentationml.tags+xml"/>
  <ns0:Override PartName="/ppt/tags/tag180.xml" ContentType="application/vnd.openxmlformats-officedocument.presentationml.tags+xml"/>
  <ns0:Override PartName="/ppt/tags/tag181.xml" ContentType="application/vnd.openxmlformats-officedocument.presentationml.tags+xml"/>
  <ns0:Override PartName="/ppt/tags/tag182.xml" ContentType="application/vnd.openxmlformats-officedocument.presentationml.tags+xml"/>
  <ns0:Override PartName="/ppt/tags/tag183.xml" ContentType="application/vnd.openxmlformats-officedocument.presentationml.tags+xml"/>
  <ns0:Override PartName="/ppt/tags/tag184.xml" ContentType="application/vnd.openxmlformats-officedocument.presentationml.tags+xml"/>
  <ns0:Override PartName="/ppt/tags/tag185.xml" ContentType="application/vnd.openxmlformats-officedocument.presentationml.tags+xml"/>
  <ns0:Override PartName="/ppt/tags/tag186.xml" ContentType="application/vnd.openxmlformats-officedocument.presentationml.tags+xml"/>
  <ns0:Override PartName="/ppt/tags/tag187.xml" ContentType="application/vnd.openxmlformats-officedocument.presentationml.tags+xml"/>
  <ns0:Override PartName="/ppt/notesSlides/notesSlide10.xml" ContentType="application/vnd.openxmlformats-officedocument.presentationml.notesSlide+xml"/>
  <ns0:Override PartName="/ppt/tags/tag188.xml" ContentType="application/vnd.openxmlformats-officedocument.presentationml.tags+xml"/>
  <ns0:Override PartName="/ppt/tags/tag189.xml" ContentType="application/vnd.openxmlformats-officedocument.presentationml.tags+xml"/>
  <ns0:Override PartName="/ppt/tags/tag190.xml" ContentType="application/vnd.openxmlformats-officedocument.presentationml.tags+xml"/>
  <ns0:Override PartName="/ppt/tags/tag191.xml" ContentType="application/vnd.openxmlformats-officedocument.presentationml.tags+xml"/>
  <ns0:Override PartName="/ppt/tags/tag192.xml" ContentType="application/vnd.openxmlformats-officedocument.presentationml.tags+xml"/>
  <ns0:Override PartName="/ppt/tags/tag193.xml" ContentType="application/vnd.openxmlformats-officedocument.presentationml.tags+xml"/>
  <ns0:Override PartName="/ppt/tags/tag194.xml" ContentType="application/vnd.openxmlformats-officedocument.presentationml.tags+xml"/>
  <ns0:Override PartName="/ppt/tags/tag195.xml" ContentType="application/vnd.openxmlformats-officedocument.presentationml.tags+xml"/>
  <ns0:Override PartName="/ppt/tags/tag196.xml" ContentType="application/vnd.openxmlformats-officedocument.presentationml.tags+xml"/>
  <ns0:Override PartName="/ppt/tags/tag197.xml" ContentType="application/vnd.openxmlformats-officedocument.presentationml.tags+xml"/>
  <ns0:Override PartName="/ppt/tags/tag198.xml" ContentType="application/vnd.openxmlformats-officedocument.presentationml.tags+xml"/>
  <ns0:Override PartName="/ppt/tags/tag199.xml" ContentType="application/vnd.openxmlformats-officedocument.presentationml.tags+xml"/>
  <ns0:Override PartName="/ppt/tags/tag200.xml" ContentType="application/vnd.openxmlformats-officedocument.presentationml.tags+xml"/>
  <ns0:Override PartName="/ppt/tags/tag201.xml" ContentType="application/vnd.openxmlformats-officedocument.presentationml.tags+xml"/>
  <ns0:Override PartName="/ppt/tags/tag202.xml" ContentType="application/vnd.openxmlformats-officedocument.presentationml.tags+xml"/>
  <ns0:Override PartName="/ppt/tags/tag203.xml" ContentType="application/vnd.openxmlformats-officedocument.presentationml.tags+xml"/>
  <ns0:Override PartName="/ppt/tags/tag204.xml" ContentType="application/vnd.openxmlformats-officedocument.presentationml.tags+xml"/>
  <ns0:Override PartName="/ppt/tags/tag205.xml" ContentType="application/vnd.openxmlformats-officedocument.presentationml.tags+xml"/>
  <ns0:Override PartName="/ppt/tags/tag206.xml" ContentType="application/vnd.openxmlformats-officedocument.presentationml.tags+xml"/>
  <ns0:Override PartName="/ppt/tags/tag207.xml" ContentType="application/vnd.openxmlformats-officedocument.presentationml.tags+xml"/>
  <ns0:Override PartName="/ppt/tags/tag208.xml" ContentType="application/vnd.openxmlformats-officedocument.presentationml.tags+xml"/>
  <ns0:Override PartName="/ppt/tags/tag209.xml" ContentType="application/vnd.openxmlformats-officedocument.presentationml.tags+xml"/>
  <ns0:Override PartName="/ppt/notesSlides/notesSlide11.xml" ContentType="application/vnd.openxmlformats-officedocument.presentationml.notesSlide+xml"/>
  <ns0:Override PartName="/ppt/tags/tag210.xml" ContentType="application/vnd.openxmlformats-officedocument.presentationml.tags+xml"/>
  <ns0:Override PartName="/ppt/tags/tag211.xml" ContentType="application/vnd.openxmlformats-officedocument.presentationml.tags+xml"/>
  <ns0:Override PartName="/ppt/tags/tag212.xml" ContentType="application/vnd.openxmlformats-officedocument.presentationml.tags+xml"/>
  <ns0:Override PartName="/ppt/tags/tag213.xml" ContentType="application/vnd.openxmlformats-officedocument.presentationml.tags+xml"/>
  <ns0:Override PartName="/ppt/tags/tag214.xml" ContentType="application/vnd.openxmlformats-officedocument.presentationml.tags+xml"/>
  <ns0:Override PartName="/ppt/tags/tag215.xml" ContentType="application/vnd.openxmlformats-officedocument.presentationml.tags+xml"/>
  <ns0:Override PartName="/ppt/tags/tag216.xml" ContentType="application/vnd.openxmlformats-officedocument.presentationml.tags+xml"/>
  <ns0:Override PartName="/ppt/tags/tag217.xml" ContentType="application/vnd.openxmlformats-officedocument.presentationml.tags+xml"/>
  <ns0:Override PartName="/ppt/tags/tag218.xml" ContentType="application/vnd.openxmlformats-officedocument.presentationml.tags+xml"/>
  <ns0:Override PartName="/ppt/tags/tag219.xml" ContentType="application/vnd.openxmlformats-officedocument.presentationml.tags+xml"/>
  <ns0:Override PartName="/ppt/tags/tag220.xml" ContentType="application/vnd.openxmlformats-officedocument.presentationml.tags+xml"/>
  <ns0:Override PartName="/ppt/tags/tag221.xml" ContentType="application/vnd.openxmlformats-officedocument.presentationml.tags+xml"/>
  <ns0:Override PartName="/ppt/tags/tag222.xml" ContentType="application/vnd.openxmlformats-officedocument.presentationml.tags+xml"/>
  <ns0:Override PartName="/ppt/tags/tag223.xml" ContentType="application/vnd.openxmlformats-officedocument.presentationml.tags+xml"/>
  <ns0:Override PartName="/ppt/tags/tag224.xml" ContentType="application/vnd.openxmlformats-officedocument.presentationml.tags+xml"/>
  <ns0:Override PartName="/ppt/tags/tag225.xml" ContentType="application/vnd.openxmlformats-officedocument.presentationml.tags+xml"/>
  <ns0:Override PartName="/ppt/tags/tag226.xml" ContentType="application/vnd.openxmlformats-officedocument.presentationml.tags+xml"/>
  <ns0:Override PartName="/ppt/tags/tag227.xml" ContentType="application/vnd.openxmlformats-officedocument.presentationml.tags+xml"/>
  <ns0:Override PartName="/ppt/tags/tag228.xml" ContentType="application/vnd.openxmlformats-officedocument.presentationml.tags+xml"/>
  <ns0:Override PartName="/ppt/tags/tag229.xml" ContentType="application/vnd.openxmlformats-officedocument.presentationml.tags+xml"/>
  <ns0:Override PartName="/ppt/tags/tag230.xml" ContentType="application/vnd.openxmlformats-officedocument.presentationml.tags+xml"/>
  <ns0:Override PartName="/ppt/tags/tag231.xml" ContentType="application/vnd.openxmlformats-officedocument.presentationml.tags+xml"/>
  <ns0:Override PartName="/ppt/tags/tag232.xml" ContentType="application/vnd.openxmlformats-officedocument.presentationml.tags+xml"/>
  <ns0:Override PartName="/ppt/notesSlides/notesSlide12.xml" ContentType="application/vnd.openxmlformats-officedocument.presentationml.notesSlide+xml"/>
  <ns0:Override PartName="/docProps/core.xml" ContentType="application/vnd.openxmlformats-package.core-properties+xml"/>
  <ns0:Override PartName="/docProps/app.xml" ContentType="application/vnd.openxmlformats-officedocument.extended-properties+xml"/>
</ns0: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zh-TW">
        <a:latin typeface="Times New Roman"/>
        <a:ea typeface="DFKai-SB"/>
        <a:cs typeface="Times New Roman"/>
      </a:defRPr>
    </a:defPPr>
    <a:lvl1pPr marL="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1pPr>
    <a:lvl2pPr marL="4572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2pPr>
    <a:lvl3pPr marL="9144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3pPr>
    <a:lvl4pPr marL="13716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4pPr>
    <a:lvl5pPr marL="18288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5pPr>
    <a:lvl6pPr marL="22860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6pPr>
    <a:lvl7pPr marL="27432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7pPr>
    <a:lvl8pPr marL="32004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8pPr>
    <a:lvl9pPr marL="36576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zh-TW" sz="1200">
        <a:latin typeface="Times New Roman"/>
        <a:ea typeface="DFKai-SB"/>
        <a:cs typeface="Times New Roman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我們把入侵偵測、案例證據與受控處置串成同一事件流程，讓管理者能核對判斷依據，並追蹤處置與回復。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本頁為三十秒、兩倍速內嵌方法動畫，進入頁面後播放一次，結束停留。先讓評審看見同一事件的完整流程，再接續架構說明；影片計入五分鐘流程。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架構分為上下兩層的四個區域。流量表徵保留內容、時間差與方向，同一輸入平行送入兩個偵測模型，再融合為固定十七類、校準信心與流量表徵；後段以五百二十九維任務向量取得前五筆訓練案例，由本機AI給出支持、複核或不確定。策略閘門檢查範圍與期限，完成套用、讀回和到期撤銷。所有產物透過同一事件識別碼連結，AI不改寫正式分類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前段讓兩種模型分析同一筆流量。CTBM掌握封包內容、時間差與方向，PBCNN補充短視窗的位元組模式；經校準與融合閘門整合後，輸出十七類判定、信心與流量表徵。這些表徵會接到下一頁的案例檢索。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我們把五百一十二維流量表徵與十七維類別機率，組成五百二十九維任務向量，查詢只由訓練資料建立的案例庫。檢索同時考慮流量特徵與判定資訊，本機AI再依前五筆案例核對證據，回傳支持、複核或不確定；正式分類與稽核結論保留在同一事件紀錄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策略閘門檢查範圍、動作白名單與有效期，通過後才套用並讀回規則，再於到期撤銷。六種隔離情境包含四種套用規則、兩種監測或蒐證；背景服務六種皆保留，回復完整性六種皆通過。這裡呈現的是隔離TCP交易與回條驗證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偵測效果在相同一萬八千九百九十八筆封存測試比較。PBCNN的Macro-F1為百分之七十九點七五，CTBM為九十二點一零，融合後為九十三點零五；整體準確率百分之九十八點零八。比較採同一個測試集，讓互補融合的效果可以直接核對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在一千五百五十筆真實訓練案例和四百六十三筆測試查詢中，前五筆命中率為百分之九十七點六二，MRR為九十三點八九。相同四百六十三筆事件的本機稽核中，四百一十五筆支持、十三筆複核、三十五筆不確定；支持精確率九十七點一一。三十筆偵測誤判中，十八筆分流到複核或不確定，其餘十二筆仍獲支持，所以處置另受策略閘門控制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十七類整合重跑與六種隔離情境，驗證了同事件的判定、證據和回復紀錄。感謝聆聽，敬請指教。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Q1：創新在哪裡？與一般 IDS 加上 RAG 有何不同？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把流量表徵與類別機率組成任務向量，檢索相關證據。AI 保留正式分類，同一事件一路連到策略與回復回條。互補判定 → 案例檢索 → 證據稽核 → 受控處置。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Q2：如何證明前段判斷與後段處置已經串起來？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17 類本機推論與 AI 稽核已逐類執行，產物使用同一事件 ID。6 種隔離情境的回條綁定同次執行，過期執行 ID 會被拒絕。分類、Top-5、Judge、策略與回條綁定同一事件。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Q3：評估資料如何切分？案例庫是否洩漏測試答案？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偵測比較使用相同 18,998 筆測試；案例庫只由訓練資料建立。檢索使用 1,550 筆案例、463 筆查詢，訓練與查詢沒有重疊。偵測與檢索分開評估；AI 輸入不包含真實標籤。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Q4：AI 若支持錯誤判斷，如何避免直接誤封？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30 筆偵測誤判有 18 筆分流；其餘 12 筆仍獲 AI 支持。處置另經信心、政策、動作白名單與期限檢查，並可到期撤銷。AI 不改寫正式分類；複核／不確定走監測或蒐證。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Q5：6/6 是否代表各種真實攻擊都能完全防住？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6/6 指隔離 TCP 情境中的背景服務保留及回復完整性。4 種情境套用規則、2 種監測或蒐證；不等同真實攻擊防禦率。偵測 Accuracy 98.08%、Macro-F1 93.05% 另依測試集計算。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Q6：如何部署、保護資料，並接到既有環境？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本機 GPU 模型與本機案例庫處理事件，敏感欄位先遮罩。17 類已以前處理張量驗證；場域接入依資料介面配置。本機 AI 稽核；私有權重、輸入及逐筆回覆不公開。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inals_editorial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altLang="zh-TW" smtClean="0">
                <a:latin typeface="Times New Roman"/>
                <a:ea typeface="DFKai-SB"/>
                <a:cs typeface="Times New Roman"/>
              </a:rPr>
              <a:t>10/29/2026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>
                <a:latin typeface="Times New Roman"/>
                <a:ea typeface="DFKai-SB"/>
                <a:cs typeface="Times New Roman"/>
              </a:rPr>
              <a:t>‹#›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inals_editorial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5BCAD085-E8A6-8845-BD4E-CB4CCA059FC4}" type="datetimeFigureOut">
              <a:rPr lang="en-US" altLang="zh-TW" smtClean="0">
                <a:latin typeface="Times New Roman"/>
                <a:ea typeface="DFKai-SB"/>
                <a:cs typeface="Times New Roman"/>
              </a:rPr>
              <a:t>10/29/2026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C1FF6DA9-008F-8B48-92A6-B652298478BF}" type="slidenum">
              <a:rPr lang="zh-TW" smtClean="0">
                <a:latin typeface="Times New Roman"/>
                <a:ea typeface="DFKai-SB"/>
                <a:cs typeface="Times New Roman"/>
              </a:rPr>
              <a:t>‹#›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lang="zh-TW" sz="3300" kern="1200">
          <a:solidFill>
            <a:schemeClr val="tx1"/>
          </a:solidFill>
          <a:latin typeface="Times New Roman"/>
          <a:ea typeface="DFKai-SB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Times New Roman"/>
        <a:buChar char="•"/>
        <a:defRPr lang="zh-TW"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Times New Roman"/>
        <a:buChar char="–"/>
        <a:defRPr lang="zh-TW" sz="17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16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Times New Roman"/>
        <a:buChar char="–"/>
        <a:defRPr lang="zh-TW" sz="145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Times New Roman"/>
        <a:buChar char="»"/>
        <a:defRPr lang="zh-TW" sz="135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125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11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1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9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bodyStyle>
    <p:otherStyle>
      <a:defPPr>
        <a:defRPr lang="zh-TW">
          <a:latin typeface="Times New Roman"/>
          <a:ea typeface="DFKai-SB"/>
          <a:cs typeface="Times New Roman"/>
        </a:defRPr>
      </a:defPPr>
      <a:lvl1pPr marL="0" algn="l" defTabSz="457200" rtl="0" eaLnBrk="1" latinLnBrk="0" hangingPunct="1">
        <a:defRPr lang="zh-TW"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457200" algn="l" defTabSz="457200" rtl="0" eaLnBrk="1" latinLnBrk="0" hangingPunct="1">
        <a:defRPr lang="zh-TW" sz="17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914400" algn="l" defTabSz="457200" rtl="0" eaLnBrk="1" latinLnBrk="0" hangingPunct="1">
        <a:defRPr lang="zh-TW" sz="16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371600" algn="l" defTabSz="457200" rtl="0" eaLnBrk="1" latinLnBrk="0" hangingPunct="1">
        <a:defRPr lang="zh-TW" sz="145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1828800" algn="l" defTabSz="457200" rtl="0" eaLnBrk="1" latinLnBrk="0" hangingPunct="1">
        <a:defRPr lang="zh-TW" sz="135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286000" algn="l" defTabSz="457200" rtl="0" eaLnBrk="1" latinLnBrk="0" hangingPunct="1">
        <a:defRPr lang="zh-TW" sz="125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743200" algn="l" defTabSz="457200" rtl="0" eaLnBrk="1" latinLnBrk="0" hangingPunct="1">
        <a:defRPr lang="zh-TW" sz="11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200400" algn="l" defTabSz="457200" rtl="0" eaLnBrk="1" latinLnBrk="0" hangingPunct="1">
        <a:defRPr lang="zh-TW" sz="1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657600" algn="l" defTabSz="457200" rtl="0" eaLnBrk="1" latinLnBrk="0" hangingPunct="1">
        <a:defRPr lang="zh-TW" sz="9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notesSlide" Target="../notesSlides/notesSlide1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slideLayout" Target="../slideLayouts/slideLayout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/Relationships>
</file>

<file path=ppt/slides/_rels/slide2.xml.rels><?xml version='1.0' encoding='utf-8'?>
<ns0:Relationships xmlns:ns0="http://schemas.openxmlformats.org/package/2006/relationships"><ns0:Relationship Id="rId3" Type="http://schemas.openxmlformats.org/officeDocument/2006/relationships/slideLayout" Target="../slideLayouts/slideLayout1.xml" /><ns0:Relationship Id="rId2" Type="http://schemas.openxmlformats.org/officeDocument/2006/relationships/video" Target="../media/opening-film.mp4" /><ns0:Relationship Id="rId1" Type="http://schemas.microsoft.com/office/2007/relationships/media" Target="../media/opening-film.mp4" /><ns0:Relationship Id="rId5" Type="http://schemas.openxmlformats.org/officeDocument/2006/relationships/image" Target="../media/opening-poster.png" /><ns0:Relationship Id="rId4" Type="http://schemas.openxmlformats.org/officeDocument/2006/relationships/notesSlide" Target="../notesSlides/notesSlide2.xml" /></ns0: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tags" Target="../tags/tag24.xml"/><Relationship Id="rId18" Type="http://schemas.openxmlformats.org/officeDocument/2006/relationships/tags" Target="../tags/tag29.xml"/><Relationship Id="rId26" Type="http://schemas.openxmlformats.org/officeDocument/2006/relationships/tags" Target="../tags/tag37.xml"/><Relationship Id="rId3" Type="http://schemas.openxmlformats.org/officeDocument/2006/relationships/tags" Target="../tags/tag14.xml"/><Relationship Id="rId21" Type="http://schemas.openxmlformats.org/officeDocument/2006/relationships/tags" Target="../tags/tag32.xml"/><Relationship Id="rId34" Type="http://schemas.openxmlformats.org/officeDocument/2006/relationships/slideLayout" Target="../slideLayouts/slideLayout1.xml"/><Relationship Id="rId7" Type="http://schemas.openxmlformats.org/officeDocument/2006/relationships/tags" Target="../tags/tag18.xml"/><Relationship Id="rId12" Type="http://schemas.openxmlformats.org/officeDocument/2006/relationships/tags" Target="../tags/tag23.xml"/><Relationship Id="rId17" Type="http://schemas.openxmlformats.org/officeDocument/2006/relationships/tags" Target="../tags/tag28.xml"/><Relationship Id="rId25" Type="http://schemas.openxmlformats.org/officeDocument/2006/relationships/tags" Target="../tags/tag36.xml"/><Relationship Id="rId33" Type="http://schemas.openxmlformats.org/officeDocument/2006/relationships/tags" Target="../tags/tag44.xml"/><Relationship Id="rId2" Type="http://schemas.openxmlformats.org/officeDocument/2006/relationships/tags" Target="../tags/tag13.xml"/><Relationship Id="rId16" Type="http://schemas.openxmlformats.org/officeDocument/2006/relationships/tags" Target="../tags/tag27.xml"/><Relationship Id="rId20" Type="http://schemas.openxmlformats.org/officeDocument/2006/relationships/tags" Target="../tags/tag31.xml"/><Relationship Id="rId29" Type="http://schemas.openxmlformats.org/officeDocument/2006/relationships/tags" Target="../tags/tag40.xml"/><Relationship Id="rId1" Type="http://schemas.openxmlformats.org/officeDocument/2006/relationships/tags" Target="../tags/tag12.xml"/><Relationship Id="rId6" Type="http://schemas.openxmlformats.org/officeDocument/2006/relationships/tags" Target="../tags/tag17.xml"/><Relationship Id="rId11" Type="http://schemas.openxmlformats.org/officeDocument/2006/relationships/tags" Target="../tags/tag22.xml"/><Relationship Id="rId24" Type="http://schemas.openxmlformats.org/officeDocument/2006/relationships/tags" Target="../tags/tag35.xml"/><Relationship Id="rId32" Type="http://schemas.openxmlformats.org/officeDocument/2006/relationships/tags" Target="../tags/tag43.xml"/><Relationship Id="rId5" Type="http://schemas.openxmlformats.org/officeDocument/2006/relationships/tags" Target="../tags/tag16.xml"/><Relationship Id="rId15" Type="http://schemas.openxmlformats.org/officeDocument/2006/relationships/tags" Target="../tags/tag26.xml"/><Relationship Id="rId23" Type="http://schemas.openxmlformats.org/officeDocument/2006/relationships/tags" Target="../tags/tag34.xml"/><Relationship Id="rId28" Type="http://schemas.openxmlformats.org/officeDocument/2006/relationships/tags" Target="../tags/tag39.xml"/><Relationship Id="rId10" Type="http://schemas.openxmlformats.org/officeDocument/2006/relationships/tags" Target="../tags/tag21.xml"/><Relationship Id="rId19" Type="http://schemas.openxmlformats.org/officeDocument/2006/relationships/tags" Target="../tags/tag30.xml"/><Relationship Id="rId31" Type="http://schemas.openxmlformats.org/officeDocument/2006/relationships/tags" Target="../tags/tag42.xml"/><Relationship Id="rId4" Type="http://schemas.openxmlformats.org/officeDocument/2006/relationships/tags" Target="../tags/tag15.xml"/><Relationship Id="rId9" Type="http://schemas.openxmlformats.org/officeDocument/2006/relationships/tags" Target="../tags/tag20.xml"/><Relationship Id="rId14" Type="http://schemas.openxmlformats.org/officeDocument/2006/relationships/tags" Target="../tags/tag25.xml"/><Relationship Id="rId22" Type="http://schemas.openxmlformats.org/officeDocument/2006/relationships/tags" Target="../tags/tag33.xml"/><Relationship Id="rId27" Type="http://schemas.openxmlformats.org/officeDocument/2006/relationships/tags" Target="../tags/tag38.xml"/><Relationship Id="rId30" Type="http://schemas.openxmlformats.org/officeDocument/2006/relationships/tags" Target="../tags/tag41.xml"/><Relationship Id="rId35" Type="http://schemas.openxmlformats.org/officeDocument/2006/relationships/notesSlide" Target="../notesSlides/notesSlide3.xml"/><Relationship Id="rId8" Type="http://schemas.openxmlformats.org/officeDocument/2006/relationships/tags" Target="../tags/tag19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52.xml"/><Relationship Id="rId13" Type="http://schemas.openxmlformats.org/officeDocument/2006/relationships/tags" Target="../tags/tag57.xml"/><Relationship Id="rId18" Type="http://schemas.openxmlformats.org/officeDocument/2006/relationships/tags" Target="../tags/tag62.xml"/><Relationship Id="rId3" Type="http://schemas.openxmlformats.org/officeDocument/2006/relationships/tags" Target="../tags/tag47.xml"/><Relationship Id="rId7" Type="http://schemas.openxmlformats.org/officeDocument/2006/relationships/tags" Target="../tags/tag51.xml"/><Relationship Id="rId12" Type="http://schemas.openxmlformats.org/officeDocument/2006/relationships/tags" Target="../tags/tag56.xml"/><Relationship Id="rId17" Type="http://schemas.openxmlformats.org/officeDocument/2006/relationships/tags" Target="../tags/tag61.xml"/><Relationship Id="rId2" Type="http://schemas.openxmlformats.org/officeDocument/2006/relationships/tags" Target="../tags/tag46.xml"/><Relationship Id="rId16" Type="http://schemas.openxmlformats.org/officeDocument/2006/relationships/tags" Target="../tags/tag60.xml"/><Relationship Id="rId20" Type="http://schemas.openxmlformats.org/officeDocument/2006/relationships/notesSlide" Target="../notesSlides/notesSlide4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5" Type="http://schemas.openxmlformats.org/officeDocument/2006/relationships/tags" Target="../tags/tag49.xml"/><Relationship Id="rId15" Type="http://schemas.openxmlformats.org/officeDocument/2006/relationships/tags" Target="../tags/tag59.xml"/><Relationship Id="rId10" Type="http://schemas.openxmlformats.org/officeDocument/2006/relationships/tags" Target="../tags/tag54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48.xml"/><Relationship Id="rId9" Type="http://schemas.openxmlformats.org/officeDocument/2006/relationships/tags" Target="../tags/tag53.xml"/><Relationship Id="rId14" Type="http://schemas.openxmlformats.org/officeDocument/2006/relationships/tags" Target="../tags/tag5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tags" Target="../tags/tag70.xml"/><Relationship Id="rId13" Type="http://schemas.openxmlformats.org/officeDocument/2006/relationships/tags" Target="../tags/tag75.xml"/><Relationship Id="rId18" Type="http://schemas.openxmlformats.org/officeDocument/2006/relationships/tags" Target="../tags/tag80.xml"/><Relationship Id="rId26" Type="http://schemas.openxmlformats.org/officeDocument/2006/relationships/tags" Target="../tags/tag88.xml"/><Relationship Id="rId3" Type="http://schemas.openxmlformats.org/officeDocument/2006/relationships/tags" Target="../tags/tag65.xml"/><Relationship Id="rId21" Type="http://schemas.openxmlformats.org/officeDocument/2006/relationships/tags" Target="../tags/tag83.xml"/><Relationship Id="rId7" Type="http://schemas.openxmlformats.org/officeDocument/2006/relationships/tags" Target="../tags/tag69.xml"/><Relationship Id="rId12" Type="http://schemas.openxmlformats.org/officeDocument/2006/relationships/tags" Target="../tags/tag74.xml"/><Relationship Id="rId17" Type="http://schemas.openxmlformats.org/officeDocument/2006/relationships/tags" Target="../tags/tag79.xml"/><Relationship Id="rId25" Type="http://schemas.openxmlformats.org/officeDocument/2006/relationships/tags" Target="../tags/tag87.xml"/><Relationship Id="rId2" Type="http://schemas.openxmlformats.org/officeDocument/2006/relationships/tags" Target="../tags/tag64.xml"/><Relationship Id="rId16" Type="http://schemas.openxmlformats.org/officeDocument/2006/relationships/tags" Target="../tags/tag78.xml"/><Relationship Id="rId20" Type="http://schemas.openxmlformats.org/officeDocument/2006/relationships/tags" Target="../tags/tag82.xml"/><Relationship Id="rId29" Type="http://schemas.openxmlformats.org/officeDocument/2006/relationships/tags" Target="../tags/tag91.xml"/><Relationship Id="rId1" Type="http://schemas.openxmlformats.org/officeDocument/2006/relationships/tags" Target="../tags/tag63.xml"/><Relationship Id="rId6" Type="http://schemas.openxmlformats.org/officeDocument/2006/relationships/tags" Target="../tags/tag68.xml"/><Relationship Id="rId11" Type="http://schemas.openxmlformats.org/officeDocument/2006/relationships/tags" Target="../tags/tag73.xml"/><Relationship Id="rId24" Type="http://schemas.openxmlformats.org/officeDocument/2006/relationships/tags" Target="../tags/tag86.xml"/><Relationship Id="rId5" Type="http://schemas.openxmlformats.org/officeDocument/2006/relationships/tags" Target="../tags/tag67.xml"/><Relationship Id="rId15" Type="http://schemas.openxmlformats.org/officeDocument/2006/relationships/tags" Target="../tags/tag77.xml"/><Relationship Id="rId23" Type="http://schemas.openxmlformats.org/officeDocument/2006/relationships/tags" Target="../tags/tag85.xml"/><Relationship Id="rId28" Type="http://schemas.openxmlformats.org/officeDocument/2006/relationships/tags" Target="../tags/tag90.xml"/><Relationship Id="rId10" Type="http://schemas.openxmlformats.org/officeDocument/2006/relationships/tags" Target="../tags/tag72.xml"/><Relationship Id="rId19" Type="http://schemas.openxmlformats.org/officeDocument/2006/relationships/tags" Target="../tags/tag81.xml"/><Relationship Id="rId31" Type="http://schemas.openxmlformats.org/officeDocument/2006/relationships/notesSlide" Target="../notesSlides/notesSlide5.xml"/><Relationship Id="rId4" Type="http://schemas.openxmlformats.org/officeDocument/2006/relationships/tags" Target="../tags/tag66.xml"/><Relationship Id="rId9" Type="http://schemas.openxmlformats.org/officeDocument/2006/relationships/tags" Target="../tags/tag71.xml"/><Relationship Id="rId14" Type="http://schemas.openxmlformats.org/officeDocument/2006/relationships/tags" Target="../tags/tag76.xml"/><Relationship Id="rId22" Type="http://schemas.openxmlformats.org/officeDocument/2006/relationships/tags" Target="../tags/tag84.xml"/><Relationship Id="rId27" Type="http://schemas.openxmlformats.org/officeDocument/2006/relationships/tags" Target="../tags/tag89.xml"/><Relationship Id="rId30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tags" Target="../tags/tag99.xml"/><Relationship Id="rId13" Type="http://schemas.openxmlformats.org/officeDocument/2006/relationships/tags" Target="../tags/tag104.xml"/><Relationship Id="rId18" Type="http://schemas.openxmlformats.org/officeDocument/2006/relationships/tags" Target="../tags/tag109.xml"/><Relationship Id="rId3" Type="http://schemas.openxmlformats.org/officeDocument/2006/relationships/tags" Target="../tags/tag94.xml"/><Relationship Id="rId7" Type="http://schemas.openxmlformats.org/officeDocument/2006/relationships/tags" Target="../tags/tag98.xml"/><Relationship Id="rId12" Type="http://schemas.openxmlformats.org/officeDocument/2006/relationships/tags" Target="../tags/tag103.xml"/><Relationship Id="rId17" Type="http://schemas.openxmlformats.org/officeDocument/2006/relationships/tags" Target="../tags/tag108.xml"/><Relationship Id="rId2" Type="http://schemas.openxmlformats.org/officeDocument/2006/relationships/tags" Target="../tags/tag93.xml"/><Relationship Id="rId16" Type="http://schemas.openxmlformats.org/officeDocument/2006/relationships/tags" Target="../tags/tag107.xml"/><Relationship Id="rId20" Type="http://schemas.openxmlformats.org/officeDocument/2006/relationships/notesSlide" Target="../notesSlides/notesSlide6.xml"/><Relationship Id="rId1" Type="http://schemas.openxmlformats.org/officeDocument/2006/relationships/tags" Target="../tags/tag92.xml"/><Relationship Id="rId6" Type="http://schemas.openxmlformats.org/officeDocument/2006/relationships/tags" Target="../tags/tag97.xml"/><Relationship Id="rId11" Type="http://schemas.openxmlformats.org/officeDocument/2006/relationships/tags" Target="../tags/tag102.xml"/><Relationship Id="rId5" Type="http://schemas.openxmlformats.org/officeDocument/2006/relationships/tags" Target="../tags/tag96.xml"/><Relationship Id="rId15" Type="http://schemas.openxmlformats.org/officeDocument/2006/relationships/tags" Target="../tags/tag106.xml"/><Relationship Id="rId10" Type="http://schemas.openxmlformats.org/officeDocument/2006/relationships/tags" Target="../tags/tag101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95.xml"/><Relationship Id="rId9" Type="http://schemas.openxmlformats.org/officeDocument/2006/relationships/tags" Target="../tags/tag100.xml"/><Relationship Id="rId14" Type="http://schemas.openxmlformats.org/officeDocument/2006/relationships/tags" Target="../tags/tag10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117.xml"/><Relationship Id="rId13" Type="http://schemas.openxmlformats.org/officeDocument/2006/relationships/tags" Target="../tags/tag122.xml"/><Relationship Id="rId18" Type="http://schemas.openxmlformats.org/officeDocument/2006/relationships/tags" Target="../tags/tag127.xml"/><Relationship Id="rId3" Type="http://schemas.openxmlformats.org/officeDocument/2006/relationships/tags" Target="../tags/tag112.xml"/><Relationship Id="rId21" Type="http://schemas.openxmlformats.org/officeDocument/2006/relationships/notesSlide" Target="../notesSlides/notesSlide7.xml"/><Relationship Id="rId7" Type="http://schemas.openxmlformats.org/officeDocument/2006/relationships/tags" Target="../tags/tag116.xml"/><Relationship Id="rId12" Type="http://schemas.openxmlformats.org/officeDocument/2006/relationships/tags" Target="../tags/tag121.xml"/><Relationship Id="rId17" Type="http://schemas.openxmlformats.org/officeDocument/2006/relationships/tags" Target="../tags/tag126.xml"/><Relationship Id="rId2" Type="http://schemas.openxmlformats.org/officeDocument/2006/relationships/tags" Target="../tags/tag111.xml"/><Relationship Id="rId16" Type="http://schemas.openxmlformats.org/officeDocument/2006/relationships/tags" Target="../tags/tag125.xml"/><Relationship Id="rId20" Type="http://schemas.openxmlformats.org/officeDocument/2006/relationships/slideLayout" Target="../slideLayouts/slideLayout1.xml"/><Relationship Id="rId1" Type="http://schemas.openxmlformats.org/officeDocument/2006/relationships/tags" Target="../tags/tag110.xml"/><Relationship Id="rId6" Type="http://schemas.openxmlformats.org/officeDocument/2006/relationships/tags" Target="../tags/tag115.xml"/><Relationship Id="rId11" Type="http://schemas.openxmlformats.org/officeDocument/2006/relationships/tags" Target="../tags/tag120.xml"/><Relationship Id="rId5" Type="http://schemas.openxmlformats.org/officeDocument/2006/relationships/tags" Target="../tags/tag114.xml"/><Relationship Id="rId15" Type="http://schemas.openxmlformats.org/officeDocument/2006/relationships/tags" Target="../tags/tag124.xml"/><Relationship Id="rId10" Type="http://schemas.openxmlformats.org/officeDocument/2006/relationships/tags" Target="../tags/tag119.xml"/><Relationship Id="rId19" Type="http://schemas.openxmlformats.org/officeDocument/2006/relationships/tags" Target="../tags/tag128.xml"/><Relationship Id="rId4" Type="http://schemas.openxmlformats.org/officeDocument/2006/relationships/tags" Target="../tags/tag113.xml"/><Relationship Id="rId9" Type="http://schemas.openxmlformats.org/officeDocument/2006/relationships/tags" Target="../tags/tag118.xml"/><Relationship Id="rId14" Type="http://schemas.openxmlformats.org/officeDocument/2006/relationships/tags" Target="../tags/tag12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tags" Target="../tags/tag136.xml"/><Relationship Id="rId13" Type="http://schemas.openxmlformats.org/officeDocument/2006/relationships/tags" Target="../tags/tag141.xml"/><Relationship Id="rId18" Type="http://schemas.openxmlformats.org/officeDocument/2006/relationships/tags" Target="../tags/tag146.xml"/><Relationship Id="rId3" Type="http://schemas.openxmlformats.org/officeDocument/2006/relationships/tags" Target="../tags/tag131.xml"/><Relationship Id="rId21" Type="http://schemas.openxmlformats.org/officeDocument/2006/relationships/slideLayout" Target="../slideLayouts/slideLayout1.xml"/><Relationship Id="rId7" Type="http://schemas.openxmlformats.org/officeDocument/2006/relationships/tags" Target="../tags/tag135.xml"/><Relationship Id="rId12" Type="http://schemas.openxmlformats.org/officeDocument/2006/relationships/tags" Target="../tags/tag140.xml"/><Relationship Id="rId17" Type="http://schemas.openxmlformats.org/officeDocument/2006/relationships/tags" Target="../tags/tag145.xml"/><Relationship Id="rId2" Type="http://schemas.openxmlformats.org/officeDocument/2006/relationships/tags" Target="../tags/tag130.xml"/><Relationship Id="rId16" Type="http://schemas.openxmlformats.org/officeDocument/2006/relationships/tags" Target="../tags/tag144.xml"/><Relationship Id="rId20" Type="http://schemas.openxmlformats.org/officeDocument/2006/relationships/tags" Target="../tags/tag148.xml"/><Relationship Id="rId1" Type="http://schemas.openxmlformats.org/officeDocument/2006/relationships/tags" Target="../tags/tag129.xml"/><Relationship Id="rId6" Type="http://schemas.openxmlformats.org/officeDocument/2006/relationships/tags" Target="../tags/tag134.xml"/><Relationship Id="rId11" Type="http://schemas.openxmlformats.org/officeDocument/2006/relationships/tags" Target="../tags/tag139.xml"/><Relationship Id="rId5" Type="http://schemas.openxmlformats.org/officeDocument/2006/relationships/tags" Target="../tags/tag133.xml"/><Relationship Id="rId15" Type="http://schemas.openxmlformats.org/officeDocument/2006/relationships/tags" Target="../tags/tag143.xml"/><Relationship Id="rId10" Type="http://schemas.openxmlformats.org/officeDocument/2006/relationships/tags" Target="../tags/tag138.xml"/><Relationship Id="rId19" Type="http://schemas.openxmlformats.org/officeDocument/2006/relationships/tags" Target="../tags/tag147.xml"/><Relationship Id="rId4" Type="http://schemas.openxmlformats.org/officeDocument/2006/relationships/tags" Target="../tags/tag132.xml"/><Relationship Id="rId9" Type="http://schemas.openxmlformats.org/officeDocument/2006/relationships/tags" Target="../tags/tag137.xml"/><Relationship Id="rId14" Type="http://schemas.openxmlformats.org/officeDocument/2006/relationships/tags" Target="../tags/tag142.xml"/><Relationship Id="rId2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156.xml"/><Relationship Id="rId13" Type="http://schemas.openxmlformats.org/officeDocument/2006/relationships/tags" Target="../tags/tag161.xml"/><Relationship Id="rId18" Type="http://schemas.openxmlformats.org/officeDocument/2006/relationships/notesSlide" Target="../notesSlides/notesSlide9.xml"/><Relationship Id="rId3" Type="http://schemas.openxmlformats.org/officeDocument/2006/relationships/tags" Target="../tags/tag151.xml"/><Relationship Id="rId7" Type="http://schemas.openxmlformats.org/officeDocument/2006/relationships/tags" Target="../tags/tag155.xml"/><Relationship Id="rId12" Type="http://schemas.openxmlformats.org/officeDocument/2006/relationships/tags" Target="../tags/tag160.xml"/><Relationship Id="rId17" Type="http://schemas.openxmlformats.org/officeDocument/2006/relationships/slideLayout" Target="../slideLayouts/slideLayout1.xml"/><Relationship Id="rId2" Type="http://schemas.openxmlformats.org/officeDocument/2006/relationships/tags" Target="../tags/tag150.xml"/><Relationship Id="rId16" Type="http://schemas.openxmlformats.org/officeDocument/2006/relationships/tags" Target="../tags/tag164.xml"/><Relationship Id="rId1" Type="http://schemas.openxmlformats.org/officeDocument/2006/relationships/tags" Target="../tags/tag149.xml"/><Relationship Id="rId6" Type="http://schemas.openxmlformats.org/officeDocument/2006/relationships/tags" Target="../tags/tag154.xml"/><Relationship Id="rId11" Type="http://schemas.openxmlformats.org/officeDocument/2006/relationships/tags" Target="../tags/tag159.xml"/><Relationship Id="rId5" Type="http://schemas.openxmlformats.org/officeDocument/2006/relationships/tags" Target="../tags/tag153.xml"/><Relationship Id="rId15" Type="http://schemas.openxmlformats.org/officeDocument/2006/relationships/tags" Target="../tags/tag163.xml"/><Relationship Id="rId10" Type="http://schemas.openxmlformats.org/officeDocument/2006/relationships/tags" Target="../tags/tag158.xml"/><Relationship Id="rId4" Type="http://schemas.openxmlformats.org/officeDocument/2006/relationships/tags" Target="../tags/tag152.xml"/><Relationship Id="rId9" Type="http://schemas.openxmlformats.org/officeDocument/2006/relationships/tags" Target="../tags/tag157.xml"/><Relationship Id="rId14" Type="http://schemas.openxmlformats.org/officeDocument/2006/relationships/tags" Target="../tags/tag16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172.xml"/><Relationship Id="rId13" Type="http://schemas.openxmlformats.org/officeDocument/2006/relationships/tags" Target="../tags/tag177.xml"/><Relationship Id="rId18" Type="http://schemas.openxmlformats.org/officeDocument/2006/relationships/tags" Target="../tags/tag182.xml"/><Relationship Id="rId3" Type="http://schemas.openxmlformats.org/officeDocument/2006/relationships/tags" Target="../tags/tag167.xml"/><Relationship Id="rId21" Type="http://schemas.openxmlformats.org/officeDocument/2006/relationships/tags" Target="../tags/tag185.xml"/><Relationship Id="rId7" Type="http://schemas.openxmlformats.org/officeDocument/2006/relationships/tags" Target="../tags/tag171.xml"/><Relationship Id="rId12" Type="http://schemas.openxmlformats.org/officeDocument/2006/relationships/tags" Target="../tags/tag176.xml"/><Relationship Id="rId17" Type="http://schemas.openxmlformats.org/officeDocument/2006/relationships/tags" Target="../tags/tag181.xml"/><Relationship Id="rId25" Type="http://schemas.openxmlformats.org/officeDocument/2006/relationships/notesSlide" Target="../notesSlides/notesSlide10.xml"/><Relationship Id="rId2" Type="http://schemas.openxmlformats.org/officeDocument/2006/relationships/tags" Target="../tags/tag166.xml"/><Relationship Id="rId16" Type="http://schemas.openxmlformats.org/officeDocument/2006/relationships/tags" Target="../tags/tag180.xml"/><Relationship Id="rId20" Type="http://schemas.openxmlformats.org/officeDocument/2006/relationships/tags" Target="../tags/tag184.xml"/><Relationship Id="rId1" Type="http://schemas.openxmlformats.org/officeDocument/2006/relationships/tags" Target="../tags/tag165.xml"/><Relationship Id="rId6" Type="http://schemas.openxmlformats.org/officeDocument/2006/relationships/tags" Target="../tags/tag170.xml"/><Relationship Id="rId11" Type="http://schemas.openxmlformats.org/officeDocument/2006/relationships/tags" Target="../tags/tag175.xml"/><Relationship Id="rId24" Type="http://schemas.openxmlformats.org/officeDocument/2006/relationships/slideLayout" Target="../slideLayouts/slideLayout1.xml"/><Relationship Id="rId5" Type="http://schemas.openxmlformats.org/officeDocument/2006/relationships/tags" Target="../tags/tag169.xml"/><Relationship Id="rId15" Type="http://schemas.openxmlformats.org/officeDocument/2006/relationships/tags" Target="../tags/tag179.xml"/><Relationship Id="rId23" Type="http://schemas.openxmlformats.org/officeDocument/2006/relationships/tags" Target="../tags/tag187.xml"/><Relationship Id="rId10" Type="http://schemas.openxmlformats.org/officeDocument/2006/relationships/tags" Target="../tags/tag174.xml"/><Relationship Id="rId19" Type="http://schemas.openxmlformats.org/officeDocument/2006/relationships/tags" Target="../tags/tag183.xml"/><Relationship Id="rId4" Type="http://schemas.openxmlformats.org/officeDocument/2006/relationships/tags" Target="../tags/tag168.xml"/><Relationship Id="rId9" Type="http://schemas.openxmlformats.org/officeDocument/2006/relationships/tags" Target="../tags/tag173.xml"/><Relationship Id="rId14" Type="http://schemas.openxmlformats.org/officeDocument/2006/relationships/tags" Target="../tags/tag178.xml"/><Relationship Id="rId22" Type="http://schemas.openxmlformats.org/officeDocument/2006/relationships/tags" Target="../tags/tag186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195.xml"/><Relationship Id="rId13" Type="http://schemas.openxmlformats.org/officeDocument/2006/relationships/tags" Target="../tags/tag200.xml"/><Relationship Id="rId18" Type="http://schemas.openxmlformats.org/officeDocument/2006/relationships/tags" Target="../tags/tag205.xml"/><Relationship Id="rId3" Type="http://schemas.openxmlformats.org/officeDocument/2006/relationships/tags" Target="../tags/tag190.xml"/><Relationship Id="rId21" Type="http://schemas.openxmlformats.org/officeDocument/2006/relationships/tags" Target="../tags/tag208.xml"/><Relationship Id="rId7" Type="http://schemas.openxmlformats.org/officeDocument/2006/relationships/tags" Target="../tags/tag194.xml"/><Relationship Id="rId12" Type="http://schemas.openxmlformats.org/officeDocument/2006/relationships/tags" Target="../tags/tag199.xml"/><Relationship Id="rId17" Type="http://schemas.openxmlformats.org/officeDocument/2006/relationships/tags" Target="../tags/tag204.xml"/><Relationship Id="rId2" Type="http://schemas.openxmlformats.org/officeDocument/2006/relationships/tags" Target="../tags/tag189.xml"/><Relationship Id="rId16" Type="http://schemas.openxmlformats.org/officeDocument/2006/relationships/tags" Target="../tags/tag203.xml"/><Relationship Id="rId20" Type="http://schemas.openxmlformats.org/officeDocument/2006/relationships/tags" Target="../tags/tag207.xml"/><Relationship Id="rId1" Type="http://schemas.openxmlformats.org/officeDocument/2006/relationships/tags" Target="../tags/tag188.xml"/><Relationship Id="rId6" Type="http://schemas.openxmlformats.org/officeDocument/2006/relationships/tags" Target="../tags/tag193.xml"/><Relationship Id="rId11" Type="http://schemas.openxmlformats.org/officeDocument/2006/relationships/tags" Target="../tags/tag198.xml"/><Relationship Id="rId24" Type="http://schemas.openxmlformats.org/officeDocument/2006/relationships/notesSlide" Target="../notesSlides/notesSlide11.xml"/><Relationship Id="rId5" Type="http://schemas.openxmlformats.org/officeDocument/2006/relationships/tags" Target="../tags/tag192.xml"/><Relationship Id="rId15" Type="http://schemas.openxmlformats.org/officeDocument/2006/relationships/tags" Target="../tags/tag202.xml"/><Relationship Id="rId23" Type="http://schemas.openxmlformats.org/officeDocument/2006/relationships/slideLayout" Target="../slideLayouts/slideLayout1.xml"/><Relationship Id="rId10" Type="http://schemas.openxmlformats.org/officeDocument/2006/relationships/tags" Target="../tags/tag197.xml"/><Relationship Id="rId19" Type="http://schemas.openxmlformats.org/officeDocument/2006/relationships/tags" Target="../tags/tag206.xml"/><Relationship Id="rId4" Type="http://schemas.openxmlformats.org/officeDocument/2006/relationships/tags" Target="../tags/tag191.xml"/><Relationship Id="rId9" Type="http://schemas.openxmlformats.org/officeDocument/2006/relationships/tags" Target="../tags/tag196.xml"/><Relationship Id="rId14" Type="http://schemas.openxmlformats.org/officeDocument/2006/relationships/tags" Target="../tags/tag201.xml"/><Relationship Id="rId22" Type="http://schemas.openxmlformats.org/officeDocument/2006/relationships/tags" Target="../tags/tag209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tags" Target="../tags/tag217.xml"/><Relationship Id="rId13" Type="http://schemas.openxmlformats.org/officeDocument/2006/relationships/tags" Target="../tags/tag222.xml"/><Relationship Id="rId18" Type="http://schemas.openxmlformats.org/officeDocument/2006/relationships/tags" Target="../tags/tag227.xml"/><Relationship Id="rId3" Type="http://schemas.openxmlformats.org/officeDocument/2006/relationships/tags" Target="../tags/tag212.xml"/><Relationship Id="rId21" Type="http://schemas.openxmlformats.org/officeDocument/2006/relationships/tags" Target="../tags/tag230.xml"/><Relationship Id="rId7" Type="http://schemas.openxmlformats.org/officeDocument/2006/relationships/tags" Target="../tags/tag216.xml"/><Relationship Id="rId12" Type="http://schemas.openxmlformats.org/officeDocument/2006/relationships/tags" Target="../tags/tag221.xml"/><Relationship Id="rId17" Type="http://schemas.openxmlformats.org/officeDocument/2006/relationships/tags" Target="../tags/tag226.xml"/><Relationship Id="rId25" Type="http://schemas.openxmlformats.org/officeDocument/2006/relationships/notesSlide" Target="../notesSlides/notesSlide12.xml"/><Relationship Id="rId2" Type="http://schemas.openxmlformats.org/officeDocument/2006/relationships/tags" Target="../tags/tag211.xml"/><Relationship Id="rId16" Type="http://schemas.openxmlformats.org/officeDocument/2006/relationships/tags" Target="../tags/tag225.xml"/><Relationship Id="rId20" Type="http://schemas.openxmlformats.org/officeDocument/2006/relationships/tags" Target="../tags/tag229.xml"/><Relationship Id="rId1" Type="http://schemas.openxmlformats.org/officeDocument/2006/relationships/tags" Target="../tags/tag210.xml"/><Relationship Id="rId6" Type="http://schemas.openxmlformats.org/officeDocument/2006/relationships/tags" Target="../tags/tag215.xml"/><Relationship Id="rId11" Type="http://schemas.openxmlformats.org/officeDocument/2006/relationships/tags" Target="../tags/tag220.xml"/><Relationship Id="rId24" Type="http://schemas.openxmlformats.org/officeDocument/2006/relationships/slideLayout" Target="../slideLayouts/slideLayout1.xml"/><Relationship Id="rId5" Type="http://schemas.openxmlformats.org/officeDocument/2006/relationships/tags" Target="../tags/tag214.xml"/><Relationship Id="rId15" Type="http://schemas.openxmlformats.org/officeDocument/2006/relationships/tags" Target="../tags/tag224.xml"/><Relationship Id="rId23" Type="http://schemas.openxmlformats.org/officeDocument/2006/relationships/tags" Target="../tags/tag232.xml"/><Relationship Id="rId10" Type="http://schemas.openxmlformats.org/officeDocument/2006/relationships/tags" Target="../tags/tag219.xml"/><Relationship Id="rId19" Type="http://schemas.openxmlformats.org/officeDocument/2006/relationships/tags" Target="../tags/tag228.xml"/><Relationship Id="rId4" Type="http://schemas.openxmlformats.org/officeDocument/2006/relationships/tags" Target="../tags/tag213.xml"/><Relationship Id="rId9" Type="http://schemas.openxmlformats.org/officeDocument/2006/relationships/tags" Target="../tags/tag218.xml"/><Relationship Id="rId14" Type="http://schemas.openxmlformats.org/officeDocument/2006/relationships/tags" Target="../tags/tag223.xml"/><Relationship Id="rId22" Type="http://schemas.openxmlformats.org/officeDocument/2006/relationships/tags" Target="../tags/tag2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609600" y="257175"/>
            <a:ext cx="1926431" cy="307467"/>
            <a:chOff x="609600" y="257175"/>
            <a:chExt cx="1926431" cy="307467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11"/>
              </p:custDataLst>
            </p:nvPr>
          </p:nvSpPr>
          <p:spPr>
            <a:xfrm>
              <a:off x="755523" y="314325"/>
              <a:ext cx="178050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2026 資安技術組 · 決賽</a:t>
              </a:r>
            </a:p>
          </p:txBody>
        </p:sp>
      </p:grpSp>
      <p:grpSp>
        <p:nvGrpSpPr>
          <p:cNvPr id="79" name="page-content"/>
          <p:cNvGrpSpPr/>
          <p:nvPr/>
        </p:nvGrpSpPr>
        <p:grpSpPr>
          <a:xfrm>
            <a:off x="593217" y="1558957"/>
            <a:ext cx="10911744" cy="3889343"/>
            <a:chOff x="593217" y="1558957"/>
            <a:chExt cx="10911744" cy="3889343"/>
          </a:xfrm>
        </p:grpSpPr>
        <p:sp>
          <p:nvSpPr>
            <p:cNvPr id="5" name="TextBox 5"/>
            <p:cNvSpPr/>
            <p:nvPr>
              <p:custDataLst>
                <p:tags r:id="rId3"/>
              </p:custDataLst>
            </p:nvPr>
          </p:nvSpPr>
          <p:spPr>
            <a:xfrm>
              <a:off x="593217" y="1558957"/>
              <a:ext cx="6101429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322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融合新型內容相依時序方向模型</a:t>
              </a:r>
            </a:p>
          </p:txBody>
        </p:sp>
        <p:sp>
          <p:nvSpPr>
            <p:cNvPr id="6" name="TextBox 6"/>
            <p:cNvSpPr/>
            <p:nvPr>
              <p:custDataLst>
                <p:tags r:id="rId4"/>
              </p:custDataLst>
            </p:nvPr>
          </p:nvSpPr>
          <p:spPr>
            <a:xfrm>
              <a:off x="593217" y="2178082"/>
              <a:ext cx="6534912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322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入侵偵測與任務導向檢索增強稽核</a:t>
              </a:r>
            </a:p>
          </p:txBody>
        </p:sp>
        <p:sp>
          <p:nvSpPr>
            <p:cNvPr id="7" name="TextBox 7"/>
            <p:cNvSpPr/>
            <p:nvPr>
              <p:custDataLst>
                <p:tags r:id="rId5"/>
              </p:custDataLst>
            </p:nvPr>
          </p:nvSpPr>
          <p:spPr>
            <a:xfrm>
              <a:off x="593217" y="2797207"/>
              <a:ext cx="3065050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322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之</a:t>
              </a:r>
              <a:r>
                <a:rPr lang="en-US" sz="322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322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資安框架</a:t>
              </a:r>
            </a:p>
          </p:txBody>
        </p:sp>
        <p:sp>
          <p:nvSpPr>
            <p:cNvPr id="8" name="TextBox 8"/>
            <p:cNvSpPr/>
            <p:nvPr>
              <p:custDataLst>
                <p:tags r:id="rId6"/>
              </p:custDataLst>
            </p:nvPr>
          </p:nvSpPr>
          <p:spPr>
            <a:xfrm>
              <a:off x="598932" y="3841718"/>
              <a:ext cx="42618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1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從流量判定，走到有證據的處置。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60960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715613" y="4878038"/>
              <a:ext cx="416719" cy="416719"/>
              <a:chOff x="715613" y="4878038"/>
              <a:chExt cx="416719" cy="416719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775144" y="4937570"/>
                <a:ext cx="297656" cy="297656"/>
              </a:xfrm>
              <a:prstGeom prst="roundRect">
                <a:avLst>
                  <a:gd name="adj" fmla="val 12500"/>
                </a:avLst>
              </a:prstGeom>
              <a:solidFill>
                <a:srgbClr val="FFFFFF"/>
              </a:solidFill>
              <a:ln w="22324" cap="rnd">
                <a:solidFill>
                  <a:srgbClr val="245EA8"/>
                </a:solidFill>
                <a:round/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856964" y="5019389"/>
                <a:ext cx="133922" cy="133922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 w="22324" cap="rnd">
                <a:solidFill>
                  <a:srgbClr val="245EA8"/>
                </a:solidFill>
                <a:round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715613" y="4878038"/>
                <a:ext cx="416719" cy="416719"/>
              </a:xfrm>
              <a:custGeom>
                <a:avLst/>
                <a:gdLst/>
                <a:ahLst/>
                <a:cxnLst/>
                <a:rect l="l" t="t" r="r" b="b"/>
                <a:pathLst>
                  <a:path w="416719" h="416719">
                    <a:moveTo>
                      <a:pt x="126492" y="0"/>
                    </a:moveTo>
                    <a:lnTo>
                      <a:pt x="126492" y="59531"/>
                    </a:lnTo>
                    <a:moveTo>
                      <a:pt x="208312" y="0"/>
                    </a:moveTo>
                    <a:lnTo>
                      <a:pt x="208312" y="59531"/>
                    </a:lnTo>
                    <a:moveTo>
                      <a:pt x="290132" y="0"/>
                    </a:moveTo>
                    <a:lnTo>
                      <a:pt x="290132" y="59531"/>
                    </a:lnTo>
                    <a:moveTo>
                      <a:pt x="126492" y="357188"/>
                    </a:moveTo>
                    <a:lnTo>
                      <a:pt x="126492" y="416719"/>
                    </a:lnTo>
                    <a:moveTo>
                      <a:pt x="208312" y="357188"/>
                    </a:moveTo>
                    <a:lnTo>
                      <a:pt x="208312" y="416719"/>
                    </a:lnTo>
                    <a:moveTo>
                      <a:pt x="290132" y="357188"/>
                    </a:moveTo>
                    <a:lnTo>
                      <a:pt x="290132" y="416719"/>
                    </a:lnTo>
                    <a:moveTo>
                      <a:pt x="0" y="126492"/>
                    </a:moveTo>
                    <a:lnTo>
                      <a:pt x="59531" y="126492"/>
                    </a:lnTo>
                    <a:moveTo>
                      <a:pt x="0" y="208312"/>
                    </a:moveTo>
                    <a:lnTo>
                      <a:pt x="59531" y="208312"/>
                    </a:lnTo>
                    <a:moveTo>
                      <a:pt x="0" y="290132"/>
                    </a:moveTo>
                    <a:lnTo>
                      <a:pt x="59531" y="290132"/>
                    </a:lnTo>
                    <a:moveTo>
                      <a:pt x="357188" y="126492"/>
                    </a:moveTo>
                    <a:lnTo>
                      <a:pt x="416719" y="126492"/>
                    </a:lnTo>
                    <a:moveTo>
                      <a:pt x="357188" y="208312"/>
                    </a:moveTo>
                    <a:lnTo>
                      <a:pt x="416719" y="208312"/>
                    </a:lnTo>
                    <a:moveTo>
                      <a:pt x="357188" y="290132"/>
                    </a:moveTo>
                    <a:lnTo>
                      <a:pt x="416719" y="290132"/>
                    </a:lnTo>
                  </a:path>
                </a:pathLst>
              </a:custGeom>
              <a:noFill/>
              <a:ln w="22324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14" name="TextBox 14"/>
            <p:cNvSpPr/>
            <p:nvPr>
              <p:custDataLst>
                <p:tags r:id="rId7"/>
              </p:custDataLst>
            </p:nvPr>
          </p:nvSpPr>
          <p:spPr>
            <a:xfrm>
              <a:off x="1401604" y="4959382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偵測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240030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65747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272415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2852452" y="4892897"/>
              <a:ext cx="394430" cy="386905"/>
              <a:chOff x="2852452" y="4892897"/>
              <a:chExt cx="394430" cy="38690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2852452" y="4944999"/>
                <a:ext cx="282797" cy="297656"/>
              </a:xfrm>
              <a:custGeom>
                <a:avLst/>
                <a:gdLst/>
                <a:ahLst/>
                <a:cxnLst/>
                <a:rect l="l" t="t" r="r" b="b"/>
                <a:pathLst>
                  <a:path w="282797" h="297656">
                    <a:moveTo>
                      <a:pt x="0" y="0"/>
                    </a:moveTo>
                    <a:lnTo>
                      <a:pt x="0" y="230696"/>
                    </a:lnTo>
                    <a:cubicBezTo>
                      <a:pt x="0" y="297656"/>
                      <a:pt x="282797" y="297656"/>
                      <a:pt x="282797" y="230696"/>
                    </a:cubicBezTo>
                    <a:lnTo>
                      <a:pt x="282797" y="0"/>
                    </a:lnTo>
                  </a:path>
                </a:pathLst>
              </a:custGeom>
              <a:solidFill>
                <a:srgbClr val="FFFFFF"/>
              </a:solidFill>
              <a:ln w="22324" cap="rnd">
                <a:solidFill>
                  <a:srgbClr val="245EA8"/>
                </a:solidFill>
                <a:round/>
              </a:ln>
            </p:spPr>
          </p:sp>
          <p:sp>
            <p:nvSpPr>
              <p:cNvPr id="19" name="Ellipse 19"/>
              <p:cNvSpPr/>
              <p:nvPr/>
            </p:nvSpPr>
            <p:spPr>
              <a:xfrm>
                <a:off x="2852452" y="4892897"/>
                <a:ext cx="282797" cy="104204"/>
              </a:xfrm>
              <a:prstGeom prst="ellipse">
                <a:avLst/>
              </a:prstGeom>
              <a:solidFill>
                <a:srgbClr val="FFFFFF"/>
              </a:solidFill>
              <a:ln w="22324" cap="rnd">
                <a:solidFill>
                  <a:srgbClr val="245EA8"/>
                </a:solidFill>
                <a:round/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2852452" y="5049107"/>
                <a:ext cx="282797" cy="67056"/>
              </a:xfrm>
              <a:custGeom>
                <a:avLst/>
                <a:gdLst/>
                <a:ahLst/>
                <a:cxnLst/>
                <a:rect l="l" t="t" r="r" b="b"/>
                <a:pathLst>
                  <a:path w="282797" h="67056">
                    <a:moveTo>
                      <a:pt x="0" y="0"/>
                    </a:moveTo>
                    <a:cubicBezTo>
                      <a:pt x="0" y="67056"/>
                      <a:pt x="282797" y="67056"/>
                      <a:pt x="282797" y="0"/>
                    </a:cubicBezTo>
                  </a:path>
                </a:pathLst>
              </a:custGeom>
              <a:noFill/>
              <a:ln w="22324" cap="rnd">
                <a:solidFill>
                  <a:srgbClr val="245EA8"/>
                </a:solidFill>
                <a:round/>
              </a:ln>
            </p:spPr>
          </p:sp>
          <p:sp>
            <p:nvSpPr>
              <p:cNvPr id="21" name="Ellipse 21"/>
              <p:cNvSpPr/>
              <p:nvPr/>
            </p:nvSpPr>
            <p:spPr>
              <a:xfrm>
                <a:off x="3038475" y="5064062"/>
                <a:ext cx="163735" cy="163735"/>
              </a:xfrm>
              <a:prstGeom prst="ellipse">
                <a:avLst/>
              </a:prstGeom>
              <a:solidFill>
                <a:srgbClr val="F4F7FA"/>
              </a:solidFill>
              <a:ln w="22324" cap="rnd">
                <a:solidFill>
                  <a:srgbClr val="245EA8"/>
                </a:solidFill>
                <a:round/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3179826" y="5205412"/>
                <a:ext cx="67056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67056" h="74390">
                    <a:moveTo>
                      <a:pt x="0" y="0"/>
                    </a:moveTo>
                    <a:lnTo>
                      <a:pt x="67056" y="74390"/>
                    </a:lnTo>
                  </a:path>
                </a:pathLst>
              </a:custGeom>
              <a:solidFill>
                <a:srgbClr val="FFFFFF"/>
              </a:solidFill>
              <a:ln w="29766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24" name="TextBox 24"/>
            <p:cNvSpPr/>
            <p:nvPr>
              <p:custDataLst>
                <p:tags r:id="rId8"/>
              </p:custDataLst>
            </p:nvPr>
          </p:nvSpPr>
          <p:spPr>
            <a:xfrm>
              <a:off x="3516154" y="4959382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檢索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451485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477202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483870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4995291" y="4881753"/>
              <a:ext cx="267938" cy="361664"/>
              <a:chOff x="4995291" y="4881753"/>
              <a:chExt cx="267938" cy="361664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995291" y="4881753"/>
                <a:ext cx="267938" cy="361664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6697">
                <a:solidFill>
                  <a:srgbClr val="245EA8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5055584" y="4968812"/>
                <a:ext cx="15401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19" h="9525">
                    <a:moveTo>
                      <a:pt x="0" y="0"/>
                    </a:moveTo>
                    <a:lnTo>
                      <a:pt x="154019" y="0"/>
                    </a:lnTo>
                  </a:path>
                </a:pathLst>
              </a:custGeom>
              <a:noFill/>
              <a:ln w="13395" cap="rnd">
                <a:solidFill>
                  <a:srgbClr val="8198AE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5055584" y="5042440"/>
                <a:ext cx="15401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19" h="9525">
                    <a:moveTo>
                      <a:pt x="0" y="0"/>
                    </a:moveTo>
                    <a:lnTo>
                      <a:pt x="154019" y="0"/>
                    </a:lnTo>
                  </a:path>
                </a:pathLst>
              </a:custGeom>
              <a:noFill/>
              <a:ln w="13395" cap="rnd">
                <a:solidFill>
                  <a:srgbClr val="8198AE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5055584" y="5116163"/>
                <a:ext cx="15401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19" h="9525">
                    <a:moveTo>
                      <a:pt x="0" y="0"/>
                    </a:moveTo>
                    <a:lnTo>
                      <a:pt x="154019" y="0"/>
                    </a:lnTo>
                  </a:path>
                </a:pathLst>
              </a:custGeom>
              <a:noFill/>
              <a:ln w="13395" cap="rnd">
                <a:solidFill>
                  <a:srgbClr val="8198AE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5055584" y="5189792"/>
                <a:ext cx="15401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19" h="9525">
                    <a:moveTo>
                      <a:pt x="0" y="0"/>
                    </a:moveTo>
                    <a:lnTo>
                      <a:pt x="154019" y="0"/>
                    </a:lnTo>
                  </a:path>
                </a:pathLst>
              </a:custGeom>
              <a:noFill/>
              <a:ln w="13395" cap="rnd">
                <a:solidFill>
                  <a:srgbClr val="8198AE"/>
                </a:solidFill>
              </a:ln>
            </p:spPr>
          </p:sp>
        </p:grpSp>
        <p:grpSp>
          <p:nvGrpSpPr>
            <p:cNvPr id="37" name="Group 37"/>
            <p:cNvGrpSpPr/>
            <p:nvPr/>
          </p:nvGrpSpPr>
          <p:grpSpPr>
            <a:xfrm>
              <a:off x="5202460" y="5135785"/>
              <a:ext cx="148780" cy="148780"/>
              <a:chOff x="5202460" y="5135785"/>
              <a:chExt cx="148780" cy="148780"/>
            </a:xfrm>
          </p:grpSpPr>
          <p:sp>
            <p:nvSpPr>
              <p:cNvPr id="34" name="Ellipse 34"/>
              <p:cNvSpPr/>
              <p:nvPr/>
            </p:nvSpPr>
            <p:spPr>
              <a:xfrm>
                <a:off x="5202460" y="5135785"/>
                <a:ext cx="148780" cy="148780"/>
              </a:xfrm>
              <a:prstGeom prst="ellipse">
                <a:avLst/>
              </a:prstGeom>
              <a:solidFill>
                <a:srgbClr val="EDF3FA"/>
              </a:solidFill>
              <a:ln w="7441">
                <a:solidFill>
                  <a:srgbClr val="245EA8"/>
                </a:solidFill>
              </a:ln>
            </p:spPr>
          </p:sp>
          <p:sp>
            <p:nvSpPr>
              <p:cNvPr id="35" name="Line 35"/>
              <p:cNvSpPr/>
              <p:nvPr/>
            </p:nvSpPr>
            <p:spPr>
              <a:xfrm>
                <a:off x="5235130" y="5210175"/>
                <a:ext cx="29813" cy="29813"/>
              </a:xfrm>
              <a:custGeom>
                <a:avLst/>
                <a:gdLst/>
                <a:ahLst/>
                <a:cxnLst/>
                <a:rect l="l" t="t" r="r" b="b"/>
                <a:pathLst>
                  <a:path w="29813" h="29813">
                    <a:moveTo>
                      <a:pt x="0" y="0"/>
                    </a:moveTo>
                    <a:lnTo>
                      <a:pt x="29813" y="29813"/>
                    </a:lnTo>
                  </a:path>
                </a:pathLst>
              </a:custGeom>
              <a:noFill/>
              <a:ln w="11906" cap="rnd">
                <a:solidFill>
                  <a:srgbClr val="245EA8"/>
                </a:solidFill>
              </a:ln>
            </p:spPr>
          </p:sp>
          <p:sp>
            <p:nvSpPr>
              <p:cNvPr id="36" name="Line 36"/>
              <p:cNvSpPr/>
              <p:nvPr/>
            </p:nvSpPr>
            <p:spPr>
              <a:xfrm>
                <a:off x="5264944" y="5177409"/>
                <a:ext cx="56579" cy="62579"/>
              </a:xfrm>
              <a:custGeom>
                <a:avLst/>
                <a:gdLst/>
                <a:ahLst/>
                <a:cxnLst/>
                <a:rect l="l" t="t" r="r" b="b"/>
                <a:pathLst>
                  <a:path w="56579" h="62579">
                    <a:moveTo>
                      <a:pt x="0" y="62579"/>
                    </a:moveTo>
                    <a:lnTo>
                      <a:pt x="56579" y="0"/>
                    </a:lnTo>
                  </a:path>
                </a:pathLst>
              </a:custGeom>
              <a:noFill/>
              <a:ln w="11906" cap="rnd">
                <a:solidFill>
                  <a:srgbClr val="245EA8"/>
                </a:solidFill>
              </a:ln>
            </p:spPr>
          </p:sp>
        </p:grpSp>
        <p:sp>
          <p:nvSpPr>
            <p:cNvPr id="38" name="TextBox 38"/>
            <p:cNvSpPr/>
            <p:nvPr>
              <p:custDataLst>
                <p:tags r:id="rId9"/>
              </p:custDataLst>
            </p:nvPr>
          </p:nvSpPr>
          <p:spPr>
            <a:xfrm>
              <a:off x="5630704" y="4959382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62940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688657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95325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111270" y="4885468"/>
              <a:ext cx="349758" cy="409194"/>
              <a:chOff x="7111270" y="4885468"/>
              <a:chExt cx="349758" cy="409194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111270" y="4885468"/>
                <a:ext cx="312610" cy="401765"/>
              </a:xfrm>
              <a:custGeom>
                <a:avLst/>
                <a:gdLst/>
                <a:ahLst/>
                <a:cxnLst/>
                <a:rect l="l" t="t" r="r" b="b"/>
                <a:pathLst>
                  <a:path w="312610" h="401765">
                    <a:moveTo>
                      <a:pt x="156305" y="0"/>
                    </a:moveTo>
                    <a:lnTo>
                      <a:pt x="312610" y="66961"/>
                    </a:lnTo>
                    <a:lnTo>
                      <a:pt x="312610" y="186023"/>
                    </a:lnTo>
                    <a:cubicBezTo>
                      <a:pt x="312610" y="282702"/>
                      <a:pt x="238125" y="349663"/>
                      <a:pt x="156305" y="401765"/>
                    </a:cubicBezTo>
                    <a:cubicBezTo>
                      <a:pt x="74485" y="349663"/>
                      <a:pt x="0" y="282702"/>
                      <a:pt x="0" y="186023"/>
                    </a:cubicBezTo>
                    <a:lnTo>
                      <a:pt x="0" y="66961"/>
                    </a:lnTo>
                    <a:close/>
                  </a:path>
                </a:pathLst>
              </a:custGeom>
              <a:solidFill>
                <a:srgbClr val="FFFFFF"/>
              </a:solidFill>
              <a:ln w="22324" cap="rnd">
                <a:solidFill>
                  <a:srgbClr val="245EA8"/>
                </a:solidFill>
                <a:round/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185755" y="5011960"/>
                <a:ext cx="171164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171164" h="119062">
                    <a:moveTo>
                      <a:pt x="0" y="59531"/>
                    </a:moveTo>
                    <a:lnTo>
                      <a:pt x="59531" y="119062"/>
                    </a:lnTo>
                    <a:lnTo>
                      <a:pt x="171164" y="0"/>
                    </a:lnTo>
                  </a:path>
                </a:pathLst>
              </a:custGeom>
              <a:noFill/>
              <a:ln w="29766" cap="rnd">
                <a:solidFill>
                  <a:srgbClr val="245EA8"/>
                </a:solidFill>
                <a:round/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364349" y="5168170"/>
                <a:ext cx="96679" cy="126492"/>
              </a:xfrm>
              <a:custGeom>
                <a:avLst/>
                <a:gdLst/>
                <a:ahLst/>
                <a:cxnLst/>
                <a:rect l="l" t="t" r="r" b="b"/>
                <a:pathLst>
                  <a:path w="96679" h="126492">
                    <a:moveTo>
                      <a:pt x="22289" y="0"/>
                    </a:moveTo>
                    <a:lnTo>
                      <a:pt x="96679" y="0"/>
                    </a:lnTo>
                    <a:lnTo>
                      <a:pt x="96679" y="89344"/>
                    </a:lnTo>
                    <a:lnTo>
                      <a:pt x="0" y="89344"/>
                    </a:lnTo>
                    <a:moveTo>
                      <a:pt x="37147" y="52102"/>
                    </a:moveTo>
                    <a:lnTo>
                      <a:pt x="0" y="89344"/>
                    </a:lnTo>
                    <a:lnTo>
                      <a:pt x="37147" y="126492"/>
                    </a:lnTo>
                  </a:path>
                </a:pathLst>
              </a:custGeom>
              <a:noFill/>
              <a:ln w="22324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46" name="TextBox 46"/>
            <p:cNvSpPr/>
            <p:nvPr>
              <p:custDataLst>
                <p:tags r:id="rId10"/>
              </p:custDataLst>
            </p:nvPr>
          </p:nvSpPr>
          <p:spPr>
            <a:xfrm>
              <a:off x="7745254" y="4959382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回復</a:t>
              </a:r>
            </a:p>
          </p:txBody>
        </p:sp>
        <p:grpSp>
          <p:nvGrpSpPr>
            <p:cNvPr id="78" name="Group 78"/>
            <p:cNvGrpSpPr/>
            <p:nvPr/>
          </p:nvGrpSpPr>
          <p:grpSpPr>
            <a:xfrm>
              <a:off x="8954738" y="1639538"/>
              <a:ext cx="2550223" cy="2550224"/>
              <a:chOff x="8954738" y="1639538"/>
              <a:chExt cx="2550223" cy="2550224"/>
            </a:xfrm>
          </p:grpSpPr>
          <p:sp>
            <p:nvSpPr>
              <p:cNvPr id="47" name="Ellipse 47"/>
              <p:cNvSpPr/>
              <p:nvPr/>
            </p:nvSpPr>
            <p:spPr>
              <a:xfrm>
                <a:off x="9217819" y="1902619"/>
                <a:ext cx="2024062" cy="2024062"/>
              </a:xfrm>
              <a:prstGeom prst="ellipse">
                <a:avLst/>
              </a:prstGeom>
              <a:solidFill>
                <a:srgbClr val="EDF3FA"/>
              </a:solidFill>
              <a:ln w="40481">
                <a:solidFill>
                  <a:srgbClr val="D7E1EA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9217819" y="1902619"/>
                <a:ext cx="2024062" cy="2024062"/>
              </a:xfrm>
              <a:custGeom>
                <a:avLst/>
                <a:gdLst/>
                <a:ahLst/>
                <a:cxnLst/>
                <a:rect l="l" t="t" r="r" b="b"/>
                <a:pathLst>
                  <a:path w="2024062" h="2024062">
                    <a:moveTo>
                      <a:pt x="1012031" y="0"/>
                    </a:moveTo>
                    <a:cubicBezTo>
                      <a:pt x="1686687" y="0"/>
                      <a:pt x="2024062" y="337375"/>
                      <a:pt x="2024062" y="1012031"/>
                    </a:cubicBezTo>
                    <a:cubicBezTo>
                      <a:pt x="2024062" y="1686687"/>
                      <a:pt x="1686687" y="2024062"/>
                      <a:pt x="1012031" y="2024062"/>
                    </a:cubicBezTo>
                    <a:cubicBezTo>
                      <a:pt x="337375" y="2024062"/>
                      <a:pt x="0" y="1686687"/>
                      <a:pt x="0" y="1012031"/>
                    </a:cubicBezTo>
                    <a:cubicBezTo>
                      <a:pt x="0" y="337375"/>
                      <a:pt x="337375" y="0"/>
                      <a:pt x="1012031" y="0"/>
                    </a:cubicBezTo>
                  </a:path>
                </a:pathLst>
              </a:custGeom>
              <a:noFill/>
              <a:ln w="52626">
                <a:solidFill>
                  <a:srgbClr val="245EA8"/>
                </a:solidFill>
              </a:ln>
            </p:spPr>
          </p:sp>
          <p:grpSp>
            <p:nvGrpSpPr>
              <p:cNvPr id="52" name="Group 52"/>
              <p:cNvGrpSpPr/>
              <p:nvPr/>
            </p:nvGrpSpPr>
            <p:grpSpPr>
              <a:xfrm>
                <a:off x="9884474" y="2470594"/>
                <a:ext cx="772953" cy="904495"/>
                <a:chOff x="9884474" y="2470594"/>
                <a:chExt cx="772953" cy="904495"/>
              </a:xfrm>
            </p:grpSpPr>
            <p:sp>
              <p:nvSpPr>
                <p:cNvPr id="49" name="Freeform 49"/>
                <p:cNvSpPr/>
                <p:nvPr/>
              </p:nvSpPr>
              <p:spPr>
                <a:xfrm>
                  <a:off x="9884474" y="2470594"/>
                  <a:ext cx="690753" cy="8881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0753" h="888111">
                      <a:moveTo>
                        <a:pt x="345376" y="0"/>
                      </a:moveTo>
                      <a:lnTo>
                        <a:pt x="690753" y="148019"/>
                      </a:lnTo>
                      <a:lnTo>
                        <a:pt x="690753" y="411194"/>
                      </a:lnTo>
                      <a:cubicBezTo>
                        <a:pt x="690753" y="624935"/>
                        <a:pt x="526256" y="772954"/>
                        <a:pt x="345376" y="888111"/>
                      </a:cubicBezTo>
                      <a:cubicBezTo>
                        <a:pt x="164497" y="772954"/>
                        <a:pt x="0" y="624935"/>
                        <a:pt x="0" y="411194"/>
                      </a:cubicBezTo>
                      <a:lnTo>
                        <a:pt x="0" y="14801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49337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50" name="Freeform 50"/>
                <p:cNvSpPr/>
                <p:nvPr/>
              </p:nvSpPr>
              <p:spPr>
                <a:xfrm>
                  <a:off x="10048970" y="2750153"/>
                  <a:ext cx="378238" cy="2631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8238" h="263176">
                      <a:moveTo>
                        <a:pt x="0" y="131635"/>
                      </a:moveTo>
                      <a:lnTo>
                        <a:pt x="131540" y="263176"/>
                      </a:lnTo>
                      <a:lnTo>
                        <a:pt x="378238" y="0"/>
                      </a:lnTo>
                    </a:path>
                  </a:pathLst>
                </a:custGeom>
                <a:noFill/>
                <a:ln w="65782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51" name="Freeform 51"/>
                <p:cNvSpPr/>
                <p:nvPr/>
              </p:nvSpPr>
              <p:spPr>
                <a:xfrm>
                  <a:off x="10443686" y="3095530"/>
                  <a:ext cx="213741" cy="2795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3741" h="279559">
                      <a:moveTo>
                        <a:pt x="49340" y="0"/>
                      </a:moveTo>
                      <a:lnTo>
                        <a:pt x="213741" y="0"/>
                      </a:lnTo>
                      <a:lnTo>
                        <a:pt x="213741" y="197358"/>
                      </a:lnTo>
                      <a:lnTo>
                        <a:pt x="0" y="197358"/>
                      </a:lnTo>
                      <a:moveTo>
                        <a:pt x="82201" y="115157"/>
                      </a:moveTo>
                      <a:lnTo>
                        <a:pt x="0" y="197358"/>
                      </a:lnTo>
                      <a:lnTo>
                        <a:pt x="82201" y="279559"/>
                      </a:lnTo>
                    </a:path>
                  </a:pathLst>
                </a:custGeom>
                <a:noFill/>
                <a:ln w="49337" cap="rnd">
                  <a:solidFill>
                    <a:srgbClr val="245EA8"/>
                  </a:solidFill>
                  <a:round/>
                </a:ln>
              </p:spPr>
            </p:sp>
          </p:grpSp>
          <p:sp>
            <p:nvSpPr>
              <p:cNvPr id="53" name="Ellipse 53"/>
              <p:cNvSpPr/>
              <p:nvPr/>
            </p:nvSpPr>
            <p:spPr>
              <a:xfrm>
                <a:off x="9966770" y="1639538"/>
                <a:ext cx="526256" cy="526256"/>
              </a:xfrm>
              <a:prstGeom prst="ellipse">
                <a:avLst/>
              </a:prstGeom>
              <a:solidFill>
                <a:srgbClr val="FFFFFF"/>
              </a:solidFill>
              <a:ln w="28337">
                <a:solidFill>
                  <a:srgbClr val="D7E1EA"/>
                </a:solidFill>
              </a:ln>
            </p:spPr>
          </p:sp>
          <p:grpSp>
            <p:nvGrpSpPr>
              <p:cNvPr id="57" name="Group 57"/>
              <p:cNvGrpSpPr/>
              <p:nvPr/>
            </p:nvGrpSpPr>
            <p:grpSpPr>
              <a:xfrm>
                <a:off x="10052780" y="1725549"/>
                <a:ext cx="354139" cy="354140"/>
                <a:chOff x="10052780" y="1725549"/>
                <a:chExt cx="354139" cy="354140"/>
              </a:xfrm>
            </p:grpSpPr>
            <p:sp>
              <p:nvSpPr>
                <p:cNvPr id="54" name="Rectangle 54"/>
                <p:cNvSpPr/>
                <p:nvPr/>
              </p:nvSpPr>
              <p:spPr>
                <a:xfrm>
                  <a:off x="10103358" y="1776127"/>
                  <a:ext cx="252984" cy="252984"/>
                </a:xfrm>
                <a:prstGeom prst="roundRect">
                  <a:avLst>
                    <a:gd name="adj" fmla="val 12500"/>
                  </a:avLst>
                </a:pr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55" name="Rectangle 55"/>
                <p:cNvSpPr/>
                <p:nvPr/>
              </p:nvSpPr>
              <p:spPr>
                <a:xfrm>
                  <a:off x="10172890" y="1845659"/>
                  <a:ext cx="113824" cy="113824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F4F7FA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56" name="Freeform 56"/>
                <p:cNvSpPr/>
                <p:nvPr/>
              </p:nvSpPr>
              <p:spPr>
                <a:xfrm>
                  <a:off x="10052780" y="1725549"/>
                  <a:ext cx="354139" cy="3541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4139" h="354140">
                      <a:moveTo>
                        <a:pt x="107537" y="0"/>
                      </a:moveTo>
                      <a:lnTo>
                        <a:pt x="107537" y="50578"/>
                      </a:lnTo>
                      <a:moveTo>
                        <a:pt x="177070" y="0"/>
                      </a:moveTo>
                      <a:lnTo>
                        <a:pt x="177070" y="50578"/>
                      </a:lnTo>
                      <a:moveTo>
                        <a:pt x="246602" y="0"/>
                      </a:moveTo>
                      <a:lnTo>
                        <a:pt x="246602" y="50578"/>
                      </a:lnTo>
                      <a:moveTo>
                        <a:pt x="107537" y="303562"/>
                      </a:moveTo>
                      <a:lnTo>
                        <a:pt x="107537" y="354140"/>
                      </a:lnTo>
                      <a:moveTo>
                        <a:pt x="177070" y="303562"/>
                      </a:moveTo>
                      <a:lnTo>
                        <a:pt x="177070" y="354140"/>
                      </a:lnTo>
                      <a:moveTo>
                        <a:pt x="246602" y="303562"/>
                      </a:moveTo>
                      <a:lnTo>
                        <a:pt x="246602" y="354140"/>
                      </a:lnTo>
                      <a:moveTo>
                        <a:pt x="0" y="107537"/>
                      </a:moveTo>
                      <a:lnTo>
                        <a:pt x="50578" y="107537"/>
                      </a:lnTo>
                      <a:moveTo>
                        <a:pt x="0" y="177070"/>
                      </a:moveTo>
                      <a:lnTo>
                        <a:pt x="50578" y="177070"/>
                      </a:lnTo>
                      <a:moveTo>
                        <a:pt x="0" y="246602"/>
                      </a:moveTo>
                      <a:lnTo>
                        <a:pt x="50578" y="246602"/>
                      </a:lnTo>
                      <a:moveTo>
                        <a:pt x="303562" y="107537"/>
                      </a:moveTo>
                      <a:lnTo>
                        <a:pt x="354139" y="107537"/>
                      </a:lnTo>
                      <a:moveTo>
                        <a:pt x="303562" y="177070"/>
                      </a:moveTo>
                      <a:lnTo>
                        <a:pt x="354139" y="177070"/>
                      </a:lnTo>
                      <a:moveTo>
                        <a:pt x="303562" y="246602"/>
                      </a:moveTo>
                      <a:lnTo>
                        <a:pt x="354139" y="246602"/>
                      </a:lnTo>
                    </a:path>
                  </a:pathLst>
                </a:custGeom>
                <a:noFill/>
                <a:ln w="18976" cap="rnd">
                  <a:solidFill>
                    <a:srgbClr val="245EA8"/>
                  </a:solidFill>
                  <a:round/>
                </a:ln>
              </p:spPr>
            </p:sp>
          </p:grpSp>
          <p:sp>
            <p:nvSpPr>
              <p:cNvPr id="58" name="Ellipse 58"/>
              <p:cNvSpPr/>
              <p:nvPr/>
            </p:nvSpPr>
            <p:spPr>
              <a:xfrm>
                <a:off x="10978705" y="2651570"/>
                <a:ext cx="526256" cy="526256"/>
              </a:xfrm>
              <a:prstGeom prst="ellipse">
                <a:avLst/>
              </a:prstGeom>
              <a:solidFill>
                <a:srgbClr val="FFFFFF"/>
              </a:solidFill>
              <a:ln w="28337">
                <a:solidFill>
                  <a:srgbClr val="D7E1EA"/>
                </a:solidFill>
              </a:ln>
            </p:spPr>
          </p:sp>
          <p:grpSp>
            <p:nvGrpSpPr>
              <p:cNvPr id="64" name="Group 64"/>
              <p:cNvGrpSpPr/>
              <p:nvPr/>
            </p:nvGrpSpPr>
            <p:grpSpPr>
              <a:xfrm>
                <a:off x="11083766" y="2750153"/>
                <a:ext cx="335185" cy="328994"/>
                <a:chOff x="11083766" y="2750153"/>
                <a:chExt cx="335185" cy="328994"/>
              </a:xfrm>
            </p:grpSpPr>
            <p:sp>
              <p:nvSpPr>
                <p:cNvPr id="59" name="Freeform 59"/>
                <p:cNvSpPr/>
                <p:nvPr/>
              </p:nvSpPr>
              <p:spPr>
                <a:xfrm>
                  <a:off x="11083766" y="2794444"/>
                  <a:ext cx="240316" cy="2530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316" h="253079">
                      <a:moveTo>
                        <a:pt x="0" y="0"/>
                      </a:moveTo>
                      <a:lnTo>
                        <a:pt x="0" y="196120"/>
                      </a:lnTo>
                      <a:cubicBezTo>
                        <a:pt x="0" y="253079"/>
                        <a:pt x="240316" y="253079"/>
                        <a:pt x="240316" y="196120"/>
                      </a:cubicBezTo>
                      <a:lnTo>
                        <a:pt x="240316" y="0"/>
                      </a:lnTo>
                    </a:path>
                  </a:pathLst>
                </a:cu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60" name="Ellipse 60"/>
                <p:cNvSpPr/>
                <p:nvPr/>
              </p:nvSpPr>
              <p:spPr>
                <a:xfrm>
                  <a:off x="11083766" y="2750153"/>
                  <a:ext cx="240316" cy="88582"/>
                </a:xfrm>
                <a:prstGeom prst="ellipse">
                  <a:avLst/>
                </a:pr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61" name="Freeform 61"/>
                <p:cNvSpPr/>
                <p:nvPr/>
              </p:nvSpPr>
              <p:spPr>
                <a:xfrm>
                  <a:off x="11083766" y="2883027"/>
                  <a:ext cx="240316" cy="569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316" h="56960">
                      <a:moveTo>
                        <a:pt x="0" y="0"/>
                      </a:moveTo>
                      <a:cubicBezTo>
                        <a:pt x="0" y="56960"/>
                        <a:pt x="240316" y="56960"/>
                        <a:pt x="240316" y="0"/>
                      </a:cubicBezTo>
                    </a:path>
                  </a:pathLst>
                </a:custGeom>
                <a:noFill/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62" name="Ellipse 62"/>
                <p:cNvSpPr/>
                <p:nvPr/>
              </p:nvSpPr>
              <p:spPr>
                <a:xfrm>
                  <a:off x="11241881" y="2895695"/>
                  <a:ext cx="139160" cy="139160"/>
                </a:xfrm>
                <a:prstGeom prst="ellipse">
                  <a:avLst/>
                </a:prstGeom>
                <a:solidFill>
                  <a:srgbClr val="F4F7FA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63" name="Freeform 63"/>
                <p:cNvSpPr/>
                <p:nvPr/>
              </p:nvSpPr>
              <p:spPr>
                <a:xfrm>
                  <a:off x="11362087" y="3015806"/>
                  <a:ext cx="56864" cy="633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864" h="63341">
                      <a:moveTo>
                        <a:pt x="0" y="0"/>
                      </a:moveTo>
                      <a:lnTo>
                        <a:pt x="56864" y="63341"/>
                      </a:lnTo>
                    </a:path>
                  </a:pathLst>
                </a:custGeom>
                <a:solidFill>
                  <a:srgbClr val="FFFFFF"/>
                </a:solidFill>
                <a:ln w="25301" cap="rnd">
                  <a:solidFill>
                    <a:srgbClr val="245EA8"/>
                  </a:solidFill>
                  <a:round/>
                </a:ln>
              </p:spPr>
            </p:sp>
          </p:grpSp>
          <p:sp>
            <p:nvSpPr>
              <p:cNvPr id="65" name="Ellipse 65"/>
              <p:cNvSpPr/>
              <p:nvPr/>
            </p:nvSpPr>
            <p:spPr>
              <a:xfrm>
                <a:off x="9966770" y="3663506"/>
                <a:ext cx="526256" cy="526256"/>
              </a:xfrm>
              <a:prstGeom prst="ellipse">
                <a:avLst/>
              </a:prstGeom>
              <a:solidFill>
                <a:srgbClr val="FFFFFF"/>
              </a:solidFill>
              <a:ln w="28337">
                <a:solidFill>
                  <a:srgbClr val="D7E1EA"/>
                </a:solidFill>
              </a:ln>
            </p:spPr>
          </p:sp>
          <p:grpSp>
            <p:nvGrpSpPr>
              <p:cNvPr id="68" name="Group 68"/>
              <p:cNvGrpSpPr/>
              <p:nvPr/>
            </p:nvGrpSpPr>
            <p:grpSpPr>
              <a:xfrm>
                <a:off x="10071735" y="3774853"/>
                <a:ext cx="316230" cy="303657"/>
                <a:chOff x="10071735" y="3774853"/>
                <a:chExt cx="316230" cy="303657"/>
              </a:xfrm>
            </p:grpSpPr>
            <p:sp>
              <p:nvSpPr>
                <p:cNvPr id="66" name="Rectangle 66"/>
                <p:cNvSpPr/>
                <p:nvPr/>
              </p:nvSpPr>
              <p:spPr>
                <a:xfrm>
                  <a:off x="10071735" y="3774853"/>
                  <a:ext cx="316230" cy="303562"/>
                </a:xfrm>
                <a:prstGeom prst="roundRect">
                  <a:avLst>
                    <a:gd name="adj" fmla="val 8333"/>
                  </a:avLst>
                </a:pr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67" name="Freeform 67"/>
                <p:cNvSpPr/>
                <p:nvPr/>
              </p:nvSpPr>
              <p:spPr>
                <a:xfrm>
                  <a:off x="10071735" y="3774853"/>
                  <a:ext cx="316230" cy="3036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6230" h="303657">
                      <a:moveTo>
                        <a:pt x="0" y="101251"/>
                      </a:moveTo>
                      <a:lnTo>
                        <a:pt x="316230" y="101251"/>
                      </a:lnTo>
                      <a:moveTo>
                        <a:pt x="0" y="202406"/>
                      </a:moveTo>
                      <a:lnTo>
                        <a:pt x="316230" y="202406"/>
                      </a:lnTo>
                      <a:moveTo>
                        <a:pt x="101155" y="0"/>
                      </a:moveTo>
                      <a:lnTo>
                        <a:pt x="101155" y="101251"/>
                      </a:lnTo>
                      <a:moveTo>
                        <a:pt x="227647" y="0"/>
                      </a:moveTo>
                      <a:lnTo>
                        <a:pt x="227647" y="101251"/>
                      </a:lnTo>
                      <a:moveTo>
                        <a:pt x="56960" y="101251"/>
                      </a:moveTo>
                      <a:lnTo>
                        <a:pt x="56960" y="202406"/>
                      </a:lnTo>
                      <a:moveTo>
                        <a:pt x="189738" y="101251"/>
                      </a:moveTo>
                      <a:lnTo>
                        <a:pt x="189738" y="202406"/>
                      </a:lnTo>
                      <a:moveTo>
                        <a:pt x="101155" y="202406"/>
                      </a:moveTo>
                      <a:lnTo>
                        <a:pt x="101155" y="303657"/>
                      </a:lnTo>
                      <a:moveTo>
                        <a:pt x="227647" y="202406"/>
                      </a:moveTo>
                      <a:lnTo>
                        <a:pt x="227647" y="303657"/>
                      </a:lnTo>
                    </a:path>
                  </a:pathLst>
                </a:custGeom>
                <a:noFill/>
                <a:ln w="18976" cap="rnd">
                  <a:solidFill>
                    <a:srgbClr val="245EA8"/>
                  </a:solidFill>
                  <a:round/>
                </a:ln>
              </p:spPr>
            </p:sp>
          </p:grpSp>
          <p:sp>
            <p:nvSpPr>
              <p:cNvPr id="69" name="Ellipse 69"/>
              <p:cNvSpPr/>
              <p:nvPr/>
            </p:nvSpPr>
            <p:spPr>
              <a:xfrm>
                <a:off x="8954738" y="2651570"/>
                <a:ext cx="526256" cy="526256"/>
              </a:xfrm>
              <a:prstGeom prst="ellipse">
                <a:avLst/>
              </a:prstGeom>
              <a:solidFill>
                <a:srgbClr val="FFFFFF"/>
              </a:solidFill>
              <a:ln w="28337">
                <a:solidFill>
                  <a:srgbClr val="D7E1EA"/>
                </a:solidFill>
              </a:ln>
            </p:spPr>
          </p:sp>
          <p:grpSp>
            <p:nvGrpSpPr>
              <p:cNvPr id="76" name="Group 76"/>
              <p:cNvGrpSpPr/>
              <p:nvPr/>
            </p:nvGrpSpPr>
            <p:grpSpPr>
              <a:xfrm>
                <a:off x="9034367" y="2743867"/>
                <a:ext cx="366903" cy="335185"/>
                <a:chOff x="9034367" y="2743867"/>
                <a:chExt cx="366903" cy="335185"/>
              </a:xfrm>
            </p:grpSpPr>
            <p:sp>
              <p:nvSpPr>
                <p:cNvPr id="70" name="Rectangle 70"/>
                <p:cNvSpPr/>
                <p:nvPr/>
              </p:nvSpPr>
              <p:spPr>
                <a:xfrm>
                  <a:off x="9091327" y="2743867"/>
                  <a:ext cx="252984" cy="126492"/>
                </a:xfrm>
                <a:prstGeom prst="roundRect">
                  <a:avLst>
                    <a:gd name="adj" fmla="val 20000"/>
                  </a:avLst>
                </a:pr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71" name="Freeform 71"/>
                <p:cNvSpPr/>
                <p:nvPr/>
              </p:nvSpPr>
              <p:spPr>
                <a:xfrm>
                  <a:off x="9078658" y="2870359"/>
                  <a:ext cx="278321" cy="12649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8321" h="126492">
                      <a:moveTo>
                        <a:pt x="139160" y="0"/>
                      </a:moveTo>
                      <a:lnTo>
                        <a:pt x="139160" y="82201"/>
                      </a:lnTo>
                      <a:moveTo>
                        <a:pt x="0" y="82201"/>
                      </a:moveTo>
                      <a:lnTo>
                        <a:pt x="278321" y="82201"/>
                      </a:lnTo>
                      <a:moveTo>
                        <a:pt x="0" y="82201"/>
                      </a:moveTo>
                      <a:lnTo>
                        <a:pt x="0" y="126492"/>
                      </a:lnTo>
                      <a:moveTo>
                        <a:pt x="139160" y="82201"/>
                      </a:moveTo>
                      <a:lnTo>
                        <a:pt x="139160" y="126492"/>
                      </a:lnTo>
                      <a:moveTo>
                        <a:pt x="278321" y="82201"/>
                      </a:moveTo>
                      <a:lnTo>
                        <a:pt x="278321" y="126492"/>
                      </a:lnTo>
                    </a:path>
                  </a:pathLst>
                </a:custGeom>
                <a:noFill/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72" name="Rectangle 72"/>
                <p:cNvSpPr/>
                <p:nvPr/>
              </p:nvSpPr>
              <p:spPr>
                <a:xfrm>
                  <a:off x="9034367" y="2996851"/>
                  <a:ext cx="88582" cy="82201"/>
                </a:xfrm>
                <a:prstGeom prst="roundRect">
                  <a:avLst>
                    <a:gd name="adj" fmla="val 23077"/>
                  </a:avLst>
                </a:pr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73" name="Rectangle 73"/>
                <p:cNvSpPr/>
                <p:nvPr/>
              </p:nvSpPr>
              <p:spPr>
                <a:xfrm>
                  <a:off x="9173528" y="2996851"/>
                  <a:ext cx="88582" cy="82201"/>
                </a:xfrm>
                <a:prstGeom prst="roundRect">
                  <a:avLst>
                    <a:gd name="adj" fmla="val 23077"/>
                  </a:avLst>
                </a:pr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74" name="Rectangle 74"/>
                <p:cNvSpPr/>
                <p:nvPr/>
              </p:nvSpPr>
              <p:spPr>
                <a:xfrm>
                  <a:off x="9312688" y="2996851"/>
                  <a:ext cx="88582" cy="82201"/>
                </a:xfrm>
                <a:prstGeom prst="roundRect">
                  <a:avLst>
                    <a:gd name="adj" fmla="val 23077"/>
                  </a:avLst>
                </a:pr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75" name="Freeform 75"/>
                <p:cNvSpPr/>
                <p:nvPr/>
              </p:nvSpPr>
              <p:spPr>
                <a:xfrm>
                  <a:off x="9141904" y="2807113"/>
                  <a:ext cx="151829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829" h="9525">
                      <a:moveTo>
                        <a:pt x="0" y="0"/>
                      </a:moveTo>
                      <a:lnTo>
                        <a:pt x="151829" y="0"/>
                      </a:lnTo>
                    </a:path>
                  </a:pathLst>
                </a:cu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</p:grpSp>
          <p:sp>
            <p:nvSpPr>
              <p:cNvPr id="77" name="Ellipse 77"/>
              <p:cNvSpPr/>
              <p:nvPr/>
            </p:nvSpPr>
            <p:spPr>
              <a:xfrm>
                <a:off x="10857262" y="2125313"/>
                <a:ext cx="161925" cy="161925"/>
              </a:xfrm>
              <a:prstGeom prst="ellipse">
                <a:avLst/>
              </a:prstGeom>
              <a:solidFill>
                <a:srgbClr val="E3A338"/>
              </a:solidFill>
              <a:ln>
                <a:noFill/>
              </a:ln>
            </p:spPr>
          </p:sp>
        </p:grpSp>
      </p:grpSp>
      <p:grpSp>
        <p:nvGrpSpPr>
          <p:cNvPr id="92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80" name="Line 80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81" name="TextBox 81"/>
            <p:cNvSpPr/>
            <p:nvPr>
              <p:custDataLst>
                <p:tags r:id="rId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82" name="TextBox 82"/>
            <p:cNvSpPr/>
            <p:nvPr>
              <p:custDataLst>
                <p:tags r:id="rId2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01 / 09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84" name="Rectangle 84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85" name="Rectangle 85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86" name="Rectangle 86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87" name="Rectangle 87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88" name="Rectangle 88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89" name="Rectangle 89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0" name="Rectangle 90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1" name="Rectangle 91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peningFilm_30s_Embedded">
            <a:hlinkClick r:id="" action="ppaction://media"/>
            <a:extLst>
              <a:ext uri="{FF2B5EF4-FFF2-40B4-BE49-F238E27FC236}">
                <a16:creationId xmlns:a16="http://schemas.microsoft.com/office/drawing/2014/main" id="{2DF7044A-F50A-4404-86F6-C4039600A46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000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4696587" cy="1085850"/>
            <a:chOff x="593598" y="257175"/>
            <a:chExt cx="4696587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32"/>
              </p:custDataLst>
            </p:nvPr>
          </p:nvSpPr>
          <p:spPr>
            <a:xfrm>
              <a:off x="755523" y="314325"/>
              <a:ext cx="154809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FRAMEWORK</a:t>
              </a:r>
            </a:p>
          </p:txBody>
        </p:sp>
        <p:sp>
          <p:nvSpPr>
            <p:cNvPr id="4" name="TextBox 4"/>
            <p:cNvSpPr/>
            <p:nvPr>
              <p:custDataLst>
                <p:tags r:id="rId33"/>
              </p:custDataLst>
            </p:nvPr>
          </p:nvSpPr>
          <p:spPr>
            <a:xfrm>
              <a:off x="593598" y="723900"/>
              <a:ext cx="469658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一個框架，四個連續階段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89" name="page-content"/>
          <p:cNvGrpSpPr/>
          <p:nvPr/>
        </p:nvGrpSpPr>
        <p:grpSpPr>
          <a:xfrm>
            <a:off x="47625" y="1504950"/>
            <a:ext cx="11991975" cy="4824889"/>
            <a:chOff x="47625" y="1504950"/>
            <a:chExt cx="11991975" cy="4824889"/>
          </a:xfrm>
        </p:grpSpPr>
        <p:sp>
          <p:nvSpPr>
            <p:cNvPr id="7" name="Rectangle 7"/>
            <p:cNvSpPr/>
            <p:nvPr/>
          </p:nvSpPr>
          <p:spPr>
            <a:xfrm>
              <a:off x="152400" y="1504950"/>
              <a:ext cx="2152650" cy="1952625"/>
            </a:xfrm>
            <a:prstGeom prst="roundRect">
              <a:avLst>
                <a:gd name="adj" fmla="val 3902"/>
              </a:avLst>
            </a:prstGeom>
            <a:solidFill>
              <a:srgbClr val="F4F7FA"/>
            </a:solidFill>
            <a:ln w="9525">
              <a:solidFill>
                <a:srgbClr val="D7E1EA"/>
              </a:solidFill>
            </a:ln>
          </p:spPr>
        </p:sp>
        <p:sp>
          <p:nvSpPr>
            <p:cNvPr id="8" name="TextBox 8"/>
            <p:cNvSpPr/>
            <p:nvPr>
              <p:custDataLst>
                <p:tags r:id="rId3"/>
              </p:custDataLst>
            </p:nvPr>
          </p:nvSpPr>
          <p:spPr>
            <a:xfrm>
              <a:off x="314706" y="1593818"/>
              <a:ext cx="1179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a </a:t>
              </a:r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流量表徵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1824895" y="1568386"/>
              <a:ext cx="293560" cy="268225"/>
              <a:chOff x="1824895" y="1568386"/>
              <a:chExt cx="293560" cy="268225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1870520" y="1568386"/>
                <a:ext cx="202406" cy="101155"/>
              </a:xfrm>
              <a:prstGeom prst="roundRect">
                <a:avLst>
                  <a:gd name="adj" fmla="val 20000"/>
                </a:avLst>
              </a:prstGeom>
              <a:solidFill>
                <a:srgbClr val="FFFFFF"/>
              </a:solidFill>
              <a:ln w="15180" cap="rnd">
                <a:solidFill>
                  <a:srgbClr val="245EA8"/>
                </a:solidFill>
                <a:round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860328" y="1669542"/>
                <a:ext cx="222694" cy="101251"/>
              </a:xfrm>
              <a:custGeom>
                <a:avLst/>
                <a:gdLst/>
                <a:ahLst/>
                <a:cxnLst/>
                <a:rect l="l" t="t" r="r" b="b"/>
                <a:pathLst>
                  <a:path w="222694" h="101251">
                    <a:moveTo>
                      <a:pt x="111347" y="0"/>
                    </a:moveTo>
                    <a:lnTo>
                      <a:pt x="111347" y="65818"/>
                    </a:lnTo>
                    <a:moveTo>
                      <a:pt x="0" y="65818"/>
                    </a:moveTo>
                    <a:lnTo>
                      <a:pt x="222694" y="65818"/>
                    </a:lnTo>
                    <a:moveTo>
                      <a:pt x="0" y="65818"/>
                    </a:moveTo>
                    <a:lnTo>
                      <a:pt x="0" y="101251"/>
                    </a:lnTo>
                    <a:moveTo>
                      <a:pt x="111347" y="65818"/>
                    </a:moveTo>
                    <a:lnTo>
                      <a:pt x="111347" y="101251"/>
                    </a:lnTo>
                    <a:moveTo>
                      <a:pt x="222694" y="65818"/>
                    </a:moveTo>
                    <a:lnTo>
                      <a:pt x="222694" y="101251"/>
                    </a:lnTo>
                  </a:path>
                </a:pathLst>
              </a:custGeom>
              <a:noFill/>
              <a:ln w="15180" cap="rnd">
                <a:solidFill>
                  <a:srgbClr val="245EA8"/>
                </a:solidFill>
                <a:round/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1824895" y="1770793"/>
                <a:ext cx="70866" cy="65818"/>
              </a:xfrm>
              <a:prstGeom prst="roundRect">
                <a:avLst>
                  <a:gd name="adj" fmla="val 23077"/>
                </a:avLst>
              </a:prstGeom>
              <a:solidFill>
                <a:srgbClr val="FFFFFF"/>
              </a:solidFill>
              <a:ln w="15180" cap="rnd">
                <a:solidFill>
                  <a:srgbClr val="245EA8"/>
                </a:solidFill>
                <a:round/>
              </a:ln>
            </p:spPr>
          </p:sp>
          <p:sp>
            <p:nvSpPr>
              <p:cNvPr id="12" name="Rectangle 12"/>
              <p:cNvSpPr/>
              <p:nvPr/>
            </p:nvSpPr>
            <p:spPr>
              <a:xfrm>
                <a:off x="1936242" y="1770793"/>
                <a:ext cx="70866" cy="65818"/>
              </a:xfrm>
              <a:prstGeom prst="roundRect">
                <a:avLst>
                  <a:gd name="adj" fmla="val 23077"/>
                </a:avLst>
              </a:prstGeom>
              <a:solidFill>
                <a:srgbClr val="FFFFFF"/>
              </a:solidFill>
              <a:ln w="15180" cap="rnd">
                <a:solidFill>
                  <a:srgbClr val="245EA8"/>
                </a:solidFill>
                <a:round/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2047589" y="1770793"/>
                <a:ext cx="70866" cy="65818"/>
              </a:xfrm>
              <a:prstGeom prst="roundRect">
                <a:avLst>
                  <a:gd name="adj" fmla="val 23077"/>
                </a:avLst>
              </a:prstGeom>
              <a:solidFill>
                <a:srgbClr val="FFFFFF"/>
              </a:solidFill>
              <a:ln w="15180" cap="rnd">
                <a:solidFill>
                  <a:srgbClr val="245EA8"/>
                </a:solidFill>
                <a:round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910906" y="1618964"/>
                <a:ext cx="12153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1539" h="9525">
                    <a:moveTo>
                      <a:pt x="0" y="0"/>
                    </a:moveTo>
                    <a:lnTo>
                      <a:pt x="121539" y="0"/>
                    </a:lnTo>
                  </a:path>
                </a:pathLst>
              </a:custGeom>
              <a:solidFill>
                <a:srgbClr val="FFFFFF"/>
              </a:solidFill>
              <a:ln w="15180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16" name="TextBox 16"/>
            <p:cNvSpPr/>
            <p:nvPr>
              <p:custDataLst>
                <p:tags r:id="rId4"/>
              </p:custDataLst>
            </p:nvPr>
          </p:nvSpPr>
          <p:spPr>
            <a:xfrm>
              <a:off x="315849" y="2085975"/>
              <a:ext cx="15048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真實前處理張量</a:t>
              </a:r>
            </a:p>
          </p:txBody>
        </p:sp>
        <p:sp>
          <p:nvSpPr>
            <p:cNvPr id="17" name="TextBox 17"/>
            <p:cNvSpPr/>
            <p:nvPr>
              <p:custDataLst>
                <p:tags r:id="rId5"/>
              </p:custDataLst>
            </p:nvPr>
          </p:nvSpPr>
          <p:spPr>
            <a:xfrm>
              <a:off x="315468" y="250193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封包內容</a:t>
              </a:r>
            </a:p>
          </p:txBody>
        </p:sp>
        <p:sp>
          <p:nvSpPr>
            <p:cNvPr id="18" name="TextBox 18"/>
            <p:cNvSpPr/>
            <p:nvPr>
              <p:custDataLst>
                <p:tags r:id="rId6"/>
              </p:custDataLst>
            </p:nvPr>
          </p:nvSpPr>
          <p:spPr>
            <a:xfrm>
              <a:off x="315468" y="2806732"/>
              <a:ext cx="12055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時間差·方向</a:t>
              </a:r>
            </a:p>
          </p:txBody>
        </p:sp>
        <p:sp>
          <p:nvSpPr>
            <p:cNvPr id="19" name="TextBox 19"/>
            <p:cNvSpPr/>
            <p:nvPr>
              <p:custDataLst>
                <p:tags r:id="rId7"/>
              </p:custDataLst>
            </p:nvPr>
          </p:nvSpPr>
          <p:spPr>
            <a:xfrm>
              <a:off x="316230" y="3117818"/>
              <a:ext cx="17017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遮罩欄位·流量切窗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2533650" y="1504950"/>
              <a:ext cx="9505950" cy="1952625"/>
            </a:xfrm>
            <a:prstGeom prst="roundRect">
              <a:avLst>
                <a:gd name="adj" fmla="val 3902"/>
              </a:avLst>
            </a:prstGeom>
            <a:solidFill>
              <a:srgbClr val="F4F7FA"/>
            </a:solidFill>
            <a:ln w="9525">
              <a:solidFill>
                <a:srgbClr val="D7E1EA"/>
              </a:solidFill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2707481" y="1583531"/>
              <a:ext cx="300038" cy="300038"/>
              <a:chOff x="2707481" y="1583531"/>
              <a:chExt cx="300038" cy="300038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2750344" y="1626394"/>
                <a:ext cx="214312" cy="214312"/>
              </a:xfrm>
              <a:prstGeom prst="roundRect">
                <a:avLst>
                  <a:gd name="adj" fmla="val 12500"/>
                </a:avLst>
              </a:prstGeom>
              <a:solidFill>
                <a:srgbClr val="FFFFFF"/>
              </a:solidFill>
              <a:ln w="16073" cap="rnd">
                <a:solidFill>
                  <a:srgbClr val="245EA8"/>
                </a:solidFill>
                <a:round/>
              </a:ln>
            </p:spPr>
          </p:sp>
          <p:sp>
            <p:nvSpPr>
              <p:cNvPr id="22" name="Rectangle 22"/>
              <p:cNvSpPr/>
              <p:nvPr/>
            </p:nvSpPr>
            <p:spPr>
              <a:xfrm>
                <a:off x="2809304" y="1685354"/>
                <a:ext cx="96488" cy="96488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 w="16073" cap="rnd">
                <a:solidFill>
                  <a:srgbClr val="245EA8"/>
                </a:solidFill>
                <a:round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2707481" y="1583531"/>
                <a:ext cx="300038" cy="300038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300038">
                    <a:moveTo>
                      <a:pt x="91059" y="0"/>
                    </a:moveTo>
                    <a:lnTo>
                      <a:pt x="91059" y="42862"/>
                    </a:lnTo>
                    <a:moveTo>
                      <a:pt x="150019" y="0"/>
                    </a:moveTo>
                    <a:lnTo>
                      <a:pt x="150019" y="42862"/>
                    </a:lnTo>
                    <a:moveTo>
                      <a:pt x="208978" y="0"/>
                    </a:moveTo>
                    <a:lnTo>
                      <a:pt x="208978" y="42862"/>
                    </a:lnTo>
                    <a:moveTo>
                      <a:pt x="91059" y="257175"/>
                    </a:moveTo>
                    <a:lnTo>
                      <a:pt x="91059" y="300038"/>
                    </a:lnTo>
                    <a:moveTo>
                      <a:pt x="150019" y="257175"/>
                    </a:moveTo>
                    <a:lnTo>
                      <a:pt x="150019" y="300038"/>
                    </a:lnTo>
                    <a:moveTo>
                      <a:pt x="208978" y="257175"/>
                    </a:moveTo>
                    <a:lnTo>
                      <a:pt x="208978" y="300038"/>
                    </a:lnTo>
                    <a:moveTo>
                      <a:pt x="0" y="91059"/>
                    </a:moveTo>
                    <a:lnTo>
                      <a:pt x="42862" y="91059"/>
                    </a:lnTo>
                    <a:moveTo>
                      <a:pt x="0" y="150019"/>
                    </a:moveTo>
                    <a:lnTo>
                      <a:pt x="42862" y="150019"/>
                    </a:lnTo>
                    <a:moveTo>
                      <a:pt x="0" y="208978"/>
                    </a:moveTo>
                    <a:lnTo>
                      <a:pt x="42862" y="208978"/>
                    </a:lnTo>
                    <a:moveTo>
                      <a:pt x="257175" y="91059"/>
                    </a:moveTo>
                    <a:lnTo>
                      <a:pt x="300038" y="91059"/>
                    </a:lnTo>
                    <a:moveTo>
                      <a:pt x="257175" y="150019"/>
                    </a:moveTo>
                    <a:lnTo>
                      <a:pt x="300038" y="150019"/>
                    </a:lnTo>
                    <a:moveTo>
                      <a:pt x="257175" y="208978"/>
                    </a:moveTo>
                    <a:lnTo>
                      <a:pt x="300038" y="208978"/>
                    </a:lnTo>
                  </a:path>
                </a:pathLst>
              </a:custGeom>
              <a:noFill/>
              <a:ln w="16073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25" name="TextBox 25"/>
            <p:cNvSpPr/>
            <p:nvPr>
              <p:custDataLst>
                <p:tags r:id="rId8"/>
              </p:custDataLst>
            </p:nvPr>
          </p:nvSpPr>
          <p:spPr>
            <a:xfrm>
              <a:off x="3115056" y="1593818"/>
              <a:ext cx="254727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b </a:t>
              </a:r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互補模型與 17 類判定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2781300" y="2019300"/>
              <a:ext cx="2857500" cy="5715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27" name="TextBox 27"/>
            <p:cNvSpPr/>
            <p:nvPr>
              <p:custDataLst>
                <p:tags r:id="rId9"/>
              </p:custDataLst>
            </p:nvPr>
          </p:nvSpPr>
          <p:spPr>
            <a:xfrm>
              <a:off x="2943606" y="2051018"/>
              <a:ext cx="9509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CTBM</a:t>
              </a:r>
            </a:p>
          </p:txBody>
        </p:sp>
        <p:sp>
          <p:nvSpPr>
            <p:cNvPr id="28" name="TextBox 28"/>
            <p:cNvSpPr/>
            <p:nvPr>
              <p:custDataLst>
                <p:tags r:id="rId10"/>
              </p:custDataLst>
            </p:nvPr>
          </p:nvSpPr>
          <p:spPr>
            <a:xfrm>
              <a:off x="2945130" y="2317718"/>
              <a:ext cx="15708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內容·時間差·方向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781300" y="2762250"/>
              <a:ext cx="2857500" cy="5715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30" name="TextBox 30"/>
            <p:cNvSpPr/>
            <p:nvPr>
              <p:custDataLst>
                <p:tags r:id="rId11"/>
              </p:custDataLst>
            </p:nvPr>
          </p:nvSpPr>
          <p:spPr>
            <a:xfrm>
              <a:off x="2943606" y="2793968"/>
              <a:ext cx="1089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PBCNN</a:t>
              </a:r>
            </a:p>
          </p:txBody>
        </p:sp>
        <p:sp>
          <p:nvSpPr>
            <p:cNvPr id="31" name="TextBox 31"/>
            <p:cNvSpPr/>
            <p:nvPr>
              <p:custDataLst>
                <p:tags r:id="rId12"/>
              </p:custDataLst>
            </p:nvPr>
          </p:nvSpPr>
          <p:spPr>
            <a:xfrm>
              <a:off x="2945130" y="3060668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短窗位元組模式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2209800"/>
              <a:ext cx="2647950" cy="857250"/>
            </a:xfrm>
            <a:prstGeom prst="roundRect">
              <a:avLst>
                <a:gd name="adj" fmla="val 8889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33" name="TextBox 33"/>
            <p:cNvSpPr/>
            <p:nvPr>
              <p:custDataLst>
                <p:tags r:id="rId13"/>
              </p:custDataLst>
            </p:nvPr>
          </p:nvSpPr>
          <p:spPr>
            <a:xfrm>
              <a:off x="6486906" y="2308193"/>
              <a:ext cx="20301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校準＋</a:t>
              </a:r>
              <a:r>
                <a:rPr lang="en-US" sz="180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OOF Gate</a:t>
              </a:r>
            </a:p>
          </p:txBody>
        </p:sp>
        <p:sp>
          <p:nvSpPr>
            <p:cNvPr id="34" name="TextBox 34"/>
            <p:cNvSpPr/>
            <p:nvPr>
              <p:custDataLst>
                <p:tags r:id="rId14"/>
              </p:custDataLst>
            </p:nvPr>
          </p:nvSpPr>
          <p:spPr>
            <a:xfrm>
              <a:off x="6487668" y="267338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依事件證據融合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201150" y="2209800"/>
              <a:ext cx="2628900" cy="857250"/>
            </a:xfrm>
            <a:prstGeom prst="roundRect">
              <a:avLst>
                <a:gd name="adj" fmla="val 8889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36" name="TextBox 36"/>
            <p:cNvSpPr/>
            <p:nvPr>
              <p:custDataLst>
                <p:tags r:id="rId15"/>
              </p:custDataLst>
            </p:nvPr>
          </p:nvSpPr>
          <p:spPr>
            <a:xfrm>
              <a:off x="9382506" y="2308193"/>
              <a:ext cx="15499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17 類正式判定</a:t>
              </a:r>
            </a:p>
          </p:txBody>
        </p:sp>
        <p:sp>
          <p:nvSpPr>
            <p:cNvPr id="37" name="TextBox 37"/>
            <p:cNvSpPr/>
            <p:nvPr>
              <p:custDataLst>
                <p:tags r:id="rId16"/>
              </p:custDataLst>
            </p:nvPr>
          </p:nvSpPr>
          <p:spPr>
            <a:xfrm>
              <a:off x="9384030" y="2698718"/>
              <a:ext cx="2068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512 維表徵＋17 維機率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2305050" y="2305050"/>
              <a:ext cx="476250" cy="171450"/>
            </a:xfrm>
            <a:custGeom>
              <a:avLst/>
              <a:gdLst/>
              <a:ahLst/>
              <a:cxnLst/>
              <a:rect l="l" t="t" r="r" b="b"/>
              <a:pathLst>
                <a:path w="476250" h="171450">
                  <a:moveTo>
                    <a:pt x="0" y="171450"/>
                  </a:moveTo>
                  <a:lnTo>
                    <a:pt x="361950" y="171450"/>
                  </a:lnTo>
                  <a:lnTo>
                    <a:pt x="361950" y="0"/>
                  </a:lnTo>
                  <a:lnTo>
                    <a:pt x="476250" y="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2714625" y="2257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2667000" y="2476500"/>
              <a:ext cx="114300" cy="571500"/>
            </a:xfrm>
            <a:custGeom>
              <a:avLst/>
              <a:gdLst/>
              <a:ahLst/>
              <a:cxnLst/>
              <a:rect l="l" t="t" r="r" b="b"/>
              <a:pathLst>
                <a:path w="114300" h="571500">
                  <a:moveTo>
                    <a:pt x="0" y="0"/>
                  </a:moveTo>
                  <a:lnTo>
                    <a:pt x="0" y="571500"/>
                  </a:lnTo>
                  <a:lnTo>
                    <a:pt x="114300" y="57150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2714625" y="30003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5638800" y="2305050"/>
              <a:ext cx="647700" cy="333375"/>
            </a:xfrm>
            <a:custGeom>
              <a:avLst/>
              <a:gdLst/>
              <a:ahLst/>
              <a:cxnLst/>
              <a:rect l="l" t="t" r="r" b="b"/>
              <a:pathLst>
                <a:path w="647700" h="333375">
                  <a:moveTo>
                    <a:pt x="0" y="0"/>
                  </a:moveTo>
                  <a:lnTo>
                    <a:pt x="314325" y="0"/>
                  </a:lnTo>
                  <a:lnTo>
                    <a:pt x="314325" y="333375"/>
                  </a:lnTo>
                  <a:lnTo>
                    <a:pt x="647700" y="333375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621982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5638800" y="2638425"/>
              <a:ext cx="647700" cy="409575"/>
            </a:xfrm>
            <a:custGeom>
              <a:avLst/>
              <a:gdLst/>
              <a:ahLst/>
              <a:cxnLst/>
              <a:rect l="l" t="t" r="r" b="b"/>
              <a:pathLst>
                <a:path w="647700" h="409575">
                  <a:moveTo>
                    <a:pt x="0" y="409575"/>
                  </a:moveTo>
                  <a:lnTo>
                    <a:pt x="314325" y="409575"/>
                  </a:lnTo>
                  <a:lnTo>
                    <a:pt x="314325" y="0"/>
                  </a:lnTo>
                  <a:lnTo>
                    <a:pt x="647700" y="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621982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8934450" y="2638425"/>
              <a:ext cx="266700" cy="9525"/>
            </a:xfrm>
            <a:custGeom>
              <a:avLst/>
              <a:gdLst/>
              <a:ahLst/>
              <a:cxnLst/>
              <a:rect l="l" t="t" r="r" b="b"/>
              <a:pathLst>
                <a:path w="266700" h="9525">
                  <a:moveTo>
                    <a:pt x="0" y="0"/>
                  </a:moveTo>
                  <a:lnTo>
                    <a:pt x="266700" y="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913447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152400" y="4038600"/>
              <a:ext cx="8001000" cy="1771650"/>
            </a:xfrm>
            <a:prstGeom prst="roundRect">
              <a:avLst>
                <a:gd name="adj" fmla="val 4301"/>
              </a:avLst>
            </a:prstGeom>
            <a:solidFill>
              <a:srgbClr val="F4F7FA"/>
            </a:solidFill>
            <a:ln w="9525">
              <a:solidFill>
                <a:srgbClr val="D7E1EA"/>
              </a:solidFill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361378" y="4127944"/>
              <a:ext cx="283941" cy="278512"/>
              <a:chOff x="361378" y="4127944"/>
              <a:chExt cx="283941" cy="278512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361378" y="4165378"/>
                <a:ext cx="203549" cy="214312"/>
              </a:xfrm>
              <a:custGeom>
                <a:avLst/>
                <a:gdLst/>
                <a:ahLst/>
                <a:cxnLst/>
                <a:rect l="l" t="t" r="r" b="b"/>
                <a:pathLst>
                  <a:path w="203549" h="214312">
                    <a:moveTo>
                      <a:pt x="0" y="0"/>
                    </a:moveTo>
                    <a:lnTo>
                      <a:pt x="0" y="166116"/>
                    </a:lnTo>
                    <a:cubicBezTo>
                      <a:pt x="0" y="214312"/>
                      <a:pt x="203549" y="214312"/>
                      <a:pt x="203549" y="166116"/>
                    </a:cubicBezTo>
                    <a:lnTo>
                      <a:pt x="203549" y="0"/>
                    </a:lnTo>
                  </a:path>
                </a:pathLst>
              </a:custGeom>
              <a:solidFill>
                <a:srgbClr val="FFFFFF"/>
              </a:solidFill>
              <a:ln w="16073" cap="rnd">
                <a:solidFill>
                  <a:srgbClr val="245EA8"/>
                </a:solidFill>
                <a:round/>
              </a:ln>
            </p:spPr>
          </p:sp>
          <p:sp>
            <p:nvSpPr>
              <p:cNvPr id="50" name="Ellipse 50"/>
              <p:cNvSpPr/>
              <p:nvPr/>
            </p:nvSpPr>
            <p:spPr>
              <a:xfrm>
                <a:off x="361378" y="4127944"/>
                <a:ext cx="203644" cy="74962"/>
              </a:xfrm>
              <a:prstGeom prst="ellipse">
                <a:avLst/>
              </a:prstGeom>
              <a:solidFill>
                <a:srgbClr val="FFFFFF"/>
              </a:solidFill>
              <a:ln w="16073" cap="rnd">
                <a:solidFill>
                  <a:srgbClr val="245EA8"/>
                </a:solidFill>
                <a:round/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361378" y="4240435"/>
                <a:ext cx="203549" cy="48197"/>
              </a:xfrm>
              <a:custGeom>
                <a:avLst/>
                <a:gdLst/>
                <a:ahLst/>
                <a:cxnLst/>
                <a:rect l="l" t="t" r="r" b="b"/>
                <a:pathLst>
                  <a:path w="203549" h="48197">
                    <a:moveTo>
                      <a:pt x="0" y="0"/>
                    </a:moveTo>
                    <a:cubicBezTo>
                      <a:pt x="0" y="48197"/>
                      <a:pt x="203549" y="48197"/>
                      <a:pt x="203549" y="0"/>
                    </a:cubicBezTo>
                  </a:path>
                </a:pathLst>
              </a:custGeom>
              <a:noFill/>
              <a:ln w="16073" cap="rnd">
                <a:solidFill>
                  <a:srgbClr val="245EA8"/>
                </a:solidFill>
                <a:round/>
              </a:ln>
            </p:spPr>
          </p:sp>
          <p:sp>
            <p:nvSpPr>
              <p:cNvPr id="52" name="Ellipse 52"/>
              <p:cNvSpPr/>
              <p:nvPr/>
            </p:nvSpPr>
            <p:spPr>
              <a:xfrm>
                <a:off x="495300" y="4251103"/>
                <a:ext cx="117920" cy="117920"/>
              </a:xfrm>
              <a:prstGeom prst="ellipse">
                <a:avLst/>
              </a:prstGeom>
              <a:solidFill>
                <a:srgbClr val="F4F7FA"/>
              </a:solidFill>
              <a:ln w="16073" cap="rnd">
                <a:solidFill>
                  <a:srgbClr val="245EA8"/>
                </a:solidFill>
                <a:round/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597122" y="4352925"/>
                <a:ext cx="48197" cy="53531"/>
              </a:xfrm>
              <a:custGeom>
                <a:avLst/>
                <a:gdLst/>
                <a:ahLst/>
                <a:cxnLst/>
                <a:rect l="l" t="t" r="r" b="b"/>
                <a:pathLst>
                  <a:path w="48197" h="53531">
                    <a:moveTo>
                      <a:pt x="0" y="0"/>
                    </a:moveTo>
                    <a:lnTo>
                      <a:pt x="48197" y="53531"/>
                    </a:lnTo>
                  </a:path>
                </a:pathLst>
              </a:custGeom>
              <a:solidFill>
                <a:srgbClr val="FFFFFF"/>
              </a:solidFill>
              <a:ln w="21431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55" name="TextBox 55"/>
            <p:cNvSpPr/>
            <p:nvPr>
              <p:custDataLst>
                <p:tags r:id="rId17"/>
              </p:custDataLst>
            </p:nvPr>
          </p:nvSpPr>
          <p:spPr>
            <a:xfrm>
              <a:off x="752856" y="4127468"/>
              <a:ext cx="287778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c </a:t>
              </a:r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任務導向檢索與</a:t>
              </a:r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381000" y="4591050"/>
              <a:ext cx="1809750" cy="781050"/>
            </a:xfrm>
            <a:prstGeom prst="roundRect">
              <a:avLst>
                <a:gd name="adj" fmla="val 9756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57" name="TextBox 57"/>
            <p:cNvSpPr/>
            <p:nvPr>
              <p:custDataLst>
                <p:tags r:id="rId18"/>
              </p:custDataLst>
            </p:nvPr>
          </p:nvSpPr>
          <p:spPr>
            <a:xfrm>
              <a:off x="505968" y="4711732"/>
              <a:ext cx="15380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529 維任務向量</a:t>
              </a:r>
            </a:p>
          </p:txBody>
        </p:sp>
        <p:sp>
          <p:nvSpPr>
            <p:cNvPr id="58" name="TextBox 58"/>
            <p:cNvSpPr/>
            <p:nvPr>
              <p:custDataLst>
                <p:tags r:id="rId19"/>
              </p:custDataLst>
            </p:nvPr>
          </p:nvSpPr>
          <p:spPr>
            <a:xfrm>
              <a:off x="506730" y="5032343"/>
              <a:ext cx="9735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L2 </a:t>
              </a:r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正規化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2476500" y="4591050"/>
              <a:ext cx="2324100" cy="781050"/>
            </a:xfrm>
            <a:prstGeom prst="roundRect">
              <a:avLst>
                <a:gd name="adj" fmla="val 9756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60" name="TextBox 60"/>
            <p:cNvSpPr/>
            <p:nvPr>
              <p:custDataLst>
                <p:tags r:id="rId20"/>
              </p:custDataLst>
            </p:nvPr>
          </p:nvSpPr>
          <p:spPr>
            <a:xfrm>
              <a:off x="2601468" y="4711732"/>
              <a:ext cx="16108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en-US" sz="16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6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相似案例</a:t>
              </a:r>
            </a:p>
          </p:txBody>
        </p:sp>
        <p:sp>
          <p:nvSpPr>
            <p:cNvPr id="61" name="TextBox 61"/>
            <p:cNvSpPr/>
            <p:nvPr>
              <p:custDataLst>
                <p:tags r:id="rId21"/>
              </p:custDataLst>
            </p:nvPr>
          </p:nvSpPr>
          <p:spPr>
            <a:xfrm>
              <a:off x="2602230" y="5032343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僅訓練資料案例庫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5143500" y="4591050"/>
              <a:ext cx="2781300" cy="781050"/>
            </a:xfrm>
            <a:prstGeom prst="roundRect">
              <a:avLst>
                <a:gd name="adj" fmla="val 9756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63" name="TextBox 63"/>
            <p:cNvSpPr/>
            <p:nvPr>
              <p:custDataLst>
                <p:tags r:id="rId22"/>
              </p:custDataLst>
            </p:nvPr>
          </p:nvSpPr>
          <p:spPr>
            <a:xfrm>
              <a:off x="5268468" y="4711732"/>
              <a:ext cx="13644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本機</a:t>
              </a:r>
              <a:r>
                <a:rPr lang="en-US" sz="16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6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64" name="TextBox 64"/>
            <p:cNvSpPr/>
            <p:nvPr>
              <p:custDataLst>
                <p:tags r:id="rId23"/>
              </p:custDataLst>
            </p:nvPr>
          </p:nvSpPr>
          <p:spPr>
            <a:xfrm>
              <a:off x="5269230" y="5032343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支持／複核／不確定</a:t>
              </a:r>
            </a:p>
          </p:txBody>
        </p:sp>
        <p:sp>
          <p:nvSpPr>
            <p:cNvPr id="65" name="Freeform 65"/>
            <p:cNvSpPr/>
            <p:nvPr/>
          </p:nvSpPr>
          <p:spPr>
            <a:xfrm>
              <a:off x="47625" y="3067050"/>
              <a:ext cx="10467975" cy="1914525"/>
            </a:xfrm>
            <a:custGeom>
              <a:avLst/>
              <a:gdLst/>
              <a:ahLst/>
              <a:cxnLst/>
              <a:rect l="l" t="t" r="r" b="b"/>
              <a:pathLst>
                <a:path w="10467975" h="1914525">
                  <a:moveTo>
                    <a:pt x="10467975" y="0"/>
                  </a:moveTo>
                  <a:lnTo>
                    <a:pt x="10467975" y="657225"/>
                  </a:lnTo>
                  <a:lnTo>
                    <a:pt x="0" y="657225"/>
                  </a:lnTo>
                  <a:lnTo>
                    <a:pt x="0" y="1914525"/>
                  </a:lnTo>
                  <a:lnTo>
                    <a:pt x="333375" y="1914525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3143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67" name="TextBox 67"/>
            <p:cNvSpPr/>
            <p:nvPr>
              <p:custDataLst>
                <p:tags r:id="rId24"/>
              </p:custDataLst>
            </p:nvPr>
          </p:nvSpPr>
          <p:spPr>
            <a:xfrm>
              <a:off x="4682109" y="3435382"/>
              <a:ext cx="23942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正式類別·信心·模型表徵</a:t>
              </a:r>
            </a:p>
          </p:txBody>
        </p:sp>
        <p:sp>
          <p:nvSpPr>
            <p:cNvPr id="68" name="Freeform 68"/>
            <p:cNvSpPr/>
            <p:nvPr/>
          </p:nvSpPr>
          <p:spPr>
            <a:xfrm>
              <a:off x="2190750" y="49815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69" name="Freeform 69"/>
            <p:cNvSpPr/>
            <p:nvPr/>
          </p:nvSpPr>
          <p:spPr>
            <a:xfrm>
              <a:off x="24098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70" name="Freeform 70"/>
            <p:cNvSpPr/>
            <p:nvPr/>
          </p:nvSpPr>
          <p:spPr>
            <a:xfrm>
              <a:off x="4800600" y="498157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71" name="Freeform 71"/>
            <p:cNvSpPr/>
            <p:nvPr/>
          </p:nvSpPr>
          <p:spPr>
            <a:xfrm>
              <a:off x="50768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72" name="TextBox 72"/>
            <p:cNvSpPr/>
            <p:nvPr>
              <p:custDataLst>
                <p:tags r:id="rId25"/>
              </p:custDataLst>
            </p:nvPr>
          </p:nvSpPr>
          <p:spPr>
            <a:xfrm>
              <a:off x="3083242" y="5499068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訓練案例庫</a:t>
              </a:r>
            </a:p>
          </p:txBody>
        </p:sp>
        <p:sp>
          <p:nvSpPr>
            <p:cNvPr id="73" name="Freeform 73"/>
            <p:cNvSpPr/>
            <p:nvPr/>
          </p:nvSpPr>
          <p:spPr>
            <a:xfrm>
              <a:off x="3619500" y="5372100"/>
              <a:ext cx="9525" cy="114300"/>
            </a:xfrm>
            <a:custGeom>
              <a:avLst/>
              <a:gdLst/>
              <a:ahLst/>
              <a:cxnLst/>
              <a:rect l="l" t="t" r="r" b="b"/>
              <a:pathLst>
                <a:path w="9525" h="114300">
                  <a:moveTo>
                    <a:pt x="0" y="1143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526477"/>
              </a:solidFill>
              <a:custDash>
                <a:ds d="250000" sp="200000"/>
              </a:custDash>
            </a:ln>
          </p:spPr>
        </p:sp>
        <p:sp>
          <p:nvSpPr>
            <p:cNvPr id="74" name="Freeform 74"/>
            <p:cNvSpPr/>
            <p:nvPr/>
          </p:nvSpPr>
          <p:spPr>
            <a:xfrm>
              <a:off x="3571875" y="5372100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66675"/>
                  </a:moveTo>
                  <a:lnTo>
                    <a:pt x="47625" y="0"/>
                  </a:lnTo>
                  <a:lnTo>
                    <a:pt x="95250" y="66675"/>
                  </a:lnTo>
                </a:path>
              </a:pathLst>
            </a:custGeom>
            <a:noFill/>
            <a:ln w="19050">
              <a:solidFill>
                <a:srgbClr val="526477"/>
              </a:solidFill>
            </a:ln>
          </p:spPr>
        </p:sp>
        <p:sp>
          <p:nvSpPr>
            <p:cNvPr id="75" name="TextBox 75"/>
            <p:cNvSpPr/>
            <p:nvPr>
              <p:custDataLst>
                <p:tags r:id="rId26"/>
              </p:custDataLst>
            </p:nvPr>
          </p:nvSpPr>
          <p:spPr>
            <a:xfrm>
              <a:off x="5269230" y="5499068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稽核保留正式分類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8382000" y="4038600"/>
              <a:ext cx="3657600" cy="1771650"/>
            </a:xfrm>
            <a:prstGeom prst="roundRect">
              <a:avLst>
                <a:gd name="adj" fmla="val 4301"/>
              </a:avLst>
            </a:prstGeom>
            <a:solidFill>
              <a:srgbClr val="F4F7FA"/>
            </a:solidFill>
            <a:ln w="9525">
              <a:solidFill>
                <a:srgbClr val="D7E1EA"/>
              </a:solidFill>
            </a:ln>
          </p:spPr>
        </p:sp>
        <p:grpSp>
          <p:nvGrpSpPr>
            <p:cNvPr id="80" name="Group 80"/>
            <p:cNvGrpSpPr/>
            <p:nvPr/>
          </p:nvGrpSpPr>
          <p:grpSpPr>
            <a:xfrm>
              <a:off x="8612410" y="4112990"/>
              <a:ext cx="251841" cy="294704"/>
              <a:chOff x="8612410" y="4112990"/>
              <a:chExt cx="251841" cy="294704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8612410" y="4112990"/>
                <a:ext cx="224980" cy="289369"/>
              </a:xfrm>
              <a:custGeom>
                <a:avLst/>
                <a:gdLst/>
                <a:ahLst/>
                <a:cxnLst/>
                <a:rect l="l" t="t" r="r" b="b"/>
                <a:pathLst>
                  <a:path w="224980" h="289369">
                    <a:moveTo>
                      <a:pt x="112490" y="0"/>
                    </a:moveTo>
                    <a:lnTo>
                      <a:pt x="224980" y="48197"/>
                    </a:lnTo>
                    <a:lnTo>
                      <a:pt x="224980" y="133922"/>
                    </a:lnTo>
                    <a:cubicBezTo>
                      <a:pt x="224980" y="203644"/>
                      <a:pt x="171450" y="251841"/>
                      <a:pt x="112490" y="289369"/>
                    </a:cubicBezTo>
                    <a:cubicBezTo>
                      <a:pt x="53530" y="251841"/>
                      <a:pt x="0" y="203644"/>
                      <a:pt x="0" y="133922"/>
                    </a:cubicBezTo>
                    <a:lnTo>
                      <a:pt x="0" y="48197"/>
                    </a:lnTo>
                    <a:close/>
                  </a:path>
                </a:pathLst>
              </a:custGeom>
              <a:solidFill>
                <a:srgbClr val="FFFFFF"/>
              </a:solidFill>
              <a:ln w="16073" cap="rnd">
                <a:solidFill>
                  <a:srgbClr val="245EA8"/>
                </a:solidFill>
                <a:round/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8665940" y="4204144"/>
                <a:ext cx="123254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23254" h="85725">
                    <a:moveTo>
                      <a:pt x="0" y="42767"/>
                    </a:moveTo>
                    <a:lnTo>
                      <a:pt x="42862" y="85725"/>
                    </a:lnTo>
                    <a:lnTo>
                      <a:pt x="123254" y="0"/>
                    </a:lnTo>
                  </a:path>
                </a:pathLst>
              </a:custGeom>
              <a:noFill/>
              <a:ln w="21431" cap="rnd">
                <a:solidFill>
                  <a:srgbClr val="245EA8"/>
                </a:solidFill>
                <a:round/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8794528" y="4316635"/>
                <a:ext cx="69723" cy="91059"/>
              </a:xfrm>
              <a:custGeom>
                <a:avLst/>
                <a:gdLst/>
                <a:ahLst/>
                <a:cxnLst/>
                <a:rect l="l" t="t" r="r" b="b"/>
                <a:pathLst>
                  <a:path w="69723" h="91059">
                    <a:moveTo>
                      <a:pt x="16097" y="0"/>
                    </a:moveTo>
                    <a:lnTo>
                      <a:pt x="69723" y="0"/>
                    </a:lnTo>
                    <a:lnTo>
                      <a:pt x="69723" y="64294"/>
                    </a:lnTo>
                    <a:lnTo>
                      <a:pt x="0" y="64294"/>
                    </a:lnTo>
                    <a:moveTo>
                      <a:pt x="26861" y="37528"/>
                    </a:moveTo>
                    <a:lnTo>
                      <a:pt x="0" y="64294"/>
                    </a:lnTo>
                    <a:lnTo>
                      <a:pt x="26861" y="91059"/>
                    </a:lnTo>
                  </a:path>
                </a:pathLst>
              </a:custGeom>
              <a:noFill/>
              <a:ln w="16073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81" name="TextBox 81"/>
            <p:cNvSpPr/>
            <p:nvPr>
              <p:custDataLst>
                <p:tags r:id="rId27"/>
              </p:custDataLst>
            </p:nvPr>
          </p:nvSpPr>
          <p:spPr>
            <a:xfrm>
              <a:off x="8982456" y="4127468"/>
              <a:ext cx="19209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d </a:t>
              </a:r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受控處置與回復</a:t>
              </a:r>
            </a:p>
          </p:txBody>
        </p:sp>
        <p:sp>
          <p:nvSpPr>
            <p:cNvPr id="82" name="TextBox 82"/>
            <p:cNvSpPr/>
            <p:nvPr>
              <p:custDataLst>
                <p:tags r:id="rId28"/>
              </p:custDataLst>
            </p:nvPr>
          </p:nvSpPr>
          <p:spPr>
            <a:xfrm>
              <a:off x="8601456" y="4603718"/>
              <a:ext cx="18562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策略檢查 → 套用</a:t>
              </a:r>
            </a:p>
          </p:txBody>
        </p:sp>
        <p:sp>
          <p:nvSpPr>
            <p:cNvPr id="83" name="TextBox 83"/>
            <p:cNvSpPr/>
            <p:nvPr>
              <p:custDataLst>
                <p:tags r:id="rId29"/>
              </p:custDataLst>
            </p:nvPr>
          </p:nvSpPr>
          <p:spPr>
            <a:xfrm>
              <a:off x="8601456" y="4956143"/>
              <a:ext cx="18562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讀回 → 到期撤銷</a:t>
              </a:r>
            </a:p>
          </p:txBody>
        </p:sp>
        <p:sp>
          <p:nvSpPr>
            <p:cNvPr id="84" name="TextBox 84"/>
            <p:cNvSpPr/>
            <p:nvPr>
              <p:custDataLst>
                <p:tags r:id="rId30"/>
              </p:custDataLst>
            </p:nvPr>
          </p:nvSpPr>
          <p:spPr>
            <a:xfrm>
              <a:off x="8602980" y="5470493"/>
              <a:ext cx="1950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複核／不確定 → 蒐證</a:t>
              </a:r>
            </a:p>
          </p:txBody>
        </p:sp>
        <p:sp>
          <p:nvSpPr>
            <p:cNvPr id="85" name="Freeform 85"/>
            <p:cNvSpPr/>
            <p:nvPr/>
          </p:nvSpPr>
          <p:spPr>
            <a:xfrm>
              <a:off x="7924800" y="4981575"/>
              <a:ext cx="457200" cy="9525"/>
            </a:xfrm>
            <a:custGeom>
              <a:avLst/>
              <a:gdLst/>
              <a:ahLst/>
              <a:cxnLst/>
              <a:rect l="l" t="t" r="r" b="b"/>
              <a:pathLst>
                <a:path w="457200" h="9525">
                  <a:moveTo>
                    <a:pt x="0" y="0"/>
                  </a:moveTo>
                  <a:lnTo>
                    <a:pt x="457200" y="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86" name="Freeform 86"/>
            <p:cNvSpPr/>
            <p:nvPr/>
          </p:nvSpPr>
          <p:spPr>
            <a:xfrm>
              <a:off x="83153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87" name="Rectangle 87"/>
            <p:cNvSpPr/>
            <p:nvPr/>
          </p:nvSpPr>
          <p:spPr>
            <a:xfrm>
              <a:off x="152400" y="5962650"/>
              <a:ext cx="11887200" cy="361950"/>
            </a:xfrm>
            <a:prstGeom prst="roundRect">
              <a:avLst>
                <a:gd name="adj" fmla="val 21053"/>
              </a:avLst>
            </a:prstGeom>
            <a:solidFill>
              <a:srgbClr val="F4F7FA"/>
            </a:solidFill>
            <a:ln w="9525">
              <a:solidFill>
                <a:srgbClr val="D7E1EA"/>
              </a:solidFill>
            </a:ln>
          </p:spPr>
        </p:sp>
        <p:sp>
          <p:nvSpPr>
            <p:cNvPr id="88" name="TextBox 88"/>
            <p:cNvSpPr/>
            <p:nvPr>
              <p:custDataLst>
                <p:tags r:id="rId31"/>
              </p:custDataLst>
            </p:nvPr>
          </p:nvSpPr>
          <p:spPr>
            <a:xfrm>
              <a:off x="2796350" y="6007132"/>
              <a:ext cx="65469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共用事件</a:t>
              </a:r>
              <a:r>
                <a:rPr lang="en-US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：正式判定｜</a:t>
              </a:r>
              <a:r>
                <a:rPr lang="en-US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證據｜</a:t>
              </a:r>
              <a:r>
                <a:rPr lang="en-US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稽核｜處置與回復回條</a:t>
              </a:r>
            </a:p>
          </p:txBody>
        </p:sp>
      </p:grpSp>
      <p:grpSp>
        <p:nvGrpSpPr>
          <p:cNvPr id="102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90" name="Line 90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91" name="TextBox 91"/>
            <p:cNvSpPr/>
            <p:nvPr>
              <p:custDataLst>
                <p:tags r:id="rId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92" name="TextBox 92"/>
            <p:cNvSpPr/>
            <p:nvPr>
              <p:custDataLst>
                <p:tags r:id="rId2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03 / 09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4" name="Rectangle 94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5" name="Rectangle 95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96" name="Rectangle 96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7" name="Rectangle 97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8" name="Rectangle 98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9" name="Rectangle 99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100" name="Rectangle 100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101" name="Rectangle 101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5120640" cy="1085850"/>
            <a:chOff x="593598" y="257175"/>
            <a:chExt cx="5120640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17"/>
              </p:custDataLst>
            </p:nvPr>
          </p:nvSpPr>
          <p:spPr>
            <a:xfrm>
              <a:off x="755523" y="314325"/>
              <a:ext cx="133978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DETECTION</a:t>
              </a:r>
            </a:p>
          </p:txBody>
        </p:sp>
        <p:sp>
          <p:nvSpPr>
            <p:cNvPr id="4" name="TextBox 4"/>
            <p:cNvSpPr/>
            <p:nvPr>
              <p:custDataLst>
                <p:tags r:id="rId18"/>
              </p:custDataLst>
            </p:nvPr>
          </p:nvSpPr>
          <p:spPr>
            <a:xfrm>
              <a:off x="593598" y="723900"/>
              <a:ext cx="512064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互補模型，形成同一次判定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61" name="page-content"/>
          <p:cNvGrpSpPr/>
          <p:nvPr/>
        </p:nvGrpSpPr>
        <p:grpSpPr>
          <a:xfrm>
            <a:off x="609600" y="1809750"/>
            <a:ext cx="10972800" cy="4181475"/>
            <a:chOff x="609600" y="1809750"/>
            <a:chExt cx="10972800" cy="4181475"/>
          </a:xfrm>
        </p:grpSpPr>
        <p:sp>
          <p:nvSpPr>
            <p:cNvPr id="7" name="Rectangle 7"/>
            <p:cNvSpPr/>
            <p:nvPr/>
          </p:nvSpPr>
          <p:spPr>
            <a:xfrm>
              <a:off x="609600" y="1809750"/>
              <a:ext cx="2095500" cy="3333750"/>
            </a:xfrm>
            <a:prstGeom prst="roundRect">
              <a:avLst>
                <a:gd name="adj" fmla="val 3636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8" name="TextBox 8"/>
            <p:cNvSpPr/>
            <p:nvPr>
              <p:custDataLst>
                <p:tags r:id="rId3"/>
              </p:custDataLst>
            </p:nvPr>
          </p:nvSpPr>
          <p:spPr>
            <a:xfrm>
              <a:off x="809244" y="1968532"/>
              <a:ext cx="15948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同一流量輸入</a:t>
              </a:r>
            </a:p>
          </p:txBody>
        </p:sp>
        <p:sp>
          <p:nvSpPr>
            <p:cNvPr id="9" name="TextBox 9"/>
            <p:cNvSpPr/>
            <p:nvPr>
              <p:custDataLst>
                <p:tags r:id="rId4"/>
              </p:custDataLst>
            </p:nvPr>
          </p:nvSpPr>
          <p:spPr>
            <a:xfrm>
              <a:off x="810006" y="2565368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封包內容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866900" y="255270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1924050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2047875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2171700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2295525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5" name="TextBox 15"/>
            <p:cNvSpPr/>
            <p:nvPr>
              <p:custDataLst>
                <p:tags r:id="rId5"/>
              </p:custDataLst>
            </p:nvPr>
          </p:nvSpPr>
          <p:spPr>
            <a:xfrm>
              <a:off x="810006" y="3346418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時間差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1866900" y="333375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1924050" y="3390900"/>
              <a:ext cx="66675" cy="7620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2047875" y="3390900"/>
              <a:ext cx="66675" cy="104775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2171700" y="3390900"/>
              <a:ext cx="66675" cy="1333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2295525" y="3390900"/>
              <a:ext cx="66675" cy="161925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21" name="TextBox 21"/>
            <p:cNvSpPr/>
            <p:nvPr>
              <p:custDataLst>
                <p:tags r:id="rId6"/>
              </p:custDataLst>
            </p:nvPr>
          </p:nvSpPr>
          <p:spPr>
            <a:xfrm>
              <a:off x="810006" y="4127468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方向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866900" y="411480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1924050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2047875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2171700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2295525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2705100" y="2571750"/>
              <a:ext cx="819150" cy="904875"/>
            </a:xfrm>
            <a:custGeom>
              <a:avLst/>
              <a:gdLst/>
              <a:ahLst/>
              <a:cxnLst/>
              <a:rect l="l" t="t" r="r" b="b"/>
              <a:pathLst>
                <a:path w="819150" h="904875">
                  <a:moveTo>
                    <a:pt x="0" y="904875"/>
                  </a:moveTo>
                  <a:lnTo>
                    <a:pt x="419100" y="904875"/>
                  </a:lnTo>
                  <a:lnTo>
                    <a:pt x="419100" y="0"/>
                  </a:lnTo>
                  <a:lnTo>
                    <a:pt x="8191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3457575" y="25241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3124200" y="3476625"/>
              <a:ext cx="400050" cy="857250"/>
            </a:xfrm>
            <a:custGeom>
              <a:avLst/>
              <a:gdLst/>
              <a:ahLst/>
              <a:cxnLst/>
              <a:rect l="l" t="t" r="r" b="b"/>
              <a:pathLst>
                <a:path w="400050" h="857250">
                  <a:moveTo>
                    <a:pt x="0" y="0"/>
                  </a:moveTo>
                  <a:lnTo>
                    <a:pt x="0" y="857250"/>
                  </a:lnTo>
                  <a:lnTo>
                    <a:pt x="400050" y="857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3457575" y="42862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3524250" y="1866900"/>
              <a:ext cx="3238500" cy="1409700"/>
            </a:xfrm>
            <a:prstGeom prst="roundRect">
              <a:avLst>
                <a:gd name="adj" fmla="val 5405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3524250" y="1866900"/>
              <a:ext cx="38100" cy="14097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3763613" y="2058638"/>
              <a:ext cx="683419" cy="683419"/>
              <a:chOff x="3763613" y="2058638"/>
              <a:chExt cx="683419" cy="683419"/>
            </a:xfrm>
          </p:grpSpPr>
          <p:sp>
            <p:nvSpPr>
              <p:cNvPr id="33" name="Rectangle 33"/>
              <p:cNvSpPr/>
              <p:nvPr/>
            </p:nvSpPr>
            <p:spPr>
              <a:xfrm>
                <a:off x="3861244" y="2156270"/>
                <a:ext cx="488156" cy="488156"/>
              </a:xfrm>
              <a:prstGeom prst="roundRect">
                <a:avLst>
                  <a:gd name="adj" fmla="val 12500"/>
                </a:avLst>
              </a:prstGeom>
              <a:solidFill>
                <a:srgbClr val="FFFFFF"/>
              </a:solidFill>
              <a:ln w="36612" cap="rnd">
                <a:solidFill>
                  <a:srgbClr val="245EA8"/>
                </a:solidFill>
                <a:round/>
              </a:ln>
            </p:spPr>
          </p:sp>
          <p:sp>
            <p:nvSpPr>
              <p:cNvPr id="34" name="Rectangle 34"/>
              <p:cNvSpPr/>
              <p:nvPr/>
            </p:nvSpPr>
            <p:spPr>
              <a:xfrm>
                <a:off x="3995452" y="2290477"/>
                <a:ext cx="219646" cy="219646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 w="36612" cap="rnd">
                <a:solidFill>
                  <a:srgbClr val="245EA8"/>
                </a:solidFill>
                <a:round/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3763613" y="2058638"/>
                <a:ext cx="683419" cy="683419"/>
              </a:xfrm>
              <a:custGeom>
                <a:avLst/>
                <a:gdLst/>
                <a:ahLst/>
                <a:cxnLst/>
                <a:rect l="l" t="t" r="r" b="b"/>
                <a:pathLst>
                  <a:path w="683419" h="683419">
                    <a:moveTo>
                      <a:pt x="207455" y="0"/>
                    </a:moveTo>
                    <a:lnTo>
                      <a:pt x="207455" y="97631"/>
                    </a:lnTo>
                    <a:moveTo>
                      <a:pt x="341662" y="0"/>
                    </a:moveTo>
                    <a:lnTo>
                      <a:pt x="341662" y="97631"/>
                    </a:lnTo>
                    <a:moveTo>
                      <a:pt x="475869" y="0"/>
                    </a:moveTo>
                    <a:lnTo>
                      <a:pt x="475869" y="97631"/>
                    </a:lnTo>
                    <a:moveTo>
                      <a:pt x="207455" y="585788"/>
                    </a:moveTo>
                    <a:lnTo>
                      <a:pt x="207455" y="683419"/>
                    </a:lnTo>
                    <a:moveTo>
                      <a:pt x="341662" y="585788"/>
                    </a:moveTo>
                    <a:lnTo>
                      <a:pt x="341662" y="683419"/>
                    </a:lnTo>
                    <a:moveTo>
                      <a:pt x="475869" y="585788"/>
                    </a:moveTo>
                    <a:lnTo>
                      <a:pt x="475869" y="683419"/>
                    </a:lnTo>
                    <a:moveTo>
                      <a:pt x="0" y="207454"/>
                    </a:moveTo>
                    <a:lnTo>
                      <a:pt x="97631" y="207454"/>
                    </a:lnTo>
                    <a:moveTo>
                      <a:pt x="0" y="341662"/>
                    </a:moveTo>
                    <a:lnTo>
                      <a:pt x="97631" y="341662"/>
                    </a:lnTo>
                    <a:moveTo>
                      <a:pt x="0" y="475869"/>
                    </a:moveTo>
                    <a:lnTo>
                      <a:pt x="97631" y="475869"/>
                    </a:lnTo>
                    <a:moveTo>
                      <a:pt x="585788" y="207454"/>
                    </a:moveTo>
                    <a:lnTo>
                      <a:pt x="683419" y="207454"/>
                    </a:lnTo>
                    <a:moveTo>
                      <a:pt x="585788" y="341662"/>
                    </a:moveTo>
                    <a:lnTo>
                      <a:pt x="683419" y="341662"/>
                    </a:lnTo>
                    <a:moveTo>
                      <a:pt x="585788" y="475869"/>
                    </a:moveTo>
                    <a:lnTo>
                      <a:pt x="683419" y="475869"/>
                    </a:lnTo>
                  </a:path>
                </a:pathLst>
              </a:custGeom>
              <a:noFill/>
              <a:ln w="36612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37" name="TextBox 37"/>
            <p:cNvSpPr/>
            <p:nvPr>
              <p:custDataLst>
                <p:tags r:id="rId7"/>
              </p:custDataLst>
            </p:nvPr>
          </p:nvSpPr>
          <p:spPr>
            <a:xfrm>
              <a:off x="4674108" y="1993868"/>
              <a:ext cx="126796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24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CTBM</a:t>
              </a:r>
            </a:p>
          </p:txBody>
        </p:sp>
        <p:sp>
          <p:nvSpPr>
            <p:cNvPr id="38" name="TextBox 38"/>
            <p:cNvSpPr/>
            <p:nvPr>
              <p:custDataLst>
                <p:tags r:id="rId8"/>
              </p:custDataLst>
            </p:nvPr>
          </p:nvSpPr>
          <p:spPr>
            <a:xfrm>
              <a:off x="4678299" y="2457450"/>
              <a:ext cx="144189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內容·時序·方向</a:t>
              </a:r>
            </a:p>
          </p:txBody>
        </p:sp>
        <p:sp>
          <p:nvSpPr>
            <p:cNvPr id="39" name="TextBox 39"/>
            <p:cNvSpPr/>
            <p:nvPr>
              <p:custDataLst>
                <p:tags r:id="rId9"/>
              </p:custDataLst>
            </p:nvPr>
          </p:nvSpPr>
          <p:spPr>
            <a:xfrm>
              <a:off x="3744849" y="2886075"/>
              <a:ext cx="19303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讀取流量的時序關係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3524250" y="3629025"/>
              <a:ext cx="3238500" cy="1409700"/>
            </a:xfrm>
            <a:prstGeom prst="roundRect">
              <a:avLst>
                <a:gd name="adj" fmla="val 5405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3524250" y="3629025"/>
              <a:ext cx="38100" cy="14097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3804952" y="3947255"/>
              <a:ext cx="562546" cy="375094"/>
              <a:chOff x="3804952" y="3947255"/>
              <a:chExt cx="562546" cy="375094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3804952" y="3947255"/>
                <a:ext cx="562546" cy="375094"/>
              </a:xfrm>
              <a:prstGeom prst="roundRect">
                <a:avLst>
                  <a:gd name="adj" fmla="val 13889"/>
                </a:avLst>
              </a:prstGeom>
              <a:solidFill>
                <a:srgbClr val="FFFFFF"/>
              </a:solidFill>
              <a:ln w="10418">
                <a:solidFill>
                  <a:srgbClr val="245EA8"/>
                </a:solidFill>
              </a:ln>
            </p:spPr>
          </p:sp>
          <p:sp>
            <p:nvSpPr>
              <p:cNvPr id="43" name="Line 43"/>
              <p:cNvSpPr/>
              <p:nvPr/>
            </p:nvSpPr>
            <p:spPr>
              <a:xfrm>
                <a:off x="3804952" y="3947255"/>
                <a:ext cx="281273" cy="208312"/>
              </a:xfrm>
              <a:custGeom>
                <a:avLst/>
                <a:gdLst/>
                <a:ahLst/>
                <a:cxnLst/>
                <a:rect l="l" t="t" r="r" b="b"/>
                <a:pathLst>
                  <a:path w="281273" h="208312">
                    <a:moveTo>
                      <a:pt x="0" y="0"/>
                    </a:moveTo>
                    <a:lnTo>
                      <a:pt x="281273" y="208312"/>
                    </a:lnTo>
                  </a:path>
                </a:pathLst>
              </a:custGeom>
              <a:noFill/>
              <a:ln w="26045" cap="rnd">
                <a:solidFill>
                  <a:srgbClr val="245EA8"/>
                </a:solidFill>
              </a:ln>
            </p:spPr>
          </p:sp>
          <p:sp>
            <p:nvSpPr>
              <p:cNvPr id="44" name="Line 44"/>
              <p:cNvSpPr/>
              <p:nvPr/>
            </p:nvSpPr>
            <p:spPr>
              <a:xfrm>
                <a:off x="4086225" y="3947255"/>
                <a:ext cx="281273" cy="208312"/>
              </a:xfrm>
              <a:custGeom>
                <a:avLst/>
                <a:gdLst/>
                <a:ahLst/>
                <a:cxnLst/>
                <a:rect l="l" t="t" r="r" b="b"/>
                <a:pathLst>
                  <a:path w="281273" h="208312">
                    <a:moveTo>
                      <a:pt x="0" y="208312"/>
                    </a:moveTo>
                    <a:lnTo>
                      <a:pt x="281273" y="0"/>
                    </a:lnTo>
                  </a:path>
                </a:pathLst>
              </a:custGeom>
              <a:noFill/>
              <a:ln w="26045" cap="rnd">
                <a:solidFill>
                  <a:srgbClr val="245EA8"/>
                </a:solidFill>
              </a:ln>
            </p:spPr>
          </p:sp>
        </p:grpSp>
        <p:sp>
          <p:nvSpPr>
            <p:cNvPr id="46" name="TextBox 46"/>
            <p:cNvSpPr/>
            <p:nvPr>
              <p:custDataLst>
                <p:tags r:id="rId10"/>
              </p:custDataLst>
            </p:nvPr>
          </p:nvSpPr>
          <p:spPr>
            <a:xfrm>
              <a:off x="4674108" y="3755993"/>
              <a:ext cx="145218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24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PBCNN</a:t>
              </a:r>
            </a:p>
          </p:txBody>
        </p:sp>
        <p:sp>
          <p:nvSpPr>
            <p:cNvPr id="47" name="TextBox 47"/>
            <p:cNvSpPr/>
            <p:nvPr>
              <p:custDataLst>
                <p:tags r:id="rId11"/>
              </p:custDataLst>
            </p:nvPr>
          </p:nvSpPr>
          <p:spPr>
            <a:xfrm>
              <a:off x="4678299" y="4238625"/>
              <a:ext cx="15048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短窗位元組模式</a:t>
              </a:r>
            </a:p>
          </p:txBody>
        </p:sp>
        <p:sp>
          <p:nvSpPr>
            <p:cNvPr id="48" name="TextBox 48"/>
            <p:cNvSpPr/>
            <p:nvPr>
              <p:custDataLst>
                <p:tags r:id="rId12"/>
              </p:custDataLst>
            </p:nvPr>
          </p:nvSpPr>
          <p:spPr>
            <a:xfrm>
              <a:off x="3744849" y="4648200"/>
              <a:ext cx="171764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補充局部內容特徵</a:t>
              </a:r>
            </a:p>
          </p:txBody>
        </p:sp>
        <p:sp>
          <p:nvSpPr>
            <p:cNvPr id="49" name="Freeform 49"/>
            <p:cNvSpPr/>
            <p:nvPr/>
          </p:nvSpPr>
          <p:spPr>
            <a:xfrm>
              <a:off x="6762750" y="2571750"/>
              <a:ext cx="952500" cy="904875"/>
            </a:xfrm>
            <a:custGeom>
              <a:avLst/>
              <a:gdLst/>
              <a:ahLst/>
              <a:cxnLst/>
              <a:rect l="l" t="t" r="r" b="b"/>
              <a:pathLst>
                <a:path w="952500" h="904875">
                  <a:moveTo>
                    <a:pt x="0" y="0"/>
                  </a:moveTo>
                  <a:lnTo>
                    <a:pt x="476250" y="0"/>
                  </a:lnTo>
                  <a:lnTo>
                    <a:pt x="476250" y="904875"/>
                  </a:lnTo>
                  <a:lnTo>
                    <a:pt x="952500" y="904875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7648575" y="34290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6762750" y="3476625"/>
              <a:ext cx="476250" cy="857250"/>
            </a:xfrm>
            <a:custGeom>
              <a:avLst/>
              <a:gdLst/>
              <a:ahLst/>
              <a:cxnLst/>
              <a:rect l="l" t="t" r="r" b="b"/>
              <a:pathLst>
                <a:path w="476250" h="857250">
                  <a:moveTo>
                    <a:pt x="0" y="857250"/>
                  </a:moveTo>
                  <a:lnTo>
                    <a:pt x="476250" y="857250"/>
                  </a:lnTo>
                  <a:lnTo>
                    <a:pt x="476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7191375" y="34766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66675"/>
                  </a:moveTo>
                  <a:lnTo>
                    <a:pt x="47625" y="0"/>
                  </a:lnTo>
                  <a:lnTo>
                    <a:pt x="95250" y="66675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7715250" y="2600325"/>
              <a:ext cx="3867150" cy="1714500"/>
            </a:xfrm>
            <a:prstGeom prst="roundRect">
              <a:avLst>
                <a:gd name="adj" fmla="val 4444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54" name="TextBox 54"/>
            <p:cNvSpPr/>
            <p:nvPr>
              <p:custDataLst>
                <p:tags r:id="rId13"/>
              </p:custDataLst>
            </p:nvPr>
          </p:nvSpPr>
          <p:spPr>
            <a:xfrm>
              <a:off x="7941945" y="2768632"/>
              <a:ext cx="25376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校準＋</a:t>
              </a:r>
              <a:r>
                <a:rPr lang="en-US" sz="22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OOF Gate</a:t>
              </a:r>
            </a:p>
          </p:txBody>
        </p:sp>
        <p:sp>
          <p:nvSpPr>
            <p:cNvPr id="55" name="TextBox 55"/>
            <p:cNvSpPr/>
            <p:nvPr>
              <p:custDataLst>
                <p:tags r:id="rId14"/>
              </p:custDataLst>
            </p:nvPr>
          </p:nvSpPr>
          <p:spPr>
            <a:xfrm>
              <a:off x="7943850" y="3248025"/>
              <a:ext cx="179060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依事件證據融合</a:t>
              </a:r>
            </a:p>
          </p:txBody>
        </p:sp>
        <p:sp>
          <p:nvSpPr>
            <p:cNvPr id="56" name="TextBox 56"/>
            <p:cNvSpPr/>
            <p:nvPr>
              <p:custDataLst>
                <p:tags r:id="rId15"/>
              </p:custDataLst>
            </p:nvPr>
          </p:nvSpPr>
          <p:spPr>
            <a:xfrm>
              <a:off x="7944612" y="3708368"/>
              <a:ext cx="210140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形成同一次正式判定</a:t>
              </a:r>
            </a:p>
          </p:txBody>
        </p:sp>
        <p:sp>
          <p:nvSpPr>
            <p:cNvPr id="57" name="Freeform 57"/>
            <p:cNvSpPr/>
            <p:nvPr/>
          </p:nvSpPr>
          <p:spPr>
            <a:xfrm>
              <a:off x="9648825" y="4314825"/>
              <a:ext cx="9525" cy="1066800"/>
            </a:xfrm>
            <a:custGeom>
              <a:avLst/>
              <a:gdLst/>
              <a:ahLst/>
              <a:cxnLst/>
              <a:rect l="l" t="t" r="r" b="b"/>
              <a:pathLst>
                <a:path w="9525" h="1066800">
                  <a:moveTo>
                    <a:pt x="0" y="0"/>
                  </a:moveTo>
                  <a:lnTo>
                    <a:pt x="0" y="106680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8" name="Freeform 58"/>
            <p:cNvSpPr/>
            <p:nvPr/>
          </p:nvSpPr>
          <p:spPr>
            <a:xfrm>
              <a:off x="9601200" y="5314950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609600" y="5381625"/>
              <a:ext cx="10972800" cy="609600"/>
            </a:xfrm>
            <a:prstGeom prst="roundRect">
              <a:avLst>
                <a:gd name="adj" fmla="val 12500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60" name="TextBox 60"/>
            <p:cNvSpPr/>
            <p:nvPr>
              <p:custDataLst>
                <p:tags r:id="rId16"/>
              </p:custDataLst>
            </p:nvPr>
          </p:nvSpPr>
          <p:spPr>
            <a:xfrm>
              <a:off x="828675" y="5534025"/>
              <a:ext cx="608352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17 類判定 ＋ 校準信心 ＋ 模型表徵 → 後段檢索與稽核</a:t>
              </a:r>
            </a:p>
          </p:txBody>
        </p:sp>
      </p:grpSp>
      <p:grpSp>
        <p:nvGrpSpPr>
          <p:cNvPr id="74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62" name="Line 62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63" name="TextBox 63"/>
            <p:cNvSpPr/>
            <p:nvPr>
              <p:custDataLst>
                <p:tags r:id="rId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64" name="TextBox 64"/>
            <p:cNvSpPr/>
            <p:nvPr>
              <p:custDataLst>
                <p:tags r:id="rId2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04 / 09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5968746" cy="1085850"/>
            <a:chOff x="593598" y="257175"/>
            <a:chExt cx="5968746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28"/>
              </p:custDataLst>
            </p:nvPr>
          </p:nvSpPr>
          <p:spPr>
            <a:xfrm>
              <a:off x="755523" y="314325"/>
              <a:ext cx="118005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EVIDENCE</a:t>
              </a:r>
            </a:p>
          </p:txBody>
        </p:sp>
        <p:sp>
          <p:nvSpPr>
            <p:cNvPr id="4" name="TextBox 4"/>
            <p:cNvSpPr/>
            <p:nvPr>
              <p:custDataLst>
                <p:tags r:id="rId29"/>
              </p:custDataLst>
            </p:nvPr>
          </p:nvSpPr>
          <p:spPr>
            <a:xfrm>
              <a:off x="593598" y="723900"/>
              <a:ext cx="59687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把偵測表徵，變成可核對的證據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86" name="page-content"/>
          <p:cNvGrpSpPr/>
          <p:nvPr/>
        </p:nvGrpSpPr>
        <p:grpSpPr>
          <a:xfrm>
            <a:off x="600456" y="1612868"/>
            <a:ext cx="10981944" cy="4504944"/>
            <a:chOff x="600456" y="1612868"/>
            <a:chExt cx="10981944" cy="4504944"/>
          </a:xfrm>
        </p:grpSpPr>
        <p:sp>
          <p:nvSpPr>
            <p:cNvPr id="7" name="TextBox 7"/>
            <p:cNvSpPr/>
            <p:nvPr>
              <p:custDataLst>
                <p:tags r:id="rId3"/>
              </p:custDataLst>
            </p:nvPr>
          </p:nvSpPr>
          <p:spPr>
            <a:xfrm>
              <a:off x="600837" y="1612868"/>
              <a:ext cx="17125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01 組合任務向量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" y="2152650"/>
              <a:ext cx="2476500" cy="714375"/>
            </a:xfrm>
            <a:prstGeom prst="roundRect">
              <a:avLst>
                <a:gd name="adj" fmla="val 10667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69906" y="2318004"/>
              <a:ext cx="403288" cy="374142"/>
              <a:chOff x="769906" y="2318004"/>
              <a:chExt cx="403288" cy="374142"/>
            </a:xfrm>
          </p:grpSpPr>
          <p:sp>
            <p:nvSpPr>
              <p:cNvPr id="9" name="Line 9"/>
              <p:cNvSpPr/>
              <p:nvPr/>
            </p:nvSpPr>
            <p:spPr>
              <a:xfrm>
                <a:off x="769906" y="2318004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51054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10" name="Line 10"/>
              <p:cNvSpPr/>
              <p:nvPr/>
            </p:nvSpPr>
            <p:spPr>
              <a:xfrm>
                <a:off x="769906" y="2318004"/>
                <a:ext cx="9525" cy="36461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17">
                    <a:moveTo>
                      <a:pt x="0" y="0"/>
                    </a:moveTo>
                    <a:lnTo>
                      <a:pt x="0" y="364617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11" name="Line 11"/>
              <p:cNvSpPr/>
              <p:nvPr/>
            </p:nvSpPr>
            <p:spPr>
              <a:xfrm>
                <a:off x="769906" y="2682621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0" y="0"/>
                    </a:moveTo>
                    <a:lnTo>
                      <a:pt x="51054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12" name="Line 12"/>
              <p:cNvSpPr/>
              <p:nvPr/>
            </p:nvSpPr>
            <p:spPr>
              <a:xfrm>
                <a:off x="1112615" y="2318004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0" y="0"/>
                    </a:moveTo>
                    <a:lnTo>
                      <a:pt x="51054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13" name="Line 13"/>
              <p:cNvSpPr/>
              <p:nvPr/>
            </p:nvSpPr>
            <p:spPr>
              <a:xfrm>
                <a:off x="1163669" y="2318004"/>
                <a:ext cx="9525" cy="36461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17">
                    <a:moveTo>
                      <a:pt x="0" y="0"/>
                    </a:moveTo>
                    <a:lnTo>
                      <a:pt x="0" y="364617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14" name="Line 14"/>
              <p:cNvSpPr/>
              <p:nvPr/>
            </p:nvSpPr>
            <p:spPr>
              <a:xfrm>
                <a:off x="1112615" y="2682621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51054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15" name="Rectangle 15"/>
              <p:cNvSpPr/>
              <p:nvPr/>
            </p:nvSpPr>
            <p:spPr>
              <a:xfrm>
                <a:off x="864680" y="2361724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16" name="Rectangle 16"/>
              <p:cNvSpPr/>
              <p:nvPr/>
            </p:nvSpPr>
            <p:spPr>
              <a:xfrm>
                <a:off x="864680" y="2442020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17" name="Rectangle 17"/>
              <p:cNvSpPr/>
              <p:nvPr/>
            </p:nvSpPr>
            <p:spPr>
              <a:xfrm>
                <a:off x="864680" y="2522220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18" name="Rectangle 18"/>
              <p:cNvSpPr/>
              <p:nvPr/>
            </p:nvSpPr>
            <p:spPr>
              <a:xfrm>
                <a:off x="864680" y="2602421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</p:grpSp>
        <p:sp>
          <p:nvSpPr>
            <p:cNvPr id="20" name="TextBox 20"/>
            <p:cNvSpPr/>
            <p:nvPr>
              <p:custDataLst>
                <p:tags r:id="rId4"/>
              </p:custDataLst>
            </p:nvPr>
          </p:nvSpPr>
          <p:spPr>
            <a:xfrm>
              <a:off x="1470279" y="2374868"/>
              <a:ext cx="119329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512 維表徵</a:t>
              </a:r>
            </a:p>
          </p:txBody>
        </p:sp>
        <p:sp>
          <p:nvSpPr>
            <p:cNvPr id="21" name="TextBox 21"/>
            <p:cNvSpPr/>
            <p:nvPr>
              <p:custDataLst>
                <p:tags r:id="rId5"/>
              </p:custDataLst>
            </p:nvPr>
          </p:nvSpPr>
          <p:spPr>
            <a:xfrm>
              <a:off x="1649254" y="2911507"/>
              <a:ext cx="3257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22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＋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" y="3400425"/>
              <a:ext cx="2476500" cy="714375"/>
            </a:xfrm>
            <a:prstGeom prst="roundRect">
              <a:avLst>
                <a:gd name="adj" fmla="val 10667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69906" y="3575304"/>
              <a:ext cx="403288" cy="374142"/>
              <a:chOff x="769906" y="3575304"/>
              <a:chExt cx="403288" cy="374142"/>
            </a:xfrm>
          </p:grpSpPr>
          <p:sp>
            <p:nvSpPr>
              <p:cNvPr id="23" name="Line 23"/>
              <p:cNvSpPr/>
              <p:nvPr/>
            </p:nvSpPr>
            <p:spPr>
              <a:xfrm>
                <a:off x="769906" y="3575304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51054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769906" y="3575304"/>
                <a:ext cx="9525" cy="36461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17">
                    <a:moveTo>
                      <a:pt x="0" y="0"/>
                    </a:moveTo>
                    <a:lnTo>
                      <a:pt x="0" y="364617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769906" y="3939921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0" y="0"/>
                    </a:moveTo>
                    <a:lnTo>
                      <a:pt x="51054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1112615" y="3575304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0" y="0"/>
                    </a:moveTo>
                    <a:lnTo>
                      <a:pt x="51054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1163669" y="3575304"/>
                <a:ext cx="9525" cy="36461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17">
                    <a:moveTo>
                      <a:pt x="0" y="0"/>
                    </a:moveTo>
                    <a:lnTo>
                      <a:pt x="0" y="364617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1112615" y="3939921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51054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29" name="Rectangle 29"/>
              <p:cNvSpPr/>
              <p:nvPr/>
            </p:nvSpPr>
            <p:spPr>
              <a:xfrm>
                <a:off x="864680" y="3619024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30" name="Rectangle 30"/>
              <p:cNvSpPr/>
              <p:nvPr/>
            </p:nvSpPr>
            <p:spPr>
              <a:xfrm>
                <a:off x="864680" y="3699320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31" name="Rectangle 31"/>
              <p:cNvSpPr/>
              <p:nvPr/>
            </p:nvSpPr>
            <p:spPr>
              <a:xfrm>
                <a:off x="864680" y="3779520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32" name="Rectangle 32"/>
              <p:cNvSpPr/>
              <p:nvPr/>
            </p:nvSpPr>
            <p:spPr>
              <a:xfrm>
                <a:off x="864680" y="3859721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</p:grpSp>
        <p:sp>
          <p:nvSpPr>
            <p:cNvPr id="34" name="TextBox 34"/>
            <p:cNvSpPr/>
            <p:nvPr>
              <p:custDataLst>
                <p:tags r:id="rId6"/>
              </p:custDataLst>
            </p:nvPr>
          </p:nvSpPr>
          <p:spPr>
            <a:xfrm>
              <a:off x="1327975" y="3622643"/>
              <a:ext cx="148104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32" rIns="0" bIns="0" anchor="t" anchorCtr="0">
              <a:noAutofit/>
            </a:bodyPr>
            <a:lstStyle/>
            <a:p>
              <a:pPr algn="ctr"/>
              <a:r>
                <a:rPr lang="zh-TW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17 維類別機率</a:t>
              </a:r>
            </a:p>
          </p:txBody>
        </p:sp>
        <p:sp>
          <p:nvSpPr>
            <p:cNvPr id="35" name="Freeform 35"/>
            <p:cNvSpPr/>
            <p:nvPr/>
          </p:nvSpPr>
          <p:spPr>
            <a:xfrm>
              <a:off x="1847850" y="2514600"/>
              <a:ext cx="1485900" cy="2038350"/>
            </a:xfrm>
            <a:custGeom>
              <a:avLst/>
              <a:gdLst/>
              <a:ahLst/>
              <a:cxnLst/>
              <a:rect l="l" t="t" r="r" b="b"/>
              <a:pathLst>
                <a:path w="1485900" h="2038350">
                  <a:moveTo>
                    <a:pt x="1238250" y="0"/>
                  </a:moveTo>
                  <a:lnTo>
                    <a:pt x="1485900" y="0"/>
                  </a:lnTo>
                  <a:lnTo>
                    <a:pt x="1485900" y="1866900"/>
                  </a:lnTo>
                  <a:lnTo>
                    <a:pt x="0" y="1866900"/>
                  </a:lnTo>
                  <a:lnTo>
                    <a:pt x="0" y="20383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1800225" y="44862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1847850" y="4114800"/>
              <a:ext cx="9525" cy="438150"/>
            </a:xfrm>
            <a:custGeom>
              <a:avLst/>
              <a:gdLst/>
              <a:ahLst/>
              <a:cxnLst/>
              <a:rect l="l" t="t" r="r" b="b"/>
              <a:pathLst>
                <a:path w="9525" h="438150">
                  <a:moveTo>
                    <a:pt x="0" y="0"/>
                  </a:moveTo>
                  <a:lnTo>
                    <a:pt x="0" y="4381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1800225" y="44862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09600" y="4552950"/>
              <a:ext cx="2476500" cy="933450"/>
            </a:xfrm>
            <a:prstGeom prst="roundRect">
              <a:avLst>
                <a:gd name="adj" fmla="val 8163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40" name="TextBox 40"/>
            <p:cNvSpPr/>
            <p:nvPr>
              <p:custDataLst>
                <p:tags r:id="rId7"/>
              </p:custDataLst>
            </p:nvPr>
          </p:nvSpPr>
          <p:spPr>
            <a:xfrm>
              <a:off x="908018" y="4721257"/>
              <a:ext cx="18177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529 維任務向量</a:t>
              </a:r>
            </a:p>
          </p:txBody>
        </p:sp>
        <p:sp>
          <p:nvSpPr>
            <p:cNvPr id="41" name="TextBox 41"/>
            <p:cNvSpPr/>
            <p:nvPr>
              <p:custDataLst>
                <p:tags r:id="rId8"/>
              </p:custDataLst>
            </p:nvPr>
          </p:nvSpPr>
          <p:spPr>
            <a:xfrm>
              <a:off x="1309688" y="5105400"/>
              <a:ext cx="102546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en-US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L2 </a:t>
              </a:r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正規化</a:t>
              </a:r>
            </a:p>
          </p:txBody>
        </p:sp>
        <p:sp>
          <p:nvSpPr>
            <p:cNvPr id="42" name="Freeform 42"/>
            <p:cNvSpPr/>
            <p:nvPr/>
          </p:nvSpPr>
          <p:spPr>
            <a:xfrm>
              <a:off x="3086100" y="3076575"/>
              <a:ext cx="1009650" cy="1943100"/>
            </a:xfrm>
            <a:custGeom>
              <a:avLst/>
              <a:gdLst/>
              <a:ahLst/>
              <a:cxnLst/>
              <a:rect l="l" t="t" r="r" b="b"/>
              <a:pathLst>
                <a:path w="1009650" h="1943100">
                  <a:moveTo>
                    <a:pt x="0" y="1943100"/>
                  </a:moveTo>
                  <a:lnTo>
                    <a:pt x="628650" y="1943100"/>
                  </a:lnTo>
                  <a:lnTo>
                    <a:pt x="628650" y="0"/>
                  </a:lnTo>
                  <a:lnTo>
                    <a:pt x="10096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40290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4" name="TextBox 44"/>
            <p:cNvSpPr/>
            <p:nvPr>
              <p:custDataLst>
                <p:tags r:id="rId9"/>
              </p:custDataLst>
            </p:nvPr>
          </p:nvSpPr>
          <p:spPr>
            <a:xfrm>
              <a:off x="4086987" y="1612868"/>
              <a:ext cx="17125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02 找出相似案例</a:t>
              </a:r>
            </a:p>
          </p:txBody>
        </p:sp>
        <p:grpSp>
          <p:nvGrpSpPr>
            <p:cNvPr id="50" name="Group 50"/>
            <p:cNvGrpSpPr/>
            <p:nvPr/>
          </p:nvGrpSpPr>
          <p:grpSpPr>
            <a:xfrm>
              <a:off x="4369784" y="2149412"/>
              <a:ext cx="1064800" cy="1044701"/>
              <a:chOff x="4369784" y="2149412"/>
              <a:chExt cx="1064800" cy="1044701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4369784" y="2290000"/>
                <a:ext cx="763429" cy="803720"/>
              </a:xfrm>
              <a:custGeom>
                <a:avLst/>
                <a:gdLst/>
                <a:ahLst/>
                <a:cxnLst/>
                <a:rect l="l" t="t" r="r" b="b"/>
                <a:pathLst>
                  <a:path w="763429" h="803720">
                    <a:moveTo>
                      <a:pt x="0" y="0"/>
                    </a:moveTo>
                    <a:lnTo>
                      <a:pt x="0" y="622840"/>
                    </a:lnTo>
                    <a:cubicBezTo>
                      <a:pt x="0" y="803720"/>
                      <a:pt x="763429" y="803720"/>
                      <a:pt x="763429" y="622840"/>
                    </a:cubicBezTo>
                    <a:lnTo>
                      <a:pt x="763429" y="0"/>
                    </a:lnTo>
                  </a:path>
                </a:pathLst>
              </a:custGeom>
              <a:solidFill>
                <a:srgbClr val="FFFFFF"/>
              </a:solidFill>
              <a:ln w="60275" cap="rnd">
                <a:solidFill>
                  <a:srgbClr val="245EA8"/>
                </a:solidFill>
                <a:round/>
              </a:ln>
            </p:spPr>
          </p:sp>
          <p:sp>
            <p:nvSpPr>
              <p:cNvPr id="46" name="Ellipse 46"/>
              <p:cNvSpPr/>
              <p:nvPr/>
            </p:nvSpPr>
            <p:spPr>
              <a:xfrm>
                <a:off x="4369784" y="2149412"/>
                <a:ext cx="763524" cy="281273"/>
              </a:xfrm>
              <a:prstGeom prst="ellipse">
                <a:avLst/>
              </a:prstGeom>
              <a:solidFill>
                <a:srgbClr val="FFFFFF"/>
              </a:solidFill>
              <a:ln w="60275" cap="rnd">
                <a:solidFill>
                  <a:srgbClr val="245EA8"/>
                </a:solidFill>
                <a:round/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4369784" y="2571274"/>
                <a:ext cx="763429" cy="180880"/>
              </a:xfrm>
              <a:custGeom>
                <a:avLst/>
                <a:gdLst/>
                <a:ahLst/>
                <a:cxnLst/>
                <a:rect l="l" t="t" r="r" b="b"/>
                <a:pathLst>
                  <a:path w="763429" h="180880">
                    <a:moveTo>
                      <a:pt x="0" y="0"/>
                    </a:moveTo>
                    <a:cubicBezTo>
                      <a:pt x="0" y="180880"/>
                      <a:pt x="763429" y="180880"/>
                      <a:pt x="763429" y="0"/>
                    </a:cubicBezTo>
                  </a:path>
                </a:pathLst>
              </a:custGeom>
              <a:noFill/>
              <a:ln w="60275" cap="rnd">
                <a:solidFill>
                  <a:srgbClr val="245EA8"/>
                </a:solidFill>
                <a:round/>
              </a:ln>
            </p:spPr>
          </p:sp>
          <p:sp>
            <p:nvSpPr>
              <p:cNvPr id="48" name="Ellipse 48"/>
              <p:cNvSpPr/>
              <p:nvPr/>
            </p:nvSpPr>
            <p:spPr>
              <a:xfrm>
                <a:off x="4872038" y="2611469"/>
                <a:ext cx="442055" cy="442055"/>
              </a:xfrm>
              <a:prstGeom prst="ellipse">
                <a:avLst/>
              </a:prstGeom>
              <a:solidFill>
                <a:srgbClr val="F4F7FA"/>
              </a:solidFill>
              <a:ln w="60275" cap="rnd">
                <a:solidFill>
                  <a:srgbClr val="245EA8"/>
                </a:solidFill>
                <a:round/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5253800" y="2993231"/>
                <a:ext cx="180784" cy="200882"/>
              </a:xfrm>
              <a:custGeom>
                <a:avLst/>
                <a:gdLst/>
                <a:ahLst/>
                <a:cxnLst/>
                <a:rect l="l" t="t" r="r" b="b"/>
                <a:pathLst>
                  <a:path w="180784" h="200882">
                    <a:moveTo>
                      <a:pt x="0" y="0"/>
                    </a:moveTo>
                    <a:lnTo>
                      <a:pt x="180784" y="200882"/>
                    </a:lnTo>
                  </a:path>
                </a:pathLst>
              </a:custGeom>
              <a:solidFill>
                <a:srgbClr val="FFFFFF"/>
              </a:solidFill>
              <a:ln w="80367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51" name="TextBox 51"/>
            <p:cNvSpPr/>
            <p:nvPr>
              <p:custDataLst>
                <p:tags r:id="rId10"/>
              </p:custDataLst>
            </p:nvPr>
          </p:nvSpPr>
          <p:spPr>
            <a:xfrm>
              <a:off x="5762625" y="2143125"/>
              <a:ext cx="1284446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訓練案例庫</a:t>
              </a:r>
            </a:p>
          </p:txBody>
        </p:sp>
        <p:sp>
          <p:nvSpPr>
            <p:cNvPr id="52" name="TextBox 52"/>
            <p:cNvSpPr/>
            <p:nvPr>
              <p:custDataLst>
                <p:tags r:id="rId11"/>
              </p:custDataLst>
            </p:nvPr>
          </p:nvSpPr>
          <p:spPr>
            <a:xfrm>
              <a:off x="5763768" y="2520982"/>
              <a:ext cx="12698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1,550 筆案例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40957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DF3FA"/>
            </a:solidFill>
            <a:ln w="9525">
              <a:solidFill>
                <a:srgbClr val="245EA8"/>
              </a:solidFill>
            </a:ln>
          </p:spPr>
        </p:sp>
        <p:sp>
          <p:nvSpPr>
            <p:cNvPr id="54" name="TextBox 54"/>
            <p:cNvSpPr/>
            <p:nvPr>
              <p:custDataLst>
                <p:tags r:id="rId12"/>
              </p:custDataLst>
            </p:nvPr>
          </p:nvSpPr>
          <p:spPr>
            <a:xfrm>
              <a:off x="4260723" y="4013168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1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472440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DF3FA"/>
            </a:solidFill>
            <a:ln w="9525">
              <a:solidFill>
                <a:srgbClr val="245EA8"/>
              </a:solidFill>
            </a:ln>
          </p:spPr>
        </p:sp>
        <p:sp>
          <p:nvSpPr>
            <p:cNvPr id="56" name="TextBox 56"/>
            <p:cNvSpPr/>
            <p:nvPr>
              <p:custDataLst>
                <p:tags r:id="rId13"/>
              </p:custDataLst>
            </p:nvPr>
          </p:nvSpPr>
          <p:spPr>
            <a:xfrm>
              <a:off x="4889373" y="4013168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2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3530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DF3FA"/>
            </a:solidFill>
            <a:ln w="9525">
              <a:solidFill>
                <a:srgbClr val="245EA8"/>
              </a:solidFill>
            </a:ln>
          </p:spPr>
        </p:sp>
        <p:sp>
          <p:nvSpPr>
            <p:cNvPr id="58" name="TextBox 58"/>
            <p:cNvSpPr/>
            <p:nvPr>
              <p:custDataLst>
                <p:tags r:id="rId14"/>
              </p:custDataLst>
            </p:nvPr>
          </p:nvSpPr>
          <p:spPr>
            <a:xfrm>
              <a:off x="5518023" y="4013168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3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598170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DF3FA"/>
            </a:solidFill>
            <a:ln w="9525">
              <a:solidFill>
                <a:srgbClr val="245EA8"/>
              </a:solidFill>
            </a:ln>
          </p:spPr>
        </p:sp>
        <p:sp>
          <p:nvSpPr>
            <p:cNvPr id="60" name="TextBox 60"/>
            <p:cNvSpPr/>
            <p:nvPr>
              <p:custDataLst>
                <p:tags r:id="rId15"/>
              </p:custDataLst>
            </p:nvPr>
          </p:nvSpPr>
          <p:spPr>
            <a:xfrm>
              <a:off x="6146673" y="4013168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4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6103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DF3FA"/>
            </a:solidFill>
            <a:ln w="9525">
              <a:solidFill>
                <a:srgbClr val="245EA8"/>
              </a:solidFill>
            </a:ln>
          </p:spPr>
        </p:sp>
        <p:sp>
          <p:nvSpPr>
            <p:cNvPr id="62" name="TextBox 62"/>
            <p:cNvSpPr/>
            <p:nvPr>
              <p:custDataLst>
                <p:tags r:id="rId16"/>
              </p:custDataLst>
            </p:nvPr>
          </p:nvSpPr>
          <p:spPr>
            <a:xfrm>
              <a:off x="6775323" y="4013168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5</a:t>
              </a:r>
            </a:p>
          </p:txBody>
        </p:sp>
        <p:sp>
          <p:nvSpPr>
            <p:cNvPr id="63" name="TextBox 63"/>
            <p:cNvSpPr/>
            <p:nvPr>
              <p:custDataLst>
                <p:tags r:id="rId17"/>
              </p:custDataLst>
            </p:nvPr>
          </p:nvSpPr>
          <p:spPr>
            <a:xfrm>
              <a:off x="4086225" y="4724400"/>
              <a:ext cx="180317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相似案例</a:t>
              </a:r>
            </a:p>
          </p:txBody>
        </p:sp>
        <p:sp>
          <p:nvSpPr>
            <p:cNvPr id="64" name="TextBox 64"/>
            <p:cNvSpPr/>
            <p:nvPr>
              <p:custDataLst>
                <p:tags r:id="rId18"/>
              </p:custDataLst>
            </p:nvPr>
          </p:nvSpPr>
          <p:spPr>
            <a:xfrm>
              <a:off x="4087749" y="5114925"/>
              <a:ext cx="15048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只檢索訓練資料</a:t>
              </a:r>
            </a:p>
          </p:txBody>
        </p:sp>
        <p:sp>
          <p:nvSpPr>
            <p:cNvPr id="65" name="Freeform 65"/>
            <p:cNvSpPr/>
            <p:nvPr/>
          </p:nvSpPr>
          <p:spPr>
            <a:xfrm>
              <a:off x="7200900" y="2819400"/>
              <a:ext cx="895350" cy="1323975"/>
            </a:xfrm>
            <a:custGeom>
              <a:avLst/>
              <a:gdLst/>
              <a:ahLst/>
              <a:cxnLst/>
              <a:rect l="l" t="t" r="r" b="b"/>
              <a:pathLst>
                <a:path w="895350" h="1323975">
                  <a:moveTo>
                    <a:pt x="0" y="1323975"/>
                  </a:moveTo>
                  <a:lnTo>
                    <a:pt x="419100" y="1323975"/>
                  </a:lnTo>
                  <a:lnTo>
                    <a:pt x="419100" y="0"/>
                  </a:lnTo>
                  <a:lnTo>
                    <a:pt x="8953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8029575" y="2771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67" name="TextBox 67"/>
            <p:cNvSpPr/>
            <p:nvPr>
              <p:custDataLst>
                <p:tags r:id="rId19"/>
              </p:custDataLst>
            </p:nvPr>
          </p:nvSpPr>
          <p:spPr>
            <a:xfrm>
              <a:off x="8087487" y="1612868"/>
              <a:ext cx="17282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03 本機</a:t>
              </a:r>
              <a:r>
                <a:rPr lang="en-US" sz="17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7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8096250" y="2286000"/>
              <a:ext cx="3486150" cy="1066800"/>
            </a:xfrm>
            <a:prstGeom prst="roundRect">
              <a:avLst>
                <a:gd name="adj" fmla="val 7143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69" name="TextBox 69"/>
            <p:cNvSpPr/>
            <p:nvPr>
              <p:custDataLst>
                <p:tags r:id="rId20"/>
              </p:custDataLst>
            </p:nvPr>
          </p:nvSpPr>
          <p:spPr>
            <a:xfrm>
              <a:off x="8879681" y="2501932"/>
              <a:ext cx="185737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判定＋案例證據</a:t>
              </a:r>
            </a:p>
          </p:txBody>
        </p:sp>
        <p:sp>
          <p:nvSpPr>
            <p:cNvPr id="70" name="TextBox 70"/>
            <p:cNvSpPr/>
            <p:nvPr>
              <p:custDataLst>
                <p:tags r:id="rId21"/>
              </p:custDataLst>
            </p:nvPr>
          </p:nvSpPr>
          <p:spPr>
            <a:xfrm>
              <a:off x="9138380" y="2892457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核對同一事件</a:t>
              </a:r>
            </a:p>
          </p:txBody>
        </p:sp>
        <p:sp>
          <p:nvSpPr>
            <p:cNvPr id="71" name="Freeform 71"/>
            <p:cNvSpPr/>
            <p:nvPr/>
          </p:nvSpPr>
          <p:spPr>
            <a:xfrm>
              <a:off x="8658225" y="3352800"/>
              <a:ext cx="1181100" cy="361950"/>
            </a:xfrm>
            <a:custGeom>
              <a:avLst/>
              <a:gdLst/>
              <a:ahLst/>
              <a:cxnLst/>
              <a:rect l="l" t="t" r="r" b="b"/>
              <a:pathLst>
                <a:path w="1181100" h="361950">
                  <a:moveTo>
                    <a:pt x="1181100" y="0"/>
                  </a:moveTo>
                  <a:lnTo>
                    <a:pt x="1181100" y="180975"/>
                  </a:lnTo>
                  <a:lnTo>
                    <a:pt x="0" y="180975"/>
                  </a:lnTo>
                  <a:lnTo>
                    <a:pt x="0" y="3619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2" name="Freeform 72"/>
            <p:cNvSpPr/>
            <p:nvPr/>
          </p:nvSpPr>
          <p:spPr>
            <a:xfrm>
              <a:off x="86106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3" name="Freeform 73"/>
            <p:cNvSpPr/>
            <p:nvPr/>
          </p:nvSpPr>
          <p:spPr>
            <a:xfrm>
              <a:off x="9839325" y="3533775"/>
              <a:ext cx="9525" cy="180975"/>
            </a:xfrm>
            <a:custGeom>
              <a:avLst/>
              <a:gdLst/>
              <a:ahLst/>
              <a:cxnLst/>
              <a:rect l="l" t="t" r="r" b="b"/>
              <a:pathLst>
                <a:path w="9525" h="180975">
                  <a:moveTo>
                    <a:pt x="0" y="0"/>
                  </a:moveTo>
                  <a:lnTo>
                    <a:pt x="0" y="180975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4" name="Freeform 74"/>
            <p:cNvSpPr/>
            <p:nvPr/>
          </p:nvSpPr>
          <p:spPr>
            <a:xfrm>
              <a:off x="97917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5" name="Freeform 75"/>
            <p:cNvSpPr/>
            <p:nvPr/>
          </p:nvSpPr>
          <p:spPr>
            <a:xfrm>
              <a:off x="9839325" y="3533775"/>
              <a:ext cx="1181100" cy="180975"/>
            </a:xfrm>
            <a:custGeom>
              <a:avLst/>
              <a:gdLst/>
              <a:ahLst/>
              <a:cxnLst/>
              <a:rect l="l" t="t" r="r" b="b"/>
              <a:pathLst>
                <a:path w="1181100" h="180975">
                  <a:moveTo>
                    <a:pt x="0" y="0"/>
                  </a:moveTo>
                  <a:lnTo>
                    <a:pt x="1181100" y="0"/>
                  </a:lnTo>
                  <a:lnTo>
                    <a:pt x="1181100" y="180975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6" name="Freeform 76"/>
            <p:cNvSpPr/>
            <p:nvPr/>
          </p:nvSpPr>
          <p:spPr>
            <a:xfrm>
              <a:off x="109728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80962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78" name="TextBox 78"/>
            <p:cNvSpPr/>
            <p:nvPr>
              <p:custDataLst>
                <p:tags r:id="rId22"/>
              </p:custDataLst>
            </p:nvPr>
          </p:nvSpPr>
          <p:spPr>
            <a:xfrm>
              <a:off x="8378190" y="3898868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支持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92773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80" name="TextBox 80"/>
            <p:cNvSpPr/>
            <p:nvPr>
              <p:custDataLst>
                <p:tags r:id="rId23"/>
              </p:custDataLst>
            </p:nvPr>
          </p:nvSpPr>
          <p:spPr>
            <a:xfrm>
              <a:off x="9559290" y="3898868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複核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104584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82" name="TextBox 82"/>
            <p:cNvSpPr/>
            <p:nvPr>
              <p:custDataLst>
                <p:tags r:id="rId24"/>
              </p:custDataLst>
            </p:nvPr>
          </p:nvSpPr>
          <p:spPr>
            <a:xfrm>
              <a:off x="10619232" y="3898868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不確定</a:t>
              </a:r>
            </a:p>
          </p:txBody>
        </p:sp>
        <p:sp>
          <p:nvSpPr>
            <p:cNvPr id="83" name="TextBox 83"/>
            <p:cNvSpPr/>
            <p:nvPr>
              <p:custDataLst>
                <p:tags r:id="rId25"/>
              </p:custDataLst>
            </p:nvPr>
          </p:nvSpPr>
          <p:spPr>
            <a:xfrm>
              <a:off x="8086725" y="4724400"/>
              <a:ext cx="153752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保留正式分類</a:t>
              </a:r>
            </a:p>
          </p:txBody>
        </p:sp>
        <p:sp>
          <p:nvSpPr>
            <p:cNvPr id="84" name="TextBox 84"/>
            <p:cNvSpPr/>
            <p:nvPr>
              <p:custDataLst>
                <p:tags r:id="rId26"/>
              </p:custDataLst>
            </p:nvPr>
          </p:nvSpPr>
          <p:spPr>
            <a:xfrm>
              <a:off x="8088249" y="5114925"/>
              <a:ext cx="214303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稽核結論附回事件紀錄</a:t>
              </a:r>
            </a:p>
          </p:txBody>
        </p:sp>
        <p:sp>
          <p:nvSpPr>
            <p:cNvPr id="85" name="TextBox 85"/>
            <p:cNvSpPr/>
            <p:nvPr>
              <p:custDataLst>
                <p:tags r:id="rId27"/>
              </p:custDataLst>
            </p:nvPr>
          </p:nvSpPr>
          <p:spPr>
            <a:xfrm>
              <a:off x="600456" y="5765768"/>
              <a:ext cx="52703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同一事件</a:t>
              </a:r>
              <a:r>
                <a:rPr lang="en-US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：分類結果與檢索證據一路可追溯。</a:t>
              </a:r>
            </a:p>
          </p:txBody>
        </p:sp>
      </p:grpSp>
      <p:grpSp>
        <p:nvGrpSpPr>
          <p:cNvPr id="99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87" name="Line 87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88" name="TextBox 88"/>
            <p:cNvSpPr/>
            <p:nvPr>
              <p:custDataLst>
                <p:tags r:id="rId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89" name="TextBox 89"/>
            <p:cNvSpPr/>
            <p:nvPr>
              <p:custDataLst>
                <p:tags r:id="rId2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05 / 09</a:t>
              </a:r>
            </a:p>
          </p:txBody>
        </p:sp>
        <p:sp>
          <p:nvSpPr>
            <p:cNvPr id="90" name="Rectangle 90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1" name="Rectangle 91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2" name="Rectangle 92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3" name="Rectangle 93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4" name="Rectangle 94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95" name="Rectangle 95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6" name="Rectangle 96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7" name="Rectangle 97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8" name="Rectangle 98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6392799" cy="1085850"/>
            <a:chOff x="593598" y="257175"/>
            <a:chExt cx="6392799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17"/>
              </p:custDataLst>
            </p:nvPr>
          </p:nvSpPr>
          <p:spPr>
            <a:xfrm>
              <a:off x="755523" y="314325"/>
              <a:ext cx="113080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CONTROL</a:t>
              </a:r>
            </a:p>
          </p:txBody>
        </p:sp>
        <p:sp>
          <p:nvSpPr>
            <p:cNvPr id="4" name="TextBox 4"/>
            <p:cNvSpPr/>
            <p:nvPr>
              <p:custDataLst>
                <p:tags r:id="rId18"/>
              </p:custDataLst>
            </p:nvPr>
          </p:nvSpPr>
          <p:spPr>
            <a:xfrm>
              <a:off x="593598" y="723900"/>
              <a:ext cx="6392799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受控執行，留下可回復的處置紀錄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67" name="page-content"/>
          <p:cNvGrpSpPr/>
          <p:nvPr/>
        </p:nvGrpSpPr>
        <p:grpSpPr>
          <a:xfrm>
            <a:off x="609600" y="1857375"/>
            <a:ext cx="10972800" cy="4238625"/>
            <a:chOff x="609600" y="1857375"/>
            <a:chExt cx="10972800" cy="4238625"/>
          </a:xfrm>
        </p:grpSpPr>
        <p:sp>
          <p:nvSpPr>
            <p:cNvPr id="7" name="Rectangle 7"/>
            <p:cNvSpPr/>
            <p:nvPr/>
          </p:nvSpPr>
          <p:spPr>
            <a:xfrm>
              <a:off x="60960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8" name="TextBox 8"/>
            <p:cNvSpPr/>
            <p:nvPr>
              <p:custDataLst>
                <p:tags r:id="rId3"/>
              </p:custDataLst>
            </p:nvPr>
          </p:nvSpPr>
          <p:spPr>
            <a:xfrm>
              <a:off x="811530" y="2031968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01</a:t>
              </a:r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1532954" y="2362772"/>
              <a:ext cx="811434" cy="949547"/>
              <a:chOff x="1532954" y="2362772"/>
              <a:chExt cx="811434" cy="94954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532954" y="2362772"/>
                <a:ext cx="725043" cy="932307"/>
              </a:xfrm>
              <a:custGeom>
                <a:avLst/>
                <a:gdLst/>
                <a:ahLst/>
                <a:cxnLst/>
                <a:rect l="l" t="t" r="r" b="b"/>
                <a:pathLst>
                  <a:path w="725043" h="932307">
                    <a:moveTo>
                      <a:pt x="362522" y="0"/>
                    </a:moveTo>
                    <a:lnTo>
                      <a:pt x="725043" y="155448"/>
                    </a:lnTo>
                    <a:lnTo>
                      <a:pt x="725043" y="431673"/>
                    </a:lnTo>
                    <a:cubicBezTo>
                      <a:pt x="725043" y="656082"/>
                      <a:pt x="552450" y="811435"/>
                      <a:pt x="362522" y="932307"/>
                    </a:cubicBezTo>
                    <a:cubicBezTo>
                      <a:pt x="172593" y="811435"/>
                      <a:pt x="0" y="656082"/>
                      <a:pt x="0" y="431673"/>
                    </a:cubicBezTo>
                    <a:lnTo>
                      <a:pt x="0" y="155448"/>
                    </a:lnTo>
                    <a:close/>
                  </a:path>
                </a:pathLst>
              </a:custGeom>
              <a:solidFill>
                <a:srgbClr val="FFFFFF"/>
              </a:solidFill>
              <a:ln w="51792" cap="rnd">
                <a:solidFill>
                  <a:srgbClr val="245EA8"/>
                </a:solidFill>
                <a:round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705546" y="2656237"/>
                <a:ext cx="397097" cy="276225"/>
              </a:xfrm>
              <a:custGeom>
                <a:avLst/>
                <a:gdLst/>
                <a:ahLst/>
                <a:cxnLst/>
                <a:rect l="l" t="t" r="r" b="b"/>
                <a:pathLst>
                  <a:path w="397097" h="276225">
                    <a:moveTo>
                      <a:pt x="0" y="138112"/>
                    </a:moveTo>
                    <a:lnTo>
                      <a:pt x="138112" y="276225"/>
                    </a:lnTo>
                    <a:lnTo>
                      <a:pt x="397097" y="0"/>
                    </a:lnTo>
                  </a:path>
                </a:pathLst>
              </a:custGeom>
              <a:noFill/>
              <a:ln w="69056" cap="rnd">
                <a:solidFill>
                  <a:srgbClr val="245EA8"/>
                </a:solidFill>
                <a:round/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2119884" y="3018854"/>
                <a:ext cx="224504" cy="293465"/>
              </a:xfrm>
              <a:custGeom>
                <a:avLst/>
                <a:gdLst/>
                <a:ahLst/>
                <a:cxnLst/>
                <a:rect l="l" t="t" r="r" b="b"/>
                <a:pathLst>
                  <a:path w="224504" h="293465">
                    <a:moveTo>
                      <a:pt x="51816" y="0"/>
                    </a:moveTo>
                    <a:lnTo>
                      <a:pt x="224504" y="0"/>
                    </a:lnTo>
                    <a:lnTo>
                      <a:pt x="224504" y="207169"/>
                    </a:lnTo>
                    <a:lnTo>
                      <a:pt x="0" y="207169"/>
                    </a:lnTo>
                    <a:moveTo>
                      <a:pt x="86297" y="120777"/>
                    </a:moveTo>
                    <a:lnTo>
                      <a:pt x="0" y="207169"/>
                    </a:lnTo>
                    <a:lnTo>
                      <a:pt x="86297" y="293465"/>
                    </a:lnTo>
                  </a:path>
                </a:pathLst>
              </a:custGeom>
              <a:noFill/>
              <a:ln w="51792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13" name="TextBox 13"/>
            <p:cNvSpPr/>
            <p:nvPr>
              <p:custDataLst>
                <p:tags r:id="rId4"/>
              </p:custDataLst>
            </p:nvPr>
          </p:nvSpPr>
          <p:spPr>
            <a:xfrm>
              <a:off x="1262539" y="3457575"/>
              <a:ext cx="1195959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21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政策檢查</a:t>
              </a:r>
            </a:p>
          </p:txBody>
        </p:sp>
        <p:sp>
          <p:nvSpPr>
            <p:cNvPr id="14" name="TextBox 14"/>
            <p:cNvSpPr/>
            <p:nvPr>
              <p:custDataLst>
                <p:tags r:id="rId5"/>
              </p:custDataLst>
            </p:nvPr>
          </p:nvSpPr>
          <p:spPr>
            <a:xfrm>
              <a:off x="985266" y="3927443"/>
              <a:ext cx="17727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範圍·允許動作·期限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318135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3432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40995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18" name="TextBox 18"/>
            <p:cNvSpPr/>
            <p:nvPr>
              <p:custDataLst>
                <p:tags r:id="rId6"/>
              </p:custDataLst>
            </p:nvPr>
          </p:nvSpPr>
          <p:spPr>
            <a:xfrm>
              <a:off x="3611880" y="2031968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02</a:t>
              </a:r>
            </a:p>
          </p:txBody>
        </p:sp>
        <p:grpSp>
          <p:nvGrpSpPr>
            <p:cNvPr id="28" name="Group 28"/>
            <p:cNvGrpSpPr/>
            <p:nvPr/>
          </p:nvGrpSpPr>
          <p:grpSpPr>
            <a:xfrm>
              <a:off x="4310062" y="2495550"/>
              <a:ext cx="771525" cy="685800"/>
              <a:chOff x="4310062" y="2495550"/>
              <a:chExt cx="771525" cy="68580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4310062" y="2495550"/>
                <a:ext cx="771525" cy="685800"/>
              </a:xfrm>
              <a:prstGeom prst="roundRect">
                <a:avLst>
                  <a:gd name="adj" fmla="val 8333"/>
                </a:avLst>
              </a:prstGeom>
              <a:solidFill>
                <a:srgbClr val="FFFFFF"/>
              </a:solidFill>
              <a:ln w="14288">
                <a:solidFill>
                  <a:srgbClr val="245EA8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4310062" y="2724150"/>
                <a:ext cx="771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71525" h="9525">
                    <a:moveTo>
                      <a:pt x="0" y="0"/>
                    </a:moveTo>
                    <a:lnTo>
                      <a:pt x="771525" y="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4310062" y="2952750"/>
                <a:ext cx="771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71525" h="9525">
                    <a:moveTo>
                      <a:pt x="0" y="0"/>
                    </a:moveTo>
                    <a:lnTo>
                      <a:pt x="771525" y="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4567238" y="24955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4852988" y="24955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4452938" y="27241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4767262" y="27241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4567238" y="29527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4852988" y="29527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</p:grpSp>
        <p:sp>
          <p:nvSpPr>
            <p:cNvPr id="29" name="TextBox 29"/>
            <p:cNvSpPr/>
            <p:nvPr>
              <p:custDataLst>
                <p:tags r:id="rId7"/>
              </p:custDataLst>
            </p:nvPr>
          </p:nvSpPr>
          <p:spPr>
            <a:xfrm>
              <a:off x="4062889" y="3457575"/>
              <a:ext cx="1195959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21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套用規則</a:t>
              </a:r>
            </a:p>
          </p:txBody>
        </p:sp>
        <p:sp>
          <p:nvSpPr>
            <p:cNvPr id="30" name="TextBox 30"/>
            <p:cNvSpPr/>
            <p:nvPr>
              <p:custDataLst>
                <p:tags r:id="rId8"/>
              </p:custDataLst>
            </p:nvPr>
          </p:nvSpPr>
          <p:spPr>
            <a:xfrm>
              <a:off x="3856672" y="3927443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受允許策略才執行</a:t>
              </a:r>
            </a:p>
          </p:txBody>
        </p:sp>
        <p:sp>
          <p:nvSpPr>
            <p:cNvPr id="31" name="Freeform 31"/>
            <p:cNvSpPr/>
            <p:nvPr/>
          </p:nvSpPr>
          <p:spPr>
            <a:xfrm>
              <a:off x="598170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614362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21030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34" name="TextBox 34"/>
            <p:cNvSpPr/>
            <p:nvPr>
              <p:custDataLst>
                <p:tags r:id="rId9"/>
              </p:custDataLst>
            </p:nvPr>
          </p:nvSpPr>
          <p:spPr>
            <a:xfrm>
              <a:off x="6412230" y="2031968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03</a:t>
              </a:r>
            </a:p>
          </p:txBody>
        </p:sp>
        <p:grpSp>
          <p:nvGrpSpPr>
            <p:cNvPr id="40" name="Group 40"/>
            <p:cNvGrpSpPr/>
            <p:nvPr/>
          </p:nvGrpSpPr>
          <p:grpSpPr>
            <a:xfrm>
              <a:off x="7210425" y="2452688"/>
              <a:ext cx="571500" cy="771525"/>
              <a:chOff x="7210425" y="2452688"/>
              <a:chExt cx="571500" cy="771525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7210425" y="2452688"/>
                <a:ext cx="571500" cy="771525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14288">
                <a:solidFill>
                  <a:srgbClr val="245EA8"/>
                </a:solidFill>
              </a:ln>
            </p:spPr>
          </p:sp>
          <p:sp>
            <p:nvSpPr>
              <p:cNvPr id="36" name="Line 36"/>
              <p:cNvSpPr/>
              <p:nvPr/>
            </p:nvSpPr>
            <p:spPr>
              <a:xfrm>
                <a:off x="7339012" y="2638425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37" name="Line 37"/>
              <p:cNvSpPr/>
              <p:nvPr/>
            </p:nvSpPr>
            <p:spPr>
              <a:xfrm>
                <a:off x="7339012" y="2795588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38" name="Line 38"/>
              <p:cNvSpPr/>
              <p:nvPr/>
            </p:nvSpPr>
            <p:spPr>
              <a:xfrm>
                <a:off x="7339012" y="2952750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39" name="Line 39"/>
              <p:cNvSpPr/>
              <p:nvPr/>
            </p:nvSpPr>
            <p:spPr>
              <a:xfrm>
                <a:off x="7339012" y="3109912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</p:grpSp>
        <p:sp>
          <p:nvSpPr>
            <p:cNvPr id="41" name="TextBox 41"/>
            <p:cNvSpPr/>
            <p:nvPr>
              <p:custDataLst>
                <p:tags r:id="rId10"/>
              </p:custDataLst>
            </p:nvPr>
          </p:nvSpPr>
          <p:spPr>
            <a:xfrm>
              <a:off x="6863239" y="3457575"/>
              <a:ext cx="1195959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21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讀回驗證</a:t>
              </a:r>
            </a:p>
          </p:txBody>
        </p:sp>
        <p:sp>
          <p:nvSpPr>
            <p:cNvPr id="42" name="TextBox 42"/>
            <p:cNvSpPr/>
            <p:nvPr>
              <p:custDataLst>
                <p:tags r:id="rId11"/>
              </p:custDataLst>
            </p:nvPr>
          </p:nvSpPr>
          <p:spPr>
            <a:xfrm>
              <a:off x="6556058" y="3927443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核對規則與事件回條</a:t>
              </a:r>
            </a:p>
          </p:txBody>
        </p:sp>
        <p:sp>
          <p:nvSpPr>
            <p:cNvPr id="43" name="Freeform 43"/>
            <p:cNvSpPr/>
            <p:nvPr/>
          </p:nvSpPr>
          <p:spPr>
            <a:xfrm>
              <a:off x="878205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89439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901065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46" name="TextBox 46"/>
            <p:cNvSpPr/>
            <p:nvPr>
              <p:custDataLst>
                <p:tags r:id="rId12"/>
              </p:custDataLst>
            </p:nvPr>
          </p:nvSpPr>
          <p:spPr>
            <a:xfrm>
              <a:off x="9212580" y="2031968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04</a:t>
              </a:r>
            </a:p>
          </p:txBody>
        </p:sp>
        <p:grpSp>
          <p:nvGrpSpPr>
            <p:cNvPr id="52" name="Group 52"/>
            <p:cNvGrpSpPr/>
            <p:nvPr/>
          </p:nvGrpSpPr>
          <p:grpSpPr>
            <a:xfrm>
              <a:off x="9939338" y="2438400"/>
              <a:ext cx="714375" cy="800100"/>
              <a:chOff x="9939338" y="2438400"/>
              <a:chExt cx="714375" cy="800100"/>
            </a:xfrm>
          </p:grpSpPr>
          <p:sp>
            <p:nvSpPr>
              <p:cNvPr id="47" name="Ellipse 47"/>
              <p:cNvSpPr/>
              <p:nvPr/>
            </p:nvSpPr>
            <p:spPr>
              <a:xfrm>
                <a:off x="9939338" y="2481262"/>
                <a:ext cx="714375" cy="714375"/>
              </a:xfrm>
              <a:prstGeom prst="ellipse">
                <a:avLst/>
              </a:prstGeom>
              <a:solidFill>
                <a:srgbClr val="FFFFFF"/>
              </a:solidFill>
              <a:ln w="35719">
                <a:solidFill>
                  <a:srgbClr val="245EA8"/>
                </a:solidFill>
              </a:ln>
            </p:spPr>
          </p:sp>
          <p:sp>
            <p:nvSpPr>
              <p:cNvPr id="48" name="Line 48"/>
              <p:cNvSpPr/>
              <p:nvPr/>
            </p:nvSpPr>
            <p:spPr>
              <a:xfrm>
                <a:off x="10296525" y="2581275"/>
                <a:ext cx="952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57175">
                    <a:moveTo>
                      <a:pt x="0" y="257175"/>
                    </a:moveTo>
                    <a:lnTo>
                      <a:pt x="0" y="0"/>
                    </a:lnTo>
                  </a:path>
                </a:pathLst>
              </a:custGeom>
              <a:noFill/>
              <a:ln w="35719" cap="rnd">
                <a:solidFill>
                  <a:srgbClr val="245EA8"/>
                </a:solidFill>
              </a:ln>
            </p:spPr>
          </p:sp>
          <p:sp>
            <p:nvSpPr>
              <p:cNvPr id="49" name="Line 49"/>
              <p:cNvSpPr/>
              <p:nvPr/>
            </p:nvSpPr>
            <p:spPr>
              <a:xfrm>
                <a:off x="10296525" y="2838450"/>
                <a:ext cx="2000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00012">
                    <a:moveTo>
                      <a:pt x="0" y="0"/>
                    </a:moveTo>
                    <a:lnTo>
                      <a:pt x="200025" y="100012"/>
                    </a:lnTo>
                  </a:path>
                </a:pathLst>
              </a:custGeom>
              <a:noFill/>
              <a:ln w="35719" cap="rnd">
                <a:solidFill>
                  <a:srgbClr val="245EA8"/>
                </a:solidFill>
              </a:ln>
            </p:spPr>
          </p:sp>
          <p:sp>
            <p:nvSpPr>
              <p:cNvPr id="50" name="Line 50"/>
              <p:cNvSpPr/>
              <p:nvPr/>
            </p:nvSpPr>
            <p:spPr>
              <a:xfrm>
                <a:off x="10296525" y="2438400"/>
                <a:ext cx="952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1438">
                    <a:moveTo>
                      <a:pt x="0" y="0"/>
                    </a:moveTo>
                    <a:lnTo>
                      <a:pt x="0" y="71438"/>
                    </a:lnTo>
                  </a:path>
                </a:pathLst>
              </a:custGeom>
              <a:noFill/>
              <a:ln w="35719" cap="rnd">
                <a:solidFill>
                  <a:srgbClr val="245EA8"/>
                </a:solidFill>
              </a:ln>
            </p:spPr>
          </p:sp>
          <p:sp>
            <p:nvSpPr>
              <p:cNvPr id="51" name="Line 51"/>
              <p:cNvSpPr/>
              <p:nvPr/>
            </p:nvSpPr>
            <p:spPr>
              <a:xfrm>
                <a:off x="10296525" y="3167062"/>
                <a:ext cx="952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1438">
                    <a:moveTo>
                      <a:pt x="0" y="0"/>
                    </a:moveTo>
                    <a:lnTo>
                      <a:pt x="0" y="71438"/>
                    </a:lnTo>
                  </a:path>
                </a:pathLst>
              </a:custGeom>
              <a:noFill/>
              <a:ln w="35719" cap="rnd">
                <a:solidFill>
                  <a:srgbClr val="245EA8"/>
                </a:solidFill>
              </a:ln>
            </p:spPr>
          </p:sp>
        </p:grpSp>
        <p:sp>
          <p:nvSpPr>
            <p:cNvPr id="53" name="TextBox 53"/>
            <p:cNvSpPr/>
            <p:nvPr>
              <p:custDataLst>
                <p:tags r:id="rId13"/>
              </p:custDataLst>
            </p:nvPr>
          </p:nvSpPr>
          <p:spPr>
            <a:xfrm>
              <a:off x="9663589" y="3457575"/>
              <a:ext cx="1195959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21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到期回復</a:t>
              </a:r>
            </a:p>
          </p:txBody>
        </p:sp>
        <p:sp>
          <p:nvSpPr>
            <p:cNvPr id="54" name="TextBox 54"/>
            <p:cNvSpPr/>
            <p:nvPr>
              <p:custDataLst>
                <p:tags r:id="rId14"/>
              </p:custDataLst>
            </p:nvPr>
          </p:nvSpPr>
          <p:spPr>
            <a:xfrm>
              <a:off x="9356408" y="3927443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撤銷並確認服務恢復</a:t>
              </a:r>
            </a:p>
          </p:txBody>
        </p:sp>
        <p:sp>
          <p:nvSpPr>
            <p:cNvPr id="55" name="Freeform 55"/>
            <p:cNvSpPr/>
            <p:nvPr/>
          </p:nvSpPr>
          <p:spPr>
            <a:xfrm>
              <a:off x="1895475" y="4305300"/>
              <a:ext cx="2143125" cy="581025"/>
            </a:xfrm>
            <a:custGeom>
              <a:avLst/>
              <a:gdLst/>
              <a:ahLst/>
              <a:cxnLst/>
              <a:rect l="l" t="t" r="r" b="b"/>
              <a:pathLst>
                <a:path w="2143125" h="581025">
                  <a:moveTo>
                    <a:pt x="0" y="0"/>
                  </a:moveTo>
                  <a:lnTo>
                    <a:pt x="0" y="581025"/>
                  </a:lnTo>
                  <a:lnTo>
                    <a:pt x="2143125" y="581025"/>
                  </a:lnTo>
                </a:path>
              </a:pathLst>
            </a:custGeom>
            <a:noFill/>
            <a:ln w="23812">
              <a:solidFill>
                <a:srgbClr val="526477"/>
              </a:solidFill>
              <a:custDash>
                <a:ds d="240000" sp="200000"/>
              </a:custDash>
            </a:ln>
          </p:spPr>
        </p:sp>
        <p:sp>
          <p:nvSpPr>
            <p:cNvPr id="56" name="Freeform 56"/>
            <p:cNvSpPr/>
            <p:nvPr/>
          </p:nvSpPr>
          <p:spPr>
            <a:xfrm>
              <a:off x="3971925" y="4838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526477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4038600" y="4552950"/>
              <a:ext cx="7543800" cy="657225"/>
            </a:xfrm>
            <a:prstGeom prst="roundRect">
              <a:avLst>
                <a:gd name="adj" fmla="val 11594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4285012" y="4698492"/>
              <a:ext cx="250031" cy="337566"/>
              <a:chOff x="4285012" y="4698492"/>
              <a:chExt cx="250031" cy="337566"/>
            </a:xfrm>
          </p:grpSpPr>
          <p:sp>
            <p:nvSpPr>
              <p:cNvPr id="58" name="Rectangle 58"/>
              <p:cNvSpPr/>
              <p:nvPr/>
            </p:nvSpPr>
            <p:spPr>
              <a:xfrm>
                <a:off x="4285012" y="4698492"/>
                <a:ext cx="250031" cy="337566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6251">
                <a:solidFill>
                  <a:srgbClr val="245EA8"/>
                </a:solidFill>
              </a:ln>
            </p:spPr>
          </p:sp>
          <p:sp>
            <p:nvSpPr>
              <p:cNvPr id="59" name="Line 59"/>
              <p:cNvSpPr/>
              <p:nvPr/>
            </p:nvSpPr>
            <p:spPr>
              <a:xfrm>
                <a:off x="4341304" y="4779740"/>
                <a:ext cx="14373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32" h="9525">
                    <a:moveTo>
                      <a:pt x="0" y="0"/>
                    </a:moveTo>
                    <a:lnTo>
                      <a:pt x="143732" y="0"/>
                    </a:lnTo>
                  </a:path>
                </a:pathLst>
              </a:custGeom>
              <a:noFill/>
              <a:ln w="12502" cap="rnd">
                <a:solidFill>
                  <a:srgbClr val="8198AE"/>
                </a:solidFill>
              </a:ln>
            </p:spPr>
          </p:sp>
          <p:sp>
            <p:nvSpPr>
              <p:cNvPr id="60" name="Line 60"/>
              <p:cNvSpPr/>
              <p:nvPr/>
            </p:nvSpPr>
            <p:spPr>
              <a:xfrm>
                <a:off x="4341304" y="4848511"/>
                <a:ext cx="14373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32" h="9525">
                    <a:moveTo>
                      <a:pt x="0" y="0"/>
                    </a:moveTo>
                    <a:lnTo>
                      <a:pt x="143732" y="0"/>
                    </a:lnTo>
                  </a:path>
                </a:pathLst>
              </a:custGeom>
              <a:noFill/>
              <a:ln w="12502" cap="rnd">
                <a:solidFill>
                  <a:srgbClr val="8198AE"/>
                </a:solidFill>
              </a:ln>
            </p:spPr>
          </p:sp>
          <p:sp>
            <p:nvSpPr>
              <p:cNvPr id="61" name="Line 61"/>
              <p:cNvSpPr/>
              <p:nvPr/>
            </p:nvSpPr>
            <p:spPr>
              <a:xfrm>
                <a:off x="4341304" y="4917281"/>
                <a:ext cx="14373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32" h="9525">
                    <a:moveTo>
                      <a:pt x="0" y="0"/>
                    </a:moveTo>
                    <a:lnTo>
                      <a:pt x="143732" y="0"/>
                    </a:lnTo>
                  </a:path>
                </a:pathLst>
              </a:custGeom>
              <a:noFill/>
              <a:ln w="12502" cap="rnd">
                <a:solidFill>
                  <a:srgbClr val="8198AE"/>
                </a:solidFill>
              </a:ln>
            </p:spPr>
          </p:sp>
          <p:sp>
            <p:nvSpPr>
              <p:cNvPr id="62" name="Line 62"/>
              <p:cNvSpPr/>
              <p:nvPr/>
            </p:nvSpPr>
            <p:spPr>
              <a:xfrm>
                <a:off x="4341304" y="4986052"/>
                <a:ext cx="14373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32" h="9525">
                    <a:moveTo>
                      <a:pt x="0" y="0"/>
                    </a:moveTo>
                    <a:lnTo>
                      <a:pt x="143732" y="0"/>
                    </a:lnTo>
                  </a:path>
                </a:pathLst>
              </a:custGeom>
              <a:noFill/>
              <a:ln w="12502" cap="rnd">
                <a:solidFill>
                  <a:srgbClr val="8198AE"/>
                </a:solidFill>
              </a:ln>
            </p:spPr>
          </p:sp>
        </p:grpSp>
        <p:sp>
          <p:nvSpPr>
            <p:cNvPr id="64" name="TextBox 64"/>
            <p:cNvSpPr/>
            <p:nvPr>
              <p:custDataLst>
                <p:tags r:id="rId15"/>
              </p:custDataLst>
            </p:nvPr>
          </p:nvSpPr>
          <p:spPr>
            <a:xfrm>
              <a:off x="4752594" y="4721257"/>
              <a:ext cx="332346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複核／不確定 → 監測或蒐證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609600" y="5486400"/>
              <a:ext cx="10972800" cy="609600"/>
            </a:xfrm>
            <a:prstGeom prst="roundRect">
              <a:avLst>
                <a:gd name="adj" fmla="val 12500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66" name="TextBox 66"/>
            <p:cNvSpPr/>
            <p:nvPr>
              <p:custDataLst>
                <p:tags r:id="rId16"/>
              </p:custDataLst>
            </p:nvPr>
          </p:nvSpPr>
          <p:spPr>
            <a:xfrm>
              <a:off x="829818" y="5664232"/>
              <a:ext cx="77880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6 種隔離</a:t>
              </a:r>
              <a:r>
                <a:rPr lang="en-US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情境：4 種套用規則、2 種監測或蒐證；背景保留與回復皆 6/6。</a:t>
              </a:r>
            </a:p>
          </p:txBody>
        </p:sp>
      </p:grpSp>
      <p:grpSp>
        <p:nvGrpSpPr>
          <p:cNvPr id="80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68" name="Line 68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69" name="TextBox 69"/>
            <p:cNvSpPr/>
            <p:nvPr>
              <p:custDataLst>
                <p:tags r:id="rId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70" name="TextBox 70"/>
            <p:cNvSpPr/>
            <p:nvPr>
              <p:custDataLst>
                <p:tags r:id="rId2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06 / 09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5544693" cy="1085850"/>
            <a:chOff x="593598" y="257175"/>
            <a:chExt cx="5544693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18"/>
              </p:custDataLst>
            </p:nvPr>
          </p:nvSpPr>
          <p:spPr>
            <a:xfrm>
              <a:off x="755523" y="314325"/>
              <a:ext cx="234105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MEASURED RESULTS</a:t>
              </a:r>
            </a:p>
          </p:txBody>
        </p:sp>
        <p:sp>
          <p:nvSpPr>
            <p:cNvPr id="4" name="TextBox 4"/>
            <p:cNvSpPr/>
            <p:nvPr>
              <p:custDataLst>
                <p:tags r:id="rId19"/>
              </p:custDataLst>
            </p:nvPr>
          </p:nvSpPr>
          <p:spPr>
            <a:xfrm>
              <a:off x="593598" y="723900"/>
              <a:ext cx="5544693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互補融合，提升整體辨識效果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30" name="page-content"/>
          <p:cNvGrpSpPr/>
          <p:nvPr/>
        </p:nvGrpSpPr>
        <p:grpSpPr>
          <a:xfrm>
            <a:off x="600456" y="1498568"/>
            <a:ext cx="10981944" cy="4642676"/>
            <a:chOff x="600456" y="1498568"/>
            <a:chExt cx="10981944" cy="4642676"/>
          </a:xfrm>
        </p:grpSpPr>
        <p:sp>
          <p:nvSpPr>
            <p:cNvPr id="7" name="TextBox 7"/>
            <p:cNvSpPr/>
            <p:nvPr>
              <p:custDataLst>
                <p:tags r:id="rId3"/>
              </p:custDataLst>
            </p:nvPr>
          </p:nvSpPr>
          <p:spPr>
            <a:xfrm>
              <a:off x="600456" y="1498568"/>
              <a:ext cx="387210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相同 18,998 筆封存測試</a:t>
              </a:r>
              <a:r>
                <a:rPr lang="en-US" sz="18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 · Macro-F1</a:t>
              </a:r>
            </a:p>
          </p:txBody>
        </p:sp>
        <p:grpSp>
          <p:nvGrpSpPr>
            <p:cNvPr id="23" name="detector-comparison-chartArea"/>
            <p:cNvGrpSpPr/>
            <p:nvPr/>
          </p:nvGrpSpPr>
          <p:grpSpPr>
            <a:xfrm>
              <a:off x="600837" y="2095500"/>
              <a:ext cx="7983379" cy="3592163"/>
              <a:chOff x="600837" y="2095500"/>
              <a:chExt cx="7983379" cy="3592163"/>
            </a:xfrm>
          </p:grpSpPr>
          <p:sp>
            <p:nvSpPr>
              <p:cNvPr id="8" name="Line 8"/>
              <p:cNvSpPr/>
              <p:nvPr/>
            </p:nvSpPr>
            <p:spPr>
              <a:xfrm>
                <a:off x="1905000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7E1EA"/>
                </a:solidFill>
              </a:ln>
            </p:spPr>
          </p:sp>
          <p:sp>
            <p:nvSpPr>
              <p:cNvPr id="9" name="TextBox 9"/>
              <p:cNvSpPr/>
              <p:nvPr>
                <p:custDataLst>
                  <p:tags r:id="rId9"/>
                </p:custDataLst>
              </p:nvPr>
            </p:nvSpPr>
            <p:spPr>
              <a:xfrm>
                <a:off x="1731359" y="5394293"/>
                <a:ext cx="299656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ctr"/>
                <a:r>
                  <a:rPr lang="zh-TW" sz="1500" dirty="0">
                    <a:solidFill>
                      <a:srgbClr val="526477"/>
                    </a:solidFill>
                    <a:latin typeface="Times New Roman"/>
                    <a:ea typeface="DFKai-SB"/>
                    <a:cs typeface="Times New Roman"/>
                  </a:rPr>
                  <a:t>0%</a:t>
                </a:r>
              </a:p>
            </p:txBody>
          </p:sp>
          <p:sp>
            <p:nvSpPr>
              <p:cNvPr id="10" name="Line 10"/>
              <p:cNvSpPr/>
              <p:nvPr/>
            </p:nvSpPr>
            <p:spPr>
              <a:xfrm>
                <a:off x="5000625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7E1EA"/>
                </a:solidFill>
              </a:ln>
            </p:spPr>
          </p:sp>
          <p:sp>
            <p:nvSpPr>
              <p:cNvPr id="11" name="TextBox 11"/>
              <p:cNvSpPr/>
              <p:nvPr>
                <p:custDataLst>
                  <p:tags r:id="rId10"/>
                </p:custDataLst>
              </p:nvPr>
            </p:nvSpPr>
            <p:spPr>
              <a:xfrm>
                <a:off x="4773644" y="5394293"/>
                <a:ext cx="406336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ctr"/>
                <a:r>
                  <a:rPr lang="zh-TW" sz="1500" dirty="0">
                    <a:solidFill>
                      <a:srgbClr val="526477"/>
                    </a:solidFill>
                    <a:latin typeface="Times New Roman"/>
                    <a:ea typeface="DFKai-SB"/>
                    <a:cs typeface="Times New Roman"/>
                  </a:rPr>
                  <a:t>50%</a:t>
                </a:r>
              </a:p>
            </p:txBody>
          </p:sp>
          <p:sp>
            <p:nvSpPr>
              <p:cNvPr id="12" name="Line 12"/>
              <p:cNvSpPr/>
              <p:nvPr/>
            </p:nvSpPr>
            <p:spPr>
              <a:xfrm>
                <a:off x="8096250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7E1EA"/>
                </a:solidFill>
              </a:ln>
            </p:spPr>
          </p:sp>
          <p:sp>
            <p:nvSpPr>
              <p:cNvPr id="13" name="TextBox 13"/>
              <p:cNvSpPr/>
              <p:nvPr>
                <p:custDataLst>
                  <p:tags r:id="rId11"/>
                </p:custDataLst>
              </p:nvPr>
            </p:nvSpPr>
            <p:spPr>
              <a:xfrm>
                <a:off x="7815929" y="5394293"/>
                <a:ext cx="513016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ctr"/>
                <a:r>
                  <a:rPr lang="zh-TW" sz="1500" dirty="0">
                    <a:solidFill>
                      <a:srgbClr val="526477"/>
                    </a:solidFill>
                    <a:latin typeface="Times New Roman"/>
                    <a:ea typeface="DFKai-SB"/>
                    <a:cs typeface="Times New Roman"/>
                  </a:rPr>
                  <a:t>100%</a:t>
                </a:r>
              </a:p>
            </p:txBody>
          </p:sp>
          <p:sp>
            <p:nvSpPr>
              <p:cNvPr id="14" name="TextBox 14"/>
              <p:cNvSpPr/>
              <p:nvPr>
                <p:custDataLst>
                  <p:tags r:id="rId12"/>
                </p:custDataLst>
              </p:nvPr>
            </p:nvSpPr>
            <p:spPr>
              <a:xfrm>
                <a:off x="600837" y="2479643"/>
                <a:ext cx="1008126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l"/>
                <a:r>
                  <a:rPr lang="en-US" sz="1720" dirty="0">
                    <a:solidFill>
                      <a:srgbClr val="243447"/>
                    </a:solidFill>
                    <a:latin typeface="Times New Roman"/>
                    <a:ea typeface="DFKai-SB"/>
                    <a:cs typeface="Times New Roman"/>
                  </a:rPr>
                  <a:t>PBCNN</a:t>
                </a:r>
              </a:p>
            </p:txBody>
          </p:sp>
          <p:sp>
            <p:nvSpPr>
              <p:cNvPr id="15" name="Rectangle 15"/>
              <p:cNvSpPr/>
              <p:nvPr/>
            </p:nvSpPr>
            <p:spPr>
              <a:xfrm>
                <a:off x="1905000" y="2419350"/>
                <a:ext cx="4937379" cy="400050"/>
              </a:xfrm>
              <a:prstGeom prst="rect">
                <a:avLst/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16" name="TextBox 16"/>
              <p:cNvSpPr/>
              <p:nvPr>
                <p:custDataLst>
                  <p:tags r:id="rId13"/>
                </p:custDataLst>
              </p:nvPr>
            </p:nvSpPr>
            <p:spPr>
              <a:xfrm>
                <a:off x="6947916" y="2479643"/>
                <a:ext cx="812673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l"/>
                <a:r>
                  <a:rPr lang="zh-TW" sz="1720" b="1" dirty="0">
                    <a:solidFill>
                      <a:srgbClr val="243447"/>
                    </a:solidFill>
                    <a:latin typeface="Times New Roman"/>
                    <a:ea typeface="DFKai-SB"/>
                    <a:cs typeface="Times New Roman"/>
                  </a:rPr>
                  <a:t>79.75%</a:t>
                </a:r>
              </a:p>
            </p:txBody>
          </p:sp>
          <p:sp>
            <p:nvSpPr>
              <p:cNvPr id="17" name="TextBox 17"/>
              <p:cNvSpPr/>
              <p:nvPr>
                <p:custDataLst>
                  <p:tags r:id="rId14"/>
                </p:custDataLst>
              </p:nvPr>
            </p:nvSpPr>
            <p:spPr>
              <a:xfrm>
                <a:off x="600837" y="3527393"/>
                <a:ext cx="859441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l"/>
                <a:r>
                  <a:rPr lang="en-US" sz="1720" dirty="0">
                    <a:solidFill>
                      <a:srgbClr val="243447"/>
                    </a:solidFill>
                    <a:latin typeface="Times New Roman"/>
                    <a:ea typeface="DFKai-SB"/>
                    <a:cs typeface="Times New Roman"/>
                  </a:rPr>
                  <a:t>CTBM</a:t>
                </a:r>
              </a:p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1905000" y="3467100"/>
                <a:ext cx="5702332" cy="400050"/>
              </a:xfrm>
              <a:prstGeom prst="rect">
                <a:avLst/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19" name="TextBox 19"/>
              <p:cNvSpPr/>
              <p:nvPr>
                <p:custDataLst>
                  <p:tags r:id="rId15"/>
                </p:custDataLst>
              </p:nvPr>
            </p:nvSpPr>
            <p:spPr>
              <a:xfrm>
                <a:off x="7712869" y="3527393"/>
                <a:ext cx="812673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l"/>
                <a:r>
                  <a:rPr lang="zh-TW" sz="1720" b="1" dirty="0">
                    <a:solidFill>
                      <a:srgbClr val="243447"/>
                    </a:solidFill>
                    <a:latin typeface="Times New Roman"/>
                    <a:ea typeface="DFKai-SB"/>
                    <a:cs typeface="Times New Roman"/>
                  </a:rPr>
                  <a:t>92.10%</a:t>
                </a:r>
              </a:p>
            </p:txBody>
          </p:sp>
          <p:sp>
            <p:nvSpPr>
              <p:cNvPr id="20" name="TextBox 20"/>
              <p:cNvSpPr/>
              <p:nvPr>
                <p:custDataLst>
                  <p:tags r:id="rId16"/>
                </p:custDataLst>
              </p:nvPr>
            </p:nvSpPr>
            <p:spPr>
              <a:xfrm>
                <a:off x="600837" y="4575143"/>
                <a:ext cx="124529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l"/>
                <a:r>
                  <a:rPr lang="en-US" sz="1720" b="1" dirty="0">
                    <a:solidFill>
                      <a:srgbClr val="245EA8"/>
                    </a:solidFill>
                    <a:latin typeface="Times New Roman"/>
                    <a:ea typeface="DFKai-SB"/>
                    <a:cs typeface="Times New Roman"/>
                  </a:rPr>
                  <a:t>OOF Gate</a:t>
                </a:r>
              </a:p>
            </p:txBody>
          </p:sp>
          <p:sp>
            <p:nvSpPr>
              <p:cNvPr id="21" name="Rectangle 21"/>
              <p:cNvSpPr/>
              <p:nvPr/>
            </p:nvSpPr>
            <p:spPr>
              <a:xfrm>
                <a:off x="1905000" y="4514850"/>
                <a:ext cx="5761006" cy="400050"/>
              </a:xfrm>
              <a:prstGeom prst="rect">
                <a:avLst/>
              </a:prstGeom>
              <a:solidFill>
                <a:srgbClr val="087F8C"/>
              </a:solidFill>
              <a:ln>
                <a:noFill/>
              </a:ln>
            </p:spPr>
          </p:sp>
          <p:sp>
            <p:nvSpPr>
              <p:cNvPr id="22" name="TextBox 22"/>
              <p:cNvSpPr/>
              <p:nvPr>
                <p:custDataLst>
                  <p:tags r:id="rId17"/>
                </p:custDataLst>
              </p:nvPr>
            </p:nvSpPr>
            <p:spPr>
              <a:xfrm>
                <a:off x="7771543" y="4575143"/>
                <a:ext cx="812673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l"/>
                <a:r>
                  <a:rPr lang="zh-TW" sz="1720" b="1" dirty="0">
                    <a:solidFill>
                      <a:srgbClr val="245EA8"/>
                    </a:solidFill>
                    <a:latin typeface="Times New Roman"/>
                    <a:ea typeface="DFKai-SB"/>
                    <a:cs typeface="Times New Roman"/>
                  </a:rPr>
                  <a:t>93.05%</a:t>
                </a:r>
              </a:p>
            </p:txBody>
          </p:sp>
        </p:grpSp>
        <p:sp>
          <p:nvSpPr>
            <p:cNvPr id="24" name="Rectangle 24"/>
            <p:cNvSpPr/>
            <p:nvPr/>
          </p:nvSpPr>
          <p:spPr>
            <a:xfrm>
              <a:off x="9077325" y="2105025"/>
              <a:ext cx="2505075" cy="3133725"/>
            </a:xfrm>
            <a:prstGeom prst="roundRect">
              <a:avLst>
                <a:gd name="adj" fmla="val 3042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25" name="TextBox 25"/>
            <p:cNvSpPr/>
            <p:nvPr>
              <p:custDataLst>
                <p:tags r:id="rId4"/>
              </p:custDataLst>
            </p:nvPr>
          </p:nvSpPr>
          <p:spPr>
            <a:xfrm>
              <a:off x="9305544" y="2387632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整體準確率</a:t>
              </a:r>
            </a:p>
          </p:txBody>
        </p:sp>
        <p:sp>
          <p:nvSpPr>
            <p:cNvPr id="26" name="TextBox 26"/>
            <p:cNvSpPr/>
            <p:nvPr>
              <p:custDataLst>
                <p:tags r:id="rId5"/>
              </p:custDataLst>
            </p:nvPr>
          </p:nvSpPr>
          <p:spPr>
            <a:xfrm>
              <a:off x="9297162" y="3041618"/>
              <a:ext cx="161525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6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98.08%</a:t>
              </a:r>
            </a:p>
          </p:txBody>
        </p:sp>
        <p:sp>
          <p:nvSpPr>
            <p:cNvPr id="27" name="TextBox 27"/>
            <p:cNvSpPr/>
            <p:nvPr>
              <p:custDataLst>
                <p:tags r:id="rId6"/>
              </p:custDataLst>
            </p:nvPr>
          </p:nvSpPr>
          <p:spPr>
            <a:xfrm>
              <a:off x="9305925" y="3819525"/>
              <a:ext cx="111261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17 類分類</a:t>
              </a:r>
            </a:p>
          </p:txBody>
        </p:sp>
        <p:sp>
          <p:nvSpPr>
            <p:cNvPr id="28" name="TextBox 28"/>
            <p:cNvSpPr/>
            <p:nvPr>
              <p:custDataLst>
                <p:tags r:id="rId7"/>
              </p:custDataLst>
            </p:nvPr>
          </p:nvSpPr>
          <p:spPr>
            <a:xfrm>
              <a:off x="9307449" y="4371975"/>
              <a:ext cx="15048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同一封存測試集</a:t>
              </a:r>
            </a:p>
          </p:txBody>
        </p:sp>
        <p:sp>
          <p:nvSpPr>
            <p:cNvPr id="29" name="TextBox 29"/>
            <p:cNvSpPr/>
            <p:nvPr>
              <p:custDataLst>
                <p:tags r:id="rId8"/>
              </p:custDataLst>
            </p:nvPr>
          </p:nvSpPr>
          <p:spPr>
            <a:xfrm>
              <a:off x="600837" y="5803868"/>
              <a:ext cx="800138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融合相較</a:t>
              </a:r>
              <a:r>
                <a:rPr lang="en-US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PBCNN </a:t>
              </a:r>
              <a:r>
                <a:rPr lang="zh-TW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提升 13.30 個百分點；相較</a:t>
              </a:r>
              <a:r>
                <a:rPr lang="en-US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CTBM </a:t>
              </a:r>
              <a:r>
                <a:rPr lang="zh-TW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提升 0.95 個百分點。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31" name="Line 31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32" name="TextBox 32"/>
            <p:cNvSpPr/>
            <p:nvPr>
              <p:custDataLst>
                <p:tags r:id="rId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33" name="TextBox 33"/>
            <p:cNvSpPr/>
            <p:nvPr>
              <p:custDataLst>
                <p:tags r:id="rId2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07 / 09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5270659" cy="1085850"/>
            <a:chOff x="593598" y="257175"/>
            <a:chExt cx="5270659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19"/>
              </p:custDataLst>
            </p:nvPr>
          </p:nvSpPr>
          <p:spPr>
            <a:xfrm>
              <a:off x="755523" y="314325"/>
              <a:ext cx="234105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MEASURED RESULTS</a:t>
              </a:r>
            </a:p>
          </p:txBody>
        </p:sp>
        <p:sp>
          <p:nvSpPr>
            <p:cNvPr id="4" name="TextBox 4"/>
            <p:cNvSpPr/>
            <p:nvPr>
              <p:custDataLst>
                <p:tags r:id="rId20"/>
              </p:custDataLst>
            </p:nvPr>
          </p:nvSpPr>
          <p:spPr>
            <a:xfrm>
              <a:off x="593598" y="723900"/>
              <a:ext cx="5270659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案例提供證據，</a:t>
              </a:r>
              <a:r>
                <a:rPr lang="en-US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AI</a:t>
              </a:r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完成分流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43" name="page-content"/>
          <p:cNvGrpSpPr/>
          <p:nvPr/>
        </p:nvGrpSpPr>
        <p:grpSpPr>
          <a:xfrm>
            <a:off x="609600" y="1809750"/>
            <a:ext cx="10972800" cy="4333875"/>
            <a:chOff x="609600" y="1809750"/>
            <a:chExt cx="10972800" cy="4333875"/>
          </a:xfrm>
        </p:grpSpPr>
        <p:sp>
          <p:nvSpPr>
            <p:cNvPr id="7" name="Rectangle 7"/>
            <p:cNvSpPr/>
            <p:nvPr/>
          </p:nvSpPr>
          <p:spPr>
            <a:xfrm>
              <a:off x="609600" y="1809750"/>
              <a:ext cx="3448050" cy="3514725"/>
            </a:xfrm>
            <a:prstGeom prst="roundRect">
              <a:avLst>
                <a:gd name="adj" fmla="val 2210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8" name="TextBox 8"/>
            <p:cNvSpPr/>
            <p:nvPr>
              <p:custDataLst>
                <p:tags r:id="rId3"/>
              </p:custDataLst>
            </p:nvPr>
          </p:nvSpPr>
          <p:spPr>
            <a:xfrm>
              <a:off x="828675" y="1981200"/>
              <a:ext cx="103136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檢索效果</a:t>
              </a:r>
            </a:p>
          </p:txBody>
        </p:sp>
        <p:sp>
          <p:nvSpPr>
            <p:cNvPr id="9" name="TextBox 9"/>
            <p:cNvSpPr/>
            <p:nvPr>
              <p:custDataLst>
                <p:tags r:id="rId4"/>
              </p:custDataLst>
            </p:nvPr>
          </p:nvSpPr>
          <p:spPr>
            <a:xfrm>
              <a:off x="819912" y="2498693"/>
              <a:ext cx="161525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6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97.62%</a:t>
              </a:r>
            </a:p>
          </p:txBody>
        </p:sp>
        <p:sp>
          <p:nvSpPr>
            <p:cNvPr id="10" name="TextBox 10"/>
            <p:cNvSpPr/>
            <p:nvPr>
              <p:custDataLst>
                <p:tags r:id="rId5"/>
              </p:custDataLst>
            </p:nvPr>
          </p:nvSpPr>
          <p:spPr>
            <a:xfrm>
              <a:off x="829056" y="3089243"/>
              <a:ext cx="148418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命中率</a:t>
              </a:r>
            </a:p>
          </p:txBody>
        </p:sp>
        <p:sp>
          <p:nvSpPr>
            <p:cNvPr id="11" name="TextBox 11"/>
            <p:cNvSpPr/>
            <p:nvPr>
              <p:custDataLst>
                <p:tags r:id="rId6"/>
              </p:custDataLst>
            </p:nvPr>
          </p:nvSpPr>
          <p:spPr>
            <a:xfrm>
              <a:off x="821436" y="3651218"/>
              <a:ext cx="1480661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93.89%</a:t>
              </a:r>
            </a:p>
          </p:txBody>
        </p:sp>
        <p:sp>
          <p:nvSpPr>
            <p:cNvPr id="12" name="TextBox 12"/>
            <p:cNvSpPr/>
            <p:nvPr>
              <p:custDataLst>
                <p:tags r:id="rId7"/>
              </p:custDataLst>
            </p:nvPr>
          </p:nvSpPr>
          <p:spPr>
            <a:xfrm>
              <a:off x="829056" y="4194143"/>
              <a:ext cx="219818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MRR@5 </a:t>
              </a:r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排序品質</a:t>
              </a:r>
            </a:p>
          </p:txBody>
        </p:sp>
        <p:sp>
          <p:nvSpPr>
            <p:cNvPr id="13" name="TextBox 13"/>
            <p:cNvSpPr/>
            <p:nvPr>
              <p:custDataLst>
                <p:tags r:id="rId8"/>
              </p:custDataLst>
            </p:nvPr>
          </p:nvSpPr>
          <p:spPr>
            <a:xfrm>
              <a:off x="830199" y="4829175"/>
              <a:ext cx="20346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1,550 案例／463 查詢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905375" y="1809750"/>
              <a:ext cx="5867400" cy="666750"/>
            </a:xfrm>
            <a:prstGeom prst="roundRect">
              <a:avLst>
                <a:gd name="adj" fmla="val 11429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15" name="TextBox 15"/>
            <p:cNvSpPr/>
            <p:nvPr>
              <p:custDataLst>
                <p:tags r:id="rId9"/>
              </p:custDataLst>
            </p:nvPr>
          </p:nvSpPr>
          <p:spPr>
            <a:xfrm>
              <a:off x="6097238" y="1987582"/>
              <a:ext cx="3420142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zh-TW" sz="20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463 筆事件 → 本機</a:t>
              </a:r>
              <a:r>
                <a:rPr lang="en-US" sz="20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20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5486400" y="2476500"/>
              <a:ext cx="2352675" cy="723900"/>
            </a:xfrm>
            <a:custGeom>
              <a:avLst/>
              <a:gdLst/>
              <a:ahLst/>
              <a:cxnLst/>
              <a:rect l="l" t="t" r="r" b="b"/>
              <a:pathLst>
                <a:path w="2352675" h="723900">
                  <a:moveTo>
                    <a:pt x="2352675" y="0"/>
                  </a:moveTo>
                  <a:lnTo>
                    <a:pt x="2352675" y="361950"/>
                  </a:lnTo>
                  <a:lnTo>
                    <a:pt x="0" y="361950"/>
                  </a:lnTo>
                  <a:lnTo>
                    <a:pt x="0" y="72390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5438775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7839075" y="2838450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7791450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7839075" y="2838450"/>
              <a:ext cx="2352675" cy="361950"/>
            </a:xfrm>
            <a:custGeom>
              <a:avLst/>
              <a:gdLst/>
              <a:ahLst/>
              <a:cxnLst/>
              <a:rect l="l" t="t" r="r" b="b"/>
              <a:pathLst>
                <a:path w="2352675" h="361950">
                  <a:moveTo>
                    <a:pt x="0" y="0"/>
                  </a:moveTo>
                  <a:lnTo>
                    <a:pt x="2352675" y="0"/>
                  </a:lnTo>
                  <a:lnTo>
                    <a:pt x="2352675" y="3619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10144125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476750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5337620" y="3356420"/>
              <a:ext cx="297656" cy="297656"/>
              <a:chOff x="5337620" y="3356420"/>
              <a:chExt cx="297656" cy="297656"/>
            </a:xfrm>
          </p:grpSpPr>
          <p:sp>
            <p:nvSpPr>
              <p:cNvPr id="23" name="Ellipse 23"/>
              <p:cNvSpPr/>
              <p:nvPr/>
            </p:nvSpPr>
            <p:spPr>
              <a:xfrm>
                <a:off x="5337620" y="3356420"/>
                <a:ext cx="297656" cy="297656"/>
              </a:xfrm>
              <a:prstGeom prst="ellipse">
                <a:avLst/>
              </a:prstGeom>
              <a:solidFill>
                <a:srgbClr val="EDF3FA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5403056" y="3505200"/>
                <a:ext cx="59531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59531">
                    <a:moveTo>
                      <a:pt x="0" y="0"/>
                    </a:moveTo>
                    <a:lnTo>
                      <a:pt x="59531" y="59531"/>
                    </a:lnTo>
                  </a:path>
                </a:pathLst>
              </a:custGeom>
              <a:noFill/>
              <a:ln w="23812" cap="rnd">
                <a:solidFill>
                  <a:srgbClr val="245EA8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5462588" y="3439763"/>
                <a:ext cx="113157" cy="124968"/>
              </a:xfrm>
              <a:custGeom>
                <a:avLst/>
                <a:gdLst/>
                <a:ahLst/>
                <a:cxnLst/>
                <a:rect l="l" t="t" r="r" b="b"/>
                <a:pathLst>
                  <a:path w="113157" h="124968">
                    <a:moveTo>
                      <a:pt x="0" y="124968"/>
                    </a:moveTo>
                    <a:lnTo>
                      <a:pt x="113157" y="0"/>
                    </a:lnTo>
                  </a:path>
                </a:pathLst>
              </a:custGeom>
              <a:noFill/>
              <a:ln w="23812" cap="rnd">
                <a:solidFill>
                  <a:srgbClr val="245EA8"/>
                </a:solidFill>
              </a:ln>
            </p:spPr>
          </p:sp>
        </p:grpSp>
        <p:sp>
          <p:nvSpPr>
            <p:cNvPr id="27" name="TextBox 27"/>
            <p:cNvSpPr/>
            <p:nvPr>
              <p:custDataLst>
                <p:tags r:id="rId10"/>
              </p:custDataLst>
            </p:nvPr>
          </p:nvSpPr>
          <p:spPr>
            <a:xfrm>
              <a:off x="5113972" y="3730657"/>
              <a:ext cx="652748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zh-TW" sz="292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415</a:t>
              </a:r>
            </a:p>
          </p:txBody>
        </p:sp>
        <p:sp>
          <p:nvSpPr>
            <p:cNvPr id="28" name="TextBox 28"/>
            <p:cNvSpPr/>
            <p:nvPr>
              <p:custDataLst>
                <p:tags r:id="rId11"/>
              </p:custDataLst>
            </p:nvPr>
          </p:nvSpPr>
          <p:spPr>
            <a:xfrm>
              <a:off x="5206365" y="4241768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支持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829425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702106" y="3368230"/>
              <a:ext cx="279844" cy="279846"/>
              <a:chOff x="7702106" y="3368230"/>
              <a:chExt cx="279844" cy="279846"/>
            </a:xfrm>
          </p:grpSpPr>
          <p:sp>
            <p:nvSpPr>
              <p:cNvPr id="30" name="Ellipse 30"/>
              <p:cNvSpPr/>
              <p:nvPr/>
            </p:nvSpPr>
            <p:spPr>
              <a:xfrm>
                <a:off x="7702106" y="3368230"/>
                <a:ext cx="202406" cy="202406"/>
              </a:xfrm>
              <a:prstGeom prst="ellipse">
                <a:avLst/>
              </a:prstGeom>
              <a:solidFill>
                <a:srgbClr val="FFFFFF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7880794" y="3546920"/>
                <a:ext cx="101156" cy="101156"/>
              </a:xfrm>
              <a:custGeom>
                <a:avLst/>
                <a:gdLst/>
                <a:ahLst/>
                <a:cxnLst/>
                <a:rect l="l" t="t" r="r" b="b"/>
                <a:pathLst>
                  <a:path w="101156" h="101156">
                    <a:moveTo>
                      <a:pt x="0" y="0"/>
                    </a:moveTo>
                    <a:lnTo>
                      <a:pt x="101156" y="101156"/>
                    </a:lnTo>
                  </a:path>
                </a:pathLst>
              </a:custGeom>
              <a:noFill/>
              <a:ln w="23812" cap="rnd">
                <a:solidFill>
                  <a:srgbClr val="245EA8"/>
                </a:solidFill>
              </a:ln>
            </p:spPr>
          </p:sp>
        </p:grpSp>
        <p:sp>
          <p:nvSpPr>
            <p:cNvPr id="33" name="TextBox 33"/>
            <p:cNvSpPr/>
            <p:nvPr>
              <p:custDataLst>
                <p:tags r:id="rId12"/>
              </p:custDataLst>
            </p:nvPr>
          </p:nvSpPr>
          <p:spPr>
            <a:xfrm>
              <a:off x="7570470" y="3730657"/>
              <a:ext cx="445103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zh-TW" sz="292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13</a:t>
              </a:r>
            </a:p>
          </p:txBody>
        </p:sp>
        <p:sp>
          <p:nvSpPr>
            <p:cNvPr id="34" name="TextBox 34"/>
            <p:cNvSpPr/>
            <p:nvPr>
              <p:custDataLst>
                <p:tags r:id="rId13"/>
              </p:custDataLst>
            </p:nvPr>
          </p:nvSpPr>
          <p:spPr>
            <a:xfrm>
              <a:off x="7559040" y="4241768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複核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182100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10042970" y="3356420"/>
              <a:ext cx="297656" cy="297656"/>
            </a:xfrm>
            <a:prstGeom prst="ellipse">
              <a:avLst/>
            </a:prstGeom>
            <a:solidFill>
              <a:srgbClr val="EDF3FA"/>
            </a:solidFill>
            <a:ln w="14883">
              <a:solidFill>
                <a:srgbClr val="245EA8"/>
              </a:solidFill>
            </a:ln>
          </p:spPr>
        </p:sp>
        <p:sp>
          <p:nvSpPr>
            <p:cNvPr id="37" name="TextBox 37"/>
            <p:cNvSpPr/>
            <p:nvPr>
              <p:custDataLst>
                <p:tags r:id="rId14"/>
              </p:custDataLst>
            </p:nvPr>
          </p:nvSpPr>
          <p:spPr>
            <a:xfrm>
              <a:off x="10092023" y="3365468"/>
              <a:ext cx="143828" cy="3461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77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?</a:t>
              </a:r>
            </a:p>
          </p:txBody>
        </p:sp>
        <p:sp>
          <p:nvSpPr>
            <p:cNvPr id="38" name="TextBox 38"/>
            <p:cNvSpPr/>
            <p:nvPr>
              <p:custDataLst>
                <p:tags r:id="rId15"/>
              </p:custDataLst>
            </p:nvPr>
          </p:nvSpPr>
          <p:spPr>
            <a:xfrm>
              <a:off x="9923145" y="3730657"/>
              <a:ext cx="445103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zh-TW" sz="292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35</a:t>
              </a:r>
            </a:p>
          </p:txBody>
        </p:sp>
        <p:sp>
          <p:nvSpPr>
            <p:cNvPr id="39" name="TextBox 39"/>
            <p:cNvSpPr/>
            <p:nvPr>
              <p:custDataLst>
                <p:tags r:id="rId16"/>
              </p:custDataLst>
            </p:nvPr>
          </p:nvSpPr>
          <p:spPr>
            <a:xfrm>
              <a:off x="9790557" y="4241768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不確定</a:t>
              </a:r>
            </a:p>
          </p:txBody>
        </p:sp>
        <p:sp>
          <p:nvSpPr>
            <p:cNvPr id="40" name="TextBox 40"/>
            <p:cNvSpPr/>
            <p:nvPr>
              <p:custDataLst>
                <p:tags r:id="rId17"/>
              </p:custDataLst>
            </p:nvPr>
          </p:nvSpPr>
          <p:spPr>
            <a:xfrm>
              <a:off x="4467987" y="4908518"/>
              <a:ext cx="427844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支持精確率 97.11% · 正式分類保持可追溯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09600" y="5562600"/>
              <a:ext cx="10972800" cy="581025"/>
            </a:xfrm>
            <a:prstGeom prst="roundRect">
              <a:avLst>
                <a:gd name="adj" fmla="val 13115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42" name="TextBox 42"/>
            <p:cNvSpPr/>
            <p:nvPr>
              <p:custDataLst>
                <p:tags r:id="rId18"/>
              </p:custDataLst>
            </p:nvPr>
          </p:nvSpPr>
          <p:spPr>
            <a:xfrm>
              <a:off x="828675" y="5715000"/>
              <a:ext cx="679770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18 / 30 偵測誤判分流至複核或不確定；其餘 12 筆仍獲支持。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44" name="Line 44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45" name="TextBox 45"/>
            <p:cNvSpPr/>
            <p:nvPr>
              <p:custDataLst>
                <p:tags r:id="rId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46" name="TextBox 46"/>
            <p:cNvSpPr/>
            <p:nvPr>
              <p:custDataLst>
                <p:tags r:id="rId2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08 / 09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age-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</p:sp>
      <p:grpSp>
        <p:nvGrpSpPr>
          <p:cNvPr id="6" name="headline"/>
          <p:cNvGrpSpPr/>
          <p:nvPr/>
        </p:nvGrpSpPr>
        <p:grpSpPr>
          <a:xfrm>
            <a:off x="593598" y="257175"/>
            <a:ext cx="5968746" cy="1085850"/>
            <a:chOff x="593598" y="257175"/>
            <a:chExt cx="5968746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15"/>
              </p:custDataLst>
            </p:nvPr>
          </p:nvSpPr>
          <p:spPr>
            <a:xfrm>
              <a:off x="755523" y="314325"/>
              <a:ext cx="304695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AI SECURITY FRAMEWORK</a:t>
              </a:r>
            </a:p>
          </p:txBody>
        </p:sp>
        <p:sp>
          <p:nvSpPr>
            <p:cNvPr id="4" name="TextBox 4"/>
            <p:cNvSpPr/>
            <p:nvPr>
              <p:custDataLst>
                <p:tags r:id="rId16"/>
              </p:custDataLst>
            </p:nvPr>
          </p:nvSpPr>
          <p:spPr>
            <a:xfrm>
              <a:off x="593598" y="723900"/>
              <a:ext cx="59687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一套可展示、可查核的資安框架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49" name="page-content"/>
          <p:cNvGrpSpPr/>
          <p:nvPr/>
        </p:nvGrpSpPr>
        <p:grpSpPr>
          <a:xfrm>
            <a:off x="595884" y="1527143"/>
            <a:ext cx="10986516" cy="4752594"/>
            <a:chOff x="595884" y="1527143"/>
            <a:chExt cx="10986516" cy="4752594"/>
          </a:xfrm>
        </p:grpSpPr>
        <p:sp>
          <p:nvSpPr>
            <p:cNvPr id="7" name="TextBox 7"/>
            <p:cNvSpPr/>
            <p:nvPr>
              <p:custDataLst>
                <p:tags r:id="rId3"/>
              </p:custDataLst>
            </p:nvPr>
          </p:nvSpPr>
          <p:spPr>
            <a:xfrm>
              <a:off x="595884" y="1527143"/>
              <a:ext cx="6569964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7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偵測有依據，稽核有證據，處置可回復。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710880" y="2951226"/>
              <a:ext cx="369094" cy="498253"/>
              <a:chOff x="1710880" y="2951226"/>
              <a:chExt cx="369094" cy="498253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1710880" y="2951226"/>
                <a:ext cx="369094" cy="498253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9227">
                <a:solidFill>
                  <a:srgbClr val="245EA8"/>
                </a:solidFill>
              </a:ln>
            </p:spPr>
          </p:sp>
          <p:sp>
            <p:nvSpPr>
              <p:cNvPr id="10" name="Line 10"/>
              <p:cNvSpPr/>
              <p:nvPr/>
            </p:nvSpPr>
            <p:spPr>
              <a:xfrm>
                <a:off x="1793938" y="3071241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  <p:sp>
            <p:nvSpPr>
              <p:cNvPr id="11" name="Line 11"/>
              <p:cNvSpPr/>
              <p:nvPr/>
            </p:nvSpPr>
            <p:spPr>
              <a:xfrm>
                <a:off x="1793938" y="3172682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  <p:sp>
            <p:nvSpPr>
              <p:cNvPr id="12" name="Line 12"/>
              <p:cNvSpPr/>
              <p:nvPr/>
            </p:nvSpPr>
            <p:spPr>
              <a:xfrm>
                <a:off x="1793938" y="3274219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  <p:sp>
            <p:nvSpPr>
              <p:cNvPr id="13" name="Line 13"/>
              <p:cNvSpPr/>
              <p:nvPr/>
            </p:nvSpPr>
            <p:spPr>
              <a:xfrm>
                <a:off x="1793938" y="3375755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</p:grpSp>
        <p:sp>
          <p:nvSpPr>
            <p:cNvPr id="15" name="TextBox 15"/>
            <p:cNvSpPr/>
            <p:nvPr>
              <p:custDataLst>
                <p:tags r:id="rId4"/>
              </p:custDataLst>
            </p:nvPr>
          </p:nvSpPr>
          <p:spPr>
            <a:xfrm>
              <a:off x="1309592" y="3578257"/>
              <a:ext cx="110832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20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正式判定</a:t>
              </a:r>
            </a:p>
          </p:txBody>
        </p:sp>
        <p:sp>
          <p:nvSpPr>
            <p:cNvPr id="16" name="TextBox 16"/>
            <p:cNvSpPr/>
            <p:nvPr>
              <p:custDataLst>
                <p:tags r:id="rId5"/>
              </p:custDataLst>
            </p:nvPr>
          </p:nvSpPr>
          <p:spPr>
            <a:xfrm>
              <a:off x="1326832" y="4041743"/>
              <a:ext cx="10896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17 類＋信心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318135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334327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40995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4465130" y="2969704"/>
              <a:ext cx="479869" cy="479870"/>
              <a:chOff x="4465130" y="2969704"/>
              <a:chExt cx="479869" cy="479870"/>
            </a:xfrm>
          </p:grpSpPr>
          <p:sp>
            <p:nvSpPr>
              <p:cNvPr id="20" name="Ellipse 20"/>
              <p:cNvSpPr/>
              <p:nvPr/>
            </p:nvSpPr>
            <p:spPr>
              <a:xfrm>
                <a:off x="4465130" y="2969704"/>
                <a:ext cx="350615" cy="350615"/>
              </a:xfrm>
              <a:prstGeom prst="ellipse">
                <a:avLst/>
              </a:prstGeom>
              <a:solidFill>
                <a:srgbClr val="FFFFFF"/>
              </a:solidFill>
              <a:ln w="23068">
                <a:solidFill>
                  <a:srgbClr val="245EA8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4769644" y="3274219"/>
                <a:ext cx="175355" cy="175355"/>
              </a:xfrm>
              <a:custGeom>
                <a:avLst/>
                <a:gdLst/>
                <a:ahLst/>
                <a:cxnLst/>
                <a:rect l="l" t="t" r="r" b="b"/>
                <a:pathLst>
                  <a:path w="175355" h="175355">
                    <a:moveTo>
                      <a:pt x="0" y="0"/>
                    </a:moveTo>
                    <a:lnTo>
                      <a:pt x="175355" y="175355"/>
                    </a:lnTo>
                  </a:path>
                </a:pathLst>
              </a:custGeom>
              <a:noFill/>
              <a:ln w="46137" cap="rnd">
                <a:solidFill>
                  <a:srgbClr val="245EA8"/>
                </a:solidFill>
              </a:ln>
            </p:spPr>
          </p:sp>
        </p:grpSp>
        <p:sp>
          <p:nvSpPr>
            <p:cNvPr id="23" name="TextBox 23"/>
            <p:cNvSpPr/>
            <p:nvPr>
              <p:custDataLst>
                <p:tags r:id="rId6"/>
              </p:custDataLst>
            </p:nvPr>
          </p:nvSpPr>
          <p:spPr>
            <a:xfrm>
              <a:off x="4109942" y="3578257"/>
              <a:ext cx="110832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20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檢索證據</a:t>
              </a:r>
            </a:p>
          </p:txBody>
        </p:sp>
        <p:sp>
          <p:nvSpPr>
            <p:cNvPr id="24" name="TextBox 24"/>
            <p:cNvSpPr/>
            <p:nvPr>
              <p:custDataLst>
                <p:tags r:id="rId7"/>
              </p:custDataLst>
            </p:nvPr>
          </p:nvSpPr>
          <p:spPr>
            <a:xfrm>
              <a:off x="3952589" y="4041743"/>
              <a:ext cx="143875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32" rIns="0" bIns="0" anchor="t" anchorCtr="0">
              <a:noAutofit/>
            </a:bodyPr>
            <a:lstStyle/>
            <a:p>
              <a:pPr algn="ctr"/>
              <a:r>
                <a:rPr lang="en-US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訓練案例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598170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614362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1030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265480" y="2969704"/>
              <a:ext cx="461391" cy="461391"/>
              <a:chOff x="7265480" y="2969704"/>
              <a:chExt cx="461391" cy="461391"/>
            </a:xfrm>
          </p:grpSpPr>
          <p:sp>
            <p:nvSpPr>
              <p:cNvPr id="28" name="Ellipse 28"/>
              <p:cNvSpPr/>
              <p:nvPr/>
            </p:nvSpPr>
            <p:spPr>
              <a:xfrm>
                <a:off x="7265480" y="2969704"/>
                <a:ext cx="461391" cy="461391"/>
              </a:xfrm>
              <a:prstGeom prst="ellipse">
                <a:avLst/>
              </a:prstGeom>
              <a:solidFill>
                <a:srgbClr val="EDF3FA"/>
              </a:solidFill>
              <a:ln w="23068">
                <a:solidFill>
                  <a:srgbClr val="245EA8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7367016" y="3200400"/>
                <a:ext cx="92202" cy="92297"/>
              </a:xfrm>
              <a:custGeom>
                <a:avLst/>
                <a:gdLst/>
                <a:ahLst/>
                <a:cxnLst/>
                <a:rect l="l" t="t" r="r" b="b"/>
                <a:pathLst>
                  <a:path w="92202" h="92297">
                    <a:moveTo>
                      <a:pt x="0" y="0"/>
                    </a:moveTo>
                    <a:lnTo>
                      <a:pt x="92202" y="92297"/>
                    </a:lnTo>
                  </a:path>
                </a:pathLst>
              </a:custGeom>
              <a:noFill/>
              <a:ln w="36909" cap="rnd">
                <a:solidFill>
                  <a:srgbClr val="245EA8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7459313" y="3098863"/>
                <a:ext cx="175260" cy="193834"/>
              </a:xfrm>
              <a:custGeom>
                <a:avLst/>
                <a:gdLst/>
                <a:ahLst/>
                <a:cxnLst/>
                <a:rect l="l" t="t" r="r" b="b"/>
                <a:pathLst>
                  <a:path w="175260" h="193834">
                    <a:moveTo>
                      <a:pt x="0" y="193834"/>
                    </a:moveTo>
                    <a:lnTo>
                      <a:pt x="175260" y="0"/>
                    </a:lnTo>
                  </a:path>
                </a:pathLst>
              </a:custGeom>
              <a:noFill/>
              <a:ln w="36909" cap="rnd">
                <a:solidFill>
                  <a:srgbClr val="245EA8"/>
                </a:solidFill>
              </a:ln>
            </p:spPr>
          </p:sp>
        </p:grpSp>
        <p:sp>
          <p:nvSpPr>
            <p:cNvPr id="32" name="TextBox 32"/>
            <p:cNvSpPr/>
            <p:nvPr>
              <p:custDataLst>
                <p:tags r:id="rId8"/>
              </p:custDataLst>
            </p:nvPr>
          </p:nvSpPr>
          <p:spPr>
            <a:xfrm>
              <a:off x="6910292" y="3578257"/>
              <a:ext cx="110832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20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稽核結論</a:t>
              </a:r>
            </a:p>
          </p:txBody>
        </p:sp>
        <p:sp>
          <p:nvSpPr>
            <p:cNvPr id="33" name="TextBox 33"/>
            <p:cNvSpPr/>
            <p:nvPr>
              <p:custDataLst>
                <p:tags r:id="rId9"/>
              </p:custDataLst>
            </p:nvPr>
          </p:nvSpPr>
          <p:spPr>
            <a:xfrm>
              <a:off x="6556058" y="4041743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支持／複核／不確定</a:t>
              </a:r>
            </a:p>
          </p:txBody>
        </p:sp>
        <p:sp>
          <p:nvSpPr>
            <p:cNvPr id="34" name="Freeform 34"/>
            <p:cNvSpPr/>
            <p:nvPr/>
          </p:nvSpPr>
          <p:spPr>
            <a:xfrm>
              <a:off x="878205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894397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901065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10065830" y="2941987"/>
              <a:ext cx="461391" cy="516826"/>
              <a:chOff x="10065830" y="2941987"/>
              <a:chExt cx="461391" cy="516826"/>
            </a:xfrm>
          </p:grpSpPr>
          <p:sp>
            <p:nvSpPr>
              <p:cNvPr id="37" name="Ellipse 37"/>
              <p:cNvSpPr/>
              <p:nvPr/>
            </p:nvSpPr>
            <p:spPr>
              <a:xfrm>
                <a:off x="10065830" y="2969704"/>
                <a:ext cx="461391" cy="461391"/>
              </a:xfrm>
              <a:prstGeom prst="ellipse">
                <a:avLst/>
              </a:prstGeom>
              <a:solidFill>
                <a:srgbClr val="FFFFFF"/>
              </a:solidFill>
              <a:ln w="23068">
                <a:solidFill>
                  <a:srgbClr val="245EA8"/>
                </a:solidFill>
              </a:ln>
            </p:spPr>
          </p:sp>
          <p:sp>
            <p:nvSpPr>
              <p:cNvPr id="38" name="Line 38"/>
              <p:cNvSpPr/>
              <p:nvPr/>
            </p:nvSpPr>
            <p:spPr>
              <a:xfrm>
                <a:off x="10296525" y="3034284"/>
                <a:ext cx="9525" cy="16611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66116">
                    <a:moveTo>
                      <a:pt x="0" y="166116"/>
                    </a:moveTo>
                    <a:lnTo>
                      <a:pt x="0" y="0"/>
                    </a:lnTo>
                  </a:path>
                </a:pathLst>
              </a:custGeom>
              <a:noFill/>
              <a:ln w="23068" cap="rnd">
                <a:solidFill>
                  <a:srgbClr val="245EA8"/>
                </a:solidFill>
              </a:ln>
            </p:spPr>
          </p:sp>
          <p:sp>
            <p:nvSpPr>
              <p:cNvPr id="39" name="Line 39"/>
              <p:cNvSpPr/>
              <p:nvPr/>
            </p:nvSpPr>
            <p:spPr>
              <a:xfrm>
                <a:off x="10296525" y="3200400"/>
                <a:ext cx="129159" cy="64579"/>
              </a:xfrm>
              <a:custGeom>
                <a:avLst/>
                <a:gdLst/>
                <a:ahLst/>
                <a:cxnLst/>
                <a:rect l="l" t="t" r="r" b="b"/>
                <a:pathLst>
                  <a:path w="129159" h="64579">
                    <a:moveTo>
                      <a:pt x="0" y="0"/>
                    </a:moveTo>
                    <a:lnTo>
                      <a:pt x="129159" y="64579"/>
                    </a:lnTo>
                  </a:path>
                </a:pathLst>
              </a:custGeom>
              <a:noFill/>
              <a:ln w="23068" cap="rnd">
                <a:solidFill>
                  <a:srgbClr val="245EA8"/>
                </a:solidFill>
              </a:ln>
            </p:spPr>
          </p:sp>
          <p:sp>
            <p:nvSpPr>
              <p:cNvPr id="40" name="Line 40"/>
              <p:cNvSpPr/>
              <p:nvPr/>
            </p:nvSpPr>
            <p:spPr>
              <a:xfrm>
                <a:off x="10296525" y="2941987"/>
                <a:ext cx="9525" cy="4619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6196">
                    <a:moveTo>
                      <a:pt x="0" y="0"/>
                    </a:moveTo>
                    <a:lnTo>
                      <a:pt x="0" y="46196"/>
                    </a:lnTo>
                  </a:path>
                </a:pathLst>
              </a:custGeom>
              <a:noFill/>
              <a:ln w="23068" cap="rnd">
                <a:solidFill>
                  <a:srgbClr val="245EA8"/>
                </a:solidFill>
              </a:ln>
            </p:spPr>
          </p:sp>
          <p:sp>
            <p:nvSpPr>
              <p:cNvPr id="41" name="Line 41"/>
              <p:cNvSpPr/>
              <p:nvPr/>
            </p:nvSpPr>
            <p:spPr>
              <a:xfrm>
                <a:off x="10296525" y="3412617"/>
                <a:ext cx="9525" cy="4619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6196">
                    <a:moveTo>
                      <a:pt x="0" y="0"/>
                    </a:moveTo>
                    <a:lnTo>
                      <a:pt x="0" y="46196"/>
                    </a:lnTo>
                  </a:path>
                </a:pathLst>
              </a:custGeom>
              <a:noFill/>
              <a:ln w="23068" cap="rnd">
                <a:solidFill>
                  <a:srgbClr val="245EA8"/>
                </a:solidFill>
              </a:ln>
            </p:spPr>
          </p:sp>
        </p:grpSp>
        <p:sp>
          <p:nvSpPr>
            <p:cNvPr id="43" name="TextBox 43"/>
            <p:cNvSpPr/>
            <p:nvPr>
              <p:custDataLst>
                <p:tags r:id="rId10"/>
              </p:custDataLst>
            </p:nvPr>
          </p:nvSpPr>
          <p:spPr>
            <a:xfrm>
              <a:off x="9710642" y="3578257"/>
              <a:ext cx="110832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20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處置回條</a:t>
              </a:r>
            </a:p>
          </p:txBody>
        </p:sp>
        <p:sp>
          <p:nvSpPr>
            <p:cNvPr id="44" name="TextBox 44"/>
            <p:cNvSpPr/>
            <p:nvPr>
              <p:custDataLst>
                <p:tags r:id="rId11"/>
              </p:custDataLst>
            </p:nvPr>
          </p:nvSpPr>
          <p:spPr>
            <a:xfrm>
              <a:off x="9558338" y="4041743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讀回＋到期回復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09600" y="4781550"/>
              <a:ext cx="10972800" cy="533400"/>
            </a:xfrm>
            <a:prstGeom prst="roundRect">
              <a:avLst>
                <a:gd name="adj" fmla="val 14286"/>
              </a:avLst>
            </a:prstGeom>
            <a:solidFill>
              <a:srgbClr val="E9F5F3"/>
            </a:solidFill>
            <a:ln>
              <a:noFill/>
            </a:ln>
          </p:spPr>
        </p:sp>
        <p:sp>
          <p:nvSpPr>
            <p:cNvPr id="46" name="TextBox 46"/>
            <p:cNvSpPr/>
            <p:nvPr>
              <p:custDataLst>
                <p:tags r:id="rId12"/>
              </p:custDataLst>
            </p:nvPr>
          </p:nvSpPr>
          <p:spPr>
            <a:xfrm>
              <a:off x="3078956" y="4902232"/>
              <a:ext cx="597208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zh-TW" sz="19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同一事件</a:t>
              </a:r>
              <a:r>
                <a:rPr lang="en-US" sz="19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9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，串起分類、證據、判斷與回復紀錄。</a:t>
              </a:r>
            </a:p>
          </p:txBody>
        </p:sp>
        <p:sp>
          <p:nvSpPr>
            <p:cNvPr id="47" name="TextBox 47"/>
            <p:cNvSpPr/>
            <p:nvPr>
              <p:custDataLst>
                <p:tags r:id="rId13"/>
              </p:custDataLst>
            </p:nvPr>
          </p:nvSpPr>
          <p:spPr>
            <a:xfrm>
              <a:off x="599694" y="5511832"/>
              <a:ext cx="526684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17 類真實張量重跑 · 6 種隔離</a:t>
              </a:r>
              <a:r>
                <a:rPr lang="en-US" sz="19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9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情境驗證</a:t>
              </a:r>
            </a:p>
          </p:txBody>
        </p:sp>
        <p:sp>
          <p:nvSpPr>
            <p:cNvPr id="48" name="TextBox 48"/>
            <p:cNvSpPr/>
            <p:nvPr>
              <p:custDataLst>
                <p:tags r:id="rId14"/>
              </p:custDataLst>
            </p:nvPr>
          </p:nvSpPr>
          <p:spPr>
            <a:xfrm>
              <a:off x="600456" y="5927693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感謝聆聽，敬請指教。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50" name="Line 50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51" name="TextBox 51"/>
            <p:cNvSpPr/>
            <p:nvPr>
              <p:custDataLst>
                <p:tags r:id="rId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52" name="TextBox 52"/>
            <p:cNvSpPr/>
            <p:nvPr>
              <p:custDataLst>
                <p:tags r:id="rId2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09 / 09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4272534" cy="1085850"/>
            <a:chOff x="593598" y="257175"/>
            <a:chExt cx="4272534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22"/>
              </p:custDataLst>
            </p:nvPr>
          </p:nvSpPr>
          <p:spPr>
            <a:xfrm>
              <a:off x="755523" y="314325"/>
              <a:ext cx="158524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/>
            <p:nvPr>
              <p:custDataLst>
                <p:tags r:id="rId23"/>
              </p:custDataLst>
            </p:nvPr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答詢圖解｜創新與整合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93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7" name="Rectangle 7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609600" y="1571625"/>
              <a:ext cx="38100" cy="20955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0" name="TextBox 10"/>
            <p:cNvSpPr/>
            <p:nvPr>
              <p:custDataLst>
                <p:tags r:id="rId3"/>
              </p:custDataLst>
            </p:nvPr>
          </p:nvSpPr>
          <p:spPr>
            <a:xfrm>
              <a:off x="829056" y="1736693"/>
              <a:ext cx="415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Q1</a:t>
              </a:r>
            </a:p>
          </p:txBody>
        </p:sp>
        <p:sp>
          <p:nvSpPr>
            <p:cNvPr id="11" name="TextBox 11"/>
            <p:cNvSpPr/>
            <p:nvPr>
              <p:custDataLst>
                <p:tags r:id="rId4"/>
              </p:custDataLst>
            </p:nvPr>
          </p:nvSpPr>
          <p:spPr>
            <a:xfrm>
              <a:off x="1361694" y="1711357"/>
              <a:ext cx="586682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創新在哪裡？與一般</a:t>
              </a:r>
              <a:r>
                <a:rPr lang="en-US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IDS </a:t>
              </a:r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加上</a:t>
              </a:r>
              <a:r>
                <a:rPr lang="en-US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RAG </a:t>
              </a:r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有何不同？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1383506" y="2250281"/>
              <a:ext cx="700088" cy="700088"/>
              <a:chOff x="1383506" y="2250281"/>
              <a:chExt cx="700088" cy="700088"/>
            </a:xfrm>
          </p:grpSpPr>
          <p:sp>
            <p:nvSpPr>
              <p:cNvPr id="12" name="Rectangle 12"/>
              <p:cNvSpPr/>
              <p:nvPr/>
            </p:nvSpPr>
            <p:spPr>
              <a:xfrm>
                <a:off x="1483519" y="2350294"/>
                <a:ext cx="500062" cy="500062"/>
              </a:xfrm>
              <a:prstGeom prst="roundRect">
                <a:avLst>
                  <a:gd name="adj" fmla="val 12500"/>
                </a:avLst>
              </a:prstGeom>
              <a:solidFill>
                <a:srgbClr val="FFFFFF"/>
              </a:solidFill>
              <a:ln w="37505" cap="rnd">
                <a:solidFill>
                  <a:srgbClr val="245EA8"/>
                </a:solidFill>
                <a:round/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1621060" y="2487835"/>
                <a:ext cx="224980" cy="224980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 w="37505" cap="rnd">
                <a:solidFill>
                  <a:srgbClr val="245EA8"/>
                </a:solidFill>
                <a:round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383506" y="2250281"/>
                <a:ext cx="700088" cy="700088"/>
              </a:xfrm>
              <a:custGeom>
                <a:avLst/>
                <a:gdLst/>
                <a:ahLst/>
                <a:cxnLst/>
                <a:rect l="l" t="t" r="r" b="b"/>
                <a:pathLst>
                  <a:path w="700088" h="700088">
                    <a:moveTo>
                      <a:pt x="212503" y="0"/>
                    </a:moveTo>
                    <a:lnTo>
                      <a:pt x="212503" y="100012"/>
                    </a:lnTo>
                    <a:moveTo>
                      <a:pt x="350044" y="0"/>
                    </a:moveTo>
                    <a:lnTo>
                      <a:pt x="350044" y="100012"/>
                    </a:lnTo>
                    <a:moveTo>
                      <a:pt x="487585" y="0"/>
                    </a:moveTo>
                    <a:lnTo>
                      <a:pt x="487585" y="100012"/>
                    </a:lnTo>
                    <a:moveTo>
                      <a:pt x="212503" y="600075"/>
                    </a:moveTo>
                    <a:lnTo>
                      <a:pt x="212503" y="700088"/>
                    </a:lnTo>
                    <a:moveTo>
                      <a:pt x="350044" y="600075"/>
                    </a:moveTo>
                    <a:lnTo>
                      <a:pt x="350044" y="700088"/>
                    </a:lnTo>
                    <a:moveTo>
                      <a:pt x="487585" y="600075"/>
                    </a:moveTo>
                    <a:lnTo>
                      <a:pt x="487585" y="700088"/>
                    </a:lnTo>
                    <a:moveTo>
                      <a:pt x="0" y="212503"/>
                    </a:moveTo>
                    <a:lnTo>
                      <a:pt x="100012" y="212503"/>
                    </a:lnTo>
                    <a:moveTo>
                      <a:pt x="0" y="350044"/>
                    </a:moveTo>
                    <a:lnTo>
                      <a:pt x="100012" y="350044"/>
                    </a:lnTo>
                    <a:moveTo>
                      <a:pt x="0" y="487585"/>
                    </a:moveTo>
                    <a:lnTo>
                      <a:pt x="100012" y="487585"/>
                    </a:lnTo>
                    <a:moveTo>
                      <a:pt x="600075" y="212503"/>
                    </a:moveTo>
                    <a:lnTo>
                      <a:pt x="700088" y="212503"/>
                    </a:lnTo>
                    <a:moveTo>
                      <a:pt x="600075" y="350044"/>
                    </a:moveTo>
                    <a:lnTo>
                      <a:pt x="700088" y="350044"/>
                    </a:lnTo>
                    <a:moveTo>
                      <a:pt x="600075" y="487585"/>
                    </a:moveTo>
                    <a:lnTo>
                      <a:pt x="700088" y="487585"/>
                    </a:lnTo>
                  </a:path>
                </a:pathLst>
              </a:custGeom>
              <a:noFill/>
              <a:ln w="37505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16" name="TextBox 16"/>
            <p:cNvSpPr/>
            <p:nvPr>
              <p:custDataLst>
                <p:tags r:id="rId5"/>
              </p:custDataLst>
            </p:nvPr>
          </p:nvSpPr>
          <p:spPr>
            <a:xfrm>
              <a:off x="1254728" y="30543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互補判定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225742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312420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3421285" y="2275237"/>
              <a:ext cx="662559" cy="650176"/>
              <a:chOff x="3421285" y="2275237"/>
              <a:chExt cx="662559" cy="650176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3421285" y="2362772"/>
                <a:ext cx="475012" cy="500062"/>
              </a:xfrm>
              <a:custGeom>
                <a:avLst/>
                <a:gdLst/>
                <a:ahLst/>
                <a:cxnLst/>
                <a:rect l="l" t="t" r="r" b="b"/>
                <a:pathLst>
                  <a:path w="475012" h="500062">
                    <a:moveTo>
                      <a:pt x="0" y="0"/>
                    </a:moveTo>
                    <a:lnTo>
                      <a:pt x="0" y="387572"/>
                    </a:lnTo>
                    <a:cubicBezTo>
                      <a:pt x="0" y="500062"/>
                      <a:pt x="475012" y="500062"/>
                      <a:pt x="475012" y="387572"/>
                    </a:cubicBezTo>
                    <a:lnTo>
                      <a:pt x="475012" y="0"/>
                    </a:lnTo>
                  </a:path>
                </a:pathLst>
              </a:custGeom>
              <a:solidFill>
                <a:srgbClr val="FFFFFF"/>
              </a:solidFill>
              <a:ln w="37505" cap="rnd">
                <a:solidFill>
                  <a:srgbClr val="245EA8"/>
                </a:solidFill>
                <a:round/>
              </a:ln>
            </p:spPr>
          </p:sp>
          <p:sp>
            <p:nvSpPr>
              <p:cNvPr id="20" name="Ellipse 20"/>
              <p:cNvSpPr/>
              <p:nvPr/>
            </p:nvSpPr>
            <p:spPr>
              <a:xfrm>
                <a:off x="3421285" y="2275237"/>
                <a:ext cx="475012" cy="175070"/>
              </a:xfrm>
              <a:prstGeom prst="ellipse">
                <a:avLst/>
              </a:prstGeom>
              <a:solidFill>
                <a:srgbClr val="FFFFFF"/>
              </a:solidFill>
              <a:ln w="37505" cap="rnd">
                <a:solidFill>
                  <a:srgbClr val="245EA8"/>
                </a:solidFill>
                <a:round/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3421285" y="2537841"/>
                <a:ext cx="475012" cy="112490"/>
              </a:xfrm>
              <a:custGeom>
                <a:avLst/>
                <a:gdLst/>
                <a:ahLst/>
                <a:cxnLst/>
                <a:rect l="l" t="t" r="r" b="b"/>
                <a:pathLst>
                  <a:path w="475012" h="112490">
                    <a:moveTo>
                      <a:pt x="0" y="0"/>
                    </a:moveTo>
                    <a:cubicBezTo>
                      <a:pt x="0" y="112490"/>
                      <a:pt x="475012" y="112490"/>
                      <a:pt x="475012" y="0"/>
                    </a:cubicBezTo>
                  </a:path>
                </a:pathLst>
              </a:custGeom>
              <a:noFill/>
              <a:ln w="37505" cap="rnd">
                <a:solidFill>
                  <a:srgbClr val="245EA8"/>
                </a:solidFill>
                <a:round/>
              </a:ln>
            </p:spPr>
          </p:sp>
          <p:sp>
            <p:nvSpPr>
              <p:cNvPr id="22" name="Ellipse 22"/>
              <p:cNvSpPr/>
              <p:nvPr/>
            </p:nvSpPr>
            <p:spPr>
              <a:xfrm>
                <a:off x="3733800" y="2562796"/>
                <a:ext cx="274987" cy="274987"/>
              </a:xfrm>
              <a:prstGeom prst="ellipse">
                <a:avLst/>
              </a:prstGeom>
              <a:solidFill>
                <a:srgbClr val="F4F7FA"/>
              </a:solidFill>
              <a:ln w="37505" cap="rnd">
                <a:solidFill>
                  <a:srgbClr val="245EA8"/>
                </a:solidFill>
                <a:round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3971354" y="2800350"/>
                <a:ext cx="112490" cy="125063"/>
              </a:xfrm>
              <a:custGeom>
                <a:avLst/>
                <a:gdLst/>
                <a:ahLst/>
                <a:cxnLst/>
                <a:rect l="l" t="t" r="r" b="b"/>
                <a:pathLst>
                  <a:path w="112490" h="125063">
                    <a:moveTo>
                      <a:pt x="0" y="0"/>
                    </a:moveTo>
                    <a:lnTo>
                      <a:pt x="112490" y="125063"/>
                    </a:lnTo>
                  </a:path>
                </a:pathLst>
              </a:custGeom>
              <a:solidFill>
                <a:srgbClr val="FFFFFF"/>
              </a:solidFill>
              <a:ln w="50006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25" name="TextBox 25"/>
            <p:cNvSpPr/>
            <p:nvPr>
              <p:custDataLst>
                <p:tags r:id="rId6"/>
              </p:custDataLst>
            </p:nvPr>
          </p:nvSpPr>
          <p:spPr>
            <a:xfrm>
              <a:off x="3160681" y="3054382"/>
              <a:ext cx="10938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529 維檢索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425767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512445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5469064" y="2256568"/>
              <a:ext cx="450056" cy="607600"/>
              <a:chOff x="5469064" y="2256568"/>
              <a:chExt cx="450056" cy="6076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469064" y="2256568"/>
                <a:ext cx="450056" cy="6076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11251">
                <a:solidFill>
                  <a:srgbClr val="245EA8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5570315" y="2402776"/>
                <a:ext cx="25879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94" h="9525">
                    <a:moveTo>
                      <a:pt x="0" y="0"/>
                    </a:moveTo>
                    <a:lnTo>
                      <a:pt x="258794" y="0"/>
                    </a:lnTo>
                  </a:path>
                </a:pathLst>
              </a:custGeom>
              <a:noFill/>
              <a:ln w="22503" cap="rnd">
                <a:solidFill>
                  <a:srgbClr val="8198AE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5570315" y="2526602"/>
                <a:ext cx="25879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94" h="9525">
                    <a:moveTo>
                      <a:pt x="0" y="0"/>
                    </a:moveTo>
                    <a:lnTo>
                      <a:pt x="258794" y="0"/>
                    </a:lnTo>
                  </a:path>
                </a:pathLst>
              </a:custGeom>
              <a:noFill/>
              <a:ln w="22503" cap="rnd">
                <a:solidFill>
                  <a:srgbClr val="8198AE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5570315" y="2650331"/>
                <a:ext cx="25879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94" h="9525">
                    <a:moveTo>
                      <a:pt x="0" y="0"/>
                    </a:moveTo>
                    <a:lnTo>
                      <a:pt x="258794" y="0"/>
                    </a:lnTo>
                  </a:path>
                </a:pathLst>
              </a:custGeom>
              <a:noFill/>
              <a:ln w="22503" cap="rnd">
                <a:solidFill>
                  <a:srgbClr val="8198AE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5570315" y="2774061"/>
                <a:ext cx="25879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94" h="9525">
                    <a:moveTo>
                      <a:pt x="0" y="0"/>
                    </a:moveTo>
                    <a:lnTo>
                      <a:pt x="258794" y="0"/>
                    </a:lnTo>
                  </a:path>
                </a:pathLst>
              </a:custGeom>
              <a:noFill/>
              <a:ln w="22503" cap="rnd">
                <a:solidFill>
                  <a:srgbClr val="8198AE"/>
                </a:solidFill>
              </a:ln>
            </p:spPr>
          </p:sp>
        </p:grpSp>
        <p:grpSp>
          <p:nvGrpSpPr>
            <p:cNvPr id="37" name="Group 37"/>
            <p:cNvGrpSpPr/>
            <p:nvPr/>
          </p:nvGrpSpPr>
          <p:grpSpPr>
            <a:xfrm>
              <a:off x="5817013" y="2683288"/>
              <a:ext cx="250031" cy="250031"/>
              <a:chOff x="5817013" y="2683288"/>
              <a:chExt cx="250031" cy="250031"/>
            </a:xfrm>
          </p:grpSpPr>
          <p:sp>
            <p:nvSpPr>
              <p:cNvPr id="34" name="Ellipse 34"/>
              <p:cNvSpPr/>
              <p:nvPr/>
            </p:nvSpPr>
            <p:spPr>
              <a:xfrm>
                <a:off x="5817013" y="2683288"/>
                <a:ext cx="250031" cy="250031"/>
              </a:xfrm>
              <a:prstGeom prst="ellipse">
                <a:avLst/>
              </a:prstGeom>
              <a:solidFill>
                <a:srgbClr val="EDF3FA"/>
              </a:solidFill>
              <a:ln w="12502">
                <a:solidFill>
                  <a:srgbClr val="245EA8"/>
                </a:solidFill>
              </a:ln>
            </p:spPr>
          </p:sp>
          <p:sp>
            <p:nvSpPr>
              <p:cNvPr id="35" name="Line 35"/>
              <p:cNvSpPr/>
              <p:nvPr/>
            </p:nvSpPr>
            <p:spPr>
              <a:xfrm>
                <a:off x="5872067" y="2808351"/>
                <a:ext cx="50006" cy="50006"/>
              </a:xfrm>
              <a:custGeom>
                <a:avLst/>
                <a:gdLst/>
                <a:ahLst/>
                <a:cxnLst/>
                <a:rect l="l" t="t" r="r" b="b"/>
                <a:pathLst>
                  <a:path w="50006" h="50006">
                    <a:moveTo>
                      <a:pt x="0" y="0"/>
                    </a:moveTo>
                    <a:lnTo>
                      <a:pt x="50006" y="50006"/>
                    </a:lnTo>
                  </a:path>
                </a:pathLst>
              </a:custGeom>
              <a:noFill/>
              <a:ln w="20002" cap="rnd">
                <a:solidFill>
                  <a:srgbClr val="245EA8"/>
                </a:solidFill>
              </a:ln>
            </p:spPr>
          </p:sp>
          <p:sp>
            <p:nvSpPr>
              <p:cNvPr id="36" name="Line 36"/>
              <p:cNvSpPr/>
              <p:nvPr/>
            </p:nvSpPr>
            <p:spPr>
              <a:xfrm>
                <a:off x="5922074" y="2753296"/>
                <a:ext cx="95060" cy="105061"/>
              </a:xfrm>
              <a:custGeom>
                <a:avLst/>
                <a:gdLst/>
                <a:ahLst/>
                <a:cxnLst/>
                <a:rect l="l" t="t" r="r" b="b"/>
                <a:pathLst>
                  <a:path w="95060" h="105061">
                    <a:moveTo>
                      <a:pt x="0" y="105061"/>
                    </a:moveTo>
                    <a:lnTo>
                      <a:pt x="95060" y="0"/>
                    </a:lnTo>
                  </a:path>
                </a:pathLst>
              </a:custGeom>
              <a:noFill/>
              <a:ln w="20002" cap="rnd">
                <a:solidFill>
                  <a:srgbClr val="245EA8"/>
                </a:solidFill>
              </a:ln>
            </p:spPr>
          </p:sp>
        </p:grpSp>
        <p:sp>
          <p:nvSpPr>
            <p:cNvPr id="38" name="TextBox 38"/>
            <p:cNvSpPr/>
            <p:nvPr>
              <p:custDataLst>
                <p:tags r:id="rId7"/>
              </p:custDataLst>
            </p:nvPr>
          </p:nvSpPr>
          <p:spPr>
            <a:xfrm>
              <a:off x="5291328" y="3054382"/>
              <a:ext cx="83296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en-US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25792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712470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7471791" y="2262759"/>
              <a:ext cx="587502" cy="687610"/>
              <a:chOff x="7471791" y="2262759"/>
              <a:chExt cx="587502" cy="68761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471791" y="2262759"/>
                <a:ext cx="525018" cy="675132"/>
              </a:xfrm>
              <a:custGeom>
                <a:avLst/>
                <a:gdLst/>
                <a:ahLst/>
                <a:cxnLst/>
                <a:rect l="l" t="t" r="r" b="b"/>
                <a:pathLst>
                  <a:path w="525018" h="675132">
                    <a:moveTo>
                      <a:pt x="262509" y="0"/>
                    </a:moveTo>
                    <a:lnTo>
                      <a:pt x="525018" y="112585"/>
                    </a:lnTo>
                    <a:lnTo>
                      <a:pt x="525018" y="312610"/>
                    </a:lnTo>
                    <a:cubicBezTo>
                      <a:pt x="525018" y="475107"/>
                      <a:pt x="400050" y="587597"/>
                      <a:pt x="262509" y="675132"/>
                    </a:cubicBezTo>
                    <a:cubicBezTo>
                      <a:pt x="124968" y="587597"/>
                      <a:pt x="0" y="475107"/>
                      <a:pt x="0" y="312610"/>
                    </a:cubicBezTo>
                    <a:lnTo>
                      <a:pt x="0" y="112585"/>
                    </a:lnTo>
                    <a:close/>
                  </a:path>
                </a:pathLst>
              </a:custGeom>
              <a:solidFill>
                <a:srgbClr val="FFFFFF"/>
              </a:solidFill>
              <a:ln w="37505" cap="rnd">
                <a:solidFill>
                  <a:srgbClr val="245EA8"/>
                </a:solidFill>
                <a:round/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7596759" y="2475262"/>
                <a:ext cx="287560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87560" h="200025">
                    <a:moveTo>
                      <a:pt x="0" y="100012"/>
                    </a:moveTo>
                    <a:lnTo>
                      <a:pt x="100012" y="200025"/>
                    </a:lnTo>
                    <a:lnTo>
                      <a:pt x="287560" y="0"/>
                    </a:lnTo>
                  </a:path>
                </a:pathLst>
              </a:custGeom>
              <a:noFill/>
              <a:ln w="50006" cap="rnd">
                <a:solidFill>
                  <a:srgbClr val="245EA8"/>
                </a:solidFill>
                <a:round/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896796" y="2737866"/>
                <a:ext cx="162497" cy="212503"/>
              </a:xfrm>
              <a:custGeom>
                <a:avLst/>
                <a:gdLst/>
                <a:ahLst/>
                <a:cxnLst/>
                <a:rect l="l" t="t" r="r" b="b"/>
                <a:pathLst>
                  <a:path w="162497" h="212503">
                    <a:moveTo>
                      <a:pt x="37529" y="0"/>
                    </a:moveTo>
                    <a:lnTo>
                      <a:pt x="162497" y="0"/>
                    </a:lnTo>
                    <a:lnTo>
                      <a:pt x="162497" y="150019"/>
                    </a:lnTo>
                    <a:lnTo>
                      <a:pt x="0" y="150019"/>
                    </a:lnTo>
                    <a:moveTo>
                      <a:pt x="62484" y="87440"/>
                    </a:moveTo>
                    <a:lnTo>
                      <a:pt x="0" y="150019"/>
                    </a:lnTo>
                    <a:lnTo>
                      <a:pt x="62484" y="212503"/>
                    </a:lnTo>
                  </a:path>
                </a:pathLst>
              </a:custGeom>
              <a:noFill/>
              <a:ln w="37505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45" name="TextBox 45"/>
            <p:cNvSpPr/>
            <p:nvPr>
              <p:custDataLst>
                <p:tags r:id="rId8"/>
              </p:custDataLst>
            </p:nvPr>
          </p:nvSpPr>
          <p:spPr>
            <a:xfrm>
              <a:off x="7144417" y="305438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策略與回復</a:t>
              </a:r>
            </a:p>
          </p:txBody>
        </p:sp>
        <p:sp>
          <p:nvSpPr>
            <p:cNvPr id="46" name="TextBox 46"/>
            <p:cNvSpPr/>
            <p:nvPr>
              <p:custDataLst>
                <p:tags r:id="rId9"/>
              </p:custDataLst>
            </p:nvPr>
          </p:nvSpPr>
          <p:spPr>
            <a:xfrm>
              <a:off x="830580" y="3336893"/>
              <a:ext cx="40054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正式分類保留 · 稽核證據可追溯 · 策略可回復</a:t>
              </a:r>
            </a:p>
          </p:txBody>
        </p:sp>
        <p:sp>
          <p:nvSpPr>
            <p:cNvPr id="47" name="TextBox 47"/>
            <p:cNvSpPr/>
            <p:nvPr>
              <p:custDataLst>
                <p:tags r:id="rId10"/>
              </p:custDataLst>
            </p:nvPr>
          </p:nvSpPr>
          <p:spPr>
            <a:xfrm>
              <a:off x="9823609" y="2152650"/>
              <a:ext cx="112204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28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529 維</a:t>
              </a:r>
            </a:p>
          </p:txBody>
        </p:sp>
        <p:sp>
          <p:nvSpPr>
            <p:cNvPr id="48" name="TextBox 48"/>
            <p:cNvSpPr/>
            <p:nvPr>
              <p:custDataLst>
                <p:tags r:id="rId11"/>
              </p:custDataLst>
            </p:nvPr>
          </p:nvSpPr>
          <p:spPr>
            <a:xfrm>
              <a:off x="9545669" y="2781300"/>
              <a:ext cx="171764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95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任務導向證據向量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09600" y="3895725"/>
              <a:ext cx="38100" cy="20955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52" name="TextBox 52"/>
            <p:cNvSpPr/>
            <p:nvPr>
              <p:custDataLst>
                <p:tags r:id="rId12"/>
              </p:custDataLst>
            </p:nvPr>
          </p:nvSpPr>
          <p:spPr>
            <a:xfrm>
              <a:off x="829056" y="4060793"/>
              <a:ext cx="415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Q2</a:t>
              </a:r>
            </a:p>
          </p:txBody>
        </p:sp>
        <p:sp>
          <p:nvSpPr>
            <p:cNvPr id="53" name="TextBox 53"/>
            <p:cNvSpPr/>
            <p:nvPr>
              <p:custDataLst>
                <p:tags r:id="rId13"/>
              </p:custDataLst>
            </p:nvPr>
          </p:nvSpPr>
          <p:spPr>
            <a:xfrm>
              <a:off x="1361694" y="4035457"/>
              <a:ext cx="500748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如何證明前段判斷與後段處置已經串起來？</a:t>
              </a:r>
            </a:p>
          </p:txBody>
        </p:sp>
        <p:grpSp>
          <p:nvGrpSpPr>
            <p:cNvPr id="59" name="Group 59"/>
            <p:cNvGrpSpPr/>
            <p:nvPr/>
          </p:nvGrpSpPr>
          <p:grpSpPr>
            <a:xfrm>
              <a:off x="1586484" y="4571810"/>
              <a:ext cx="303562" cy="409861"/>
              <a:chOff x="1586484" y="4571810"/>
              <a:chExt cx="303562" cy="409861"/>
            </a:xfrm>
          </p:grpSpPr>
          <p:sp>
            <p:nvSpPr>
              <p:cNvPr id="54" name="Rectangle 54"/>
              <p:cNvSpPr/>
              <p:nvPr/>
            </p:nvSpPr>
            <p:spPr>
              <a:xfrm>
                <a:off x="1586484" y="4571810"/>
                <a:ext cx="303562" cy="409861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7590">
                <a:solidFill>
                  <a:srgbClr val="245EA8"/>
                </a:solidFill>
              </a:ln>
            </p:spPr>
          </p:sp>
          <p:sp>
            <p:nvSpPr>
              <p:cNvPr id="55" name="Line 55"/>
              <p:cNvSpPr/>
              <p:nvPr/>
            </p:nvSpPr>
            <p:spPr>
              <a:xfrm>
                <a:off x="1654778" y="4670488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56" name="Line 56"/>
              <p:cNvSpPr/>
              <p:nvPr/>
            </p:nvSpPr>
            <p:spPr>
              <a:xfrm>
                <a:off x="1654778" y="4754023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57" name="Line 57"/>
              <p:cNvSpPr/>
              <p:nvPr/>
            </p:nvSpPr>
            <p:spPr>
              <a:xfrm>
                <a:off x="1654778" y="4837462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58" name="Line 58"/>
              <p:cNvSpPr/>
              <p:nvPr/>
            </p:nvSpPr>
            <p:spPr>
              <a:xfrm>
                <a:off x="1654778" y="4920996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</p:grpSp>
        <p:sp>
          <p:nvSpPr>
            <p:cNvPr id="60" name="TextBox 60"/>
            <p:cNvSpPr/>
            <p:nvPr>
              <p:custDataLst>
                <p:tags r:id="rId14"/>
              </p:custDataLst>
            </p:nvPr>
          </p:nvSpPr>
          <p:spPr>
            <a:xfrm>
              <a:off x="1274731" y="5038725"/>
              <a:ext cx="86677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正式類別</a:t>
              </a:r>
            </a:p>
          </p:txBody>
        </p:sp>
        <p:sp>
          <p:nvSpPr>
            <p:cNvPr id="61" name="Freeform 61"/>
            <p:cNvSpPr/>
            <p:nvPr/>
          </p:nvSpPr>
          <p:spPr>
            <a:xfrm>
              <a:off x="204787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62" name="Freeform 62"/>
            <p:cNvSpPr/>
            <p:nvPr/>
          </p:nvSpPr>
          <p:spPr>
            <a:xfrm>
              <a:off x="336232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3586734" y="4571810"/>
              <a:ext cx="303562" cy="409861"/>
              <a:chOff x="3586734" y="4571810"/>
              <a:chExt cx="303562" cy="409861"/>
            </a:xfrm>
          </p:grpSpPr>
          <p:sp>
            <p:nvSpPr>
              <p:cNvPr id="63" name="Rectangle 63"/>
              <p:cNvSpPr/>
              <p:nvPr/>
            </p:nvSpPr>
            <p:spPr>
              <a:xfrm>
                <a:off x="3586734" y="4571810"/>
                <a:ext cx="303562" cy="409861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7590">
                <a:solidFill>
                  <a:srgbClr val="245EA8"/>
                </a:solidFill>
              </a:ln>
            </p:spPr>
          </p:sp>
          <p:sp>
            <p:nvSpPr>
              <p:cNvPr id="64" name="Line 64"/>
              <p:cNvSpPr/>
              <p:nvPr/>
            </p:nvSpPr>
            <p:spPr>
              <a:xfrm>
                <a:off x="3655028" y="4670488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65" name="Line 65"/>
              <p:cNvSpPr/>
              <p:nvPr/>
            </p:nvSpPr>
            <p:spPr>
              <a:xfrm>
                <a:off x="3655028" y="4754023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66" name="Line 66"/>
              <p:cNvSpPr/>
              <p:nvPr/>
            </p:nvSpPr>
            <p:spPr>
              <a:xfrm>
                <a:off x="3655028" y="4837462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67" name="Line 67"/>
              <p:cNvSpPr/>
              <p:nvPr/>
            </p:nvSpPr>
            <p:spPr>
              <a:xfrm>
                <a:off x="3655028" y="4920996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</p:grpSp>
        <p:sp>
          <p:nvSpPr>
            <p:cNvPr id="69" name="TextBox 69"/>
            <p:cNvSpPr/>
            <p:nvPr>
              <p:custDataLst>
                <p:tags r:id="rId15"/>
              </p:custDataLst>
            </p:nvPr>
          </p:nvSpPr>
          <p:spPr>
            <a:xfrm>
              <a:off x="3163348" y="5038725"/>
              <a:ext cx="10900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en-US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案例</a:t>
              </a:r>
            </a:p>
          </p:txBody>
        </p:sp>
        <p:sp>
          <p:nvSpPr>
            <p:cNvPr id="70" name="Freeform 70"/>
            <p:cNvSpPr/>
            <p:nvPr/>
          </p:nvSpPr>
          <p:spPr>
            <a:xfrm>
              <a:off x="404812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1" name="Freeform 71"/>
            <p:cNvSpPr/>
            <p:nvPr/>
          </p:nvSpPr>
          <p:spPr>
            <a:xfrm>
              <a:off x="536257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grpSp>
          <p:nvGrpSpPr>
            <p:cNvPr id="77" name="Group 77"/>
            <p:cNvGrpSpPr/>
            <p:nvPr/>
          </p:nvGrpSpPr>
          <p:grpSpPr>
            <a:xfrm>
              <a:off x="5586984" y="4571810"/>
              <a:ext cx="303562" cy="409861"/>
              <a:chOff x="5586984" y="4571810"/>
              <a:chExt cx="303562" cy="409861"/>
            </a:xfrm>
          </p:grpSpPr>
          <p:sp>
            <p:nvSpPr>
              <p:cNvPr id="72" name="Rectangle 72"/>
              <p:cNvSpPr/>
              <p:nvPr/>
            </p:nvSpPr>
            <p:spPr>
              <a:xfrm>
                <a:off x="5586984" y="4571810"/>
                <a:ext cx="303562" cy="409861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7590">
                <a:solidFill>
                  <a:srgbClr val="245EA8"/>
                </a:solidFill>
              </a:ln>
            </p:spPr>
          </p:sp>
          <p:sp>
            <p:nvSpPr>
              <p:cNvPr id="73" name="Line 73"/>
              <p:cNvSpPr/>
              <p:nvPr/>
            </p:nvSpPr>
            <p:spPr>
              <a:xfrm>
                <a:off x="5655278" y="4670488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74" name="Line 74"/>
              <p:cNvSpPr/>
              <p:nvPr/>
            </p:nvSpPr>
            <p:spPr>
              <a:xfrm>
                <a:off x="5655278" y="4754023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75" name="Line 75"/>
              <p:cNvSpPr/>
              <p:nvPr/>
            </p:nvSpPr>
            <p:spPr>
              <a:xfrm>
                <a:off x="5655278" y="4837462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76" name="Line 76"/>
              <p:cNvSpPr/>
              <p:nvPr/>
            </p:nvSpPr>
            <p:spPr>
              <a:xfrm>
                <a:off x="5655278" y="4920996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</p:grpSp>
        <p:sp>
          <p:nvSpPr>
            <p:cNvPr id="78" name="TextBox 78"/>
            <p:cNvSpPr/>
            <p:nvPr>
              <p:custDataLst>
                <p:tags r:id="rId16"/>
              </p:custDataLst>
            </p:nvPr>
          </p:nvSpPr>
          <p:spPr>
            <a:xfrm>
              <a:off x="5275231" y="5038725"/>
              <a:ext cx="86677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稽核結論</a:t>
              </a:r>
            </a:p>
          </p:txBody>
        </p:sp>
        <p:sp>
          <p:nvSpPr>
            <p:cNvPr id="79" name="Freeform 79"/>
            <p:cNvSpPr/>
            <p:nvPr/>
          </p:nvSpPr>
          <p:spPr>
            <a:xfrm>
              <a:off x="604837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80" name="Freeform 80"/>
            <p:cNvSpPr/>
            <p:nvPr/>
          </p:nvSpPr>
          <p:spPr>
            <a:xfrm>
              <a:off x="736282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grpSp>
          <p:nvGrpSpPr>
            <p:cNvPr id="86" name="Group 86"/>
            <p:cNvGrpSpPr/>
            <p:nvPr/>
          </p:nvGrpSpPr>
          <p:grpSpPr>
            <a:xfrm>
              <a:off x="7587234" y="4571810"/>
              <a:ext cx="303562" cy="409861"/>
              <a:chOff x="7587234" y="4571810"/>
              <a:chExt cx="303562" cy="409861"/>
            </a:xfrm>
          </p:grpSpPr>
          <p:sp>
            <p:nvSpPr>
              <p:cNvPr id="81" name="Rectangle 81"/>
              <p:cNvSpPr/>
              <p:nvPr/>
            </p:nvSpPr>
            <p:spPr>
              <a:xfrm>
                <a:off x="7587234" y="4571810"/>
                <a:ext cx="303562" cy="409861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7590">
                <a:solidFill>
                  <a:srgbClr val="245EA8"/>
                </a:solidFill>
              </a:ln>
            </p:spPr>
          </p:sp>
          <p:sp>
            <p:nvSpPr>
              <p:cNvPr id="82" name="Line 82"/>
              <p:cNvSpPr/>
              <p:nvPr/>
            </p:nvSpPr>
            <p:spPr>
              <a:xfrm>
                <a:off x="7655528" y="4670488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83" name="Line 83"/>
              <p:cNvSpPr/>
              <p:nvPr/>
            </p:nvSpPr>
            <p:spPr>
              <a:xfrm>
                <a:off x="7655528" y="4754023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84" name="Line 84"/>
              <p:cNvSpPr/>
              <p:nvPr/>
            </p:nvSpPr>
            <p:spPr>
              <a:xfrm>
                <a:off x="7655528" y="4837462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85" name="Line 85"/>
              <p:cNvSpPr/>
              <p:nvPr/>
            </p:nvSpPr>
            <p:spPr>
              <a:xfrm>
                <a:off x="7655528" y="4920996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</p:grpSp>
        <p:sp>
          <p:nvSpPr>
            <p:cNvPr id="87" name="TextBox 87"/>
            <p:cNvSpPr/>
            <p:nvPr>
              <p:custDataLst>
                <p:tags r:id="rId17"/>
              </p:custDataLst>
            </p:nvPr>
          </p:nvSpPr>
          <p:spPr>
            <a:xfrm>
              <a:off x="7275481" y="5038725"/>
              <a:ext cx="86677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處置回條</a:t>
              </a:r>
            </a:p>
          </p:txBody>
        </p:sp>
        <p:sp>
          <p:nvSpPr>
            <p:cNvPr id="88" name="Rectangle 88"/>
            <p:cNvSpPr/>
            <p:nvPr/>
          </p:nvSpPr>
          <p:spPr>
            <a:xfrm>
              <a:off x="838200" y="5334000"/>
              <a:ext cx="7791450" cy="295275"/>
            </a:xfrm>
            <a:prstGeom prst="roundRect">
              <a:avLst>
                <a:gd name="adj" fmla="val 19355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89" name="TextBox 89"/>
            <p:cNvSpPr/>
            <p:nvPr>
              <p:custDataLst>
                <p:tags r:id="rId18"/>
              </p:custDataLst>
            </p:nvPr>
          </p:nvSpPr>
          <p:spPr>
            <a:xfrm>
              <a:off x="3016568" y="5349907"/>
              <a:ext cx="33823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同一</a:t>
              </a:r>
              <a:r>
                <a:rPr lang="en-US" sz="16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event_id </a:t>
              </a:r>
              <a:r>
                <a:rPr lang="zh-TW" sz="16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＋ 同次</a:t>
              </a:r>
              <a:r>
                <a:rPr lang="en-US" sz="16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execution_id</a:t>
              </a:r>
            </a:p>
          </p:txBody>
        </p:sp>
        <p:sp>
          <p:nvSpPr>
            <p:cNvPr id="90" name="TextBox 90"/>
            <p:cNvSpPr/>
            <p:nvPr>
              <p:custDataLst>
                <p:tags r:id="rId19"/>
              </p:custDataLst>
            </p:nvPr>
          </p:nvSpPr>
          <p:spPr>
            <a:xfrm>
              <a:off x="830580" y="5660993"/>
              <a:ext cx="43238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分類、</a:t>
              </a:r>
              <a:r>
                <a:rPr lang="en-US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Top-5</a:t>
              </a:r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、</a:t>
              </a:r>
              <a:r>
                <a:rPr lang="en-US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Judge</a:t>
              </a:r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、策略與回條綁定同一事件</a:t>
              </a:r>
            </a:p>
          </p:txBody>
        </p:sp>
        <p:sp>
          <p:nvSpPr>
            <p:cNvPr id="91" name="TextBox 91"/>
            <p:cNvSpPr/>
            <p:nvPr>
              <p:custDataLst>
                <p:tags r:id="rId20"/>
              </p:custDataLst>
            </p:nvPr>
          </p:nvSpPr>
          <p:spPr>
            <a:xfrm>
              <a:off x="9665208" y="4476750"/>
              <a:ext cx="143875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0" rIns="0" bIns="0" anchor="t" anchorCtr="0">
              <a:noAutofit/>
            </a:bodyPr>
            <a:lstStyle/>
            <a:p>
              <a:pPr algn="ctr"/>
              <a:r>
                <a:rPr lang="zh-TW" sz="28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同一</a:t>
              </a:r>
              <a:r>
                <a:rPr lang="en-US" sz="28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</a:p>
          </p:txBody>
        </p:sp>
        <p:sp>
          <p:nvSpPr>
            <p:cNvPr id="92" name="TextBox 92"/>
            <p:cNvSpPr/>
            <p:nvPr>
              <p:custDataLst>
                <p:tags r:id="rId21"/>
              </p:custDataLst>
            </p:nvPr>
          </p:nvSpPr>
          <p:spPr>
            <a:xfrm>
              <a:off x="9545669" y="5105400"/>
              <a:ext cx="171764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95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事件與執行可追溯</a:t>
              </a:r>
            </a:p>
          </p:txBody>
        </p:sp>
      </p:grpSp>
      <p:grpSp>
        <p:nvGrpSpPr>
          <p:cNvPr id="100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94" name="Line 94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95" name="TextBox 95"/>
            <p:cNvSpPr/>
            <p:nvPr>
              <p:custDataLst>
                <p:tags r:id="rId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96" name="TextBox 96"/>
            <p:cNvSpPr/>
            <p:nvPr>
              <p:custDataLst>
                <p:tags r:id="rId2"/>
              </p:custDataLst>
            </p:nvPr>
          </p:nvSpPr>
          <p:spPr>
            <a:xfrm>
              <a:off x="10616565" y="6451568"/>
              <a:ext cx="9375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答詢備用 1 / 3</a:t>
              </a:r>
            </a:p>
          </p:txBody>
        </p:sp>
        <p:sp>
          <p:nvSpPr>
            <p:cNvPr id="97" name="Rectangle 97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98" name="Rectangle 98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9" name="Rectangle 99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4272534" cy="1085850"/>
            <a:chOff x="593598" y="257175"/>
            <a:chExt cx="4272534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21"/>
              </p:custDataLst>
            </p:nvPr>
          </p:nvSpPr>
          <p:spPr>
            <a:xfrm>
              <a:off x="755523" y="314325"/>
              <a:ext cx="158524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/>
            <p:nvPr>
              <p:custDataLst>
                <p:tags r:id="rId22"/>
              </p:custDataLst>
            </p:nvPr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答詢圖解｜評估與誤判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63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7" name="Rectangle 7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609600" y="1571625"/>
              <a:ext cx="38100" cy="20955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0" name="TextBox 10"/>
            <p:cNvSpPr/>
            <p:nvPr>
              <p:custDataLst>
                <p:tags r:id="rId3"/>
              </p:custDataLst>
            </p:nvPr>
          </p:nvSpPr>
          <p:spPr>
            <a:xfrm>
              <a:off x="829056" y="1736693"/>
              <a:ext cx="415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Q3</a:t>
              </a:r>
            </a:p>
          </p:txBody>
        </p:sp>
        <p:sp>
          <p:nvSpPr>
            <p:cNvPr id="11" name="TextBox 11"/>
            <p:cNvSpPr/>
            <p:nvPr>
              <p:custDataLst>
                <p:tags r:id="rId4"/>
              </p:custDataLst>
            </p:nvPr>
          </p:nvSpPr>
          <p:spPr>
            <a:xfrm>
              <a:off x="1361694" y="1711357"/>
              <a:ext cx="553250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評估資料如何切分？案例庫是否洩漏測試答案？</a:t>
              </a:r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1715357" y="2323528"/>
              <a:ext cx="583787" cy="572643"/>
              <a:chOff x="1715357" y="2323528"/>
              <a:chExt cx="583787" cy="572643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715357" y="2400586"/>
                <a:ext cx="418528" cy="440531"/>
              </a:xfrm>
              <a:custGeom>
                <a:avLst/>
                <a:gdLst/>
                <a:ahLst/>
                <a:cxnLst/>
                <a:rect l="l" t="t" r="r" b="b"/>
                <a:pathLst>
                  <a:path w="418528" h="440531">
                    <a:moveTo>
                      <a:pt x="0" y="0"/>
                    </a:moveTo>
                    <a:lnTo>
                      <a:pt x="0" y="341471"/>
                    </a:lnTo>
                    <a:cubicBezTo>
                      <a:pt x="0" y="440531"/>
                      <a:pt x="418528" y="440531"/>
                      <a:pt x="418528" y="341471"/>
                    </a:cubicBezTo>
                    <a:lnTo>
                      <a:pt x="418528" y="0"/>
                    </a:lnTo>
                  </a:path>
                </a:pathLst>
              </a:custGeom>
              <a:solidFill>
                <a:srgbClr val="FFFFFF"/>
              </a:solidFill>
              <a:ln w="33040" cap="rnd">
                <a:solidFill>
                  <a:srgbClr val="245EA8"/>
                </a:solidFill>
                <a:round/>
              </a:ln>
            </p:spPr>
          </p:sp>
          <p:sp>
            <p:nvSpPr>
              <p:cNvPr id="13" name="Ellipse 13"/>
              <p:cNvSpPr/>
              <p:nvPr/>
            </p:nvSpPr>
            <p:spPr>
              <a:xfrm>
                <a:off x="1715357" y="2323528"/>
                <a:ext cx="418528" cy="154210"/>
              </a:xfrm>
              <a:prstGeom prst="ellipse">
                <a:avLst/>
              </a:prstGeom>
              <a:solidFill>
                <a:srgbClr val="FFFFFF"/>
              </a:solidFill>
              <a:ln w="33040" cap="rnd">
                <a:solidFill>
                  <a:srgbClr val="245EA8"/>
                </a:solidFill>
                <a:round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715357" y="2554796"/>
                <a:ext cx="418528" cy="99155"/>
              </a:xfrm>
              <a:custGeom>
                <a:avLst/>
                <a:gdLst/>
                <a:ahLst/>
                <a:cxnLst/>
                <a:rect l="l" t="t" r="r" b="b"/>
                <a:pathLst>
                  <a:path w="418528" h="99155">
                    <a:moveTo>
                      <a:pt x="0" y="0"/>
                    </a:moveTo>
                    <a:cubicBezTo>
                      <a:pt x="0" y="99155"/>
                      <a:pt x="418528" y="99155"/>
                      <a:pt x="418528" y="0"/>
                    </a:cubicBezTo>
                  </a:path>
                </a:pathLst>
              </a:custGeom>
              <a:noFill/>
              <a:ln w="33040" cap="rnd">
                <a:solidFill>
                  <a:srgbClr val="245EA8"/>
                </a:solidFill>
                <a:round/>
              </a:ln>
            </p:spPr>
          </p:sp>
          <p:sp>
            <p:nvSpPr>
              <p:cNvPr id="15" name="Ellipse 15"/>
              <p:cNvSpPr/>
              <p:nvPr/>
            </p:nvSpPr>
            <p:spPr>
              <a:xfrm>
                <a:off x="1990725" y="2576798"/>
                <a:ext cx="242316" cy="242316"/>
              </a:xfrm>
              <a:prstGeom prst="ellipse">
                <a:avLst/>
              </a:prstGeom>
              <a:solidFill>
                <a:srgbClr val="F4F7FA"/>
              </a:solidFill>
              <a:ln w="33040" cap="rnd">
                <a:solidFill>
                  <a:srgbClr val="245EA8"/>
                </a:solidFill>
                <a:round/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2199989" y="2786062"/>
                <a:ext cx="99155" cy="110109"/>
              </a:xfrm>
              <a:custGeom>
                <a:avLst/>
                <a:gdLst/>
                <a:ahLst/>
                <a:cxnLst/>
                <a:rect l="l" t="t" r="r" b="b"/>
                <a:pathLst>
                  <a:path w="99155" h="110109">
                    <a:moveTo>
                      <a:pt x="0" y="0"/>
                    </a:moveTo>
                    <a:lnTo>
                      <a:pt x="99155" y="110109"/>
                    </a:lnTo>
                  </a:path>
                </a:pathLst>
              </a:custGeom>
              <a:solidFill>
                <a:srgbClr val="FFFFFF"/>
              </a:solidFill>
              <a:ln w="44053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18" name="TextBox 18"/>
            <p:cNvSpPr/>
            <p:nvPr>
              <p:custDataLst>
                <p:tags r:id="rId5"/>
              </p:custDataLst>
            </p:nvPr>
          </p:nvSpPr>
          <p:spPr>
            <a:xfrm>
              <a:off x="1186053" y="2889218"/>
              <a:ext cx="155533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32" rIns="0" bIns="0" anchor="t" anchorCtr="0">
              <a:noAutofit/>
            </a:bodyPr>
            <a:lstStyle/>
            <a:p>
              <a:pPr algn="ctr"/>
              <a:r>
                <a:rPr lang="zh-TW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訓練案例 1,550</a:t>
              </a:r>
            </a:p>
          </p:txBody>
        </p:sp>
        <p:grpSp>
          <p:nvGrpSpPr>
            <p:cNvPr id="21" name="Group 21"/>
            <p:cNvGrpSpPr/>
            <p:nvPr/>
          </p:nvGrpSpPr>
          <p:grpSpPr>
            <a:xfrm>
              <a:off x="4595241" y="2318766"/>
              <a:ext cx="526257" cy="526256"/>
              <a:chOff x="4595241" y="2318766"/>
              <a:chExt cx="526257" cy="526256"/>
            </a:xfrm>
          </p:grpSpPr>
          <p:sp>
            <p:nvSpPr>
              <p:cNvPr id="19" name="Ellipse 19"/>
              <p:cNvSpPr/>
              <p:nvPr/>
            </p:nvSpPr>
            <p:spPr>
              <a:xfrm>
                <a:off x="4595241" y="2318766"/>
                <a:ext cx="384620" cy="384620"/>
              </a:xfrm>
              <a:prstGeom prst="ellipse">
                <a:avLst/>
              </a:prstGeom>
              <a:solidFill>
                <a:srgbClr val="FFFFFF"/>
              </a:solidFill>
              <a:ln w="25301">
                <a:solidFill>
                  <a:srgbClr val="245EA8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4929188" y="2652712"/>
                <a:ext cx="192310" cy="192310"/>
              </a:xfrm>
              <a:custGeom>
                <a:avLst/>
                <a:gdLst/>
                <a:ahLst/>
                <a:cxnLst/>
                <a:rect l="l" t="t" r="r" b="b"/>
                <a:pathLst>
                  <a:path w="192310" h="192310">
                    <a:moveTo>
                      <a:pt x="0" y="0"/>
                    </a:moveTo>
                    <a:lnTo>
                      <a:pt x="192310" y="192310"/>
                    </a:lnTo>
                  </a:path>
                </a:pathLst>
              </a:custGeom>
              <a:noFill/>
              <a:ln w="50602" cap="rnd">
                <a:solidFill>
                  <a:srgbClr val="245EA8"/>
                </a:solidFill>
              </a:ln>
            </p:spPr>
          </p:sp>
        </p:grpSp>
        <p:sp>
          <p:nvSpPr>
            <p:cNvPr id="22" name="TextBox 22"/>
            <p:cNvSpPr/>
            <p:nvPr>
              <p:custDataLst>
                <p:tags r:id="rId6"/>
              </p:custDataLst>
            </p:nvPr>
          </p:nvSpPr>
          <p:spPr>
            <a:xfrm>
              <a:off x="4199287" y="2889218"/>
              <a:ext cx="118672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32" rIns="0" bIns="0" anchor="t" anchorCtr="0">
              <a:noAutofit/>
            </a:bodyPr>
            <a:lstStyle/>
            <a:p>
              <a:pPr algn="ctr"/>
              <a:r>
                <a:rPr lang="en-US" sz="172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72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檢索</a:t>
              </a:r>
            </a:p>
          </p:txBody>
        </p:sp>
        <p:grpSp>
          <p:nvGrpSpPr>
            <p:cNvPr id="28" name="Group 28"/>
            <p:cNvGrpSpPr/>
            <p:nvPr/>
          </p:nvGrpSpPr>
          <p:grpSpPr>
            <a:xfrm>
              <a:off x="7540180" y="2332101"/>
              <a:ext cx="369094" cy="498253"/>
              <a:chOff x="7540180" y="2332101"/>
              <a:chExt cx="369094" cy="498253"/>
            </a:xfrm>
          </p:grpSpPr>
          <p:sp>
            <p:nvSpPr>
              <p:cNvPr id="23" name="Rectangle 23"/>
              <p:cNvSpPr/>
              <p:nvPr/>
            </p:nvSpPr>
            <p:spPr>
              <a:xfrm>
                <a:off x="7540180" y="2332101"/>
                <a:ext cx="369094" cy="498253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9227">
                <a:solidFill>
                  <a:srgbClr val="245EA8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7623238" y="2452116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7623238" y="2553557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7623238" y="2655094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7623238" y="2756630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</p:grpSp>
        <p:sp>
          <p:nvSpPr>
            <p:cNvPr id="29" name="TextBox 29"/>
            <p:cNvSpPr/>
            <p:nvPr>
              <p:custDataLst>
                <p:tags r:id="rId7"/>
              </p:custDataLst>
            </p:nvPr>
          </p:nvSpPr>
          <p:spPr>
            <a:xfrm>
              <a:off x="7011829" y="2889218"/>
              <a:ext cx="137188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32" rIns="0" bIns="0" anchor="t" anchorCtr="0">
              <a:noAutofit/>
            </a:bodyPr>
            <a:lstStyle/>
            <a:p>
              <a:pPr algn="ctr"/>
              <a:r>
                <a:rPr lang="zh-TW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測試查詢 463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2667000" y="2619375"/>
              <a:ext cx="1762125" cy="9525"/>
            </a:xfrm>
            <a:custGeom>
              <a:avLst/>
              <a:gdLst/>
              <a:ahLst/>
              <a:cxnLst/>
              <a:rect l="l" t="t" r="r" b="b"/>
              <a:pathLst>
                <a:path w="1762125" h="9525">
                  <a:moveTo>
                    <a:pt x="0" y="0"/>
                  </a:moveTo>
                  <a:lnTo>
                    <a:pt x="1762125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4362450" y="25717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5267325" y="2619375"/>
              <a:ext cx="2009775" cy="9525"/>
            </a:xfrm>
            <a:custGeom>
              <a:avLst/>
              <a:gdLst/>
              <a:ahLst/>
              <a:cxnLst/>
              <a:rect l="l" t="t" r="r" b="b"/>
              <a:pathLst>
                <a:path w="2009775" h="9525">
                  <a:moveTo>
                    <a:pt x="2009775" y="0"/>
                  </a:moveTo>
                  <a:lnTo>
                    <a:pt x="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5267325" y="25717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66675" y="0"/>
                  </a:moveTo>
                  <a:lnTo>
                    <a:pt x="0" y="47625"/>
                  </a:lnTo>
                  <a:lnTo>
                    <a:pt x="66675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4" name="TextBox 34"/>
            <p:cNvSpPr/>
            <p:nvPr>
              <p:custDataLst>
                <p:tags r:id="rId8"/>
              </p:custDataLst>
            </p:nvPr>
          </p:nvSpPr>
          <p:spPr>
            <a:xfrm>
              <a:off x="830580" y="3336893"/>
              <a:ext cx="3977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訓練庫只讀 · 查詢不重疊</a:t>
              </a:r>
              <a:r>
                <a:rPr lang="en-US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· AI </a:t>
              </a:r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不看真實標籤</a:t>
              </a:r>
            </a:p>
          </p:txBody>
        </p:sp>
        <p:sp>
          <p:nvSpPr>
            <p:cNvPr id="35" name="TextBox 35"/>
            <p:cNvSpPr/>
            <p:nvPr>
              <p:custDataLst>
                <p:tags r:id="rId9"/>
              </p:custDataLst>
            </p:nvPr>
          </p:nvSpPr>
          <p:spPr>
            <a:xfrm>
              <a:off x="10268807" y="2139982"/>
              <a:ext cx="231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28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0</a:t>
              </a:r>
            </a:p>
          </p:txBody>
        </p:sp>
        <p:sp>
          <p:nvSpPr>
            <p:cNvPr id="36" name="TextBox 36"/>
            <p:cNvSpPr/>
            <p:nvPr>
              <p:custDataLst>
                <p:tags r:id="rId10"/>
              </p:custDataLst>
            </p:nvPr>
          </p:nvSpPr>
          <p:spPr>
            <a:xfrm>
              <a:off x="9652064" y="2781300"/>
              <a:ext cx="15048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95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訓練／查詢重疊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09600" y="3895725"/>
              <a:ext cx="38100" cy="20955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40" name="TextBox 40"/>
            <p:cNvSpPr/>
            <p:nvPr>
              <p:custDataLst>
                <p:tags r:id="rId11"/>
              </p:custDataLst>
            </p:nvPr>
          </p:nvSpPr>
          <p:spPr>
            <a:xfrm>
              <a:off x="829056" y="4060793"/>
              <a:ext cx="415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Q4</a:t>
              </a:r>
            </a:p>
          </p:txBody>
        </p:sp>
        <p:sp>
          <p:nvSpPr>
            <p:cNvPr id="41" name="TextBox 41"/>
            <p:cNvSpPr/>
            <p:nvPr>
              <p:custDataLst>
                <p:tags r:id="rId12"/>
              </p:custDataLst>
            </p:nvPr>
          </p:nvSpPr>
          <p:spPr>
            <a:xfrm>
              <a:off x="1361694" y="4035457"/>
              <a:ext cx="494099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en-US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若支持錯誤判斷，如何避免直接誤封？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38200" y="4914900"/>
              <a:ext cx="14287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3" name="TextBox 43"/>
            <p:cNvSpPr/>
            <p:nvPr>
              <p:custDataLst>
                <p:tags r:id="rId13"/>
              </p:custDataLst>
            </p:nvPr>
          </p:nvSpPr>
          <p:spPr>
            <a:xfrm>
              <a:off x="1038130" y="5016532"/>
              <a:ext cx="9765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30 筆誤判</a:t>
              </a:r>
            </a:p>
          </p:txBody>
        </p:sp>
        <p:sp>
          <p:nvSpPr>
            <p:cNvPr id="44" name="Freeform 44"/>
            <p:cNvSpPr/>
            <p:nvPr/>
          </p:nvSpPr>
          <p:spPr>
            <a:xfrm>
              <a:off x="2266950" y="4762500"/>
              <a:ext cx="704850" cy="381000"/>
            </a:xfrm>
            <a:custGeom>
              <a:avLst/>
              <a:gdLst/>
              <a:ahLst/>
              <a:cxnLst/>
              <a:rect l="l" t="t" r="r" b="b"/>
              <a:pathLst>
                <a:path w="704850" h="381000">
                  <a:moveTo>
                    <a:pt x="0" y="381000"/>
                  </a:moveTo>
                  <a:lnTo>
                    <a:pt x="342900" y="381000"/>
                  </a:lnTo>
                  <a:lnTo>
                    <a:pt x="342900" y="0"/>
                  </a:lnTo>
                  <a:lnTo>
                    <a:pt x="7048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2905125" y="47148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2609850" y="5143500"/>
              <a:ext cx="361950" cy="209550"/>
            </a:xfrm>
            <a:custGeom>
              <a:avLst/>
              <a:gdLst/>
              <a:ahLst/>
              <a:cxnLst/>
              <a:rect l="l" t="t" r="r" b="b"/>
              <a:pathLst>
                <a:path w="361950" h="209550">
                  <a:moveTo>
                    <a:pt x="0" y="0"/>
                  </a:moveTo>
                  <a:lnTo>
                    <a:pt x="0" y="209550"/>
                  </a:lnTo>
                  <a:lnTo>
                    <a:pt x="361950" y="2095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2905125" y="5305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2971800" y="4533900"/>
              <a:ext cx="22860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9" name="TextBox 49"/>
            <p:cNvSpPr/>
            <p:nvPr>
              <p:custDataLst>
                <p:tags r:id="rId14"/>
              </p:custDataLst>
            </p:nvPr>
          </p:nvSpPr>
          <p:spPr>
            <a:xfrm>
              <a:off x="3267170" y="4635532"/>
              <a:ext cx="164287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18 複核／不確定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2971800" y="5124450"/>
              <a:ext cx="22860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51" name="TextBox 51"/>
            <p:cNvSpPr/>
            <p:nvPr>
              <p:custDataLst>
                <p:tags r:id="rId15"/>
              </p:custDataLst>
            </p:nvPr>
          </p:nvSpPr>
          <p:spPr>
            <a:xfrm>
              <a:off x="3600355" y="5226082"/>
              <a:ext cx="9765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12 仍支持</a:t>
              </a:r>
            </a:p>
          </p:txBody>
        </p:sp>
        <p:sp>
          <p:nvSpPr>
            <p:cNvPr id="52" name="Freeform 52"/>
            <p:cNvSpPr/>
            <p:nvPr/>
          </p:nvSpPr>
          <p:spPr>
            <a:xfrm>
              <a:off x="5257800" y="47625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5762625" y="47148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5257800" y="535305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5762625" y="5305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5829300" y="4533900"/>
              <a:ext cx="2819400" cy="457200"/>
            </a:xfrm>
            <a:prstGeom prst="roundRect">
              <a:avLst>
                <a:gd name="adj" fmla="val 12500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57" name="TextBox 57"/>
            <p:cNvSpPr/>
            <p:nvPr>
              <p:custDataLst>
                <p:tags r:id="rId16"/>
              </p:custDataLst>
            </p:nvPr>
          </p:nvSpPr>
          <p:spPr>
            <a:xfrm>
              <a:off x="6649117" y="463553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監測／蒐證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829300" y="5124450"/>
              <a:ext cx="2819400" cy="457200"/>
            </a:xfrm>
            <a:prstGeom prst="roundRect">
              <a:avLst>
                <a:gd name="adj" fmla="val 12500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59" name="TextBox 59"/>
            <p:cNvSpPr/>
            <p:nvPr>
              <p:custDataLst>
                <p:tags r:id="rId17"/>
              </p:custDataLst>
            </p:nvPr>
          </p:nvSpPr>
          <p:spPr>
            <a:xfrm>
              <a:off x="6292596" y="5238750"/>
              <a:ext cx="18420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95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若觸發 → 策略檢查</a:t>
              </a:r>
            </a:p>
          </p:txBody>
        </p:sp>
        <p:sp>
          <p:nvSpPr>
            <p:cNvPr id="60" name="TextBox 60"/>
            <p:cNvSpPr/>
            <p:nvPr>
              <p:custDataLst>
                <p:tags r:id="rId18"/>
              </p:custDataLst>
            </p:nvPr>
          </p:nvSpPr>
          <p:spPr>
            <a:xfrm>
              <a:off x="830580" y="5660993"/>
              <a:ext cx="4320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12 筆為支持統計；處置與回復另以隔離情境驗證</a:t>
              </a:r>
            </a:p>
          </p:txBody>
        </p:sp>
        <p:sp>
          <p:nvSpPr>
            <p:cNvPr id="61" name="TextBox 61"/>
            <p:cNvSpPr/>
            <p:nvPr>
              <p:custDataLst>
                <p:tags r:id="rId19"/>
              </p:custDataLst>
            </p:nvPr>
          </p:nvSpPr>
          <p:spPr>
            <a:xfrm>
              <a:off x="9807130" y="4464082"/>
              <a:ext cx="115500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28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18 / 30</a:t>
              </a:r>
            </a:p>
          </p:txBody>
        </p:sp>
        <p:sp>
          <p:nvSpPr>
            <p:cNvPr id="62" name="TextBox 62"/>
            <p:cNvSpPr/>
            <p:nvPr>
              <p:custDataLst>
                <p:tags r:id="rId20"/>
              </p:custDataLst>
            </p:nvPr>
          </p:nvSpPr>
          <p:spPr>
            <a:xfrm>
              <a:off x="9758362" y="5105400"/>
              <a:ext cx="129216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偵測誤判分流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64" name="Line 64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65" name="TextBox 65"/>
            <p:cNvSpPr/>
            <p:nvPr>
              <p:custDataLst>
                <p:tags r:id="rId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66" name="TextBox 66"/>
            <p:cNvSpPr/>
            <p:nvPr>
              <p:custDataLst>
                <p:tags r:id="rId2"/>
              </p:custDataLst>
            </p:nvPr>
          </p:nvSpPr>
          <p:spPr>
            <a:xfrm>
              <a:off x="10616565" y="6451568"/>
              <a:ext cx="9375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答詢備用 2 / 3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4272534" cy="1085850"/>
            <a:chOff x="593598" y="257175"/>
            <a:chExt cx="4272534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22"/>
              </p:custDataLst>
            </p:nvPr>
          </p:nvSpPr>
          <p:spPr>
            <a:xfrm>
              <a:off x="755523" y="314325"/>
              <a:ext cx="158524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/>
            <p:nvPr>
              <p:custDataLst>
                <p:tags r:id="rId23"/>
              </p:custDataLst>
            </p:nvPr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答詢圖解｜效果與部署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104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7" name="Rectangle 7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609600" y="1571625"/>
              <a:ext cx="38100" cy="20955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0" name="TextBox 10"/>
            <p:cNvSpPr/>
            <p:nvPr>
              <p:custDataLst>
                <p:tags r:id="rId3"/>
              </p:custDataLst>
            </p:nvPr>
          </p:nvSpPr>
          <p:spPr>
            <a:xfrm>
              <a:off x="829056" y="1736693"/>
              <a:ext cx="415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Q5</a:t>
              </a:r>
            </a:p>
          </p:txBody>
        </p:sp>
        <p:sp>
          <p:nvSpPr>
            <p:cNvPr id="11" name="TextBox 11"/>
            <p:cNvSpPr/>
            <p:nvPr>
              <p:custDataLst>
                <p:tags r:id="rId4"/>
              </p:custDataLst>
            </p:nvPr>
          </p:nvSpPr>
          <p:spPr>
            <a:xfrm>
              <a:off x="1361694" y="1711357"/>
              <a:ext cx="490623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6/6 是否代表各種真實攻擊都能完全防住？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38200" y="2238375"/>
              <a:ext cx="3143250" cy="1038225"/>
            </a:xfrm>
            <a:prstGeom prst="roundRect">
              <a:avLst>
                <a:gd name="adj" fmla="val 5505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TextBox 13"/>
            <p:cNvSpPr/>
            <p:nvPr>
              <p:custDataLst>
                <p:tags r:id="rId5"/>
              </p:custDataLst>
            </p:nvPr>
          </p:nvSpPr>
          <p:spPr>
            <a:xfrm>
              <a:off x="1487329" y="2282857"/>
              <a:ext cx="17925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隔離</a:t>
              </a:r>
              <a:r>
                <a:rPr lang="en-US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測試床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1234630" y="2632520"/>
              <a:ext cx="273844" cy="297561"/>
              <a:chOff x="1234630" y="2632520"/>
              <a:chExt cx="273844" cy="297561"/>
            </a:xfrm>
          </p:grpSpPr>
          <p:sp>
            <p:nvSpPr>
              <p:cNvPr id="14" name="Rectangle 14"/>
              <p:cNvSpPr/>
              <p:nvPr/>
            </p:nvSpPr>
            <p:spPr>
              <a:xfrm>
                <a:off x="1234630" y="2632520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15" name="Ellipse 15"/>
              <p:cNvSpPr/>
              <p:nvPr/>
            </p:nvSpPr>
            <p:spPr>
              <a:xfrm>
                <a:off x="1449038" y="2662238"/>
                <a:ext cx="23812" cy="23812"/>
              </a:xfrm>
              <a:prstGeom prst="ellipse">
                <a:avLst/>
              </a:prstGeom>
              <a:solidFill>
                <a:srgbClr val="245EA8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16" name="Line 16"/>
              <p:cNvSpPr/>
              <p:nvPr/>
            </p:nvSpPr>
            <p:spPr>
              <a:xfrm>
                <a:off x="1270444" y="2674144"/>
                <a:ext cx="11896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8967" h="9525">
                    <a:moveTo>
                      <a:pt x="0" y="0"/>
                    </a:moveTo>
                    <a:lnTo>
                      <a:pt x="118967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17" name="Rectangle 17"/>
              <p:cNvSpPr/>
              <p:nvPr/>
            </p:nvSpPr>
            <p:spPr>
              <a:xfrm>
                <a:off x="1234630" y="2739580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18" name="Ellipse 18"/>
              <p:cNvSpPr/>
              <p:nvPr/>
            </p:nvSpPr>
            <p:spPr>
              <a:xfrm>
                <a:off x="1449038" y="2769394"/>
                <a:ext cx="23812" cy="23812"/>
              </a:xfrm>
              <a:prstGeom prst="ellipse">
                <a:avLst/>
              </a:prstGeom>
              <a:solidFill>
                <a:srgbClr val="245EA8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1270444" y="2781300"/>
                <a:ext cx="11896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8967" h="9525">
                    <a:moveTo>
                      <a:pt x="0" y="0"/>
                    </a:moveTo>
                    <a:lnTo>
                      <a:pt x="118967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20" name="Rectangle 20"/>
              <p:cNvSpPr/>
              <p:nvPr/>
            </p:nvSpPr>
            <p:spPr>
              <a:xfrm>
                <a:off x="1234630" y="2846737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21" name="Ellipse 21"/>
              <p:cNvSpPr/>
              <p:nvPr/>
            </p:nvSpPr>
            <p:spPr>
              <a:xfrm>
                <a:off x="1449038" y="2876550"/>
                <a:ext cx="23812" cy="23812"/>
              </a:xfrm>
              <a:prstGeom prst="ellipse">
                <a:avLst/>
              </a:prstGeom>
              <a:solidFill>
                <a:srgbClr val="245EA8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1270444" y="2888456"/>
                <a:ext cx="11896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8967" h="9525">
                    <a:moveTo>
                      <a:pt x="0" y="0"/>
                    </a:moveTo>
                    <a:lnTo>
                      <a:pt x="118967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</p:grpSp>
        <p:grpSp>
          <p:nvGrpSpPr>
            <p:cNvPr id="33" name="Group 33"/>
            <p:cNvGrpSpPr/>
            <p:nvPr/>
          </p:nvGrpSpPr>
          <p:grpSpPr>
            <a:xfrm>
              <a:off x="2249138" y="2638425"/>
              <a:ext cx="321469" cy="285750"/>
              <a:chOff x="2249138" y="2638425"/>
              <a:chExt cx="321469" cy="28575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2249138" y="2638425"/>
                <a:ext cx="321469" cy="285750"/>
              </a:xfrm>
              <a:prstGeom prst="roundRect">
                <a:avLst>
                  <a:gd name="adj" fmla="val 8333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2249138" y="2733675"/>
                <a:ext cx="32146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1469" h="9525">
                    <a:moveTo>
                      <a:pt x="0" y="0"/>
                    </a:moveTo>
                    <a:lnTo>
                      <a:pt x="321469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2249138" y="2828925"/>
                <a:ext cx="32146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1469" h="9525">
                    <a:moveTo>
                      <a:pt x="0" y="0"/>
                    </a:moveTo>
                    <a:lnTo>
                      <a:pt x="321469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2356294" y="26384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2475262" y="26384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2308670" y="27336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2439638" y="27336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2356294" y="28289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2475262" y="28289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</p:grpSp>
        <p:grpSp>
          <p:nvGrpSpPr>
            <p:cNvPr id="43" name="Group 43"/>
            <p:cNvGrpSpPr/>
            <p:nvPr/>
          </p:nvGrpSpPr>
          <p:grpSpPr>
            <a:xfrm>
              <a:off x="3311080" y="2632520"/>
              <a:ext cx="273844" cy="297561"/>
              <a:chOff x="3311080" y="2632520"/>
              <a:chExt cx="273844" cy="297561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3311080" y="2632520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35" name="Ellipse 35"/>
              <p:cNvSpPr/>
              <p:nvPr/>
            </p:nvSpPr>
            <p:spPr>
              <a:xfrm>
                <a:off x="3525488" y="2662238"/>
                <a:ext cx="23812" cy="23812"/>
              </a:xfrm>
              <a:prstGeom prst="ellipse">
                <a:avLst/>
              </a:prstGeom>
              <a:solidFill>
                <a:srgbClr val="245EA8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36" name="Line 36"/>
              <p:cNvSpPr/>
              <p:nvPr/>
            </p:nvSpPr>
            <p:spPr>
              <a:xfrm>
                <a:off x="3346894" y="2674144"/>
                <a:ext cx="11896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8967" h="9525">
                    <a:moveTo>
                      <a:pt x="0" y="0"/>
                    </a:moveTo>
                    <a:lnTo>
                      <a:pt x="118967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37" name="Rectangle 37"/>
              <p:cNvSpPr/>
              <p:nvPr/>
            </p:nvSpPr>
            <p:spPr>
              <a:xfrm>
                <a:off x="3311080" y="2739580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38" name="Ellipse 38"/>
              <p:cNvSpPr/>
              <p:nvPr/>
            </p:nvSpPr>
            <p:spPr>
              <a:xfrm>
                <a:off x="3525488" y="2769394"/>
                <a:ext cx="23812" cy="23812"/>
              </a:xfrm>
              <a:prstGeom prst="ellipse">
                <a:avLst/>
              </a:prstGeom>
              <a:solidFill>
                <a:srgbClr val="245EA8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39" name="Line 39"/>
              <p:cNvSpPr/>
              <p:nvPr/>
            </p:nvSpPr>
            <p:spPr>
              <a:xfrm>
                <a:off x="3346894" y="2781300"/>
                <a:ext cx="11896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8967" h="9525">
                    <a:moveTo>
                      <a:pt x="0" y="0"/>
                    </a:moveTo>
                    <a:lnTo>
                      <a:pt x="118967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40" name="Rectangle 40"/>
              <p:cNvSpPr/>
              <p:nvPr/>
            </p:nvSpPr>
            <p:spPr>
              <a:xfrm>
                <a:off x="3311080" y="2846737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41" name="Ellipse 41"/>
              <p:cNvSpPr/>
              <p:nvPr/>
            </p:nvSpPr>
            <p:spPr>
              <a:xfrm>
                <a:off x="3525488" y="2876550"/>
                <a:ext cx="23812" cy="23812"/>
              </a:xfrm>
              <a:prstGeom prst="ellipse">
                <a:avLst/>
              </a:prstGeom>
              <a:solidFill>
                <a:srgbClr val="245EA8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42" name="Line 42"/>
              <p:cNvSpPr/>
              <p:nvPr/>
            </p:nvSpPr>
            <p:spPr>
              <a:xfrm>
                <a:off x="3346894" y="2888456"/>
                <a:ext cx="11896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8967" h="9525">
                    <a:moveTo>
                      <a:pt x="0" y="0"/>
                    </a:moveTo>
                    <a:lnTo>
                      <a:pt x="118967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</p:grpSp>
        <p:sp>
          <p:nvSpPr>
            <p:cNvPr id="44" name="Freeform 44"/>
            <p:cNvSpPr/>
            <p:nvPr/>
          </p:nvSpPr>
          <p:spPr>
            <a:xfrm>
              <a:off x="1581150" y="2790825"/>
              <a:ext cx="638175" cy="9525"/>
            </a:xfrm>
            <a:custGeom>
              <a:avLst/>
              <a:gdLst/>
              <a:ahLst/>
              <a:cxnLst/>
              <a:rect l="l" t="t" r="r" b="b"/>
              <a:pathLst>
                <a:path w="638175" h="9525">
                  <a:moveTo>
                    <a:pt x="0" y="0"/>
                  </a:moveTo>
                  <a:lnTo>
                    <a:pt x="638175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2152650" y="27432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2619375" y="2790825"/>
              <a:ext cx="638175" cy="9525"/>
            </a:xfrm>
            <a:custGeom>
              <a:avLst/>
              <a:gdLst/>
              <a:ahLst/>
              <a:cxnLst/>
              <a:rect l="l" t="t" r="r" b="b"/>
              <a:pathLst>
                <a:path w="638175" h="9525">
                  <a:moveTo>
                    <a:pt x="0" y="0"/>
                  </a:moveTo>
                  <a:lnTo>
                    <a:pt x="638175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3190875" y="27432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8" name="TextBox 48"/>
            <p:cNvSpPr/>
            <p:nvPr>
              <p:custDataLst>
                <p:tags r:id="rId6"/>
              </p:custDataLst>
            </p:nvPr>
          </p:nvSpPr>
          <p:spPr>
            <a:xfrm>
              <a:off x="1713548" y="3013043"/>
              <a:ext cx="1344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4 規則＋2 監測</a:t>
              </a:r>
            </a:p>
          </p:txBody>
        </p:sp>
        <p:sp>
          <p:nvSpPr>
            <p:cNvPr id="49" name="Freeform 49"/>
            <p:cNvSpPr/>
            <p:nvPr/>
          </p:nvSpPr>
          <p:spPr>
            <a:xfrm>
              <a:off x="3981450" y="2486025"/>
              <a:ext cx="590550" cy="285750"/>
            </a:xfrm>
            <a:custGeom>
              <a:avLst/>
              <a:gdLst/>
              <a:ahLst/>
              <a:cxnLst/>
              <a:rect l="l" t="t" r="r" b="b"/>
              <a:pathLst>
                <a:path w="590550" h="285750">
                  <a:moveTo>
                    <a:pt x="0" y="285750"/>
                  </a:moveTo>
                  <a:lnTo>
                    <a:pt x="304800" y="285750"/>
                  </a:lnTo>
                  <a:lnTo>
                    <a:pt x="304800" y="0"/>
                  </a:lnTo>
                  <a:lnTo>
                    <a:pt x="5905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4505325" y="2438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4286250" y="2771775"/>
              <a:ext cx="285750" cy="247650"/>
            </a:xfrm>
            <a:custGeom>
              <a:avLst/>
              <a:gdLst/>
              <a:ahLst/>
              <a:cxnLst/>
              <a:rect l="l" t="t" r="r" b="b"/>
              <a:pathLst>
                <a:path w="285750" h="247650">
                  <a:moveTo>
                    <a:pt x="0" y="0"/>
                  </a:moveTo>
                  <a:lnTo>
                    <a:pt x="0" y="247650"/>
                  </a:lnTo>
                  <a:lnTo>
                    <a:pt x="285750" y="2476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4505325" y="2971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4572000" y="2257425"/>
              <a:ext cx="4076700" cy="457200"/>
            </a:xfrm>
            <a:prstGeom prst="roundRect">
              <a:avLst>
                <a:gd name="adj" fmla="val 12500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54" name="TextBox 54"/>
            <p:cNvSpPr/>
            <p:nvPr>
              <p:custDataLst>
                <p:tags r:id="rId7"/>
              </p:custDataLst>
            </p:nvPr>
          </p:nvSpPr>
          <p:spPr>
            <a:xfrm>
              <a:off x="5671471" y="2359057"/>
              <a:ext cx="182546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95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背景服務保留 6 / 6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4572000" y="2790825"/>
              <a:ext cx="4076700" cy="457200"/>
            </a:xfrm>
            <a:prstGeom prst="roundRect">
              <a:avLst>
                <a:gd name="adj" fmla="val 12500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56" name="TextBox 56"/>
            <p:cNvSpPr/>
            <p:nvPr>
              <p:custDataLst>
                <p:tags r:id="rId8"/>
              </p:custDataLst>
            </p:nvPr>
          </p:nvSpPr>
          <p:spPr>
            <a:xfrm>
              <a:off x="5782532" y="2892457"/>
              <a:ext cx="16033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95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回復完整性 6 / 6</a:t>
              </a:r>
            </a:p>
          </p:txBody>
        </p:sp>
        <p:sp>
          <p:nvSpPr>
            <p:cNvPr id="57" name="TextBox 57"/>
            <p:cNvSpPr/>
            <p:nvPr>
              <p:custDataLst>
                <p:tags r:id="rId9"/>
              </p:custDataLst>
            </p:nvPr>
          </p:nvSpPr>
          <p:spPr>
            <a:xfrm>
              <a:off x="830580" y="3336893"/>
              <a:ext cx="43797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6/6 驗證服務保留與回復；不等同真實攻擊防禦率</a:t>
              </a:r>
            </a:p>
          </p:txBody>
        </p:sp>
        <p:sp>
          <p:nvSpPr>
            <p:cNvPr id="58" name="TextBox 58"/>
            <p:cNvSpPr/>
            <p:nvPr>
              <p:custDataLst>
                <p:tags r:id="rId10"/>
              </p:custDataLst>
            </p:nvPr>
          </p:nvSpPr>
          <p:spPr>
            <a:xfrm>
              <a:off x="10009822" y="2139982"/>
              <a:ext cx="74961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28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6 / 6</a:t>
              </a:r>
            </a:p>
          </p:txBody>
        </p:sp>
        <p:sp>
          <p:nvSpPr>
            <p:cNvPr id="59" name="TextBox 59"/>
            <p:cNvSpPr/>
            <p:nvPr>
              <p:custDataLst>
                <p:tags r:id="rId11"/>
              </p:custDataLst>
            </p:nvPr>
          </p:nvSpPr>
          <p:spPr>
            <a:xfrm>
              <a:off x="9652064" y="2781300"/>
              <a:ext cx="15048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95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背景保留與回復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609600" y="3895725"/>
              <a:ext cx="38100" cy="20955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63" name="TextBox 63"/>
            <p:cNvSpPr/>
            <p:nvPr>
              <p:custDataLst>
                <p:tags r:id="rId12"/>
              </p:custDataLst>
            </p:nvPr>
          </p:nvSpPr>
          <p:spPr>
            <a:xfrm>
              <a:off x="829056" y="4060793"/>
              <a:ext cx="415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Q6</a:t>
              </a:r>
            </a:p>
          </p:txBody>
        </p:sp>
        <p:sp>
          <p:nvSpPr>
            <p:cNvPr id="64" name="TextBox 64"/>
            <p:cNvSpPr/>
            <p:nvPr>
              <p:custDataLst>
                <p:tags r:id="rId13"/>
              </p:custDataLst>
            </p:nvPr>
          </p:nvSpPr>
          <p:spPr>
            <a:xfrm>
              <a:off x="1361694" y="4035457"/>
              <a:ext cx="47449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如何部署、保護資料，並接到既有環境？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38200" y="4600575"/>
              <a:ext cx="7810500" cy="981075"/>
            </a:xfrm>
            <a:prstGeom prst="roundRect">
              <a:avLst>
                <a:gd name="adj" fmla="val 6796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66" name="TextBox 66"/>
            <p:cNvSpPr/>
            <p:nvPr>
              <p:custDataLst>
                <p:tags r:id="rId14"/>
              </p:custDataLst>
            </p:nvPr>
          </p:nvSpPr>
          <p:spPr>
            <a:xfrm>
              <a:off x="1039368" y="4635532"/>
              <a:ext cx="33388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本機工作站</a:t>
              </a:r>
              <a:r>
                <a:rPr lang="en-US" sz="16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· GPU </a:t>
              </a:r>
              <a:r>
                <a:rPr lang="zh-TW" sz="16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模型與案例庫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990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73" name="Group 73"/>
            <p:cNvGrpSpPr/>
            <p:nvPr/>
          </p:nvGrpSpPr>
          <p:grpSpPr>
            <a:xfrm>
              <a:off x="1090612" y="5049488"/>
              <a:ext cx="238125" cy="321469"/>
              <a:chOff x="1090612" y="5049488"/>
              <a:chExt cx="238125" cy="321469"/>
            </a:xfrm>
          </p:grpSpPr>
          <p:sp>
            <p:nvSpPr>
              <p:cNvPr id="68" name="Rectangle 68"/>
              <p:cNvSpPr/>
              <p:nvPr/>
            </p:nvSpPr>
            <p:spPr>
              <a:xfrm>
                <a:off x="1090612" y="5049488"/>
                <a:ext cx="238125" cy="321469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69" name="Line 69"/>
              <p:cNvSpPr/>
              <p:nvPr/>
            </p:nvSpPr>
            <p:spPr>
              <a:xfrm>
                <a:off x="1144238" y="5126831"/>
                <a:ext cx="13687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874" h="9525">
                    <a:moveTo>
                      <a:pt x="0" y="0"/>
                    </a:moveTo>
                    <a:lnTo>
                      <a:pt x="136874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70" name="Line 70"/>
              <p:cNvSpPr/>
              <p:nvPr/>
            </p:nvSpPr>
            <p:spPr>
              <a:xfrm>
                <a:off x="1144238" y="5192363"/>
                <a:ext cx="13687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874" h="9525">
                    <a:moveTo>
                      <a:pt x="0" y="0"/>
                    </a:moveTo>
                    <a:lnTo>
                      <a:pt x="136874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71" name="Line 71"/>
              <p:cNvSpPr/>
              <p:nvPr/>
            </p:nvSpPr>
            <p:spPr>
              <a:xfrm>
                <a:off x="1144238" y="5257800"/>
                <a:ext cx="13687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874" h="9525">
                    <a:moveTo>
                      <a:pt x="0" y="0"/>
                    </a:moveTo>
                    <a:lnTo>
                      <a:pt x="136874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72" name="Line 72"/>
              <p:cNvSpPr/>
              <p:nvPr/>
            </p:nvSpPr>
            <p:spPr>
              <a:xfrm>
                <a:off x="1144238" y="5323237"/>
                <a:ext cx="13687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874" h="9525">
                    <a:moveTo>
                      <a:pt x="0" y="0"/>
                    </a:moveTo>
                    <a:lnTo>
                      <a:pt x="136874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</p:grpSp>
        <p:sp>
          <p:nvSpPr>
            <p:cNvPr id="74" name="TextBox 74"/>
            <p:cNvSpPr/>
            <p:nvPr>
              <p:custDataLst>
                <p:tags r:id="rId15"/>
              </p:custDataLst>
            </p:nvPr>
          </p:nvSpPr>
          <p:spPr>
            <a:xfrm>
              <a:off x="1584008" y="5099018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欄位遮罩</a:t>
              </a:r>
            </a:p>
          </p:txBody>
        </p:sp>
        <p:sp>
          <p:nvSpPr>
            <p:cNvPr id="75" name="Freeform 75"/>
            <p:cNvSpPr/>
            <p:nvPr/>
          </p:nvSpPr>
          <p:spPr>
            <a:xfrm>
              <a:off x="2609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6" name="Freeform 76"/>
            <p:cNvSpPr/>
            <p:nvPr/>
          </p:nvSpPr>
          <p:spPr>
            <a:xfrm>
              <a:off x="2828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2895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81" name="Group 81"/>
            <p:cNvGrpSpPr/>
            <p:nvPr/>
          </p:nvGrpSpPr>
          <p:grpSpPr>
            <a:xfrm>
              <a:off x="2947988" y="5043488"/>
              <a:ext cx="333375" cy="333375"/>
              <a:chOff x="2947988" y="5043488"/>
              <a:chExt cx="333375" cy="333375"/>
            </a:xfrm>
          </p:grpSpPr>
          <p:sp>
            <p:nvSpPr>
              <p:cNvPr id="78" name="Rectangle 78"/>
              <p:cNvSpPr/>
              <p:nvPr/>
            </p:nvSpPr>
            <p:spPr>
              <a:xfrm>
                <a:off x="2995612" y="5091112"/>
                <a:ext cx="238125" cy="238125"/>
              </a:xfrm>
              <a:prstGeom prst="roundRect">
                <a:avLst>
                  <a:gd name="adj" fmla="val 12500"/>
                </a:avLst>
              </a:prstGeom>
              <a:solidFill>
                <a:srgbClr val="FFFFFF"/>
              </a:solidFill>
              <a:ln w="17859" cap="rnd">
                <a:solidFill>
                  <a:srgbClr val="245EA8"/>
                </a:solidFill>
                <a:round/>
              </a:ln>
            </p:spPr>
          </p:sp>
          <p:sp>
            <p:nvSpPr>
              <p:cNvPr id="79" name="Rectangle 79"/>
              <p:cNvSpPr/>
              <p:nvPr/>
            </p:nvSpPr>
            <p:spPr>
              <a:xfrm>
                <a:off x="3061144" y="5156644"/>
                <a:ext cx="107156" cy="107156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 w="17859" cap="rnd">
                <a:solidFill>
                  <a:srgbClr val="245EA8"/>
                </a:solidFill>
                <a:round/>
              </a:ln>
            </p:spPr>
          </p:sp>
          <p:sp>
            <p:nvSpPr>
              <p:cNvPr id="80" name="Freeform 80"/>
              <p:cNvSpPr/>
              <p:nvPr/>
            </p:nvSpPr>
            <p:spPr>
              <a:xfrm>
                <a:off x="2947988" y="5043488"/>
                <a:ext cx="333375" cy="333375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333375">
                    <a:moveTo>
                      <a:pt x="101251" y="0"/>
                    </a:moveTo>
                    <a:lnTo>
                      <a:pt x="101251" y="47625"/>
                    </a:lnTo>
                    <a:moveTo>
                      <a:pt x="166688" y="0"/>
                    </a:moveTo>
                    <a:lnTo>
                      <a:pt x="166688" y="47625"/>
                    </a:lnTo>
                    <a:moveTo>
                      <a:pt x="232219" y="0"/>
                    </a:moveTo>
                    <a:lnTo>
                      <a:pt x="232219" y="47625"/>
                    </a:lnTo>
                    <a:moveTo>
                      <a:pt x="101251" y="285750"/>
                    </a:moveTo>
                    <a:lnTo>
                      <a:pt x="101251" y="333375"/>
                    </a:lnTo>
                    <a:moveTo>
                      <a:pt x="166688" y="285750"/>
                    </a:moveTo>
                    <a:lnTo>
                      <a:pt x="166688" y="333375"/>
                    </a:lnTo>
                    <a:moveTo>
                      <a:pt x="232219" y="285750"/>
                    </a:moveTo>
                    <a:lnTo>
                      <a:pt x="232219" y="333375"/>
                    </a:lnTo>
                    <a:moveTo>
                      <a:pt x="0" y="101251"/>
                    </a:moveTo>
                    <a:lnTo>
                      <a:pt x="47625" y="101251"/>
                    </a:lnTo>
                    <a:moveTo>
                      <a:pt x="0" y="166688"/>
                    </a:moveTo>
                    <a:lnTo>
                      <a:pt x="47625" y="166688"/>
                    </a:lnTo>
                    <a:moveTo>
                      <a:pt x="0" y="232219"/>
                    </a:moveTo>
                    <a:lnTo>
                      <a:pt x="47625" y="232219"/>
                    </a:lnTo>
                    <a:moveTo>
                      <a:pt x="285750" y="101251"/>
                    </a:moveTo>
                    <a:lnTo>
                      <a:pt x="333375" y="101251"/>
                    </a:lnTo>
                    <a:moveTo>
                      <a:pt x="285750" y="166688"/>
                    </a:moveTo>
                    <a:lnTo>
                      <a:pt x="333375" y="166688"/>
                    </a:lnTo>
                    <a:moveTo>
                      <a:pt x="285750" y="232219"/>
                    </a:moveTo>
                    <a:lnTo>
                      <a:pt x="333375" y="232219"/>
                    </a:lnTo>
                  </a:path>
                </a:pathLst>
              </a:custGeom>
              <a:noFill/>
              <a:ln w="17859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82" name="TextBox 82"/>
            <p:cNvSpPr/>
            <p:nvPr>
              <p:custDataLst>
                <p:tags r:id="rId16"/>
              </p:custDataLst>
            </p:nvPr>
          </p:nvSpPr>
          <p:spPr>
            <a:xfrm>
              <a:off x="3456622" y="5099018"/>
              <a:ext cx="8877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17 類推論</a:t>
              </a:r>
            </a:p>
          </p:txBody>
        </p:sp>
        <p:sp>
          <p:nvSpPr>
            <p:cNvPr id="83" name="Freeform 83"/>
            <p:cNvSpPr/>
            <p:nvPr/>
          </p:nvSpPr>
          <p:spPr>
            <a:xfrm>
              <a:off x="4514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84" name="Freeform 84"/>
            <p:cNvSpPr/>
            <p:nvPr/>
          </p:nvSpPr>
          <p:spPr>
            <a:xfrm>
              <a:off x="4733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85" name="Rectangle 85"/>
            <p:cNvSpPr/>
            <p:nvPr/>
          </p:nvSpPr>
          <p:spPr>
            <a:xfrm>
              <a:off x="4800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91" name="Group 91"/>
            <p:cNvGrpSpPr/>
            <p:nvPr/>
          </p:nvGrpSpPr>
          <p:grpSpPr>
            <a:xfrm>
              <a:off x="4870894" y="5055394"/>
              <a:ext cx="315469" cy="309562"/>
              <a:chOff x="4870894" y="5055394"/>
              <a:chExt cx="315469" cy="309562"/>
            </a:xfrm>
          </p:grpSpPr>
          <p:sp>
            <p:nvSpPr>
              <p:cNvPr id="86" name="Freeform 86"/>
              <p:cNvSpPr/>
              <p:nvPr/>
            </p:nvSpPr>
            <p:spPr>
              <a:xfrm>
                <a:off x="4870894" y="5097113"/>
                <a:ext cx="226219" cy="238125"/>
              </a:xfrm>
              <a:custGeom>
                <a:avLst/>
                <a:gdLst/>
                <a:ahLst/>
                <a:cxnLst/>
                <a:rect l="l" t="t" r="r" b="b"/>
                <a:pathLst>
                  <a:path w="226219" h="238125">
                    <a:moveTo>
                      <a:pt x="0" y="0"/>
                    </a:moveTo>
                    <a:lnTo>
                      <a:pt x="0" y="184499"/>
                    </a:lnTo>
                    <a:cubicBezTo>
                      <a:pt x="0" y="238125"/>
                      <a:pt x="226219" y="238125"/>
                      <a:pt x="226219" y="184499"/>
                    </a:cubicBezTo>
                    <a:lnTo>
                      <a:pt x="226219" y="0"/>
                    </a:lnTo>
                  </a:path>
                </a:pathLst>
              </a:custGeom>
              <a:solidFill>
                <a:srgbClr val="FFFFFF"/>
              </a:solidFill>
              <a:ln w="17859" cap="rnd">
                <a:solidFill>
                  <a:srgbClr val="245EA8"/>
                </a:solidFill>
                <a:round/>
              </a:ln>
            </p:spPr>
          </p:sp>
          <p:sp>
            <p:nvSpPr>
              <p:cNvPr id="87" name="Ellipse 87"/>
              <p:cNvSpPr/>
              <p:nvPr/>
            </p:nvSpPr>
            <p:spPr>
              <a:xfrm>
                <a:off x="4870894" y="5055394"/>
                <a:ext cx="226219" cy="83344"/>
              </a:xfrm>
              <a:prstGeom prst="ellipse">
                <a:avLst/>
              </a:prstGeom>
              <a:solidFill>
                <a:srgbClr val="FFFFFF"/>
              </a:solidFill>
              <a:ln w="17859" cap="rnd">
                <a:solidFill>
                  <a:srgbClr val="245EA8"/>
                </a:solidFill>
                <a:round/>
              </a:ln>
            </p:spPr>
          </p:sp>
          <p:sp>
            <p:nvSpPr>
              <p:cNvPr id="88" name="Freeform 88"/>
              <p:cNvSpPr/>
              <p:nvPr/>
            </p:nvSpPr>
            <p:spPr>
              <a:xfrm>
                <a:off x="4870894" y="5180362"/>
                <a:ext cx="226219" cy="53626"/>
              </a:xfrm>
              <a:custGeom>
                <a:avLst/>
                <a:gdLst/>
                <a:ahLst/>
                <a:cxnLst/>
                <a:rect l="l" t="t" r="r" b="b"/>
                <a:pathLst>
                  <a:path w="226219" h="53626">
                    <a:moveTo>
                      <a:pt x="0" y="0"/>
                    </a:moveTo>
                    <a:cubicBezTo>
                      <a:pt x="0" y="53626"/>
                      <a:pt x="226219" y="53626"/>
                      <a:pt x="226219" y="0"/>
                    </a:cubicBezTo>
                  </a:path>
                </a:pathLst>
              </a:custGeom>
              <a:noFill/>
              <a:ln w="17859" cap="rnd">
                <a:solidFill>
                  <a:srgbClr val="245EA8"/>
                </a:solidFill>
                <a:round/>
              </a:ln>
            </p:spPr>
          </p:sp>
          <p:sp>
            <p:nvSpPr>
              <p:cNvPr id="89" name="Ellipse 89"/>
              <p:cNvSpPr/>
              <p:nvPr/>
            </p:nvSpPr>
            <p:spPr>
              <a:xfrm>
                <a:off x="5019675" y="5192363"/>
                <a:ext cx="130969" cy="130969"/>
              </a:xfrm>
              <a:prstGeom prst="ellipse">
                <a:avLst/>
              </a:prstGeom>
              <a:solidFill>
                <a:srgbClr val="F4F7FA"/>
              </a:solidFill>
              <a:ln w="17859" cap="rnd">
                <a:solidFill>
                  <a:srgbClr val="245EA8"/>
                </a:solidFill>
                <a:round/>
              </a:ln>
            </p:spPr>
          </p:sp>
          <p:sp>
            <p:nvSpPr>
              <p:cNvPr id="90" name="Freeform 90"/>
              <p:cNvSpPr/>
              <p:nvPr/>
            </p:nvSpPr>
            <p:spPr>
              <a:xfrm>
                <a:off x="5132737" y="5305425"/>
                <a:ext cx="53626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53626" h="59531">
                    <a:moveTo>
                      <a:pt x="0" y="0"/>
                    </a:moveTo>
                    <a:lnTo>
                      <a:pt x="53626" y="59531"/>
                    </a:lnTo>
                  </a:path>
                </a:pathLst>
              </a:custGeom>
              <a:solidFill>
                <a:srgbClr val="FFFFFF"/>
              </a:solidFill>
              <a:ln w="23812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92" name="TextBox 92"/>
            <p:cNvSpPr/>
            <p:nvPr>
              <p:custDataLst>
                <p:tags r:id="rId17"/>
              </p:custDataLst>
            </p:nvPr>
          </p:nvSpPr>
          <p:spPr>
            <a:xfrm>
              <a:off x="5358289" y="5099018"/>
              <a:ext cx="8943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檢索＋</a:t>
              </a:r>
              <a:r>
                <a:rPr lang="en-US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AI</a:t>
              </a:r>
            </a:p>
          </p:txBody>
        </p:sp>
        <p:sp>
          <p:nvSpPr>
            <p:cNvPr id="93" name="Freeform 93"/>
            <p:cNvSpPr/>
            <p:nvPr/>
          </p:nvSpPr>
          <p:spPr>
            <a:xfrm>
              <a:off x="6419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94" name="Freeform 94"/>
            <p:cNvSpPr/>
            <p:nvPr/>
          </p:nvSpPr>
          <p:spPr>
            <a:xfrm>
              <a:off x="6638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95" name="Rectangle 95"/>
            <p:cNvSpPr/>
            <p:nvPr/>
          </p:nvSpPr>
          <p:spPr>
            <a:xfrm>
              <a:off x="6705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99" name="Group 99"/>
            <p:cNvGrpSpPr/>
            <p:nvPr/>
          </p:nvGrpSpPr>
          <p:grpSpPr>
            <a:xfrm>
              <a:off x="6799612" y="5049488"/>
              <a:ext cx="279844" cy="327375"/>
              <a:chOff x="6799612" y="5049488"/>
              <a:chExt cx="279844" cy="327375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6799612" y="5049488"/>
                <a:ext cx="250031" cy="321469"/>
              </a:xfrm>
              <a:custGeom>
                <a:avLst/>
                <a:gdLst/>
                <a:ahLst/>
                <a:cxnLst/>
                <a:rect l="l" t="t" r="r" b="b"/>
                <a:pathLst>
                  <a:path w="250031" h="321469">
                    <a:moveTo>
                      <a:pt x="125063" y="0"/>
                    </a:moveTo>
                    <a:lnTo>
                      <a:pt x="250031" y="53531"/>
                    </a:lnTo>
                    <a:lnTo>
                      <a:pt x="250031" y="148781"/>
                    </a:lnTo>
                    <a:cubicBezTo>
                      <a:pt x="250031" y="226219"/>
                      <a:pt x="190500" y="279749"/>
                      <a:pt x="125063" y="321469"/>
                    </a:cubicBezTo>
                    <a:cubicBezTo>
                      <a:pt x="59531" y="279749"/>
                      <a:pt x="0" y="226219"/>
                      <a:pt x="0" y="148781"/>
                    </a:cubicBezTo>
                    <a:lnTo>
                      <a:pt x="0" y="53531"/>
                    </a:lnTo>
                    <a:close/>
                  </a:path>
                </a:pathLst>
              </a:custGeom>
              <a:solidFill>
                <a:srgbClr val="FFFFFF"/>
              </a:solidFill>
              <a:ln w="17859" cap="rnd">
                <a:solidFill>
                  <a:srgbClr val="245EA8"/>
                </a:solidFill>
                <a:round/>
              </a:ln>
            </p:spPr>
          </p:sp>
          <p:sp>
            <p:nvSpPr>
              <p:cNvPr id="97" name="Freeform 97"/>
              <p:cNvSpPr/>
              <p:nvPr/>
            </p:nvSpPr>
            <p:spPr>
              <a:xfrm>
                <a:off x="6859238" y="5150644"/>
                <a:ext cx="136874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36874" h="95250">
                    <a:moveTo>
                      <a:pt x="0" y="47625"/>
                    </a:moveTo>
                    <a:lnTo>
                      <a:pt x="47625" y="95250"/>
                    </a:lnTo>
                    <a:lnTo>
                      <a:pt x="136874" y="0"/>
                    </a:lnTo>
                  </a:path>
                </a:pathLst>
              </a:custGeom>
              <a:noFill/>
              <a:ln w="23812" cap="rnd">
                <a:solidFill>
                  <a:srgbClr val="245EA8"/>
                </a:solidFill>
                <a:round/>
              </a:ln>
            </p:spPr>
          </p:sp>
          <p:sp>
            <p:nvSpPr>
              <p:cNvPr id="98" name="Freeform 98"/>
              <p:cNvSpPr/>
              <p:nvPr/>
            </p:nvSpPr>
            <p:spPr>
              <a:xfrm>
                <a:off x="7002113" y="5275612"/>
                <a:ext cx="77343" cy="101251"/>
              </a:xfrm>
              <a:custGeom>
                <a:avLst/>
                <a:gdLst/>
                <a:ahLst/>
                <a:cxnLst/>
                <a:rect l="l" t="t" r="r" b="b"/>
                <a:pathLst>
                  <a:path w="77343" h="101251">
                    <a:moveTo>
                      <a:pt x="17812" y="0"/>
                    </a:moveTo>
                    <a:lnTo>
                      <a:pt x="77343" y="0"/>
                    </a:lnTo>
                    <a:lnTo>
                      <a:pt x="77343" y="71533"/>
                    </a:lnTo>
                    <a:lnTo>
                      <a:pt x="0" y="71533"/>
                    </a:lnTo>
                    <a:moveTo>
                      <a:pt x="29718" y="41719"/>
                    </a:moveTo>
                    <a:lnTo>
                      <a:pt x="0" y="71533"/>
                    </a:lnTo>
                    <a:lnTo>
                      <a:pt x="29718" y="101251"/>
                    </a:lnTo>
                  </a:path>
                </a:pathLst>
              </a:custGeom>
              <a:noFill/>
              <a:ln w="17859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100" name="TextBox 100"/>
            <p:cNvSpPr/>
            <p:nvPr>
              <p:custDataLst>
                <p:tags r:id="rId18"/>
              </p:custDataLst>
            </p:nvPr>
          </p:nvSpPr>
          <p:spPr>
            <a:xfrm>
              <a:off x="7299008" y="5099018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策略回條</a:t>
              </a:r>
            </a:p>
          </p:txBody>
        </p:sp>
        <p:sp>
          <p:nvSpPr>
            <p:cNvPr id="101" name="TextBox 101"/>
            <p:cNvSpPr/>
            <p:nvPr>
              <p:custDataLst>
                <p:tags r:id="rId19"/>
              </p:custDataLst>
            </p:nvPr>
          </p:nvSpPr>
          <p:spPr>
            <a:xfrm>
              <a:off x="830580" y="5660993"/>
              <a:ext cx="44567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本機</a:t>
              </a:r>
              <a:r>
                <a:rPr lang="en-US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稽核；私有權重、輸入及逐筆回覆不公開</a:t>
              </a:r>
            </a:p>
          </p:txBody>
        </p:sp>
        <p:sp>
          <p:nvSpPr>
            <p:cNvPr id="102" name="TextBox 102"/>
            <p:cNvSpPr/>
            <p:nvPr>
              <p:custDataLst>
                <p:tags r:id="rId20"/>
              </p:custDataLst>
            </p:nvPr>
          </p:nvSpPr>
          <p:spPr>
            <a:xfrm>
              <a:off x="10268807" y="4464082"/>
              <a:ext cx="231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28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0</a:t>
              </a:r>
            </a:p>
          </p:txBody>
        </p:sp>
        <p:sp>
          <p:nvSpPr>
            <p:cNvPr id="103" name="TextBox 103"/>
            <p:cNvSpPr/>
            <p:nvPr>
              <p:custDataLst>
                <p:tags r:id="rId21"/>
              </p:custDataLst>
            </p:nvPr>
          </p:nvSpPr>
          <p:spPr>
            <a:xfrm>
              <a:off x="9683020" y="5105400"/>
              <a:ext cx="1443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191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外部</a:t>
              </a:r>
              <a:r>
                <a:rPr lang="en-US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 API </a:t>
              </a:r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呼叫</a:t>
              </a:r>
            </a:p>
          </p:txBody>
        </p:sp>
      </p:grpSp>
      <p:grpSp>
        <p:nvGrpSpPr>
          <p:cNvPr id="111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105" name="Line 105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106" name="TextBox 106"/>
            <p:cNvSpPr/>
            <p:nvPr>
              <p:custDataLst>
                <p:tags r:id="rId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107" name="TextBox 107"/>
            <p:cNvSpPr/>
            <p:nvPr>
              <p:custDataLst>
                <p:tags r:id="rId2"/>
              </p:custDataLst>
            </p:nvPr>
          </p:nvSpPr>
          <p:spPr>
            <a:xfrm>
              <a:off x="10616565" y="6451568"/>
              <a:ext cx="9375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答詢備用 3 / 3</a:t>
              </a:r>
            </a:p>
          </p:txBody>
        </p:sp>
        <p:sp>
          <p:nvSpPr>
            <p:cNvPr id="108" name="Rectangle 108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109" name="Rectangle 109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110" name="Rectangle 110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09999084472656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0999908447265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09999084472656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1599998474121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4.2500038146972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0.749988555908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249988555908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3.749988555908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78000068664550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870000839233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84000015258789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84000015258789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89999961853027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5.27999877929688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77999877929688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89999389648438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7799987792968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89999389648438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10.7799987792969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10.8399963378906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780029296875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9000244140625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279998779296875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.84000015258789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.900001525878906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4.83999633789062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4.89999389648438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14.8399963378906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14.8999938964844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5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84.99999237060547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14.8999938964844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7.280029296875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77.280029296875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77.280029296875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77.4000244140625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80.0000305175781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720001220703125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779998779296875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779998779296875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779998779296875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8.0400085449219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8.3699951171875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4.869995117187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8.0400085449219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8.3699951171875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4.8699951171875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5.3499755859375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5.5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5.5599975585938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5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64.99999618530273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5.49995708465576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65.00000381469727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5.49996185302734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5.49999618530273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1.80999755859375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3.75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3.8399963378906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3.49999046325684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2.99999046325684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2.49999046325684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1.99999046325684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41.4999904632568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1.75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1.8699951171875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6.8099975585938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4.7500610351562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4.7499961853027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1.7500114440918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4.7500114440918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7.7499732971191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6.75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6.8699951171875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79998779296875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900001525878906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5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5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84.3999938964844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4998474121094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4998474121094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04.8999938964844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847412109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771118164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25.4000244140625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499847412109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499771118164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74.2200012207031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33999633789062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79998779296875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2.719970703125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2.0599975585938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2.75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2.8699951171875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0.0000400543213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3.75004291534424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7.5000610351562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47.0813598632812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7.31103515625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1.9305419921875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5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4.55999755859375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4.68000030517578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37000274658203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7.2500457763672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31.999963760376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32.0000114440918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7.2500343322754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7.2500114440918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02.5000143051147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02.5000343322754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02.4999732971191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51.80999755859375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5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91999816894531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4999618530273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5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500114440918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500457763672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809265137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771118164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499809265137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5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80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20001220703125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79998779296875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500274658203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6.5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3.9999656677246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1.4999885559082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9.0000495910645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504089355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610351562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6.5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4.0000457763672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1.50000762939453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9.0000076293945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72.75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885559082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610351562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500274658203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6.75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79.49996185302734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8.2499885559082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047683716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465942383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22.25003814697266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4.00000762939453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3.99996185302734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70.0000495910645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70.0000076293945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076293945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923706055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500274658203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9.75003814697266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9.75000381469727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20.5000381469727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20.5000038146973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286102295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465942383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.83999633789062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9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8.9999885559082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8.9999580383301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8.9999771118164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047683716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152587891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heme/theme1.xml><?xml version="1.0" encoding="utf-8"?>
<a:theme xmlns:a="http://schemas.openxmlformats.org/drawingml/2006/main" name="finals_editorial">
  <a:themeElements>
    <a:clrScheme name="AI Security White Navy Teal">
      <a:dk1>
        <a:srgbClr val="243447"/>
      </a:dk1>
      <a:lt1>
        <a:srgbClr val="FFFFFF"/>
      </a:lt1>
      <a:dk2>
        <a:srgbClr val="16324F"/>
      </a:dk2>
      <a:lt2>
        <a:srgbClr val="F4F7FA"/>
      </a:lt2>
      <a:accent1>
        <a:srgbClr val="245EA8"/>
      </a:accent1>
      <a:accent2>
        <a:srgbClr val="E3A338"/>
      </a:accent2>
      <a:accent3>
        <a:srgbClr val="087F8C"/>
      </a:accent3>
      <a:accent4>
        <a:srgbClr val="245EA8"/>
      </a:accent4>
      <a:accent5>
        <a:srgbClr val="16324F"/>
      </a:accent5>
      <a:accent6>
        <a:srgbClr val="526477"/>
      </a:accent6>
      <a:hlink>
        <a:srgbClr val="245EA8"/>
      </a:hlink>
      <a:folHlink>
        <a:srgbClr val="16324F"/>
      </a:folHlink>
    </a:clrScheme>
    <a:fontScheme name="finals_editorial">
      <a:maj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ajorFont>
      <a:min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finals_editorial">
  <a:themeElements>
    <a:clrScheme name="AI Security White Navy Teal">
      <a:dk1>
        <a:srgbClr val="243447"/>
      </a:dk1>
      <a:lt1>
        <a:srgbClr val="FFFFFF"/>
      </a:lt1>
      <a:dk2>
        <a:srgbClr val="16324F"/>
      </a:dk2>
      <a:lt2>
        <a:srgbClr val="F4F7FA"/>
      </a:lt2>
      <a:accent1>
        <a:srgbClr val="245EA8"/>
      </a:accent1>
      <a:accent2>
        <a:srgbClr val="E3A338"/>
      </a:accent2>
      <a:accent3>
        <a:srgbClr val="087F8C"/>
      </a:accent3>
      <a:accent4>
        <a:srgbClr val="245EA8"/>
      </a:accent4>
      <a:accent5>
        <a:srgbClr val="16324F"/>
      </a:accent5>
      <a:accent6>
        <a:srgbClr val="526477"/>
      </a:accent6>
      <a:hlink>
        <a:srgbClr val="245EA8"/>
      </a:hlink>
      <a:folHlink>
        <a:srgbClr val="16324F"/>
      </a:folHlink>
    </a:clrScheme>
    <a:fontScheme name="finals_editorial">
      <a:maj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ajorFont>
      <a:min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2126</Words>
  <Application>Microsoft Office PowerPoint</Application>
  <PresentationFormat>寬螢幕</PresentationFormat>
  <Paragraphs>268</Paragraphs>
  <Slides>12</Slides>
  <Notes>12</Notes>
  <HiddenSlides>0</HiddenSlides>
  <MMClips>1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4" baseType="lpstr">
      <vt:lpstr>Times New Roman</vt:lpstr>
      <vt:lpstr>finals_editorial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/>
  <cp:lastModifiedBy/>
  <cp:revision>3</cp:revision>
  <dcterms:created xsi:type="dcterms:W3CDTF">2026-10-29T06:19:32Z</dcterms:created>
  <dcterms:modified xsi:type="dcterms:W3CDTF">2026-10-29T14:51:47Z</dcterms:modified>
  <cp:category/>
  <cp:contentStatus/>
  <dc:language>zh-TW</dc:language>
</cp:coreProperties>
</file>