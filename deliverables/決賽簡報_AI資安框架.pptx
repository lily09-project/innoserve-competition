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zh-TW"/>
    </a:defPPr>
    <a:lvl1pPr marL="0" algn="l" defTabSz="457200" rtl="0" eaLnBrk="1" latinLnBrk="0" hangingPunct="1">
      <a:defRPr lang="zh-TW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lang="zh-TW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lang="zh-TW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lang="zh-TW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lang="zh-TW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lang="zh-TW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lang="zh-TW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lang="zh-TW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lang="zh-TW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lang="zh-TW" sz="1200">
        <a:latin typeface="Times New Roman"/>
        <a:ea typeface="DFKai-SB"/>
        <a:cs typeface="Times New Roman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我們的作品將入侵偵測、案例檢索、AI稽核與受控處置，整合在同一條事件鏈。前段產生判定與模型表徵，後段依相似案例核對證據，最後留下可驗證、可回復的處置回條。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本頁為三十秒、兩倍速內嵌方法動畫，進入頁面後播放一次，結束停留。先讓評審看見同一事件的完整流程，再接續架構說明；影片計入五分鐘流程。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架構分為上下兩層的四個區域。流量表徵保留內容、時間差與方向，同一輸入平行送入兩個偵測模型，再融合為固定十七類、校準信心與流量表徵；後段以五百二十九維任務向量取得前五筆訓練案例，由本機AI給出支持、複核或不確定。策略閘門檢查範圍與期限，完成套用、讀回和到期撤銷。所有產物透過同一事件識別碼連結，AI不改寫正式分類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前段以兩種互補特徵平行判斷，並非先後串行。CTBM閱讀封包內容、時間差與方向；PBCNN補充短視窗位元組模式。校準後由OOF Gate依事件證據融合，輸出固定十七類，並保留信心與表徵交給後段。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後段不是只把類別名稱送進語言模型。我們結合五百一十二維流量表徵與十七維類別機率，建立任務向量，查詢只由訓練資料建立的案例庫。前五筆案例與類別共識交給本機AI核對，回傳支持、複核或不確定，連同正式分類留在同一事件紀錄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處置由政策閘門檢查範圍、白名單與有效期，通過後才套用並讀回規則，再於到期撤銷。六種隔離情境包含四種實際套用規則、兩種監測或蒐證；背景服務六種皆保留，回復完整性六種皆通過。這些結果量測隔離TCP交易與回條，不代表原始攻擊封包或正式場域的防禦率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偵測效果在相同一萬八千九百九十八筆封存測試比較。PBCNN的Macro-F1為百分之七十九點七五，CTBM為九十二點一零，融合後為九十三點零五；整體準確率百分之九十八點零八。比較採同一個測試集，讓互補融合的效果可以直接核對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在一千五百五十筆真實訓練案例和四百六十三筆測試查詢中，前五筆命中率為百分之九十七點六二，MRR為九十三點八九。相同四百六十三筆事件的本機稽核中，四百一十五筆支持、十三筆複核、三十五筆不確定；支持精確率九十七點一一。三十筆偵測誤判中，十八筆分流到複核或不確定，其餘十二筆仍獲支持，所以處置另受策略閘門控制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我們以十七類真實前處理張量重跑整合鏈，並以六種隔離情境確認處置回條與回復行為。作品把偵測、證據與處置放在同一個框架，讓判斷有依據、稽核有證據、處置可回復。前面播放的三十秒動畫以兩倍速說明流程，並可搭配本機執行紀錄展示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答詢備用，不在五分鐘報告主動講述。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Q1：創新在哪裡？與一般 IDS 加上 RAG 有何不同？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把流量表徵與類別機率組成任務向量，檢索相關證據。AI 保留正式分類，同一事件一路連到策略與回復回條。互補判定 → 案例檢索 → 證據稽核 → 受控處置。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Q2：如何證明前段判斷與後段處置已經串起來？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17 類本機推論與 AI 稽核已逐類執行，產物使用同一事件 ID。6 種隔離情境的回條綁定同次執行，過期執行 ID 會被拒絕。分類、Top-5、Judge、策略與回條綁定同一事件。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答詢備用，不在五分鐘報告主動講述。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Q3：評估資料如何切分？案例庫是否洩漏測試答案？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偵測比較使用相同 18,998 筆測試；案例庫只由訓練資料建立。檢索使用 1,550 筆案例、463 筆查詢，訓練與查詢沒有重疊。偵測與檢索分開評估；AI 輸入不包含真實標籤。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Q4：AI 若支持錯誤判斷，如何避免直接誤封？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30 筆偵測誤判有 18 筆分流；其餘 12 筆仍獲 AI 支持。處置另經信心、政策、白名單與期限檢查，並可到期撤銷。AI 不改寫正式分類；複核／不確定走監測或蒐證。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答詢備用，不在五分鐘報告主動講述。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Q5：6/6 是否代表各種真實攻擊都能完全防住？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6/6 指隔離 TCP 情境中的背景服務保留及回復完整性。4 種情境套用規則、2 種監測或蒐證；不等同真實攻擊防禦率。偵測 Accuracy 98.08%、Macro-F1 93.05% 另依測試集計算。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Q6：如何部署、保護資料，並接到既有環境？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本機 GPU 模型與本機案例庫處理事件，敏感欄位先遮罩。17 類已以前處理張量驗證；場域接入依資料介面配置。本機 AI 稽核；私有權重、輸入及逐筆回覆不公開。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inals_editorial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altLang="zh-TW" smtClean="0"/>
              <a:t>10/28/2026</a:t>
            </a:fld>
            <a:endParaRPr lang="zh-TW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TW" smtClean="0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finals_editorial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zh-TW"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5BCAD085-E8A6-8845-BD4E-CB4CCA059FC4}" type="datetimeFigureOut">
              <a:rPr lang="en-US" altLang="zh-TW" smtClean="0">
                <a:latin typeface="Times New Roman"/>
                <a:ea typeface="DFKai-SB"/>
                <a:cs typeface="Times New Roman"/>
              </a:rPr>
              <a:t>10/28/2026</a:t>
            </a:fld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zh-TW"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zh-TW"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C1FF6DA9-008F-8B48-92A6-B652298478BF}" type="slidenum">
              <a:rPr lang="zh-TW" smtClean="0">
                <a:latin typeface="Times New Roman"/>
                <a:ea typeface="DFKai-SB"/>
                <a:cs typeface="Times New Roman"/>
              </a:rPr>
              <a:t>‹#›</a:t>
            </a:fld>
            <a:endParaRPr lang="zh-TW">
              <a:latin typeface="Times New Roman"/>
              <a:ea typeface="DFKai-SB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lang="zh-TW" sz="3300" kern="1200">
          <a:solidFill>
            <a:schemeClr val="tx1"/>
          </a:solidFill>
          <a:latin typeface="Times New Roman"/>
          <a:ea typeface="DFKai-SB"/>
          <a:cs typeface="Times New Roman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lang="zh-TW" sz="18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lang="zh-TW" sz="17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lang="zh-TW" sz="16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lang="zh-TW" sz="145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lang="zh-TW" sz="135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lang="zh-TW" sz="125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lang="zh-TW" sz="11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lang="zh-TW" sz="10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lang="zh-TW" sz="9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bodyStyle>
    <p:otherStyle>
      <a:defPPr>
        <a:defRPr lang="zh-TW">
          <a:latin typeface="Times New Roman"/>
          <a:ea typeface="DFKai-SB"/>
          <a:cs typeface="Times New Roman"/>
        </a:defRPr>
      </a:defPPr>
      <a:lvl1pPr marL="0" algn="l" defTabSz="457200" rtl="0" eaLnBrk="1" latinLnBrk="0" hangingPunct="1">
        <a:defRPr lang="zh-TW" sz="18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457200" algn="l" defTabSz="457200" rtl="0" eaLnBrk="1" latinLnBrk="0" hangingPunct="1">
        <a:defRPr lang="zh-TW" sz="17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914400" algn="l" defTabSz="457200" rtl="0" eaLnBrk="1" latinLnBrk="0" hangingPunct="1">
        <a:defRPr lang="zh-TW" sz="16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371600" algn="l" defTabSz="457200" rtl="0" eaLnBrk="1" latinLnBrk="0" hangingPunct="1">
        <a:defRPr lang="zh-TW" sz="145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1828800" algn="l" defTabSz="457200" rtl="0" eaLnBrk="1" latinLnBrk="0" hangingPunct="1">
        <a:defRPr lang="zh-TW" sz="135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286000" algn="l" defTabSz="457200" rtl="0" eaLnBrk="1" latinLnBrk="0" hangingPunct="1">
        <a:defRPr lang="zh-TW" sz="125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743200" algn="l" defTabSz="457200" rtl="0" eaLnBrk="1" latinLnBrk="0" hangingPunct="1">
        <a:defRPr lang="zh-TW" sz="11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200400" algn="l" defTabSz="457200" rtl="0" eaLnBrk="1" latinLnBrk="0" hangingPunct="1">
        <a:defRPr lang="zh-TW" sz="10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657600" algn="l" defTabSz="457200" rtl="0" eaLnBrk="1" latinLnBrk="0" hangingPunct="1">
        <a:defRPr lang="zh-TW" sz="9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line"/>
          <p:cNvGrpSpPr/>
          <p:nvPr/>
        </p:nvGrpSpPr>
        <p:grpSpPr>
          <a:xfrm>
            <a:off x="609600" y="257175"/>
            <a:ext cx="1926476" cy="307467"/>
            <a:chOff x="609600" y="257175"/>
            <a:chExt cx="1926476" cy="307467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1780553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2026 資安技術組 · 決賽</a:t>
              </a:r>
            </a:p>
          </p:txBody>
        </p:sp>
      </p:grpSp>
      <p:grpSp>
        <p:nvGrpSpPr>
          <p:cNvPr id="37" name="page-content"/>
          <p:cNvGrpSpPr/>
          <p:nvPr/>
        </p:nvGrpSpPr>
        <p:grpSpPr>
          <a:xfrm>
            <a:off x="593217" y="1558925"/>
            <a:ext cx="10817733" cy="4498975"/>
            <a:chOff x="593217" y="1558925"/>
            <a:chExt cx="10817733" cy="4498975"/>
          </a:xfrm>
        </p:grpSpPr>
        <p:sp>
          <p:nvSpPr>
            <p:cNvPr id="5" name="TextBox 5"/>
            <p:cNvSpPr txBox="1"/>
            <p:nvPr/>
          </p:nvSpPr>
          <p:spPr>
            <a:xfrm>
              <a:off x="593217" y="1558925"/>
              <a:ext cx="6101436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融合新型內容相依時序方向模型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3217" y="2178050"/>
              <a:ext cx="6534912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入侵偵測與任務導向檢索增強稽核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93217" y="2797175"/>
              <a:ext cx="3065086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之</a:t>
              </a:r>
              <a:r>
                <a:rPr lang="en-US" sz="32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32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資安框架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98932" y="3841750"/>
              <a:ext cx="426186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從流量判定，走到有證據的處置。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60960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chemeClr val="accent3"/>
            </a:solidFill>
            <a:ln>
              <a:noFill/>
            </a:ln>
          </p:spPr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5800" y="4848225"/>
              <a:ext cx="476250" cy="476250"/>
            </a:xfrm>
            <a:prstGeom prst="rect">
              <a:avLst/>
            </a:prstGeom>
          </p:spPr>
        </p:pic>
        <p:sp>
          <p:nvSpPr>
            <p:cNvPr id="11" name="TextBox 11"/>
            <p:cNvSpPr txBox="1"/>
            <p:nvPr/>
          </p:nvSpPr>
          <p:spPr>
            <a:xfrm>
              <a:off x="1432560" y="4959350"/>
              <a:ext cx="5448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偵測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2400300" y="5105400"/>
              <a:ext cx="323850" cy="9525"/>
            </a:xfrm>
            <a:custGeom>
              <a:avLst/>
              <a:gdLst/>
              <a:ahLst/>
              <a:cxnLst/>
              <a:rect l="l" t="t" r="r" b="b"/>
              <a:pathLst>
                <a:path w="323850" h="9525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2657475" y="5057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272415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chemeClr val="accent3"/>
            </a:solidFill>
            <a:ln>
              <a:noFill/>
            </a:ln>
          </p:spPr>
        </p:sp>
        <p:pic>
          <p:nvPicPr>
            <p:cNvPr id="15" name="Image 1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800350" y="4848225"/>
              <a:ext cx="476250" cy="476250"/>
            </a:xfrm>
            <a:prstGeom prst="rect">
              <a:avLst/>
            </a:prstGeom>
          </p:spPr>
        </p:pic>
        <p:sp>
          <p:nvSpPr>
            <p:cNvPr id="16" name="TextBox 16"/>
            <p:cNvSpPr txBox="1"/>
            <p:nvPr/>
          </p:nvSpPr>
          <p:spPr>
            <a:xfrm>
              <a:off x="3547110" y="4959350"/>
              <a:ext cx="5448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檢索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4514850" y="5105400"/>
              <a:ext cx="323850" cy="9525"/>
            </a:xfrm>
            <a:custGeom>
              <a:avLst/>
              <a:gdLst/>
              <a:ahLst/>
              <a:cxnLst/>
              <a:rect l="l" t="t" r="r" b="b"/>
              <a:pathLst>
                <a:path w="323850" h="9525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4772025" y="5057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483870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4995267" y="4881711"/>
              <a:ext cx="267891" cy="361653"/>
              <a:chOff x="4995267" y="4881711"/>
              <a:chExt cx="267891" cy="361653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4995267" y="4881711"/>
                <a:ext cx="267891" cy="361652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6697">
                <a:solidFill>
                  <a:schemeClr val="accent1"/>
                </a:solidFill>
              </a:ln>
            </p:spPr>
          </p:sp>
          <p:sp>
            <p:nvSpPr>
              <p:cNvPr id="21" name="Line 21"/>
              <p:cNvSpPr/>
              <p:nvPr/>
            </p:nvSpPr>
            <p:spPr>
              <a:xfrm>
                <a:off x="5055543" y="4968776"/>
                <a:ext cx="15403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4037" h="9525">
                    <a:moveTo>
                      <a:pt x="0" y="0"/>
                    </a:moveTo>
                    <a:lnTo>
                      <a:pt x="154037" y="0"/>
                    </a:lnTo>
                  </a:path>
                </a:pathLst>
              </a:custGeom>
              <a:noFill/>
              <a:ln w="13395" cap="rnd">
                <a:solidFill>
                  <a:srgbClr val="7294A9"/>
                </a:solidFill>
              </a:ln>
            </p:spPr>
          </p:sp>
          <p:sp>
            <p:nvSpPr>
              <p:cNvPr id="22" name="Line 22"/>
              <p:cNvSpPr/>
              <p:nvPr/>
            </p:nvSpPr>
            <p:spPr>
              <a:xfrm>
                <a:off x="5055543" y="5042446"/>
                <a:ext cx="15403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4037" h="9525">
                    <a:moveTo>
                      <a:pt x="0" y="0"/>
                    </a:moveTo>
                    <a:lnTo>
                      <a:pt x="154037" y="0"/>
                    </a:lnTo>
                  </a:path>
                </a:pathLst>
              </a:custGeom>
              <a:noFill/>
              <a:ln w="13395" cap="rnd">
                <a:solidFill>
                  <a:srgbClr val="7294A9"/>
                </a:solidFill>
              </a:ln>
            </p:spPr>
          </p:sp>
          <p:sp>
            <p:nvSpPr>
              <p:cNvPr id="23" name="Line 23"/>
              <p:cNvSpPr/>
              <p:nvPr/>
            </p:nvSpPr>
            <p:spPr>
              <a:xfrm>
                <a:off x="5055543" y="5116116"/>
                <a:ext cx="15403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4037" h="9525">
                    <a:moveTo>
                      <a:pt x="0" y="0"/>
                    </a:moveTo>
                    <a:lnTo>
                      <a:pt x="154037" y="0"/>
                    </a:lnTo>
                  </a:path>
                </a:pathLst>
              </a:custGeom>
              <a:noFill/>
              <a:ln w="13395" cap="rnd">
                <a:solidFill>
                  <a:srgbClr val="7294A9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5055543" y="5189786"/>
                <a:ext cx="15403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4037" h="9525">
                    <a:moveTo>
                      <a:pt x="0" y="0"/>
                    </a:moveTo>
                    <a:lnTo>
                      <a:pt x="154037" y="0"/>
                    </a:lnTo>
                  </a:path>
                </a:pathLst>
              </a:custGeom>
              <a:noFill/>
              <a:ln w="13395" cap="rnd">
                <a:solidFill>
                  <a:srgbClr val="7294A9"/>
                </a:solidFill>
              </a:ln>
            </p:spPr>
          </p:sp>
        </p:grpSp>
        <p:grpSp>
          <p:nvGrpSpPr>
            <p:cNvPr id="29" name="Group 29"/>
            <p:cNvGrpSpPr/>
            <p:nvPr/>
          </p:nvGrpSpPr>
          <p:grpSpPr>
            <a:xfrm>
              <a:off x="5202436" y="5135761"/>
              <a:ext cx="148828" cy="148828"/>
              <a:chOff x="5202436" y="5135761"/>
              <a:chExt cx="148828" cy="148828"/>
            </a:xfrm>
          </p:grpSpPr>
          <p:sp>
            <p:nvSpPr>
              <p:cNvPr id="26" name="Ellipse 26"/>
              <p:cNvSpPr/>
              <p:nvPr/>
            </p:nvSpPr>
            <p:spPr>
              <a:xfrm>
                <a:off x="5202436" y="5135761"/>
                <a:ext cx="148828" cy="148828"/>
              </a:xfrm>
              <a:prstGeom prst="ellipse">
                <a:avLst/>
              </a:prstGeom>
              <a:solidFill>
                <a:srgbClr val="EAF0F4"/>
              </a:solidFill>
              <a:ln w="7441">
                <a:solidFill>
                  <a:schemeClr val="accent1"/>
                </a:solidFill>
              </a:ln>
            </p:spPr>
          </p:sp>
          <p:sp>
            <p:nvSpPr>
              <p:cNvPr id="27" name="Line 27"/>
              <p:cNvSpPr/>
              <p:nvPr/>
            </p:nvSpPr>
            <p:spPr>
              <a:xfrm>
                <a:off x="5235178" y="5210175"/>
                <a:ext cx="29766" cy="29766"/>
              </a:xfrm>
              <a:custGeom>
                <a:avLst/>
                <a:gdLst/>
                <a:ahLst/>
                <a:cxnLst/>
                <a:rect l="l" t="t" r="r" b="b"/>
                <a:pathLst>
                  <a:path w="29766" h="29766">
                    <a:moveTo>
                      <a:pt x="0" y="0"/>
                    </a:moveTo>
                    <a:lnTo>
                      <a:pt x="29766" y="29766"/>
                    </a:lnTo>
                  </a:path>
                </a:pathLst>
              </a:custGeom>
              <a:noFill/>
              <a:ln w="11906" cap="rnd">
                <a:solidFill>
                  <a:schemeClr val="accent1"/>
                </a:solidFill>
              </a:ln>
            </p:spPr>
          </p:sp>
          <p:sp>
            <p:nvSpPr>
              <p:cNvPr id="28" name="Line 28"/>
              <p:cNvSpPr/>
              <p:nvPr/>
            </p:nvSpPr>
            <p:spPr>
              <a:xfrm>
                <a:off x="5264944" y="5177433"/>
                <a:ext cx="56555" cy="62508"/>
              </a:xfrm>
              <a:custGeom>
                <a:avLst/>
                <a:gdLst/>
                <a:ahLst/>
                <a:cxnLst/>
                <a:rect l="l" t="t" r="r" b="b"/>
                <a:pathLst>
                  <a:path w="56555" h="62508">
                    <a:moveTo>
                      <a:pt x="0" y="62508"/>
                    </a:moveTo>
                    <a:lnTo>
                      <a:pt x="56555" y="0"/>
                    </a:lnTo>
                  </a:path>
                </a:pathLst>
              </a:custGeom>
              <a:noFill/>
              <a:ln w="11906" cap="rnd">
                <a:solidFill>
                  <a:schemeClr val="accent1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5661660" y="4959350"/>
              <a:ext cx="5448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31" name="Freeform 31"/>
            <p:cNvSpPr/>
            <p:nvPr/>
          </p:nvSpPr>
          <p:spPr>
            <a:xfrm>
              <a:off x="6629400" y="5105400"/>
              <a:ext cx="323850" cy="9525"/>
            </a:xfrm>
            <a:custGeom>
              <a:avLst/>
              <a:gdLst/>
              <a:ahLst/>
              <a:cxnLst/>
              <a:rect l="l" t="t" r="r" b="b"/>
              <a:pathLst>
                <a:path w="323850" h="9525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6886575" y="5057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95325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chemeClr val="accent3"/>
            </a:solidFill>
            <a:ln>
              <a:noFill/>
            </a:ln>
          </p:spPr>
        </p:sp>
        <p:pic>
          <p:nvPicPr>
            <p:cNvPr id="34" name="Image 34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029450" y="4848225"/>
              <a:ext cx="476250" cy="476250"/>
            </a:xfrm>
            <a:prstGeom prst="rect">
              <a:avLst/>
            </a:prstGeom>
          </p:spPr>
        </p:pic>
        <p:sp>
          <p:nvSpPr>
            <p:cNvPr id="35" name="TextBox 35"/>
            <p:cNvSpPr txBox="1"/>
            <p:nvPr/>
          </p:nvSpPr>
          <p:spPr>
            <a:xfrm>
              <a:off x="7776210" y="4959350"/>
              <a:ext cx="5448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回復</a:t>
              </a:r>
            </a:p>
          </p:txBody>
        </p:sp>
        <p:pic>
          <p:nvPicPr>
            <p:cNvPr id="36" name="Image 3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96400" y="3943350"/>
              <a:ext cx="2114550" cy="2114550"/>
            </a:xfrm>
            <a:prstGeom prst="rect">
              <a:avLst/>
            </a:prstGeom>
          </p:spPr>
        </p:pic>
      </p:grpSp>
      <p:grpSp>
        <p:nvGrpSpPr>
          <p:cNvPr id="41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38" name="Line 38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134157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01 / 09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OpeningFilm_30s_Embedded">
            <a:hlinkClick r:id="" action="ppaction://media"/>
            <a:extLst>
              <a:ext uri="{FF2B5EF4-FFF2-40B4-BE49-F238E27FC236}">
                <a16:creationId xmlns:a16="http://schemas.microsoft.com/office/drawing/2014/main" id="{474880EC-B5CB-4349-A221-3843E0CCED4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0000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4696587" cy="1082802"/>
            <a:chOff x="593598" y="257175"/>
            <a:chExt cx="4696587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1548100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FRAMEWORK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4696587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一個框架，四個連續階段</a:t>
              </a:r>
            </a:p>
          </p:txBody>
        </p:sp>
      </p:grpSp>
      <p:grpSp>
        <p:nvGrpSpPr>
          <p:cNvPr id="71" name="page-content"/>
          <p:cNvGrpSpPr/>
          <p:nvPr/>
        </p:nvGrpSpPr>
        <p:grpSpPr>
          <a:xfrm>
            <a:off x="47625" y="1504950"/>
            <a:ext cx="11991975" cy="4824857"/>
            <a:chOff x="47625" y="1504950"/>
            <a:chExt cx="11991975" cy="4824857"/>
          </a:xfrm>
        </p:grpSpPr>
        <p:sp>
          <p:nvSpPr>
            <p:cNvPr id="6" name="Rectangle 6"/>
            <p:cNvSpPr/>
            <p:nvPr/>
          </p:nvSpPr>
          <p:spPr>
            <a:xfrm>
              <a:off x="152400" y="1504950"/>
              <a:ext cx="2152650" cy="1952625"/>
            </a:xfrm>
            <a:prstGeom prst="roundRect">
              <a:avLst>
                <a:gd name="adj" fmla="val 3902"/>
              </a:avLst>
            </a:prstGeom>
            <a:solidFill>
              <a:schemeClr val="accent3"/>
            </a:solidFill>
            <a:ln w="9525">
              <a:solidFill>
                <a:srgbClr val="D6DDE0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314706" y="1593850"/>
              <a:ext cx="11795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a </a:t>
              </a:r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流量表徵</a:t>
              </a:r>
            </a:p>
          </p:txBody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09750" y="1543050"/>
              <a:ext cx="323850" cy="323850"/>
            </a:xfrm>
            <a:prstGeom prst="rect">
              <a:avLst/>
            </a:prstGeom>
          </p:spPr>
        </p:pic>
        <p:sp>
          <p:nvSpPr>
            <p:cNvPr id="9" name="TextBox 9"/>
            <p:cNvSpPr txBox="1"/>
            <p:nvPr/>
          </p:nvSpPr>
          <p:spPr>
            <a:xfrm>
              <a:off x="315849" y="20859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真實前處理張量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15468" y="2501900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封包內容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15468" y="2806700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時間差・方向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16230" y="311785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遮罩欄位・流量切窗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2533650" y="1504950"/>
              <a:ext cx="9505950" cy="1952625"/>
            </a:xfrm>
            <a:prstGeom prst="roundRect">
              <a:avLst>
                <a:gd name="adj" fmla="val 3902"/>
              </a:avLst>
            </a:prstGeom>
            <a:solidFill>
              <a:schemeClr val="accent3"/>
            </a:solidFill>
            <a:ln w="9525">
              <a:solidFill>
                <a:srgbClr val="D6DDE0"/>
              </a:solidFill>
            </a:ln>
          </p:spPr>
        </p:sp>
        <p:pic>
          <p:nvPicPr>
            <p:cNvPr id="14" name="Image 1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686050" y="1562100"/>
              <a:ext cx="342900" cy="342900"/>
            </a:xfrm>
            <a:prstGeom prst="rect">
              <a:avLst/>
            </a:prstGeom>
          </p:spPr>
        </p:pic>
        <p:sp>
          <p:nvSpPr>
            <p:cNvPr id="15" name="TextBox 15"/>
            <p:cNvSpPr txBox="1"/>
            <p:nvPr/>
          </p:nvSpPr>
          <p:spPr>
            <a:xfrm>
              <a:off x="3115056" y="1593850"/>
              <a:ext cx="25472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b </a:t>
              </a:r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互補模型與 17 類判定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2781300" y="2019300"/>
              <a:ext cx="2857500" cy="571500"/>
            </a:xfrm>
            <a:prstGeom prst="roundRect">
              <a:avLst>
                <a:gd name="adj" fmla="val 13333"/>
              </a:avLst>
            </a:prstGeom>
            <a:solidFill>
              <a:schemeClr val="lt1"/>
            </a:solidFill>
            <a:ln w="9525">
              <a:solidFill>
                <a:srgbClr val="D6DDE0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2943606" y="2051050"/>
              <a:ext cx="9509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CTBM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945130" y="231775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內容・時間差・方向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2781300" y="2762250"/>
              <a:ext cx="2857500" cy="571500"/>
            </a:xfrm>
            <a:prstGeom prst="roundRect">
              <a:avLst>
                <a:gd name="adj" fmla="val 13333"/>
              </a:avLst>
            </a:prstGeom>
            <a:solidFill>
              <a:schemeClr val="lt1"/>
            </a:solidFill>
            <a:ln w="9525">
              <a:solidFill>
                <a:srgbClr val="D6DDE0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2943606" y="2794000"/>
              <a:ext cx="108913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PBCNN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945130" y="3060700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短窗位元組模式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09800"/>
              <a:ext cx="2647950" cy="857250"/>
            </a:xfrm>
            <a:prstGeom prst="roundRect">
              <a:avLst>
                <a:gd name="adj" fmla="val 8889"/>
              </a:avLst>
            </a:prstGeom>
            <a:solidFill>
              <a:schemeClr val="lt1"/>
            </a:solidFill>
            <a:ln w="9525">
              <a:solidFill>
                <a:srgbClr val="D6DDE0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86906" y="2308225"/>
              <a:ext cx="203012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校準＋</a:t>
              </a:r>
              <a:r>
                <a:rPr lang="en-US" sz="180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OOF Gate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87668" y="2673350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依事件證據融合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9201150" y="2209800"/>
              <a:ext cx="2628900" cy="857250"/>
            </a:xfrm>
            <a:prstGeom prst="roundRect">
              <a:avLst>
                <a:gd name="adj" fmla="val 8889"/>
              </a:avLst>
            </a:prstGeom>
            <a:solidFill>
              <a:schemeClr val="lt1"/>
            </a:solidFill>
            <a:ln w="9525">
              <a:solidFill>
                <a:srgbClr val="D6DDE0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382506" y="2308225"/>
              <a:ext cx="15499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17 類正式判定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84030" y="2698750"/>
              <a:ext cx="20688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512 維表徵＋17 維機率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2305050" y="2305050"/>
              <a:ext cx="476250" cy="171450"/>
            </a:xfrm>
            <a:custGeom>
              <a:avLst/>
              <a:gdLst/>
              <a:ahLst/>
              <a:cxnLst/>
              <a:rect l="l" t="t" r="r" b="b"/>
              <a:pathLst>
                <a:path w="476250" h="171450">
                  <a:moveTo>
                    <a:pt x="0" y="171450"/>
                  </a:moveTo>
                  <a:lnTo>
                    <a:pt x="361950" y="171450"/>
                  </a:lnTo>
                  <a:lnTo>
                    <a:pt x="361950" y="0"/>
                  </a:lnTo>
                  <a:lnTo>
                    <a:pt x="47625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2714625" y="22574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2667000" y="2476500"/>
              <a:ext cx="114300" cy="571500"/>
            </a:xfrm>
            <a:custGeom>
              <a:avLst/>
              <a:gdLst/>
              <a:ahLst/>
              <a:cxnLst/>
              <a:rect l="l" t="t" r="r" b="b"/>
              <a:pathLst>
                <a:path w="114300" h="571500">
                  <a:moveTo>
                    <a:pt x="0" y="0"/>
                  </a:moveTo>
                  <a:lnTo>
                    <a:pt x="0" y="571500"/>
                  </a:lnTo>
                  <a:lnTo>
                    <a:pt x="114300" y="57150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2714625" y="30003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5638800" y="2305050"/>
              <a:ext cx="647700" cy="333375"/>
            </a:xfrm>
            <a:custGeom>
              <a:avLst/>
              <a:gdLst/>
              <a:ahLst/>
              <a:cxnLst/>
              <a:rect l="l" t="t" r="r" b="b"/>
              <a:pathLst>
                <a:path w="647700" h="333375">
                  <a:moveTo>
                    <a:pt x="0" y="0"/>
                  </a:moveTo>
                  <a:lnTo>
                    <a:pt x="314325" y="0"/>
                  </a:lnTo>
                  <a:lnTo>
                    <a:pt x="314325" y="333375"/>
                  </a:lnTo>
                  <a:lnTo>
                    <a:pt x="647700" y="333375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6219825" y="2590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5638800" y="2638425"/>
              <a:ext cx="647700" cy="409575"/>
            </a:xfrm>
            <a:custGeom>
              <a:avLst/>
              <a:gdLst/>
              <a:ahLst/>
              <a:cxnLst/>
              <a:rect l="l" t="t" r="r" b="b"/>
              <a:pathLst>
                <a:path w="647700" h="409575">
                  <a:moveTo>
                    <a:pt x="0" y="409575"/>
                  </a:moveTo>
                  <a:lnTo>
                    <a:pt x="314325" y="409575"/>
                  </a:lnTo>
                  <a:lnTo>
                    <a:pt x="314325" y="0"/>
                  </a:lnTo>
                  <a:lnTo>
                    <a:pt x="6477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6219825" y="2590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8934450" y="2638425"/>
              <a:ext cx="266700" cy="9525"/>
            </a:xfrm>
            <a:custGeom>
              <a:avLst/>
              <a:gdLst/>
              <a:ahLst/>
              <a:cxnLst/>
              <a:rect l="l" t="t" r="r" b="b"/>
              <a:pathLst>
                <a:path w="266700" h="9525">
                  <a:moveTo>
                    <a:pt x="0" y="0"/>
                  </a:moveTo>
                  <a:lnTo>
                    <a:pt x="2667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9134475" y="2590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152400" y="4038600"/>
              <a:ext cx="8001000" cy="1771650"/>
            </a:xfrm>
            <a:prstGeom prst="roundRect">
              <a:avLst>
                <a:gd name="adj" fmla="val 4301"/>
              </a:avLst>
            </a:prstGeom>
            <a:solidFill>
              <a:schemeClr val="accent3"/>
            </a:solidFill>
            <a:ln w="9525">
              <a:solidFill>
                <a:srgbClr val="D6DDE0"/>
              </a:solidFill>
            </a:ln>
          </p:spPr>
        </p:sp>
        <p:pic>
          <p:nvPicPr>
            <p:cNvPr id="39" name="Image 39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3850" y="4095750"/>
              <a:ext cx="342900" cy="342900"/>
            </a:xfrm>
            <a:prstGeom prst="rect">
              <a:avLst/>
            </a:prstGeom>
          </p:spPr>
        </p:pic>
        <p:sp>
          <p:nvSpPr>
            <p:cNvPr id="40" name="TextBox 40"/>
            <p:cNvSpPr txBox="1"/>
            <p:nvPr/>
          </p:nvSpPr>
          <p:spPr>
            <a:xfrm>
              <a:off x="752856" y="4127500"/>
              <a:ext cx="287774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c </a:t>
              </a:r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任務導向檢索與</a:t>
              </a:r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381000" y="4591050"/>
              <a:ext cx="1809750" cy="781050"/>
            </a:xfrm>
            <a:prstGeom prst="roundRect">
              <a:avLst>
                <a:gd name="adj" fmla="val 9756"/>
              </a:avLst>
            </a:prstGeom>
            <a:solidFill>
              <a:schemeClr val="lt1"/>
            </a:solidFill>
            <a:ln w="9525">
              <a:solidFill>
                <a:srgbClr val="D6DDE0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05968" y="4711700"/>
              <a:ext cx="153809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529 維任務向量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506730" y="5032375"/>
              <a:ext cx="9735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L2 </a:t>
              </a:r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正規化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2476500" y="4591050"/>
              <a:ext cx="2324100" cy="781050"/>
            </a:xfrm>
            <a:prstGeom prst="roundRect">
              <a:avLst>
                <a:gd name="adj" fmla="val 9756"/>
              </a:avLst>
            </a:prstGeom>
            <a:solidFill>
              <a:schemeClr val="lt1"/>
            </a:solidFill>
            <a:ln w="9525">
              <a:solidFill>
                <a:srgbClr val="D6DDE0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2601468" y="4711700"/>
              <a:ext cx="16109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相似案例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2602230" y="503237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僅訓練資料案例庫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143500" y="4591050"/>
              <a:ext cx="2781300" cy="781050"/>
            </a:xfrm>
            <a:prstGeom prst="roundRect">
              <a:avLst>
                <a:gd name="adj" fmla="val 9756"/>
              </a:avLst>
            </a:prstGeom>
            <a:solidFill>
              <a:schemeClr val="lt1"/>
            </a:solidFill>
            <a:ln w="9525">
              <a:solidFill>
                <a:srgbClr val="D6DDE0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268468" y="4711700"/>
              <a:ext cx="136448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本機</a:t>
              </a:r>
              <a:r>
                <a:rPr lang="en-US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269230" y="503237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支持／複核／不確定</a:t>
              </a:r>
            </a:p>
          </p:txBody>
        </p:sp>
        <p:sp>
          <p:nvSpPr>
            <p:cNvPr id="50" name="Freeform 50"/>
            <p:cNvSpPr/>
            <p:nvPr/>
          </p:nvSpPr>
          <p:spPr>
            <a:xfrm>
              <a:off x="47625" y="3067050"/>
              <a:ext cx="10467975" cy="1914525"/>
            </a:xfrm>
            <a:custGeom>
              <a:avLst/>
              <a:gdLst/>
              <a:ahLst/>
              <a:cxnLst/>
              <a:rect l="l" t="t" r="r" b="b"/>
              <a:pathLst>
                <a:path w="10467975" h="1914525">
                  <a:moveTo>
                    <a:pt x="10467975" y="0"/>
                  </a:moveTo>
                  <a:lnTo>
                    <a:pt x="10467975" y="657225"/>
                  </a:lnTo>
                  <a:lnTo>
                    <a:pt x="0" y="657225"/>
                  </a:lnTo>
                  <a:lnTo>
                    <a:pt x="0" y="1914525"/>
                  </a:lnTo>
                  <a:lnTo>
                    <a:pt x="333375" y="1914525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3143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4564380" y="3435350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ja-JP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正式類別・信心・模型表徵</a:t>
              </a:r>
            </a:p>
          </p:txBody>
        </p:sp>
        <p:sp>
          <p:nvSpPr>
            <p:cNvPr id="53" name="Freeform 53"/>
            <p:cNvSpPr/>
            <p:nvPr/>
          </p:nvSpPr>
          <p:spPr>
            <a:xfrm>
              <a:off x="2190750" y="49815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54" name="Freeform 54"/>
            <p:cNvSpPr/>
            <p:nvPr/>
          </p:nvSpPr>
          <p:spPr>
            <a:xfrm>
              <a:off x="24098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55" name="Freeform 55"/>
            <p:cNvSpPr/>
            <p:nvPr/>
          </p:nvSpPr>
          <p:spPr>
            <a:xfrm>
              <a:off x="4800600" y="4981575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56" name="Freeform 56"/>
            <p:cNvSpPr/>
            <p:nvPr/>
          </p:nvSpPr>
          <p:spPr>
            <a:xfrm>
              <a:off x="50768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3107055" y="549910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訓練案例庫</a:t>
              </a:r>
            </a:p>
          </p:txBody>
        </p:sp>
        <p:sp>
          <p:nvSpPr>
            <p:cNvPr id="58" name="Freeform 58"/>
            <p:cNvSpPr/>
            <p:nvPr/>
          </p:nvSpPr>
          <p:spPr>
            <a:xfrm>
              <a:off x="3619500" y="5372100"/>
              <a:ext cx="9525" cy="114300"/>
            </a:xfrm>
            <a:custGeom>
              <a:avLst/>
              <a:gdLst/>
              <a:ahLst/>
              <a:cxnLst/>
              <a:rect l="l" t="t" r="r" b="b"/>
              <a:pathLst>
                <a:path w="9525" h="114300">
                  <a:moveTo>
                    <a:pt x="0" y="11430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53666E"/>
              </a:solidFill>
              <a:custDash>
                <a:ds d="250000" sp="200000"/>
              </a:custDash>
            </a:ln>
          </p:spPr>
        </p:sp>
        <p:sp>
          <p:nvSpPr>
            <p:cNvPr id="59" name="Freeform 59"/>
            <p:cNvSpPr/>
            <p:nvPr/>
          </p:nvSpPr>
          <p:spPr>
            <a:xfrm>
              <a:off x="3571875" y="5372100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66675"/>
                  </a:moveTo>
                  <a:lnTo>
                    <a:pt x="47625" y="0"/>
                  </a:lnTo>
                  <a:lnTo>
                    <a:pt x="95250" y="66675"/>
                  </a:lnTo>
                </a:path>
              </a:pathLst>
            </a:custGeom>
            <a:noFill/>
            <a:ln w="19050">
              <a:solidFill>
                <a:srgbClr val="53666E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5269230" y="5499100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稽核保留正式分類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8382000" y="4038600"/>
              <a:ext cx="3657600" cy="1771650"/>
            </a:xfrm>
            <a:prstGeom prst="roundRect">
              <a:avLst>
                <a:gd name="adj" fmla="val 4301"/>
              </a:avLst>
            </a:prstGeom>
            <a:solidFill>
              <a:schemeClr val="accent3"/>
            </a:solidFill>
            <a:ln w="9525">
              <a:solidFill>
                <a:srgbClr val="D6DDE0"/>
              </a:solidFill>
            </a:ln>
          </p:spPr>
        </p:sp>
        <p:pic>
          <p:nvPicPr>
            <p:cNvPr id="62" name="Image 62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553450" y="4086225"/>
              <a:ext cx="342900" cy="342900"/>
            </a:xfrm>
            <a:prstGeom prst="rect">
              <a:avLst/>
            </a:prstGeom>
          </p:spPr>
        </p:pic>
        <p:sp>
          <p:nvSpPr>
            <p:cNvPr id="63" name="TextBox 63"/>
            <p:cNvSpPr txBox="1"/>
            <p:nvPr/>
          </p:nvSpPr>
          <p:spPr>
            <a:xfrm>
              <a:off x="8982456" y="4127500"/>
              <a:ext cx="192091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d </a:t>
              </a:r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受控處置與回復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8601456" y="4603750"/>
              <a:ext cx="18562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策略檢查 → 套用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601456" y="4956175"/>
              <a:ext cx="18562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讀回 → 到期撤銷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602980" y="5470525"/>
              <a:ext cx="19507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複核／不確定 → 蒐證</a:t>
              </a:r>
            </a:p>
          </p:txBody>
        </p:sp>
        <p:sp>
          <p:nvSpPr>
            <p:cNvPr id="67" name="Freeform 67"/>
            <p:cNvSpPr/>
            <p:nvPr/>
          </p:nvSpPr>
          <p:spPr>
            <a:xfrm>
              <a:off x="7924800" y="4981575"/>
              <a:ext cx="457200" cy="9525"/>
            </a:xfrm>
            <a:custGeom>
              <a:avLst/>
              <a:gdLst/>
              <a:ahLst/>
              <a:cxnLst/>
              <a:rect l="l" t="t" r="r" b="b"/>
              <a:pathLst>
                <a:path w="457200" h="9525">
                  <a:moveTo>
                    <a:pt x="0" y="0"/>
                  </a:moveTo>
                  <a:lnTo>
                    <a:pt x="4572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68" name="Freeform 68"/>
            <p:cNvSpPr/>
            <p:nvPr/>
          </p:nvSpPr>
          <p:spPr>
            <a:xfrm>
              <a:off x="83153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69" name="Rectangle 69"/>
            <p:cNvSpPr/>
            <p:nvPr/>
          </p:nvSpPr>
          <p:spPr>
            <a:xfrm>
              <a:off x="152400" y="5962650"/>
              <a:ext cx="11887200" cy="361950"/>
            </a:xfrm>
            <a:prstGeom prst="roundRect">
              <a:avLst>
                <a:gd name="adj" fmla="val 21053"/>
              </a:avLst>
            </a:prstGeom>
            <a:solidFill>
              <a:schemeClr val="accent3"/>
            </a:solidFill>
            <a:ln w="9525">
              <a:solidFill>
                <a:srgbClr val="D6DDE0"/>
              </a:solidFill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2822546" y="6007100"/>
              <a:ext cx="65469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共用事件</a:t>
              </a:r>
              <a:r>
                <a:rPr lang="en-US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ID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：正式判定｜</a:t>
              </a:r>
              <a:r>
                <a:rPr lang="en-US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證據｜</a:t>
              </a:r>
              <a:r>
                <a:rPr lang="en-US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稽核｜處置與回復回條</a:t>
              </a:r>
            </a:p>
          </p:txBody>
        </p:sp>
      </p:grpSp>
      <p:grpSp>
        <p:nvGrpSpPr>
          <p:cNvPr id="75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72" name="Line 72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134157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03 / 09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5120640" cy="1082802"/>
            <a:chOff x="593598" y="257175"/>
            <a:chExt cx="5120640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1339797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DETECTION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5120640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互補模型，形成同一次判定</a:t>
              </a:r>
            </a:p>
          </p:txBody>
        </p:sp>
      </p:grpSp>
      <p:grpSp>
        <p:nvGrpSpPr>
          <p:cNvPr id="55" name="page-content"/>
          <p:cNvGrpSpPr/>
          <p:nvPr/>
        </p:nvGrpSpPr>
        <p:grpSpPr>
          <a:xfrm>
            <a:off x="609600" y="1809750"/>
            <a:ext cx="10972800" cy="4181475"/>
            <a:chOff x="609600" y="1809750"/>
            <a:chExt cx="10972800" cy="4181475"/>
          </a:xfrm>
        </p:grpSpPr>
        <p:sp>
          <p:nvSpPr>
            <p:cNvPr id="6" name="Rectangle 6"/>
            <p:cNvSpPr/>
            <p:nvPr/>
          </p:nvSpPr>
          <p:spPr>
            <a:xfrm>
              <a:off x="609600" y="1809750"/>
              <a:ext cx="2095500" cy="333375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09244" y="1968500"/>
              <a:ext cx="159486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同一流量輸入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10006" y="256540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封包內容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1866900" y="2552700"/>
              <a:ext cx="628650" cy="285750"/>
            </a:xfrm>
            <a:prstGeom prst="roundRect">
              <a:avLst>
                <a:gd name="adj" fmla="val 13333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1924050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2047875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2171700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2295525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10006" y="3346450"/>
              <a:ext cx="7452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時間差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1866900" y="3333750"/>
              <a:ext cx="628650" cy="285750"/>
            </a:xfrm>
            <a:prstGeom prst="roundRect">
              <a:avLst>
                <a:gd name="adj" fmla="val 13333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1924050" y="3390900"/>
              <a:ext cx="66675" cy="7620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2047875" y="3390900"/>
              <a:ext cx="66675" cy="104775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2171700" y="3390900"/>
              <a:ext cx="66675" cy="1333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2295525" y="3390900"/>
              <a:ext cx="66675" cy="161925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10006" y="4127500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方向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866900" y="4114800"/>
              <a:ext cx="628650" cy="285750"/>
            </a:xfrm>
            <a:prstGeom prst="roundRect">
              <a:avLst>
                <a:gd name="adj" fmla="val 13333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1924050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2047875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2171700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2295525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6" name="Freeform 26"/>
            <p:cNvSpPr/>
            <p:nvPr/>
          </p:nvSpPr>
          <p:spPr>
            <a:xfrm>
              <a:off x="2705100" y="2571750"/>
              <a:ext cx="819150" cy="904875"/>
            </a:xfrm>
            <a:custGeom>
              <a:avLst/>
              <a:gdLst/>
              <a:ahLst/>
              <a:cxnLst/>
              <a:rect l="l" t="t" r="r" b="b"/>
              <a:pathLst>
                <a:path w="819150" h="904875">
                  <a:moveTo>
                    <a:pt x="0" y="904875"/>
                  </a:moveTo>
                  <a:lnTo>
                    <a:pt x="419100" y="904875"/>
                  </a:lnTo>
                  <a:lnTo>
                    <a:pt x="419100" y="0"/>
                  </a:lnTo>
                  <a:lnTo>
                    <a:pt x="8191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3457575" y="25241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3124200" y="3476625"/>
              <a:ext cx="400050" cy="857250"/>
            </a:xfrm>
            <a:custGeom>
              <a:avLst/>
              <a:gdLst/>
              <a:ahLst/>
              <a:cxnLst/>
              <a:rect l="l" t="t" r="r" b="b"/>
              <a:pathLst>
                <a:path w="400050" h="857250">
                  <a:moveTo>
                    <a:pt x="0" y="0"/>
                  </a:moveTo>
                  <a:lnTo>
                    <a:pt x="0" y="857250"/>
                  </a:lnTo>
                  <a:lnTo>
                    <a:pt x="400050" y="857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3457575" y="42862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3524250" y="1866900"/>
              <a:ext cx="3238500" cy="1409700"/>
            </a:xfrm>
            <a:prstGeom prst="roundRect">
              <a:avLst>
                <a:gd name="adj" fmla="val 5405"/>
              </a:avLst>
            </a:prstGeom>
            <a:solidFill>
              <a:schemeClr val="accent3"/>
            </a:solidFill>
            <a:ln>
              <a:noFill/>
            </a:ln>
          </p:spPr>
        </p:sp>
        <p:pic>
          <p:nvPicPr>
            <p:cNvPr id="31" name="Image 3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14750" y="2009775"/>
              <a:ext cx="781050" cy="781050"/>
            </a:xfrm>
            <a:prstGeom prst="rect">
              <a:avLst/>
            </a:prstGeom>
          </p:spPr>
        </p:pic>
        <p:sp>
          <p:nvSpPr>
            <p:cNvPr id="32" name="TextBox 32"/>
            <p:cNvSpPr txBox="1"/>
            <p:nvPr/>
          </p:nvSpPr>
          <p:spPr>
            <a:xfrm>
              <a:off x="4674108" y="1993900"/>
              <a:ext cx="126796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CTBM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678299" y="2457450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內容・時序・方向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744849" y="28860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讀取流量的時序關係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3524250" y="3629025"/>
              <a:ext cx="3238500" cy="1409700"/>
            </a:xfrm>
            <a:prstGeom prst="roundRect">
              <a:avLst>
                <a:gd name="adj" fmla="val 5405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3804940" y="3947220"/>
              <a:ext cx="562570" cy="375046"/>
              <a:chOff x="3804940" y="3947220"/>
              <a:chExt cx="562570" cy="375046"/>
            </a:xfrm>
          </p:grpSpPr>
          <p:sp>
            <p:nvSpPr>
              <p:cNvPr id="36" name="Rectangle 36"/>
              <p:cNvSpPr/>
              <p:nvPr/>
            </p:nvSpPr>
            <p:spPr>
              <a:xfrm>
                <a:off x="3804940" y="3947220"/>
                <a:ext cx="562570" cy="375047"/>
              </a:xfrm>
              <a:prstGeom prst="roundRect">
                <a:avLst>
                  <a:gd name="adj" fmla="val 13889"/>
                </a:avLst>
              </a:prstGeom>
              <a:solidFill>
                <a:schemeClr val="lt1"/>
              </a:solidFill>
              <a:ln w="10418">
                <a:solidFill>
                  <a:schemeClr val="accent1"/>
                </a:solidFill>
              </a:ln>
            </p:spPr>
          </p:sp>
          <p:sp>
            <p:nvSpPr>
              <p:cNvPr id="37" name="Line 37"/>
              <p:cNvSpPr/>
              <p:nvPr/>
            </p:nvSpPr>
            <p:spPr>
              <a:xfrm>
                <a:off x="3804940" y="3947220"/>
                <a:ext cx="281285" cy="208359"/>
              </a:xfrm>
              <a:custGeom>
                <a:avLst/>
                <a:gdLst/>
                <a:ahLst/>
                <a:cxnLst/>
                <a:rect l="l" t="t" r="r" b="b"/>
                <a:pathLst>
                  <a:path w="281285" h="208359">
                    <a:moveTo>
                      <a:pt x="0" y="0"/>
                    </a:moveTo>
                    <a:lnTo>
                      <a:pt x="281285" y="208359"/>
                    </a:lnTo>
                  </a:path>
                </a:pathLst>
              </a:custGeom>
              <a:noFill/>
              <a:ln w="26045" cap="rnd">
                <a:solidFill>
                  <a:schemeClr val="accent1"/>
                </a:solidFill>
              </a:ln>
            </p:spPr>
          </p:sp>
          <p:sp>
            <p:nvSpPr>
              <p:cNvPr id="38" name="Line 38"/>
              <p:cNvSpPr/>
              <p:nvPr/>
            </p:nvSpPr>
            <p:spPr>
              <a:xfrm>
                <a:off x="4086225" y="3947220"/>
                <a:ext cx="281285" cy="208359"/>
              </a:xfrm>
              <a:custGeom>
                <a:avLst/>
                <a:gdLst/>
                <a:ahLst/>
                <a:cxnLst/>
                <a:rect l="l" t="t" r="r" b="b"/>
                <a:pathLst>
                  <a:path w="281285" h="208359">
                    <a:moveTo>
                      <a:pt x="0" y="208359"/>
                    </a:moveTo>
                    <a:lnTo>
                      <a:pt x="281285" y="0"/>
                    </a:lnTo>
                  </a:path>
                </a:pathLst>
              </a:custGeom>
              <a:noFill/>
              <a:ln w="26045" cap="rnd">
                <a:solidFill>
                  <a:schemeClr val="accent1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4674108" y="3756025"/>
              <a:ext cx="145218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PBCNN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678299" y="423862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短窗位元組模式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3744849" y="4648200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補充局部內容特徵</a:t>
              </a:r>
            </a:p>
          </p:txBody>
        </p:sp>
        <p:sp>
          <p:nvSpPr>
            <p:cNvPr id="43" name="Freeform 43"/>
            <p:cNvSpPr/>
            <p:nvPr/>
          </p:nvSpPr>
          <p:spPr>
            <a:xfrm>
              <a:off x="6762750" y="2571750"/>
              <a:ext cx="952500" cy="904875"/>
            </a:xfrm>
            <a:custGeom>
              <a:avLst/>
              <a:gdLst/>
              <a:ahLst/>
              <a:cxnLst/>
              <a:rect l="l" t="t" r="r" b="b"/>
              <a:pathLst>
                <a:path w="952500" h="904875">
                  <a:moveTo>
                    <a:pt x="0" y="0"/>
                  </a:moveTo>
                  <a:lnTo>
                    <a:pt x="476250" y="0"/>
                  </a:lnTo>
                  <a:lnTo>
                    <a:pt x="476250" y="904875"/>
                  </a:lnTo>
                  <a:lnTo>
                    <a:pt x="952500" y="904875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7648575" y="34290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6762750" y="3476625"/>
              <a:ext cx="476250" cy="857250"/>
            </a:xfrm>
            <a:custGeom>
              <a:avLst/>
              <a:gdLst/>
              <a:ahLst/>
              <a:cxnLst/>
              <a:rect l="l" t="t" r="r" b="b"/>
              <a:pathLst>
                <a:path w="476250" h="857250">
                  <a:moveTo>
                    <a:pt x="0" y="857250"/>
                  </a:moveTo>
                  <a:lnTo>
                    <a:pt x="476250" y="857250"/>
                  </a:lnTo>
                  <a:lnTo>
                    <a:pt x="476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7191375" y="34766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66675"/>
                  </a:moveTo>
                  <a:lnTo>
                    <a:pt x="47625" y="0"/>
                  </a:lnTo>
                  <a:lnTo>
                    <a:pt x="95250" y="66675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7715250" y="2600325"/>
              <a:ext cx="3867150" cy="1714500"/>
            </a:xfrm>
            <a:prstGeom prst="roundRect">
              <a:avLst>
                <a:gd name="adj" fmla="val 4444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941945" y="2768600"/>
              <a:ext cx="2537656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校準＋</a:t>
              </a:r>
              <a:r>
                <a:rPr lang="en-US" sz="22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OOF Gate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943850" y="3248025"/>
              <a:ext cx="1790649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依事件證據融合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944612" y="370840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形成同一次正式判定</a:t>
              </a:r>
            </a:p>
          </p:txBody>
        </p:sp>
        <p:sp>
          <p:nvSpPr>
            <p:cNvPr id="51" name="Freeform 51"/>
            <p:cNvSpPr/>
            <p:nvPr/>
          </p:nvSpPr>
          <p:spPr>
            <a:xfrm>
              <a:off x="9648825" y="4314825"/>
              <a:ext cx="9525" cy="1066800"/>
            </a:xfrm>
            <a:custGeom>
              <a:avLst/>
              <a:gdLst/>
              <a:ahLst/>
              <a:cxnLst/>
              <a:rect l="l" t="t" r="r" b="b"/>
              <a:pathLst>
                <a:path w="9525" h="1066800">
                  <a:moveTo>
                    <a:pt x="0" y="0"/>
                  </a:moveTo>
                  <a:lnTo>
                    <a:pt x="0" y="10668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2" name="Freeform 52"/>
            <p:cNvSpPr/>
            <p:nvPr/>
          </p:nvSpPr>
          <p:spPr>
            <a:xfrm>
              <a:off x="9601200" y="5314950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609600" y="5381625"/>
              <a:ext cx="10972800" cy="609600"/>
            </a:xfrm>
            <a:prstGeom prst="roundRect">
              <a:avLst>
                <a:gd name="adj" fmla="val 125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828675" y="5534025"/>
              <a:ext cx="6083554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17 類判定 ＋ 校準信心 ＋ 模型表徵 → 後段檢索與稽核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56" name="Line 56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134157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04 / 09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5968746" cy="1082802"/>
            <a:chOff x="593598" y="257175"/>
            <a:chExt cx="5968746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118004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EVIDENCE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596874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把偵測表徵，變成可核對的證據</a:t>
              </a:r>
            </a:p>
          </p:txBody>
        </p:sp>
      </p:grpSp>
      <p:grpSp>
        <p:nvGrpSpPr>
          <p:cNvPr id="80" name="page-content"/>
          <p:cNvGrpSpPr/>
          <p:nvPr/>
        </p:nvGrpSpPr>
        <p:grpSpPr>
          <a:xfrm>
            <a:off x="600456" y="1612900"/>
            <a:ext cx="10981944" cy="4504944"/>
            <a:chOff x="600456" y="1612900"/>
            <a:chExt cx="10981944" cy="4504944"/>
          </a:xfrm>
        </p:grpSpPr>
        <p:sp>
          <p:nvSpPr>
            <p:cNvPr id="6" name="TextBox 6"/>
            <p:cNvSpPr txBox="1"/>
            <p:nvPr/>
          </p:nvSpPr>
          <p:spPr>
            <a:xfrm>
              <a:off x="600837" y="1612900"/>
              <a:ext cx="171262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01 組合任務向量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09600" y="2152650"/>
              <a:ext cx="2476500" cy="714375"/>
            </a:xfrm>
            <a:prstGeom prst="roundRect">
              <a:avLst>
                <a:gd name="adj" fmla="val 10667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18" name="Group 18"/>
            <p:cNvGrpSpPr/>
            <p:nvPr/>
          </p:nvGrpSpPr>
          <p:grpSpPr>
            <a:xfrm>
              <a:off x="769888" y="2317998"/>
              <a:ext cx="403324" cy="374154"/>
              <a:chOff x="769888" y="2317998"/>
              <a:chExt cx="403324" cy="374154"/>
            </a:xfrm>
          </p:grpSpPr>
          <p:sp>
            <p:nvSpPr>
              <p:cNvPr id="8" name="Line 8"/>
              <p:cNvSpPr/>
              <p:nvPr/>
            </p:nvSpPr>
            <p:spPr>
              <a:xfrm>
                <a:off x="769888" y="2317998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51048" y="0"/>
                    </a:moveTo>
                    <a:lnTo>
                      <a:pt x="0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9" name="Line 9"/>
              <p:cNvSpPr/>
              <p:nvPr/>
            </p:nvSpPr>
            <p:spPr>
              <a:xfrm>
                <a:off x="769888" y="2317998"/>
                <a:ext cx="9525" cy="36462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64629">
                    <a:moveTo>
                      <a:pt x="0" y="0"/>
                    </a:moveTo>
                    <a:lnTo>
                      <a:pt x="0" y="364629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10" name="Line 10"/>
              <p:cNvSpPr/>
              <p:nvPr/>
            </p:nvSpPr>
            <p:spPr>
              <a:xfrm>
                <a:off x="769888" y="2682627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0" y="0"/>
                    </a:moveTo>
                    <a:lnTo>
                      <a:pt x="51048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11" name="Line 11"/>
              <p:cNvSpPr/>
              <p:nvPr/>
            </p:nvSpPr>
            <p:spPr>
              <a:xfrm>
                <a:off x="1112639" y="2317998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0" y="0"/>
                    </a:moveTo>
                    <a:lnTo>
                      <a:pt x="51048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12" name="Line 12"/>
              <p:cNvSpPr/>
              <p:nvPr/>
            </p:nvSpPr>
            <p:spPr>
              <a:xfrm>
                <a:off x="1163687" y="2317998"/>
                <a:ext cx="9525" cy="36462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64629">
                    <a:moveTo>
                      <a:pt x="0" y="0"/>
                    </a:moveTo>
                    <a:lnTo>
                      <a:pt x="0" y="364629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13" name="Line 13"/>
              <p:cNvSpPr/>
              <p:nvPr/>
            </p:nvSpPr>
            <p:spPr>
              <a:xfrm>
                <a:off x="1112639" y="2682627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51048" y="0"/>
                    </a:moveTo>
                    <a:lnTo>
                      <a:pt x="0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14" name="Rectangle 14"/>
              <p:cNvSpPr/>
              <p:nvPr/>
            </p:nvSpPr>
            <p:spPr>
              <a:xfrm>
                <a:off x="864691" y="2361754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7294A9"/>
              </a:solidFill>
              <a:ln>
                <a:noFill/>
              </a:ln>
            </p:spPr>
          </p:sp>
          <p:sp>
            <p:nvSpPr>
              <p:cNvPr id="15" name="Rectangle 15"/>
              <p:cNvSpPr/>
              <p:nvPr/>
            </p:nvSpPr>
            <p:spPr>
              <a:xfrm>
                <a:off x="864691" y="2441972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7294A9"/>
              </a:solidFill>
              <a:ln>
                <a:noFill/>
              </a:ln>
            </p:spPr>
          </p:sp>
          <p:sp>
            <p:nvSpPr>
              <p:cNvPr id="16" name="Rectangle 16"/>
              <p:cNvSpPr/>
              <p:nvPr/>
            </p:nvSpPr>
            <p:spPr>
              <a:xfrm>
                <a:off x="864691" y="2522190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7294A9"/>
              </a:solidFill>
              <a:ln>
                <a:noFill/>
              </a:ln>
            </p:spPr>
          </p:sp>
          <p:sp>
            <p:nvSpPr>
              <p:cNvPr id="17" name="Rectangle 17"/>
              <p:cNvSpPr/>
              <p:nvPr/>
            </p:nvSpPr>
            <p:spPr>
              <a:xfrm>
                <a:off x="864691" y="2602409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7294A9"/>
              </a:solidFill>
              <a:ln>
                <a:noFill/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1498854" y="2374900"/>
              <a:ext cx="119329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512 維表徵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684972" y="2911475"/>
              <a:ext cx="32575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2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＋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09600" y="3400425"/>
              <a:ext cx="2476500" cy="714375"/>
            </a:xfrm>
            <a:prstGeom prst="roundRect">
              <a:avLst>
                <a:gd name="adj" fmla="val 10667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769888" y="3575298"/>
              <a:ext cx="403324" cy="374154"/>
              <a:chOff x="769888" y="3575298"/>
              <a:chExt cx="403324" cy="374154"/>
            </a:xfrm>
          </p:grpSpPr>
          <p:sp>
            <p:nvSpPr>
              <p:cNvPr id="22" name="Line 22"/>
              <p:cNvSpPr/>
              <p:nvPr/>
            </p:nvSpPr>
            <p:spPr>
              <a:xfrm>
                <a:off x="769888" y="3575298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51048" y="0"/>
                    </a:moveTo>
                    <a:lnTo>
                      <a:pt x="0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23" name="Line 23"/>
              <p:cNvSpPr/>
              <p:nvPr/>
            </p:nvSpPr>
            <p:spPr>
              <a:xfrm>
                <a:off x="769888" y="3575298"/>
                <a:ext cx="9525" cy="36462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64629">
                    <a:moveTo>
                      <a:pt x="0" y="0"/>
                    </a:moveTo>
                    <a:lnTo>
                      <a:pt x="0" y="364629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769888" y="3939927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0" y="0"/>
                    </a:moveTo>
                    <a:lnTo>
                      <a:pt x="51048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1112639" y="3575298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0" y="0"/>
                    </a:moveTo>
                    <a:lnTo>
                      <a:pt x="51048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1163687" y="3575298"/>
                <a:ext cx="9525" cy="36462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64629">
                    <a:moveTo>
                      <a:pt x="0" y="0"/>
                    </a:moveTo>
                    <a:lnTo>
                      <a:pt x="0" y="364629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27" name="Line 27"/>
              <p:cNvSpPr/>
              <p:nvPr/>
            </p:nvSpPr>
            <p:spPr>
              <a:xfrm>
                <a:off x="1112639" y="3939927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51048" y="0"/>
                    </a:moveTo>
                    <a:lnTo>
                      <a:pt x="0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28" name="Rectangle 28"/>
              <p:cNvSpPr/>
              <p:nvPr/>
            </p:nvSpPr>
            <p:spPr>
              <a:xfrm>
                <a:off x="864691" y="3619054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7294A9"/>
              </a:solidFill>
              <a:ln>
                <a:noFill/>
              </a:ln>
            </p:spPr>
          </p:sp>
          <p:sp>
            <p:nvSpPr>
              <p:cNvPr id="29" name="Rectangle 29"/>
              <p:cNvSpPr/>
              <p:nvPr/>
            </p:nvSpPr>
            <p:spPr>
              <a:xfrm>
                <a:off x="864691" y="3699272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7294A9"/>
              </a:solidFill>
              <a:ln>
                <a:noFill/>
              </a:ln>
            </p:spPr>
          </p:sp>
          <p:sp>
            <p:nvSpPr>
              <p:cNvPr id="30" name="Rectangle 30"/>
              <p:cNvSpPr/>
              <p:nvPr/>
            </p:nvSpPr>
            <p:spPr>
              <a:xfrm>
                <a:off x="864691" y="3779490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7294A9"/>
              </a:solidFill>
              <a:ln>
                <a:noFill/>
              </a:ln>
            </p:spPr>
          </p:sp>
          <p:sp>
            <p:nvSpPr>
              <p:cNvPr id="31" name="Rectangle 31"/>
              <p:cNvSpPr/>
              <p:nvPr/>
            </p:nvSpPr>
            <p:spPr>
              <a:xfrm>
                <a:off x="864691" y="3859709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7294A9"/>
              </a:solidFill>
              <a:ln>
                <a:noFill/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354963" y="3622675"/>
              <a:ext cx="148107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17 維類別機率</a:t>
              </a:r>
            </a:p>
          </p:txBody>
        </p:sp>
        <p:sp>
          <p:nvSpPr>
            <p:cNvPr id="34" name="Freeform 34"/>
            <p:cNvSpPr/>
            <p:nvPr/>
          </p:nvSpPr>
          <p:spPr>
            <a:xfrm>
              <a:off x="1847850" y="2514600"/>
              <a:ext cx="1485900" cy="2038350"/>
            </a:xfrm>
            <a:custGeom>
              <a:avLst/>
              <a:gdLst/>
              <a:ahLst/>
              <a:cxnLst/>
              <a:rect l="l" t="t" r="r" b="b"/>
              <a:pathLst>
                <a:path w="1485900" h="2038350">
                  <a:moveTo>
                    <a:pt x="1238250" y="0"/>
                  </a:moveTo>
                  <a:lnTo>
                    <a:pt x="1485900" y="0"/>
                  </a:lnTo>
                  <a:lnTo>
                    <a:pt x="1485900" y="1866900"/>
                  </a:lnTo>
                  <a:lnTo>
                    <a:pt x="0" y="1866900"/>
                  </a:lnTo>
                  <a:lnTo>
                    <a:pt x="0" y="20383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1800225" y="44862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1847850" y="4114800"/>
              <a:ext cx="9525" cy="438150"/>
            </a:xfrm>
            <a:custGeom>
              <a:avLst/>
              <a:gdLst/>
              <a:ahLst/>
              <a:cxnLst/>
              <a:rect l="l" t="t" r="r" b="b"/>
              <a:pathLst>
                <a:path w="9525" h="438150">
                  <a:moveTo>
                    <a:pt x="0" y="0"/>
                  </a:moveTo>
                  <a:lnTo>
                    <a:pt x="0" y="4381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1800225" y="44862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609600" y="4552950"/>
              <a:ext cx="2476500" cy="933450"/>
            </a:xfrm>
            <a:prstGeom prst="roundRect">
              <a:avLst>
                <a:gd name="adj" fmla="val 8163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38974" y="4721225"/>
              <a:ext cx="181775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529 維任務向量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335120" y="5105400"/>
              <a:ext cx="102546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L2 </a:t>
              </a:r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正規化</a:t>
              </a:r>
            </a:p>
          </p:txBody>
        </p:sp>
        <p:sp>
          <p:nvSpPr>
            <p:cNvPr id="41" name="Freeform 41"/>
            <p:cNvSpPr/>
            <p:nvPr/>
          </p:nvSpPr>
          <p:spPr>
            <a:xfrm>
              <a:off x="3086100" y="3076575"/>
              <a:ext cx="1009650" cy="1943100"/>
            </a:xfrm>
            <a:custGeom>
              <a:avLst/>
              <a:gdLst/>
              <a:ahLst/>
              <a:cxnLst/>
              <a:rect l="l" t="t" r="r" b="b"/>
              <a:pathLst>
                <a:path w="1009650" h="1943100">
                  <a:moveTo>
                    <a:pt x="0" y="1943100"/>
                  </a:moveTo>
                  <a:lnTo>
                    <a:pt x="628650" y="1943100"/>
                  </a:lnTo>
                  <a:lnTo>
                    <a:pt x="628650" y="0"/>
                  </a:lnTo>
                  <a:lnTo>
                    <a:pt x="10096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4029075" y="3028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4086987" y="1612900"/>
              <a:ext cx="171262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02 找出相似案例</a:t>
              </a:r>
            </a:p>
          </p:txBody>
        </p:sp>
        <p:pic>
          <p:nvPicPr>
            <p:cNvPr id="44" name="Image 4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29100" y="2028825"/>
              <a:ext cx="1285875" cy="1285875"/>
            </a:xfrm>
            <a:prstGeom prst="rect">
              <a:avLst/>
            </a:prstGeom>
          </p:spPr>
        </p:pic>
        <p:sp>
          <p:nvSpPr>
            <p:cNvPr id="45" name="TextBox 45"/>
            <p:cNvSpPr txBox="1"/>
            <p:nvPr/>
          </p:nvSpPr>
          <p:spPr>
            <a:xfrm>
              <a:off x="5762625" y="2143125"/>
              <a:ext cx="128447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訓練案例庫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763768" y="2520950"/>
              <a:ext cx="126987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1,550 筆案例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409575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0F4"/>
            </a:solidFill>
            <a:ln w="9525">
              <a:solidFill>
                <a:schemeClr val="accent1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4289298" y="4013200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1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72440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0F4"/>
            </a:solidFill>
            <a:ln w="9525">
              <a:solidFill>
                <a:schemeClr val="accent1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4917948" y="4013200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2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535305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0F4"/>
            </a:solidFill>
            <a:ln w="9525">
              <a:solidFill>
                <a:schemeClr val="accent1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5546598" y="4013200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3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598170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0F4"/>
            </a:solidFill>
            <a:ln w="9525">
              <a:solidFill>
                <a:schemeClr val="accent1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175248" y="4013200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4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661035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0F4"/>
            </a:solidFill>
            <a:ln w="9525">
              <a:solidFill>
                <a:schemeClr val="accent1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803898" y="4013200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5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4086225" y="4724400"/>
              <a:ext cx="180319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相似案例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4087749" y="511492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只檢索訓練資料</a:t>
              </a:r>
            </a:p>
          </p:txBody>
        </p:sp>
        <p:sp>
          <p:nvSpPr>
            <p:cNvPr id="59" name="Freeform 59"/>
            <p:cNvSpPr/>
            <p:nvPr/>
          </p:nvSpPr>
          <p:spPr>
            <a:xfrm>
              <a:off x="7200900" y="2819400"/>
              <a:ext cx="895350" cy="1323975"/>
            </a:xfrm>
            <a:custGeom>
              <a:avLst/>
              <a:gdLst/>
              <a:ahLst/>
              <a:cxnLst/>
              <a:rect l="l" t="t" r="r" b="b"/>
              <a:pathLst>
                <a:path w="895350" h="1323975">
                  <a:moveTo>
                    <a:pt x="0" y="1323975"/>
                  </a:moveTo>
                  <a:lnTo>
                    <a:pt x="419100" y="1323975"/>
                  </a:lnTo>
                  <a:lnTo>
                    <a:pt x="419100" y="0"/>
                  </a:lnTo>
                  <a:lnTo>
                    <a:pt x="8953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60" name="Freeform 60"/>
            <p:cNvSpPr/>
            <p:nvPr/>
          </p:nvSpPr>
          <p:spPr>
            <a:xfrm>
              <a:off x="8029575" y="2771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8087487" y="1612900"/>
              <a:ext cx="172824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03 本機</a:t>
              </a:r>
              <a:r>
                <a:rPr lang="en-US" sz="17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17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8096250" y="2286000"/>
              <a:ext cx="3486150" cy="1066800"/>
            </a:xfrm>
            <a:prstGeom prst="roundRect">
              <a:avLst>
                <a:gd name="adj" fmla="val 7143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8910638" y="2501900"/>
              <a:ext cx="1857375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判定＋案例證據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164574" y="289242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核對同一事件</a:t>
              </a:r>
            </a:p>
          </p:txBody>
        </p:sp>
        <p:sp>
          <p:nvSpPr>
            <p:cNvPr id="65" name="Freeform 65"/>
            <p:cNvSpPr/>
            <p:nvPr/>
          </p:nvSpPr>
          <p:spPr>
            <a:xfrm>
              <a:off x="8658225" y="3352800"/>
              <a:ext cx="1181100" cy="361950"/>
            </a:xfrm>
            <a:custGeom>
              <a:avLst/>
              <a:gdLst/>
              <a:ahLst/>
              <a:cxnLst/>
              <a:rect l="l" t="t" r="r" b="b"/>
              <a:pathLst>
                <a:path w="1181100" h="361950">
                  <a:moveTo>
                    <a:pt x="1181100" y="0"/>
                  </a:moveTo>
                  <a:lnTo>
                    <a:pt x="1181100" y="180975"/>
                  </a:lnTo>
                  <a:lnTo>
                    <a:pt x="0" y="180975"/>
                  </a:lnTo>
                  <a:lnTo>
                    <a:pt x="0" y="3619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66" name="Freeform 66"/>
            <p:cNvSpPr/>
            <p:nvPr/>
          </p:nvSpPr>
          <p:spPr>
            <a:xfrm>
              <a:off x="8610600" y="36480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67" name="Freeform 67"/>
            <p:cNvSpPr/>
            <p:nvPr/>
          </p:nvSpPr>
          <p:spPr>
            <a:xfrm>
              <a:off x="9839325" y="3533775"/>
              <a:ext cx="9525" cy="180975"/>
            </a:xfrm>
            <a:custGeom>
              <a:avLst/>
              <a:gdLst/>
              <a:ahLst/>
              <a:cxnLst/>
              <a:rect l="l" t="t" r="r" b="b"/>
              <a:pathLst>
                <a:path w="9525" h="180975">
                  <a:moveTo>
                    <a:pt x="0" y="0"/>
                  </a:moveTo>
                  <a:lnTo>
                    <a:pt x="0" y="180975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68" name="Freeform 68"/>
            <p:cNvSpPr/>
            <p:nvPr/>
          </p:nvSpPr>
          <p:spPr>
            <a:xfrm>
              <a:off x="9791700" y="36480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69" name="Freeform 69"/>
            <p:cNvSpPr/>
            <p:nvPr/>
          </p:nvSpPr>
          <p:spPr>
            <a:xfrm>
              <a:off x="9839325" y="3533775"/>
              <a:ext cx="1181100" cy="180975"/>
            </a:xfrm>
            <a:custGeom>
              <a:avLst/>
              <a:gdLst/>
              <a:ahLst/>
              <a:cxnLst/>
              <a:rect l="l" t="t" r="r" b="b"/>
              <a:pathLst>
                <a:path w="1181100" h="180975">
                  <a:moveTo>
                    <a:pt x="0" y="0"/>
                  </a:moveTo>
                  <a:lnTo>
                    <a:pt x="1181100" y="0"/>
                  </a:lnTo>
                  <a:lnTo>
                    <a:pt x="1181100" y="180975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70" name="Freeform 70"/>
            <p:cNvSpPr/>
            <p:nvPr/>
          </p:nvSpPr>
          <p:spPr>
            <a:xfrm>
              <a:off x="10972800" y="36480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71" name="Rectangle 71"/>
            <p:cNvSpPr/>
            <p:nvPr/>
          </p:nvSpPr>
          <p:spPr>
            <a:xfrm>
              <a:off x="8096250" y="3714750"/>
              <a:ext cx="1123950" cy="619125"/>
            </a:xfrm>
            <a:prstGeom prst="roundRect">
              <a:avLst>
                <a:gd name="adj" fmla="val 1230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8406765" y="3898900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支持</a:t>
              </a: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9277350" y="3714750"/>
              <a:ext cx="1123950" cy="619125"/>
            </a:xfrm>
            <a:prstGeom prst="roundRect">
              <a:avLst>
                <a:gd name="adj" fmla="val 1230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9587865" y="3898900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複核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10458450" y="3714750"/>
              <a:ext cx="1123950" cy="619125"/>
            </a:xfrm>
            <a:prstGeom prst="roundRect">
              <a:avLst>
                <a:gd name="adj" fmla="val 1230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10647807" y="3898900"/>
              <a:ext cx="7452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不確定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8086725" y="4724400"/>
              <a:ext cx="1537564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保留正式分類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8088249" y="5114925"/>
              <a:ext cx="21429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稽核結論附回事件紀錄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600456" y="5765800"/>
              <a:ext cx="527038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同一事件</a:t>
              </a:r>
              <a:r>
                <a:rPr lang="en-US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ID</a:t>
              </a:r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：分類結果與檢索證據一路可追溯。</a:t>
              </a:r>
            </a:p>
          </p:txBody>
        </p:sp>
      </p:grpSp>
      <p:grpSp>
        <p:nvGrpSpPr>
          <p:cNvPr id="84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81" name="Line 81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1134157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05 / 09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6392799" cy="1082802"/>
            <a:chOff x="593598" y="257175"/>
            <a:chExt cx="6392799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1130787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CONTROL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6392799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受控執行，留下可回復的處置紀錄</a:t>
              </a:r>
            </a:p>
          </p:txBody>
        </p:sp>
      </p:grpSp>
      <p:grpSp>
        <p:nvGrpSpPr>
          <p:cNvPr id="63" name="page-content"/>
          <p:cNvGrpSpPr/>
          <p:nvPr/>
        </p:nvGrpSpPr>
        <p:grpSpPr>
          <a:xfrm>
            <a:off x="609600" y="1857375"/>
            <a:ext cx="10972800" cy="4238625"/>
            <a:chOff x="609600" y="1857375"/>
            <a:chExt cx="10972800" cy="4238625"/>
          </a:xfrm>
        </p:grpSpPr>
        <p:sp>
          <p:nvSpPr>
            <p:cNvPr id="6" name="Rectangle 6"/>
            <p:cNvSpPr/>
            <p:nvPr/>
          </p:nvSpPr>
          <p:spPr>
            <a:xfrm>
              <a:off x="609600" y="1857375"/>
              <a:ext cx="2571750" cy="2447925"/>
            </a:xfrm>
            <a:prstGeom prst="roundRect">
              <a:avLst>
                <a:gd name="adj" fmla="val 3113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11530" y="2032000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01</a:t>
              </a:r>
            </a:p>
          </p:txBody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43025" y="2276475"/>
              <a:ext cx="1104900" cy="1104900"/>
            </a:xfrm>
            <a:prstGeom prst="rect">
              <a:avLst/>
            </a:prstGeom>
          </p:spPr>
        </p:pic>
        <p:sp>
          <p:nvSpPr>
            <p:cNvPr id="9" name="TextBox 9"/>
            <p:cNvSpPr txBox="1"/>
            <p:nvPr/>
          </p:nvSpPr>
          <p:spPr>
            <a:xfrm>
              <a:off x="1297483" y="3457575"/>
              <a:ext cx="1195984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政策檢查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79170" y="392747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ja-JP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範圍・白名單・期限</a:t>
              </a:r>
            </a:p>
          </p:txBody>
        </p:sp>
        <p:sp>
          <p:nvSpPr>
            <p:cNvPr id="11" name="Freeform 11"/>
            <p:cNvSpPr/>
            <p:nvPr/>
          </p:nvSpPr>
          <p:spPr>
            <a:xfrm>
              <a:off x="3181350" y="307657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343275" y="3028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3409950" y="1857375"/>
              <a:ext cx="2571750" cy="2447925"/>
            </a:xfrm>
            <a:prstGeom prst="roundRect">
              <a:avLst>
                <a:gd name="adj" fmla="val 3113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3611880" y="2032000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02</a:t>
              </a:r>
            </a:p>
          </p:txBody>
        </p:sp>
        <p:grpSp>
          <p:nvGrpSpPr>
            <p:cNvPr id="24" name="Group 24"/>
            <p:cNvGrpSpPr/>
            <p:nvPr/>
          </p:nvGrpSpPr>
          <p:grpSpPr>
            <a:xfrm>
              <a:off x="4310062" y="2495550"/>
              <a:ext cx="771526" cy="685800"/>
              <a:chOff x="4310062" y="2495550"/>
              <a:chExt cx="771526" cy="685800"/>
            </a:xfrm>
          </p:grpSpPr>
          <p:sp>
            <p:nvSpPr>
              <p:cNvPr id="15" name="Rectangle 15"/>
              <p:cNvSpPr/>
              <p:nvPr/>
            </p:nvSpPr>
            <p:spPr>
              <a:xfrm>
                <a:off x="4310062" y="2495550"/>
                <a:ext cx="771525" cy="685800"/>
              </a:xfrm>
              <a:prstGeom prst="roundRect">
                <a:avLst>
                  <a:gd name="adj" fmla="val 8333"/>
                </a:avLst>
              </a:prstGeom>
              <a:solidFill>
                <a:schemeClr val="lt1"/>
              </a:solidFill>
              <a:ln w="14288">
                <a:solidFill>
                  <a:schemeClr val="accent1"/>
                </a:solidFill>
              </a:ln>
            </p:spPr>
          </p:sp>
          <p:sp>
            <p:nvSpPr>
              <p:cNvPr id="16" name="Line 16"/>
              <p:cNvSpPr/>
              <p:nvPr/>
            </p:nvSpPr>
            <p:spPr>
              <a:xfrm>
                <a:off x="4310062" y="2724150"/>
                <a:ext cx="771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71525" h="9525">
                    <a:moveTo>
                      <a:pt x="0" y="0"/>
                    </a:moveTo>
                    <a:lnTo>
                      <a:pt x="771525" y="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17" name="Line 17"/>
              <p:cNvSpPr/>
              <p:nvPr/>
            </p:nvSpPr>
            <p:spPr>
              <a:xfrm>
                <a:off x="4310062" y="2952750"/>
                <a:ext cx="771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71525" h="9525">
                    <a:moveTo>
                      <a:pt x="0" y="0"/>
                    </a:moveTo>
                    <a:lnTo>
                      <a:pt x="771525" y="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18" name="Line 18"/>
              <p:cNvSpPr/>
              <p:nvPr/>
            </p:nvSpPr>
            <p:spPr>
              <a:xfrm>
                <a:off x="4567238" y="24955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19" name="Line 19"/>
              <p:cNvSpPr/>
              <p:nvPr/>
            </p:nvSpPr>
            <p:spPr>
              <a:xfrm>
                <a:off x="4852988" y="24955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20" name="Line 20"/>
              <p:cNvSpPr/>
              <p:nvPr/>
            </p:nvSpPr>
            <p:spPr>
              <a:xfrm>
                <a:off x="4452938" y="27241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21" name="Line 21"/>
              <p:cNvSpPr/>
              <p:nvPr/>
            </p:nvSpPr>
            <p:spPr>
              <a:xfrm>
                <a:off x="4767262" y="27241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22" name="Line 22"/>
              <p:cNvSpPr/>
              <p:nvPr/>
            </p:nvSpPr>
            <p:spPr>
              <a:xfrm>
                <a:off x="4567238" y="29527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23" name="Line 23"/>
              <p:cNvSpPr/>
              <p:nvPr/>
            </p:nvSpPr>
            <p:spPr>
              <a:xfrm>
                <a:off x="4852988" y="29527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4097833" y="3457575"/>
              <a:ext cx="1195984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套用規則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880485" y="392747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受允許策略才執行</a:t>
              </a:r>
            </a:p>
          </p:txBody>
        </p:sp>
        <p:sp>
          <p:nvSpPr>
            <p:cNvPr id="27" name="Freeform 27"/>
            <p:cNvSpPr/>
            <p:nvPr/>
          </p:nvSpPr>
          <p:spPr>
            <a:xfrm>
              <a:off x="5981700" y="307657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6143625" y="3028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210300" y="1857375"/>
              <a:ext cx="2571750" cy="2447925"/>
            </a:xfrm>
            <a:prstGeom prst="roundRect">
              <a:avLst>
                <a:gd name="adj" fmla="val 3113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12230" y="2032000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03</a:t>
              </a:r>
            </a:p>
          </p:txBody>
        </p:sp>
        <p:grpSp>
          <p:nvGrpSpPr>
            <p:cNvPr id="36" name="Group 36"/>
            <p:cNvGrpSpPr/>
            <p:nvPr/>
          </p:nvGrpSpPr>
          <p:grpSpPr>
            <a:xfrm>
              <a:off x="7210425" y="2452688"/>
              <a:ext cx="571500" cy="771524"/>
              <a:chOff x="7210425" y="2452688"/>
              <a:chExt cx="571500" cy="771524"/>
            </a:xfrm>
          </p:grpSpPr>
          <p:sp>
            <p:nvSpPr>
              <p:cNvPr id="31" name="Rectangle 31"/>
              <p:cNvSpPr/>
              <p:nvPr/>
            </p:nvSpPr>
            <p:spPr>
              <a:xfrm>
                <a:off x="7210425" y="2452688"/>
                <a:ext cx="571500" cy="771525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14288">
                <a:solidFill>
                  <a:schemeClr val="accent1"/>
                </a:solidFill>
              </a:ln>
            </p:spPr>
          </p:sp>
          <p:sp>
            <p:nvSpPr>
              <p:cNvPr id="32" name="Line 32"/>
              <p:cNvSpPr/>
              <p:nvPr/>
            </p:nvSpPr>
            <p:spPr>
              <a:xfrm>
                <a:off x="7339012" y="2638425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33" name="Line 33"/>
              <p:cNvSpPr/>
              <p:nvPr/>
            </p:nvSpPr>
            <p:spPr>
              <a:xfrm>
                <a:off x="7339012" y="2795588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34" name="Line 34"/>
              <p:cNvSpPr/>
              <p:nvPr/>
            </p:nvSpPr>
            <p:spPr>
              <a:xfrm>
                <a:off x="7339012" y="2952750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35" name="Line 35"/>
              <p:cNvSpPr/>
              <p:nvPr/>
            </p:nvSpPr>
            <p:spPr>
              <a:xfrm>
                <a:off x="7339012" y="3109912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6898183" y="3457575"/>
              <a:ext cx="1195984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讀回驗證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579870" y="392747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核對規則與事件回條</a:t>
              </a:r>
            </a:p>
          </p:txBody>
        </p:sp>
        <p:sp>
          <p:nvSpPr>
            <p:cNvPr id="39" name="Freeform 39"/>
            <p:cNvSpPr/>
            <p:nvPr/>
          </p:nvSpPr>
          <p:spPr>
            <a:xfrm>
              <a:off x="8782050" y="307657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8943975" y="3028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9010650" y="1857375"/>
              <a:ext cx="2571750" cy="2447925"/>
            </a:xfrm>
            <a:prstGeom prst="roundRect">
              <a:avLst>
                <a:gd name="adj" fmla="val 3113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212580" y="2032000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04</a:t>
              </a:r>
            </a:p>
          </p:txBody>
        </p:sp>
        <p:grpSp>
          <p:nvGrpSpPr>
            <p:cNvPr id="48" name="Group 48"/>
            <p:cNvGrpSpPr/>
            <p:nvPr/>
          </p:nvGrpSpPr>
          <p:grpSpPr>
            <a:xfrm>
              <a:off x="9939338" y="2438400"/>
              <a:ext cx="714374" cy="800100"/>
              <a:chOff x="9939338" y="2438400"/>
              <a:chExt cx="714374" cy="800100"/>
            </a:xfrm>
          </p:grpSpPr>
          <p:sp>
            <p:nvSpPr>
              <p:cNvPr id="43" name="Ellipse 43"/>
              <p:cNvSpPr/>
              <p:nvPr/>
            </p:nvSpPr>
            <p:spPr>
              <a:xfrm>
                <a:off x="9939338" y="2481262"/>
                <a:ext cx="714375" cy="714375"/>
              </a:xfrm>
              <a:prstGeom prst="ellipse">
                <a:avLst/>
              </a:prstGeom>
              <a:solidFill>
                <a:schemeClr val="lt1"/>
              </a:solidFill>
              <a:ln w="35719">
                <a:solidFill>
                  <a:schemeClr val="accent1"/>
                </a:solidFill>
              </a:ln>
            </p:spPr>
          </p:sp>
          <p:sp>
            <p:nvSpPr>
              <p:cNvPr id="44" name="Line 44"/>
              <p:cNvSpPr/>
              <p:nvPr/>
            </p:nvSpPr>
            <p:spPr>
              <a:xfrm>
                <a:off x="10296525" y="2581275"/>
                <a:ext cx="9525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57175">
                    <a:moveTo>
                      <a:pt x="0" y="257175"/>
                    </a:moveTo>
                    <a:lnTo>
                      <a:pt x="0" y="0"/>
                    </a:lnTo>
                  </a:path>
                </a:pathLst>
              </a:custGeom>
              <a:noFill/>
              <a:ln w="35719" cap="rnd">
                <a:solidFill>
                  <a:schemeClr val="accent1"/>
                </a:solidFill>
              </a:ln>
            </p:spPr>
          </p:sp>
          <p:sp>
            <p:nvSpPr>
              <p:cNvPr id="45" name="Line 45"/>
              <p:cNvSpPr/>
              <p:nvPr/>
            </p:nvSpPr>
            <p:spPr>
              <a:xfrm>
                <a:off x="10296525" y="2838450"/>
                <a:ext cx="2000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100012">
                    <a:moveTo>
                      <a:pt x="0" y="0"/>
                    </a:moveTo>
                    <a:lnTo>
                      <a:pt x="200025" y="100012"/>
                    </a:lnTo>
                  </a:path>
                </a:pathLst>
              </a:custGeom>
              <a:noFill/>
              <a:ln w="35719" cap="rnd">
                <a:solidFill>
                  <a:schemeClr val="accent1"/>
                </a:solidFill>
              </a:ln>
            </p:spPr>
          </p:sp>
          <p:sp>
            <p:nvSpPr>
              <p:cNvPr id="46" name="Line 46"/>
              <p:cNvSpPr/>
              <p:nvPr/>
            </p:nvSpPr>
            <p:spPr>
              <a:xfrm>
                <a:off x="10296525" y="2438400"/>
                <a:ext cx="9525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71438">
                    <a:moveTo>
                      <a:pt x="0" y="0"/>
                    </a:moveTo>
                    <a:lnTo>
                      <a:pt x="0" y="71438"/>
                    </a:lnTo>
                  </a:path>
                </a:pathLst>
              </a:custGeom>
              <a:noFill/>
              <a:ln w="35719" cap="rnd">
                <a:solidFill>
                  <a:schemeClr val="accent1"/>
                </a:solidFill>
              </a:ln>
            </p:spPr>
          </p:sp>
          <p:sp>
            <p:nvSpPr>
              <p:cNvPr id="47" name="Line 47"/>
              <p:cNvSpPr/>
              <p:nvPr/>
            </p:nvSpPr>
            <p:spPr>
              <a:xfrm>
                <a:off x="10296525" y="3167062"/>
                <a:ext cx="9525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71438">
                    <a:moveTo>
                      <a:pt x="0" y="0"/>
                    </a:moveTo>
                    <a:lnTo>
                      <a:pt x="0" y="71438"/>
                    </a:lnTo>
                  </a:path>
                </a:pathLst>
              </a:custGeom>
              <a:noFill/>
              <a:ln w="35719" cap="rnd">
                <a:solidFill>
                  <a:schemeClr val="accent1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9698533" y="3457575"/>
              <a:ext cx="1195984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到期回復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380220" y="392747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撤銷並確認服務恢復</a:t>
              </a:r>
            </a:p>
          </p:txBody>
        </p:sp>
        <p:sp>
          <p:nvSpPr>
            <p:cNvPr id="51" name="Freeform 51"/>
            <p:cNvSpPr/>
            <p:nvPr/>
          </p:nvSpPr>
          <p:spPr>
            <a:xfrm>
              <a:off x="1895475" y="4305300"/>
              <a:ext cx="2143125" cy="581025"/>
            </a:xfrm>
            <a:custGeom>
              <a:avLst/>
              <a:gdLst/>
              <a:ahLst/>
              <a:cxnLst/>
              <a:rect l="l" t="t" r="r" b="b"/>
              <a:pathLst>
                <a:path w="2143125" h="581025">
                  <a:moveTo>
                    <a:pt x="0" y="0"/>
                  </a:moveTo>
                  <a:lnTo>
                    <a:pt x="0" y="581025"/>
                  </a:lnTo>
                  <a:lnTo>
                    <a:pt x="2143125" y="581025"/>
                  </a:lnTo>
                </a:path>
              </a:pathLst>
            </a:custGeom>
            <a:noFill/>
            <a:ln w="23812">
              <a:solidFill>
                <a:srgbClr val="53666E"/>
              </a:solidFill>
              <a:custDash>
                <a:ds d="240000" sp="200000"/>
              </a:custDash>
            </a:ln>
          </p:spPr>
        </p:sp>
        <p:sp>
          <p:nvSpPr>
            <p:cNvPr id="52" name="Freeform 52"/>
            <p:cNvSpPr/>
            <p:nvPr/>
          </p:nvSpPr>
          <p:spPr>
            <a:xfrm>
              <a:off x="3971925" y="48387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53666E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4038600" y="4552950"/>
              <a:ext cx="7543800" cy="657225"/>
            </a:xfrm>
            <a:prstGeom prst="roundRect">
              <a:avLst>
                <a:gd name="adj" fmla="val 11594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59" name="Group 59"/>
            <p:cNvGrpSpPr/>
            <p:nvPr/>
          </p:nvGrpSpPr>
          <p:grpSpPr>
            <a:xfrm>
              <a:off x="4285059" y="4698504"/>
              <a:ext cx="250032" cy="337542"/>
              <a:chOff x="4285059" y="4698504"/>
              <a:chExt cx="250032" cy="337542"/>
            </a:xfrm>
          </p:grpSpPr>
          <p:sp>
            <p:nvSpPr>
              <p:cNvPr id="54" name="Rectangle 54"/>
              <p:cNvSpPr/>
              <p:nvPr/>
            </p:nvSpPr>
            <p:spPr>
              <a:xfrm>
                <a:off x="4285059" y="4698504"/>
                <a:ext cx="250031" cy="337542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6251">
                <a:solidFill>
                  <a:schemeClr val="accent1"/>
                </a:solidFill>
              </a:ln>
            </p:spPr>
          </p:sp>
          <p:sp>
            <p:nvSpPr>
              <p:cNvPr id="55" name="Line 55"/>
              <p:cNvSpPr/>
              <p:nvPr/>
            </p:nvSpPr>
            <p:spPr>
              <a:xfrm>
                <a:off x="4341316" y="4779764"/>
                <a:ext cx="14376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3768" h="9525">
                    <a:moveTo>
                      <a:pt x="0" y="0"/>
                    </a:moveTo>
                    <a:lnTo>
                      <a:pt x="143768" y="0"/>
                    </a:lnTo>
                  </a:path>
                </a:pathLst>
              </a:custGeom>
              <a:noFill/>
              <a:ln w="12502" cap="rnd">
                <a:solidFill>
                  <a:srgbClr val="7294A9"/>
                </a:solidFill>
              </a:ln>
            </p:spPr>
          </p:sp>
          <p:sp>
            <p:nvSpPr>
              <p:cNvPr id="56" name="Line 56"/>
              <p:cNvSpPr/>
              <p:nvPr/>
            </p:nvSpPr>
            <p:spPr>
              <a:xfrm>
                <a:off x="4341316" y="4848523"/>
                <a:ext cx="14376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3768" h="9525">
                    <a:moveTo>
                      <a:pt x="0" y="0"/>
                    </a:moveTo>
                    <a:lnTo>
                      <a:pt x="143768" y="0"/>
                    </a:lnTo>
                  </a:path>
                </a:pathLst>
              </a:custGeom>
              <a:noFill/>
              <a:ln w="12502" cap="rnd">
                <a:solidFill>
                  <a:srgbClr val="7294A9"/>
                </a:solidFill>
              </a:ln>
            </p:spPr>
          </p:sp>
          <p:sp>
            <p:nvSpPr>
              <p:cNvPr id="57" name="Line 57"/>
              <p:cNvSpPr/>
              <p:nvPr/>
            </p:nvSpPr>
            <p:spPr>
              <a:xfrm>
                <a:off x="4341316" y="4917281"/>
                <a:ext cx="14376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3768" h="9525">
                    <a:moveTo>
                      <a:pt x="0" y="0"/>
                    </a:moveTo>
                    <a:lnTo>
                      <a:pt x="143768" y="0"/>
                    </a:lnTo>
                  </a:path>
                </a:pathLst>
              </a:custGeom>
              <a:noFill/>
              <a:ln w="12502" cap="rnd">
                <a:solidFill>
                  <a:srgbClr val="7294A9"/>
                </a:solidFill>
              </a:ln>
            </p:spPr>
          </p:sp>
          <p:sp>
            <p:nvSpPr>
              <p:cNvPr id="58" name="Line 58"/>
              <p:cNvSpPr/>
              <p:nvPr/>
            </p:nvSpPr>
            <p:spPr>
              <a:xfrm>
                <a:off x="4341316" y="4986040"/>
                <a:ext cx="14376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3768" h="9525">
                    <a:moveTo>
                      <a:pt x="0" y="0"/>
                    </a:moveTo>
                    <a:lnTo>
                      <a:pt x="143768" y="0"/>
                    </a:lnTo>
                  </a:path>
                </a:pathLst>
              </a:custGeom>
              <a:noFill/>
              <a:ln w="12502" cap="rnd">
                <a:solidFill>
                  <a:srgbClr val="7294A9"/>
                </a:solidFill>
              </a:ln>
            </p:spPr>
          </p:sp>
        </p:grpSp>
        <p:sp>
          <p:nvSpPr>
            <p:cNvPr id="60" name="TextBox 60"/>
            <p:cNvSpPr txBox="1"/>
            <p:nvPr/>
          </p:nvSpPr>
          <p:spPr>
            <a:xfrm>
              <a:off x="4752594" y="4721225"/>
              <a:ext cx="332346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複核／不確定 → 監測或蒐證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609600" y="5486400"/>
              <a:ext cx="10972800" cy="609600"/>
            </a:xfrm>
            <a:prstGeom prst="roundRect">
              <a:avLst>
                <a:gd name="adj" fmla="val 125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829818" y="5664200"/>
              <a:ext cx="778800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6 種隔離</a:t>
              </a:r>
              <a:r>
                <a:rPr lang="en-US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TCP 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情境：4 種套用規則、2 種監測或蒐證；背景保留與回復皆 6/6。</a:t>
              </a:r>
            </a:p>
          </p:txBody>
        </p:sp>
      </p:grpSp>
      <p:grpSp>
        <p:nvGrpSpPr>
          <p:cNvPr id="67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64" name="Line 64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134157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06 / 09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5544693" cy="1082802"/>
            <a:chOff x="593598" y="257175"/>
            <a:chExt cx="5544693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234107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MEASURED RESULTS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5544693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互補融合，提升整體辨識效果</a:t>
              </a:r>
            </a:p>
          </p:txBody>
        </p:sp>
      </p:grpSp>
      <p:grpSp>
        <p:nvGrpSpPr>
          <p:cNvPr id="29" name="page-content"/>
          <p:cNvGrpSpPr/>
          <p:nvPr/>
        </p:nvGrpSpPr>
        <p:grpSpPr>
          <a:xfrm>
            <a:off x="600456" y="1498600"/>
            <a:ext cx="10981944" cy="4642676"/>
            <a:chOff x="600456" y="1498600"/>
            <a:chExt cx="10981944" cy="4642676"/>
          </a:xfrm>
        </p:grpSpPr>
        <p:sp>
          <p:nvSpPr>
            <p:cNvPr id="6" name="TextBox 6"/>
            <p:cNvSpPr txBox="1"/>
            <p:nvPr/>
          </p:nvSpPr>
          <p:spPr>
            <a:xfrm>
              <a:off x="600456" y="1498600"/>
              <a:ext cx="387211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相同 18,998 筆封存測試</a:t>
              </a:r>
              <a:r>
                <a:rPr lang="en-US" sz="18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 · Macro-F1</a:t>
              </a:r>
            </a:p>
          </p:txBody>
        </p:sp>
        <p:grpSp>
          <p:nvGrpSpPr>
            <p:cNvPr id="22" name="detector-comparison-chartArea"/>
            <p:cNvGrpSpPr/>
            <p:nvPr/>
          </p:nvGrpSpPr>
          <p:grpSpPr>
            <a:xfrm>
              <a:off x="600837" y="2095500"/>
              <a:ext cx="7983329" cy="3592195"/>
              <a:chOff x="600837" y="2095500"/>
              <a:chExt cx="7983329" cy="3592195"/>
            </a:xfrm>
          </p:grpSpPr>
          <p:sp>
            <p:nvSpPr>
              <p:cNvPr id="7" name="Line 7"/>
              <p:cNvSpPr/>
              <p:nvPr/>
            </p:nvSpPr>
            <p:spPr>
              <a:xfrm>
                <a:off x="1905000" y="2095500"/>
                <a:ext cx="9525" cy="3143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43250">
                    <a:moveTo>
                      <a:pt x="0" y="0"/>
                    </a:moveTo>
                    <a:lnTo>
                      <a:pt x="0" y="3143250"/>
                    </a:lnTo>
                  </a:path>
                </a:pathLst>
              </a:custGeom>
              <a:noFill/>
              <a:ln w="9525">
                <a:solidFill>
                  <a:srgbClr val="D6DDE0"/>
                </a:solidFill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1755176" y="5394325"/>
                <a:ext cx="29964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TW" sz="1500" dirty="0">
                    <a:solidFill>
                      <a:schemeClr val="accent6"/>
                    </a:solidFill>
                    <a:latin typeface="Times New Roman"/>
                    <a:ea typeface="DFKai-SB"/>
                    <a:cs typeface="Times New Roman"/>
                  </a:rPr>
                  <a:t>0%</a:t>
                </a:r>
              </a:p>
            </p:txBody>
          </p:sp>
          <p:sp>
            <p:nvSpPr>
              <p:cNvPr id="9" name="Line 9"/>
              <p:cNvSpPr/>
              <p:nvPr/>
            </p:nvSpPr>
            <p:spPr>
              <a:xfrm>
                <a:off x="5000625" y="2095500"/>
                <a:ext cx="9525" cy="3143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43250">
                    <a:moveTo>
                      <a:pt x="0" y="0"/>
                    </a:moveTo>
                    <a:lnTo>
                      <a:pt x="0" y="3143250"/>
                    </a:lnTo>
                  </a:path>
                </a:pathLst>
              </a:custGeom>
              <a:noFill/>
              <a:ln w="9525">
                <a:solidFill>
                  <a:srgbClr val="D6DDE0"/>
                </a:solidFill>
              </a:ln>
            </p:spPr>
          </p:sp>
          <p:sp>
            <p:nvSpPr>
              <p:cNvPr id="10" name="TextBox 10"/>
              <p:cNvSpPr txBox="1"/>
              <p:nvPr/>
            </p:nvSpPr>
            <p:spPr>
              <a:xfrm>
                <a:off x="4797461" y="5394325"/>
                <a:ext cx="40632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TW" sz="1500" dirty="0">
                    <a:solidFill>
                      <a:schemeClr val="accent6"/>
                    </a:solidFill>
                    <a:latin typeface="Times New Roman"/>
                    <a:ea typeface="DFKai-SB"/>
                    <a:cs typeface="Times New Roman"/>
                  </a:rPr>
                  <a:t>50%</a:t>
                </a:r>
              </a:p>
            </p:txBody>
          </p:sp>
          <p:sp>
            <p:nvSpPr>
              <p:cNvPr id="11" name="Line 11"/>
              <p:cNvSpPr/>
              <p:nvPr/>
            </p:nvSpPr>
            <p:spPr>
              <a:xfrm>
                <a:off x="8096250" y="2095500"/>
                <a:ext cx="9525" cy="3143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43250">
                    <a:moveTo>
                      <a:pt x="0" y="0"/>
                    </a:moveTo>
                    <a:lnTo>
                      <a:pt x="0" y="3143250"/>
                    </a:lnTo>
                  </a:path>
                </a:pathLst>
              </a:custGeom>
              <a:noFill/>
              <a:ln w="9525">
                <a:solidFill>
                  <a:srgbClr val="D6DDE0"/>
                </a:solidFill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7839746" y="5394325"/>
                <a:ext cx="51300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TW" sz="1500" dirty="0">
                    <a:solidFill>
                      <a:schemeClr val="accent6"/>
                    </a:solidFill>
                    <a:latin typeface="Times New Roman"/>
                    <a:ea typeface="DFKai-SB"/>
                    <a:cs typeface="Times New Roman"/>
                  </a:rPr>
                  <a:t>100%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600837" y="2479675"/>
                <a:ext cx="1008164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720" dirty="0">
                    <a:solidFill>
                      <a:schemeClr val="dk1"/>
                    </a:solidFill>
                    <a:latin typeface="Times New Roman"/>
                    <a:ea typeface="DFKai-SB"/>
                    <a:cs typeface="Times New Roman"/>
                  </a:rPr>
                  <a:t>PBCNN</a:t>
                </a:r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1905000" y="2419350"/>
                <a:ext cx="4937396" cy="400050"/>
              </a:xfrm>
              <a:prstGeom prst="rect">
                <a:avLst/>
              </a:prstGeom>
              <a:solidFill>
                <a:srgbClr val="7294A9"/>
              </a:solidFill>
              <a:ln>
                <a:noFill/>
              </a:ln>
            </p:spPr>
          </p:sp>
          <p:sp>
            <p:nvSpPr>
              <p:cNvPr id="15" name="TextBox 15"/>
              <p:cNvSpPr txBox="1"/>
              <p:nvPr/>
            </p:nvSpPr>
            <p:spPr>
              <a:xfrm>
                <a:off x="6947933" y="2479675"/>
                <a:ext cx="812648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720" b="1" dirty="0">
                    <a:solidFill>
                      <a:schemeClr val="dk1"/>
                    </a:solidFill>
                    <a:latin typeface="Times New Roman"/>
                    <a:ea typeface="DFKai-SB"/>
                    <a:cs typeface="Times New Roman"/>
                  </a:rPr>
                  <a:t>79.75%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600837" y="3527425"/>
                <a:ext cx="859446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720" dirty="0">
                    <a:solidFill>
                      <a:schemeClr val="dk1"/>
                    </a:solidFill>
                    <a:latin typeface="Times New Roman"/>
                    <a:ea typeface="DFKai-SB"/>
                    <a:cs typeface="Times New Roman"/>
                  </a:rPr>
                  <a:t>CTBM</a:t>
                </a:r>
              </a:p>
            </p:txBody>
          </p:sp>
          <p:sp>
            <p:nvSpPr>
              <p:cNvPr id="17" name="Rectangle 17"/>
              <p:cNvSpPr/>
              <p:nvPr/>
            </p:nvSpPr>
            <p:spPr>
              <a:xfrm>
                <a:off x="1905000" y="3467100"/>
                <a:ext cx="5702313" cy="400050"/>
              </a:xfrm>
              <a:prstGeom prst="rect">
                <a:avLst/>
              </a:prstGeom>
              <a:solidFill>
                <a:srgbClr val="7294A9"/>
              </a:solidFill>
              <a:ln>
                <a:noFill/>
              </a:ln>
            </p:spPr>
          </p:sp>
          <p:sp>
            <p:nvSpPr>
              <p:cNvPr id="18" name="TextBox 18"/>
              <p:cNvSpPr txBox="1"/>
              <p:nvPr/>
            </p:nvSpPr>
            <p:spPr>
              <a:xfrm>
                <a:off x="7712850" y="3527425"/>
                <a:ext cx="812648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720" b="1" dirty="0">
                    <a:solidFill>
                      <a:schemeClr val="dk1"/>
                    </a:solidFill>
                    <a:latin typeface="Times New Roman"/>
                    <a:ea typeface="DFKai-SB"/>
                    <a:cs typeface="Times New Roman"/>
                  </a:rPr>
                  <a:t>92.10%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600837" y="4575175"/>
                <a:ext cx="1245309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720" b="1" dirty="0">
                    <a:solidFill>
                      <a:schemeClr val="accent1"/>
                    </a:solidFill>
                    <a:latin typeface="Times New Roman"/>
                    <a:ea typeface="DFKai-SB"/>
                    <a:cs typeface="Times New Roman"/>
                  </a:rPr>
                  <a:t>OOF Gate</a:t>
                </a:r>
              </a:p>
            </p:txBody>
          </p:sp>
          <p:sp>
            <p:nvSpPr>
              <p:cNvPr id="20" name="Rectangle 20"/>
              <p:cNvSpPr/>
              <p:nvPr/>
            </p:nvSpPr>
            <p:spPr>
              <a:xfrm>
                <a:off x="1905000" y="4514850"/>
                <a:ext cx="5760981" cy="40005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</p:sp>
          <p:sp>
            <p:nvSpPr>
              <p:cNvPr id="21" name="TextBox 21"/>
              <p:cNvSpPr txBox="1"/>
              <p:nvPr/>
            </p:nvSpPr>
            <p:spPr>
              <a:xfrm>
                <a:off x="7771518" y="4575175"/>
                <a:ext cx="812648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720" b="1" dirty="0">
                    <a:solidFill>
                      <a:schemeClr val="accent1"/>
                    </a:solidFill>
                    <a:latin typeface="Times New Roman"/>
                    <a:ea typeface="DFKai-SB"/>
                    <a:cs typeface="Times New Roman"/>
                  </a:rPr>
                  <a:t>93.05%</a:t>
                </a:r>
              </a:p>
            </p:txBody>
          </p:sp>
        </p:grpSp>
        <p:sp>
          <p:nvSpPr>
            <p:cNvPr id="23" name="Rectangle 23"/>
            <p:cNvSpPr/>
            <p:nvPr/>
          </p:nvSpPr>
          <p:spPr>
            <a:xfrm>
              <a:off x="9077325" y="2105025"/>
              <a:ext cx="2505075" cy="3133725"/>
            </a:xfrm>
            <a:prstGeom prst="roundRect">
              <a:avLst>
                <a:gd name="adj" fmla="val 3042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305544" y="2387600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整體準確率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297162" y="3041650"/>
              <a:ext cx="161526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6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98.08%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305925" y="3819525"/>
              <a:ext cx="1112571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17 類分類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7449" y="43719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同一封存測試集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00837" y="5803900"/>
              <a:ext cx="800135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融合相較</a:t>
              </a:r>
              <a:r>
                <a:rPr lang="en-US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PBCNN </a:t>
              </a:r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提升 13.30 個百分點；相較</a:t>
              </a:r>
              <a:r>
                <a:rPr lang="en-US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CTBM </a:t>
              </a:r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提升 0.95 個百分點。</a:t>
              </a:r>
            </a:p>
          </p:txBody>
        </p:sp>
      </p:grpSp>
      <p:grpSp>
        <p:nvGrpSpPr>
          <p:cNvPr id="33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30" name="Line 30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134157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07 / 09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5270688" cy="1082802"/>
            <a:chOff x="593598" y="257175"/>
            <a:chExt cx="5270688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234107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MEASURED RESULTS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527068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案例提供證據，</a:t>
              </a:r>
              <a:r>
                <a:rPr lang="en-US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AI</a:t>
              </a:r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完成分流</a:t>
              </a:r>
            </a:p>
          </p:txBody>
        </p:sp>
      </p:grpSp>
      <p:grpSp>
        <p:nvGrpSpPr>
          <p:cNvPr id="42" name="page-content"/>
          <p:cNvGrpSpPr/>
          <p:nvPr/>
        </p:nvGrpSpPr>
        <p:grpSpPr>
          <a:xfrm>
            <a:off x="609600" y="1809750"/>
            <a:ext cx="10972800" cy="4333875"/>
            <a:chOff x="609600" y="1809750"/>
            <a:chExt cx="10972800" cy="4333875"/>
          </a:xfrm>
        </p:grpSpPr>
        <p:sp>
          <p:nvSpPr>
            <p:cNvPr id="6" name="Rectangle 6"/>
            <p:cNvSpPr/>
            <p:nvPr/>
          </p:nvSpPr>
          <p:spPr>
            <a:xfrm>
              <a:off x="609600" y="1809750"/>
              <a:ext cx="3448050" cy="3514725"/>
            </a:xfrm>
            <a:prstGeom prst="roundRect">
              <a:avLst>
                <a:gd name="adj" fmla="val 221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28675" y="19812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檢索效果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19912" y="2498725"/>
              <a:ext cx="161526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6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97.62%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29056" y="3089275"/>
              <a:ext cx="148419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命中率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21436" y="3651250"/>
              <a:ext cx="148066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93.89%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29056" y="4194175"/>
              <a:ext cx="219821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MRR@5 </a:t>
              </a:r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排序品質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30199" y="4829175"/>
              <a:ext cx="203464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1,550 案例／463 查詢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905375" y="1809750"/>
              <a:ext cx="5867400" cy="666750"/>
            </a:xfrm>
            <a:prstGeom prst="roundRect">
              <a:avLst>
                <a:gd name="adj" fmla="val 11429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129018" y="1987550"/>
              <a:ext cx="3420115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463 筆事件 → 本機</a:t>
              </a:r>
              <a:r>
                <a:rPr lang="en-US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5486400" y="2476500"/>
              <a:ext cx="2352675" cy="723900"/>
            </a:xfrm>
            <a:custGeom>
              <a:avLst/>
              <a:gdLst/>
              <a:ahLst/>
              <a:cxnLst/>
              <a:rect l="l" t="t" r="r" b="b"/>
              <a:pathLst>
                <a:path w="2352675" h="723900">
                  <a:moveTo>
                    <a:pt x="2352675" y="0"/>
                  </a:moveTo>
                  <a:lnTo>
                    <a:pt x="2352675" y="361950"/>
                  </a:lnTo>
                  <a:lnTo>
                    <a:pt x="0" y="361950"/>
                  </a:lnTo>
                  <a:lnTo>
                    <a:pt x="0" y="7239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5438775" y="31337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7839075" y="2838450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7791450" y="31337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7839075" y="2838450"/>
              <a:ext cx="2352675" cy="361950"/>
            </a:xfrm>
            <a:custGeom>
              <a:avLst/>
              <a:gdLst/>
              <a:ahLst/>
              <a:cxnLst/>
              <a:rect l="l" t="t" r="r" b="b"/>
              <a:pathLst>
                <a:path w="2352675" h="361950">
                  <a:moveTo>
                    <a:pt x="0" y="0"/>
                  </a:moveTo>
                  <a:lnTo>
                    <a:pt x="2352675" y="0"/>
                  </a:lnTo>
                  <a:lnTo>
                    <a:pt x="2352675" y="3619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10144125" y="31337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4476750" y="3200400"/>
              <a:ext cx="2019300" cy="1438275"/>
            </a:xfrm>
            <a:prstGeom prst="roundRect">
              <a:avLst>
                <a:gd name="adj" fmla="val 5298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5337572" y="3356372"/>
              <a:ext cx="297656" cy="297656"/>
              <a:chOff x="5337572" y="3356372"/>
              <a:chExt cx="297656" cy="297656"/>
            </a:xfrm>
          </p:grpSpPr>
          <p:sp>
            <p:nvSpPr>
              <p:cNvPr id="22" name="Ellipse 22"/>
              <p:cNvSpPr/>
              <p:nvPr/>
            </p:nvSpPr>
            <p:spPr>
              <a:xfrm>
                <a:off x="5337572" y="3356372"/>
                <a:ext cx="297656" cy="297656"/>
              </a:xfrm>
              <a:prstGeom prst="ellipse">
                <a:avLst/>
              </a:prstGeom>
              <a:solidFill>
                <a:srgbClr val="EAF0F4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23" name="Line 23"/>
              <p:cNvSpPr/>
              <p:nvPr/>
            </p:nvSpPr>
            <p:spPr>
              <a:xfrm>
                <a:off x="5403056" y="3505200"/>
                <a:ext cx="59531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59531">
                    <a:moveTo>
                      <a:pt x="0" y="0"/>
                    </a:moveTo>
                    <a:lnTo>
                      <a:pt x="59531" y="59531"/>
                    </a:lnTo>
                  </a:path>
                </a:pathLst>
              </a:custGeom>
              <a:noFill/>
              <a:ln w="23812" cap="rnd">
                <a:solidFill>
                  <a:schemeClr val="accent1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5462588" y="3439716"/>
                <a:ext cx="113109" cy="125016"/>
              </a:xfrm>
              <a:custGeom>
                <a:avLst/>
                <a:gdLst/>
                <a:ahLst/>
                <a:cxnLst/>
                <a:rect l="l" t="t" r="r" b="b"/>
                <a:pathLst>
                  <a:path w="113109" h="125016">
                    <a:moveTo>
                      <a:pt x="0" y="125016"/>
                    </a:moveTo>
                    <a:lnTo>
                      <a:pt x="113109" y="0"/>
                    </a:lnTo>
                  </a:path>
                </a:pathLst>
              </a:custGeom>
              <a:noFill/>
              <a:ln w="23812" cap="rnd">
                <a:solidFill>
                  <a:schemeClr val="accent1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5160035" y="3730625"/>
              <a:ext cx="652729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92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415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234940" y="4241800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支持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829425" y="3200400"/>
              <a:ext cx="2019300" cy="1438275"/>
            </a:xfrm>
            <a:prstGeom prst="roundRect">
              <a:avLst>
                <a:gd name="adj" fmla="val 5298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7702153" y="3368278"/>
              <a:ext cx="279797" cy="279797"/>
              <a:chOff x="7702153" y="3368278"/>
              <a:chExt cx="279797" cy="279797"/>
            </a:xfrm>
          </p:grpSpPr>
          <p:sp>
            <p:nvSpPr>
              <p:cNvPr id="29" name="Ellipse 29"/>
              <p:cNvSpPr/>
              <p:nvPr/>
            </p:nvSpPr>
            <p:spPr>
              <a:xfrm>
                <a:off x="7702153" y="3368278"/>
                <a:ext cx="202406" cy="202406"/>
              </a:xfrm>
              <a:prstGeom prst="ellipse">
                <a:avLst/>
              </a:prstGeom>
              <a:solidFill>
                <a:schemeClr val="l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7880747" y="3546872"/>
                <a:ext cx="101203" cy="101203"/>
              </a:xfrm>
              <a:custGeom>
                <a:avLst/>
                <a:gdLst/>
                <a:ahLst/>
                <a:cxnLst/>
                <a:rect l="l" t="t" r="r" b="b"/>
                <a:pathLst>
                  <a:path w="101203" h="101203">
                    <a:moveTo>
                      <a:pt x="0" y="0"/>
                    </a:moveTo>
                    <a:lnTo>
                      <a:pt x="101203" y="101203"/>
                    </a:lnTo>
                  </a:path>
                </a:pathLst>
              </a:custGeom>
              <a:noFill/>
              <a:ln w="23812" cap="rnd">
                <a:solidFill>
                  <a:schemeClr val="accent1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7616546" y="3730625"/>
              <a:ext cx="445059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92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13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587615" y="4241800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複核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9182100" y="3200400"/>
              <a:ext cx="2019300" cy="1438275"/>
            </a:xfrm>
            <a:prstGeom prst="roundRect">
              <a:avLst>
                <a:gd name="adj" fmla="val 529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5" name="Ellipse 35"/>
            <p:cNvSpPr/>
            <p:nvPr/>
          </p:nvSpPr>
          <p:spPr>
            <a:xfrm>
              <a:off x="10042922" y="3356372"/>
              <a:ext cx="297656" cy="297656"/>
            </a:xfrm>
            <a:prstGeom prst="ellipse">
              <a:avLst/>
            </a:prstGeom>
            <a:solidFill>
              <a:srgbClr val="EAF0F4"/>
            </a:solidFill>
            <a:ln w="14883">
              <a:solidFill>
                <a:schemeClr val="accent1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0119817" y="3365500"/>
              <a:ext cx="143866" cy="3461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77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?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969221" y="3730625"/>
              <a:ext cx="445059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92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35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819132" y="4241800"/>
              <a:ext cx="7452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不確定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467987" y="4908550"/>
              <a:ext cx="427839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支持精確率 97.11% · 正式分類保持可追溯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09600" y="5562600"/>
              <a:ext cx="10972800" cy="581025"/>
            </a:xfrm>
            <a:prstGeom prst="roundRect">
              <a:avLst>
                <a:gd name="adj" fmla="val 13115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28675" y="5715000"/>
              <a:ext cx="679771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18 / 30 偵測誤判分流至複核或不確定；其餘 12 筆仍獲支持。</a:t>
              </a:r>
            </a:p>
          </p:txBody>
        </p:sp>
      </p:grpSp>
      <p:grpSp>
        <p:nvGrpSpPr>
          <p:cNvPr id="46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43" name="Line 43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134157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08 / 09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5968746" cy="1082802"/>
            <a:chOff x="593598" y="257175"/>
            <a:chExt cx="5968746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3046945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AI SECURITY FRAMEWORK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596874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一套可展示、可查核的資安框架</a:t>
              </a:r>
            </a:p>
          </p:txBody>
        </p:sp>
      </p:grpSp>
      <p:grpSp>
        <p:nvGrpSpPr>
          <p:cNvPr id="48" name="page-content"/>
          <p:cNvGrpSpPr/>
          <p:nvPr/>
        </p:nvGrpSpPr>
        <p:grpSpPr>
          <a:xfrm>
            <a:off x="595884" y="1527175"/>
            <a:ext cx="10986516" cy="4752594"/>
            <a:chOff x="595884" y="1527175"/>
            <a:chExt cx="10986516" cy="4752594"/>
          </a:xfrm>
        </p:grpSpPr>
        <p:sp>
          <p:nvSpPr>
            <p:cNvPr id="6" name="TextBox 6"/>
            <p:cNvSpPr txBox="1"/>
            <p:nvPr/>
          </p:nvSpPr>
          <p:spPr>
            <a:xfrm>
              <a:off x="595884" y="1527175"/>
              <a:ext cx="6569964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7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偵測有依據，稽核有證據，處置可回復。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0960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1710928" y="2951262"/>
              <a:ext cx="369094" cy="498276"/>
              <a:chOff x="1710928" y="2951262"/>
              <a:chExt cx="369094" cy="498276"/>
            </a:xfrm>
          </p:grpSpPr>
          <p:sp>
            <p:nvSpPr>
              <p:cNvPr id="8" name="Rectangle 8"/>
              <p:cNvSpPr/>
              <p:nvPr/>
            </p:nvSpPr>
            <p:spPr>
              <a:xfrm>
                <a:off x="1710928" y="2951262"/>
                <a:ext cx="369094" cy="498277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9227">
                <a:solidFill>
                  <a:schemeClr val="accent1"/>
                </a:solidFill>
              </a:ln>
            </p:spPr>
          </p:sp>
          <p:sp>
            <p:nvSpPr>
              <p:cNvPr id="9" name="Line 9"/>
              <p:cNvSpPr/>
              <p:nvPr/>
            </p:nvSpPr>
            <p:spPr>
              <a:xfrm>
                <a:off x="1793974" y="3071217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7294A9"/>
                </a:solidFill>
              </a:ln>
            </p:spPr>
          </p:sp>
          <p:sp>
            <p:nvSpPr>
              <p:cNvPr id="10" name="Line 10"/>
              <p:cNvSpPr/>
              <p:nvPr/>
            </p:nvSpPr>
            <p:spPr>
              <a:xfrm>
                <a:off x="1793974" y="3172718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7294A9"/>
                </a:solidFill>
              </a:ln>
            </p:spPr>
          </p:sp>
          <p:sp>
            <p:nvSpPr>
              <p:cNvPr id="11" name="Line 11"/>
              <p:cNvSpPr/>
              <p:nvPr/>
            </p:nvSpPr>
            <p:spPr>
              <a:xfrm>
                <a:off x="1793974" y="3274219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7294A9"/>
                </a:solidFill>
              </a:ln>
            </p:spPr>
          </p:sp>
          <p:sp>
            <p:nvSpPr>
              <p:cNvPr id="12" name="Line 12"/>
              <p:cNvSpPr/>
              <p:nvPr/>
            </p:nvSpPr>
            <p:spPr>
              <a:xfrm>
                <a:off x="1793974" y="3375720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7294A9"/>
                </a:solidFill>
              </a:ln>
            </p:spPr>
          </p:sp>
        </p:grpSp>
        <p:sp>
          <p:nvSpPr>
            <p:cNvPr id="14" name="TextBox 14"/>
            <p:cNvSpPr txBox="1"/>
            <p:nvPr/>
          </p:nvSpPr>
          <p:spPr>
            <a:xfrm>
              <a:off x="1341323" y="3578225"/>
              <a:ext cx="1108304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正式判定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350645" y="4041775"/>
              <a:ext cx="10896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17 類＋信心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3181350" y="362902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3343275" y="35814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340995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4465141" y="2969716"/>
              <a:ext cx="479823" cy="479823"/>
              <a:chOff x="4465141" y="2969716"/>
              <a:chExt cx="479823" cy="479823"/>
            </a:xfrm>
          </p:grpSpPr>
          <p:sp>
            <p:nvSpPr>
              <p:cNvPr id="19" name="Ellipse 19"/>
              <p:cNvSpPr/>
              <p:nvPr/>
            </p:nvSpPr>
            <p:spPr>
              <a:xfrm>
                <a:off x="4465141" y="2969716"/>
                <a:ext cx="350639" cy="350639"/>
              </a:xfrm>
              <a:prstGeom prst="ellipse">
                <a:avLst/>
              </a:prstGeom>
              <a:solidFill>
                <a:schemeClr val="lt1"/>
              </a:solidFill>
              <a:ln w="23068">
                <a:solidFill>
                  <a:schemeClr val="accent1"/>
                </a:solidFill>
              </a:ln>
            </p:spPr>
          </p:sp>
          <p:sp>
            <p:nvSpPr>
              <p:cNvPr id="20" name="Line 20"/>
              <p:cNvSpPr/>
              <p:nvPr/>
            </p:nvSpPr>
            <p:spPr>
              <a:xfrm>
                <a:off x="4769644" y="3274219"/>
                <a:ext cx="175320" cy="175320"/>
              </a:xfrm>
              <a:custGeom>
                <a:avLst/>
                <a:gdLst/>
                <a:ahLst/>
                <a:cxnLst/>
                <a:rect l="l" t="t" r="r" b="b"/>
                <a:pathLst>
                  <a:path w="175320" h="175320">
                    <a:moveTo>
                      <a:pt x="0" y="0"/>
                    </a:moveTo>
                    <a:lnTo>
                      <a:pt x="175320" y="175320"/>
                    </a:lnTo>
                  </a:path>
                </a:pathLst>
              </a:custGeom>
              <a:noFill/>
              <a:ln w="46137" cap="rnd">
                <a:solidFill>
                  <a:schemeClr val="accent1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4141673" y="3578225"/>
              <a:ext cx="1108304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檢索證據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976444" y="4041775"/>
              <a:ext cx="14387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訓練案例</a:t>
              </a:r>
            </a:p>
          </p:txBody>
        </p:sp>
        <p:sp>
          <p:nvSpPr>
            <p:cNvPr id="24" name="Freeform 24"/>
            <p:cNvSpPr/>
            <p:nvPr/>
          </p:nvSpPr>
          <p:spPr>
            <a:xfrm>
              <a:off x="5981700" y="362902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6143625" y="35814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21030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7265491" y="2969716"/>
              <a:ext cx="461368" cy="461368"/>
              <a:chOff x="7265491" y="2969716"/>
              <a:chExt cx="461368" cy="461368"/>
            </a:xfrm>
          </p:grpSpPr>
          <p:sp>
            <p:nvSpPr>
              <p:cNvPr id="27" name="Ellipse 27"/>
              <p:cNvSpPr/>
              <p:nvPr/>
            </p:nvSpPr>
            <p:spPr>
              <a:xfrm>
                <a:off x="7265491" y="2969716"/>
                <a:ext cx="461367" cy="461367"/>
              </a:xfrm>
              <a:prstGeom prst="ellipse">
                <a:avLst/>
              </a:prstGeom>
              <a:solidFill>
                <a:srgbClr val="EAF0F4"/>
              </a:solidFill>
              <a:ln w="23068">
                <a:solidFill>
                  <a:schemeClr val="accent1"/>
                </a:solidFill>
              </a:ln>
            </p:spPr>
          </p:sp>
          <p:sp>
            <p:nvSpPr>
              <p:cNvPr id="28" name="Line 28"/>
              <p:cNvSpPr/>
              <p:nvPr/>
            </p:nvSpPr>
            <p:spPr>
              <a:xfrm>
                <a:off x="7366992" y="3200400"/>
                <a:ext cx="92273" cy="92273"/>
              </a:xfrm>
              <a:custGeom>
                <a:avLst/>
                <a:gdLst/>
                <a:ahLst/>
                <a:cxnLst/>
                <a:rect l="l" t="t" r="r" b="b"/>
                <a:pathLst>
                  <a:path w="92273" h="92273">
                    <a:moveTo>
                      <a:pt x="0" y="0"/>
                    </a:moveTo>
                    <a:lnTo>
                      <a:pt x="92273" y="92273"/>
                    </a:lnTo>
                  </a:path>
                </a:pathLst>
              </a:custGeom>
              <a:noFill/>
              <a:ln w="36909" cap="rnd">
                <a:solidFill>
                  <a:schemeClr val="accent1"/>
                </a:solidFill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7459266" y="3098899"/>
                <a:ext cx="175320" cy="193774"/>
              </a:xfrm>
              <a:custGeom>
                <a:avLst/>
                <a:gdLst/>
                <a:ahLst/>
                <a:cxnLst/>
                <a:rect l="l" t="t" r="r" b="b"/>
                <a:pathLst>
                  <a:path w="175320" h="193774">
                    <a:moveTo>
                      <a:pt x="0" y="193774"/>
                    </a:moveTo>
                    <a:lnTo>
                      <a:pt x="175320" y="0"/>
                    </a:lnTo>
                  </a:path>
                </a:pathLst>
              </a:custGeom>
              <a:noFill/>
              <a:ln w="36909" cap="rnd">
                <a:solidFill>
                  <a:schemeClr val="accent1"/>
                </a:solidFill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6942023" y="3578225"/>
              <a:ext cx="1108304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稽核結論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579870" y="404177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支持／複核／不確定</a:t>
              </a:r>
            </a:p>
          </p:txBody>
        </p:sp>
        <p:sp>
          <p:nvSpPr>
            <p:cNvPr id="33" name="Freeform 33"/>
            <p:cNvSpPr/>
            <p:nvPr/>
          </p:nvSpPr>
          <p:spPr>
            <a:xfrm>
              <a:off x="8782050" y="362902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8943975" y="35814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901065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10065841" y="2942034"/>
              <a:ext cx="461368" cy="516732"/>
              <a:chOff x="10065841" y="2942034"/>
              <a:chExt cx="461368" cy="516732"/>
            </a:xfrm>
          </p:grpSpPr>
          <p:sp>
            <p:nvSpPr>
              <p:cNvPr id="36" name="Ellipse 36"/>
              <p:cNvSpPr/>
              <p:nvPr/>
            </p:nvSpPr>
            <p:spPr>
              <a:xfrm>
                <a:off x="10065841" y="2969716"/>
                <a:ext cx="461367" cy="461367"/>
              </a:xfrm>
              <a:prstGeom prst="ellipse">
                <a:avLst/>
              </a:prstGeom>
              <a:solidFill>
                <a:schemeClr val="lt1"/>
              </a:solidFill>
              <a:ln w="23068">
                <a:solidFill>
                  <a:schemeClr val="accent1"/>
                </a:solidFill>
              </a:ln>
            </p:spPr>
          </p:sp>
          <p:sp>
            <p:nvSpPr>
              <p:cNvPr id="37" name="Line 37"/>
              <p:cNvSpPr/>
              <p:nvPr/>
            </p:nvSpPr>
            <p:spPr>
              <a:xfrm>
                <a:off x="10296525" y="3034308"/>
                <a:ext cx="9525" cy="16609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66092">
                    <a:moveTo>
                      <a:pt x="0" y="166092"/>
                    </a:moveTo>
                    <a:lnTo>
                      <a:pt x="0" y="0"/>
                    </a:lnTo>
                  </a:path>
                </a:pathLst>
              </a:custGeom>
              <a:noFill/>
              <a:ln w="23068" cap="rnd">
                <a:solidFill>
                  <a:schemeClr val="accent1"/>
                </a:solidFill>
              </a:ln>
            </p:spPr>
          </p:sp>
          <p:sp>
            <p:nvSpPr>
              <p:cNvPr id="38" name="Line 38"/>
              <p:cNvSpPr/>
              <p:nvPr/>
            </p:nvSpPr>
            <p:spPr>
              <a:xfrm>
                <a:off x="10296525" y="3200400"/>
                <a:ext cx="129183" cy="64591"/>
              </a:xfrm>
              <a:custGeom>
                <a:avLst/>
                <a:gdLst/>
                <a:ahLst/>
                <a:cxnLst/>
                <a:rect l="l" t="t" r="r" b="b"/>
                <a:pathLst>
                  <a:path w="129183" h="64591">
                    <a:moveTo>
                      <a:pt x="0" y="0"/>
                    </a:moveTo>
                    <a:lnTo>
                      <a:pt x="129183" y="64591"/>
                    </a:lnTo>
                  </a:path>
                </a:pathLst>
              </a:custGeom>
              <a:noFill/>
              <a:ln w="23068" cap="rnd">
                <a:solidFill>
                  <a:schemeClr val="accent1"/>
                </a:solidFill>
              </a:ln>
            </p:spPr>
          </p:sp>
          <p:sp>
            <p:nvSpPr>
              <p:cNvPr id="39" name="Line 39"/>
              <p:cNvSpPr/>
              <p:nvPr/>
            </p:nvSpPr>
            <p:spPr>
              <a:xfrm>
                <a:off x="10296525" y="2942034"/>
                <a:ext cx="9525" cy="4613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6137">
                    <a:moveTo>
                      <a:pt x="0" y="0"/>
                    </a:moveTo>
                    <a:lnTo>
                      <a:pt x="0" y="46137"/>
                    </a:lnTo>
                  </a:path>
                </a:pathLst>
              </a:custGeom>
              <a:noFill/>
              <a:ln w="23068" cap="rnd">
                <a:solidFill>
                  <a:schemeClr val="accent1"/>
                </a:solidFill>
              </a:ln>
            </p:spPr>
          </p:sp>
          <p:sp>
            <p:nvSpPr>
              <p:cNvPr id="40" name="Line 40"/>
              <p:cNvSpPr/>
              <p:nvPr/>
            </p:nvSpPr>
            <p:spPr>
              <a:xfrm>
                <a:off x="10296525" y="3412629"/>
                <a:ext cx="9525" cy="4613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6137">
                    <a:moveTo>
                      <a:pt x="0" y="0"/>
                    </a:moveTo>
                    <a:lnTo>
                      <a:pt x="0" y="46137"/>
                    </a:lnTo>
                  </a:path>
                </a:pathLst>
              </a:custGeom>
              <a:noFill/>
              <a:ln w="23068" cap="rnd">
                <a:solidFill>
                  <a:schemeClr val="accent1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9742373" y="3578225"/>
              <a:ext cx="1108304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處置回條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582150" y="404177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讀回＋到期回復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09600" y="4781550"/>
              <a:ext cx="10972800" cy="533400"/>
            </a:xfrm>
            <a:prstGeom prst="roundRect">
              <a:avLst>
                <a:gd name="adj" fmla="val 14286"/>
              </a:avLst>
            </a:prstGeom>
            <a:solidFill>
              <a:srgbClr val="FFF4DD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3109951" y="4902200"/>
              <a:ext cx="597209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同一事件</a:t>
              </a:r>
              <a:r>
                <a:rPr lang="en-US" sz="19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 ID</a:t>
              </a:r>
              <a:r>
                <a:rPr lang="zh-TW" sz="19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，串起分類、證據、判斷與回復紀錄。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99694" y="5511800"/>
              <a:ext cx="526682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17 類真實張量重跑 · 6 種隔離</a:t>
              </a:r>
              <a:r>
                <a:rPr lang="en-US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TCP </a:t>
              </a:r>
              <a:r>
                <a:rPr lang="zh-TW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情境驗證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00456" y="5927725"/>
              <a:ext cx="244144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感謝聆聽，敬請指教。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49" name="Line 49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134157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09 / 09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4272534" cy="1082802"/>
            <a:chOff x="593598" y="257175"/>
            <a:chExt cx="4272534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158526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JUDGES · Q&amp;A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427253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答詢圖解｜創新與整合</a:t>
              </a:r>
            </a:p>
          </p:txBody>
        </p:sp>
      </p:grpSp>
      <p:grpSp>
        <p:nvGrpSpPr>
          <p:cNvPr id="79" name="page-content"/>
          <p:cNvGrpSpPr/>
          <p:nvPr/>
        </p:nvGrpSpPr>
        <p:grpSpPr>
          <a:xfrm>
            <a:off x="609600" y="1571625"/>
            <a:ext cx="10972800" cy="4419600"/>
            <a:chOff x="609600" y="1571625"/>
            <a:chExt cx="10972800" cy="4419600"/>
          </a:xfrm>
        </p:grpSpPr>
        <p:sp>
          <p:nvSpPr>
            <p:cNvPr id="6" name="Rectangle 6"/>
            <p:cNvSpPr/>
            <p:nvPr/>
          </p:nvSpPr>
          <p:spPr>
            <a:xfrm>
              <a:off x="609600" y="15716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9277350" y="15716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29056" y="1736725"/>
              <a:ext cx="4155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Q1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61694" y="1711325"/>
              <a:ext cx="586686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創新在哪裡？與一般</a:t>
              </a:r>
              <a:r>
                <a:rPr lang="en-US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IDS </a:t>
              </a:r>
              <a:r>
                <a:rPr lang="zh-TW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加上</a:t>
              </a:r>
              <a:r>
                <a:rPr lang="en-US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RAG </a:t>
              </a:r>
              <a:r>
                <a:rPr lang="zh-TW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有何不同？</a:t>
              </a:r>
            </a:p>
          </p:txBody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33500" y="2200275"/>
              <a:ext cx="800100" cy="800100"/>
            </a:xfrm>
            <a:prstGeom prst="rect">
              <a:avLst/>
            </a:prstGeom>
          </p:spPr>
        </p:pic>
        <p:sp>
          <p:nvSpPr>
            <p:cNvPr id="11" name="TextBox 11"/>
            <p:cNvSpPr txBox="1"/>
            <p:nvPr/>
          </p:nvSpPr>
          <p:spPr>
            <a:xfrm>
              <a:off x="1280922" y="3054350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互補判定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2257425" y="2600325"/>
              <a:ext cx="933450" cy="9525"/>
            </a:xfrm>
            <a:custGeom>
              <a:avLst/>
              <a:gdLst/>
              <a:ahLst/>
              <a:cxnLst/>
              <a:rect l="l" t="t" r="r" b="b"/>
              <a:pathLst>
                <a:path w="933450" h="9525">
                  <a:moveTo>
                    <a:pt x="0" y="0"/>
                  </a:moveTo>
                  <a:lnTo>
                    <a:pt x="9334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3124200" y="25527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pic>
          <p:nvPicPr>
            <p:cNvPr id="14" name="Image 1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33750" y="2200275"/>
              <a:ext cx="800100" cy="800100"/>
            </a:xfrm>
            <a:prstGeom prst="rect">
              <a:avLst/>
            </a:prstGeom>
          </p:spPr>
        </p:pic>
        <p:sp>
          <p:nvSpPr>
            <p:cNvPr id="15" name="TextBox 15"/>
            <p:cNvSpPr txBox="1"/>
            <p:nvPr/>
          </p:nvSpPr>
          <p:spPr>
            <a:xfrm>
              <a:off x="3186874" y="3054350"/>
              <a:ext cx="109385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529 維檢索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4257675" y="2600325"/>
              <a:ext cx="933450" cy="9525"/>
            </a:xfrm>
            <a:custGeom>
              <a:avLst/>
              <a:gdLst/>
              <a:ahLst/>
              <a:cxnLst/>
              <a:rect l="l" t="t" r="r" b="b"/>
              <a:pathLst>
                <a:path w="933450" h="9525">
                  <a:moveTo>
                    <a:pt x="0" y="0"/>
                  </a:moveTo>
                  <a:lnTo>
                    <a:pt x="9334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5124450" y="25527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5469017" y="2256532"/>
              <a:ext cx="450056" cy="607576"/>
              <a:chOff x="5469017" y="2256532"/>
              <a:chExt cx="450056" cy="607576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5469017" y="2256532"/>
                <a:ext cx="450056" cy="607576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11251">
                <a:solidFill>
                  <a:schemeClr val="accent1"/>
                </a:solidFill>
              </a:ln>
            </p:spPr>
          </p:sp>
          <p:sp>
            <p:nvSpPr>
              <p:cNvPr id="19" name="Line 19"/>
              <p:cNvSpPr/>
              <p:nvPr/>
            </p:nvSpPr>
            <p:spPr>
              <a:xfrm>
                <a:off x="5570280" y="2402800"/>
                <a:ext cx="25878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8782" h="9525">
                    <a:moveTo>
                      <a:pt x="0" y="0"/>
                    </a:moveTo>
                    <a:lnTo>
                      <a:pt x="258782" y="0"/>
                    </a:lnTo>
                  </a:path>
                </a:pathLst>
              </a:custGeom>
              <a:noFill/>
              <a:ln w="22503" cap="rnd">
                <a:solidFill>
                  <a:srgbClr val="7294A9"/>
                </a:solidFill>
              </a:ln>
            </p:spPr>
          </p:sp>
          <p:sp>
            <p:nvSpPr>
              <p:cNvPr id="20" name="Line 20"/>
              <p:cNvSpPr/>
              <p:nvPr/>
            </p:nvSpPr>
            <p:spPr>
              <a:xfrm>
                <a:off x="5570280" y="2526566"/>
                <a:ext cx="25878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8782" h="9525">
                    <a:moveTo>
                      <a:pt x="0" y="0"/>
                    </a:moveTo>
                    <a:lnTo>
                      <a:pt x="258782" y="0"/>
                    </a:lnTo>
                  </a:path>
                </a:pathLst>
              </a:custGeom>
              <a:noFill/>
              <a:ln w="22503" cap="rnd">
                <a:solidFill>
                  <a:srgbClr val="7294A9"/>
                </a:solidFill>
              </a:ln>
            </p:spPr>
          </p:sp>
          <p:sp>
            <p:nvSpPr>
              <p:cNvPr id="21" name="Line 21"/>
              <p:cNvSpPr/>
              <p:nvPr/>
            </p:nvSpPr>
            <p:spPr>
              <a:xfrm>
                <a:off x="5570280" y="2650331"/>
                <a:ext cx="25878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8782" h="9525">
                    <a:moveTo>
                      <a:pt x="0" y="0"/>
                    </a:moveTo>
                    <a:lnTo>
                      <a:pt x="258782" y="0"/>
                    </a:lnTo>
                  </a:path>
                </a:pathLst>
              </a:custGeom>
              <a:noFill/>
              <a:ln w="22503" cap="rnd">
                <a:solidFill>
                  <a:srgbClr val="7294A9"/>
                </a:solidFill>
              </a:ln>
            </p:spPr>
          </p:sp>
          <p:sp>
            <p:nvSpPr>
              <p:cNvPr id="22" name="Line 22"/>
              <p:cNvSpPr/>
              <p:nvPr/>
            </p:nvSpPr>
            <p:spPr>
              <a:xfrm>
                <a:off x="5570280" y="2774097"/>
                <a:ext cx="25878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8782" h="9525">
                    <a:moveTo>
                      <a:pt x="0" y="0"/>
                    </a:moveTo>
                    <a:lnTo>
                      <a:pt x="258782" y="0"/>
                    </a:lnTo>
                  </a:path>
                </a:pathLst>
              </a:custGeom>
              <a:noFill/>
              <a:ln w="22503" cap="rnd">
                <a:solidFill>
                  <a:srgbClr val="7294A9"/>
                </a:solidFill>
              </a:ln>
            </p:spPr>
          </p:sp>
        </p:grpSp>
        <p:grpSp>
          <p:nvGrpSpPr>
            <p:cNvPr id="27" name="Group 27"/>
            <p:cNvGrpSpPr/>
            <p:nvPr/>
          </p:nvGrpSpPr>
          <p:grpSpPr>
            <a:xfrm>
              <a:off x="5817060" y="2683335"/>
              <a:ext cx="250032" cy="250032"/>
              <a:chOff x="5817060" y="2683335"/>
              <a:chExt cx="250032" cy="250032"/>
            </a:xfrm>
          </p:grpSpPr>
          <p:sp>
            <p:nvSpPr>
              <p:cNvPr id="24" name="Ellipse 24"/>
              <p:cNvSpPr/>
              <p:nvPr/>
            </p:nvSpPr>
            <p:spPr>
              <a:xfrm>
                <a:off x="5817060" y="2683335"/>
                <a:ext cx="250031" cy="250031"/>
              </a:xfrm>
              <a:prstGeom prst="ellipse">
                <a:avLst/>
              </a:prstGeom>
              <a:solidFill>
                <a:srgbClr val="EAF0F4"/>
              </a:solidFill>
              <a:ln w="12502">
                <a:solidFill>
                  <a:schemeClr val="accent1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5872067" y="2808351"/>
                <a:ext cx="50006" cy="50006"/>
              </a:xfrm>
              <a:custGeom>
                <a:avLst/>
                <a:gdLst/>
                <a:ahLst/>
                <a:cxnLst/>
                <a:rect l="l" t="t" r="r" b="b"/>
                <a:pathLst>
                  <a:path w="50006" h="50006">
                    <a:moveTo>
                      <a:pt x="0" y="0"/>
                    </a:moveTo>
                    <a:lnTo>
                      <a:pt x="50006" y="50006"/>
                    </a:lnTo>
                  </a:path>
                </a:pathLst>
              </a:custGeom>
              <a:noFill/>
              <a:ln w="20002" cap="rnd">
                <a:solidFill>
                  <a:schemeClr val="accent1"/>
                </a:solidFill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5922074" y="2753344"/>
                <a:ext cx="95012" cy="105013"/>
              </a:xfrm>
              <a:custGeom>
                <a:avLst/>
                <a:gdLst/>
                <a:ahLst/>
                <a:cxnLst/>
                <a:rect l="l" t="t" r="r" b="b"/>
                <a:pathLst>
                  <a:path w="95012" h="105013">
                    <a:moveTo>
                      <a:pt x="0" y="105013"/>
                    </a:moveTo>
                    <a:lnTo>
                      <a:pt x="95012" y="0"/>
                    </a:lnTo>
                  </a:path>
                </a:pathLst>
              </a:custGeom>
              <a:noFill/>
              <a:ln w="20002" cap="rnd">
                <a:solidFill>
                  <a:schemeClr val="accent1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5317562" y="3054350"/>
              <a:ext cx="83297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29" name="Freeform 29"/>
            <p:cNvSpPr/>
            <p:nvPr/>
          </p:nvSpPr>
          <p:spPr>
            <a:xfrm>
              <a:off x="6257925" y="2600325"/>
              <a:ext cx="933450" cy="9525"/>
            </a:xfrm>
            <a:custGeom>
              <a:avLst/>
              <a:gdLst/>
              <a:ahLst/>
              <a:cxnLst/>
              <a:rect l="l" t="t" r="r" b="b"/>
              <a:pathLst>
                <a:path w="933450" h="9525">
                  <a:moveTo>
                    <a:pt x="0" y="0"/>
                  </a:moveTo>
                  <a:lnTo>
                    <a:pt x="9334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7124700" y="25527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pic>
          <p:nvPicPr>
            <p:cNvPr id="31" name="Image 31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334250" y="2200275"/>
              <a:ext cx="800100" cy="800100"/>
            </a:xfrm>
            <a:prstGeom prst="rect">
              <a:avLst/>
            </a:prstGeom>
          </p:spPr>
        </p:pic>
        <p:sp>
          <p:nvSpPr>
            <p:cNvPr id="32" name="TextBox 32"/>
            <p:cNvSpPr txBox="1"/>
            <p:nvPr/>
          </p:nvSpPr>
          <p:spPr>
            <a:xfrm>
              <a:off x="7170611" y="3054350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策略與回復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30580" y="3336925"/>
              <a:ext cx="400543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正式分類保留 · 稽核證據可追溯 · 策略可回復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868852" y="2152650"/>
              <a:ext cx="112204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529 維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571076" y="2781300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任務導向證據向量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09600" y="38957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9277350" y="38957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29056" y="4060825"/>
              <a:ext cx="4155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Q2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361694" y="4035425"/>
              <a:ext cx="500748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如何證明前段判斷與後段處置已經串起來？</a:t>
              </a:r>
            </a:p>
          </p:txBody>
        </p:sp>
        <p:grpSp>
          <p:nvGrpSpPr>
            <p:cNvPr id="45" name="Group 45"/>
            <p:cNvGrpSpPr/>
            <p:nvPr/>
          </p:nvGrpSpPr>
          <p:grpSpPr>
            <a:xfrm>
              <a:off x="1586508" y="4571851"/>
              <a:ext cx="303609" cy="409873"/>
              <a:chOff x="1586508" y="4571851"/>
              <a:chExt cx="303609" cy="409873"/>
            </a:xfrm>
          </p:grpSpPr>
          <p:sp>
            <p:nvSpPr>
              <p:cNvPr id="40" name="Rectangle 40"/>
              <p:cNvSpPr/>
              <p:nvPr/>
            </p:nvSpPr>
            <p:spPr>
              <a:xfrm>
                <a:off x="1586508" y="4571851"/>
                <a:ext cx="303609" cy="409873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7590">
                <a:solidFill>
                  <a:schemeClr val="accent1"/>
                </a:solidFill>
              </a:ln>
            </p:spPr>
          </p:sp>
          <p:sp>
            <p:nvSpPr>
              <p:cNvPr id="41" name="Line 41"/>
              <p:cNvSpPr/>
              <p:nvPr/>
            </p:nvSpPr>
            <p:spPr>
              <a:xfrm>
                <a:off x="1654820" y="4670524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42" name="Line 42"/>
              <p:cNvSpPr/>
              <p:nvPr/>
            </p:nvSpPr>
            <p:spPr>
              <a:xfrm>
                <a:off x="1654820" y="4754017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43" name="Line 43"/>
              <p:cNvSpPr/>
              <p:nvPr/>
            </p:nvSpPr>
            <p:spPr>
              <a:xfrm>
                <a:off x="1654820" y="4837509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44" name="Line 44"/>
              <p:cNvSpPr/>
              <p:nvPr/>
            </p:nvSpPr>
            <p:spPr>
              <a:xfrm>
                <a:off x="1654820" y="4921002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1300150" y="50387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正式類別</a:t>
              </a:r>
            </a:p>
          </p:txBody>
        </p:sp>
        <p:sp>
          <p:nvSpPr>
            <p:cNvPr id="47" name="Freeform 47"/>
            <p:cNvSpPr/>
            <p:nvPr/>
          </p:nvSpPr>
          <p:spPr>
            <a:xfrm>
              <a:off x="2047875" y="4810125"/>
              <a:ext cx="1381125" cy="9525"/>
            </a:xfrm>
            <a:custGeom>
              <a:avLst/>
              <a:gdLst/>
              <a:ahLst/>
              <a:cxnLst/>
              <a:rect l="l" t="t" r="r" b="b"/>
              <a:pathLst>
                <a:path w="1381125" h="9525">
                  <a:moveTo>
                    <a:pt x="0" y="0"/>
                  </a:moveTo>
                  <a:lnTo>
                    <a:pt x="1381125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8" name="Freeform 48"/>
            <p:cNvSpPr/>
            <p:nvPr/>
          </p:nvSpPr>
          <p:spPr>
            <a:xfrm>
              <a:off x="3362325" y="47625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3586758" y="4571851"/>
              <a:ext cx="303609" cy="409873"/>
              <a:chOff x="3586758" y="4571851"/>
              <a:chExt cx="303609" cy="409873"/>
            </a:xfrm>
          </p:grpSpPr>
          <p:sp>
            <p:nvSpPr>
              <p:cNvPr id="49" name="Rectangle 49"/>
              <p:cNvSpPr/>
              <p:nvPr/>
            </p:nvSpPr>
            <p:spPr>
              <a:xfrm>
                <a:off x="3586758" y="4571851"/>
                <a:ext cx="303609" cy="409873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7590">
                <a:solidFill>
                  <a:schemeClr val="accent1"/>
                </a:solidFill>
              </a:ln>
            </p:spPr>
          </p:sp>
          <p:sp>
            <p:nvSpPr>
              <p:cNvPr id="50" name="Line 50"/>
              <p:cNvSpPr/>
              <p:nvPr/>
            </p:nvSpPr>
            <p:spPr>
              <a:xfrm>
                <a:off x="3655070" y="4670524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51" name="Line 51"/>
              <p:cNvSpPr/>
              <p:nvPr/>
            </p:nvSpPr>
            <p:spPr>
              <a:xfrm>
                <a:off x="3655070" y="4754017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52" name="Line 52"/>
              <p:cNvSpPr/>
              <p:nvPr/>
            </p:nvSpPr>
            <p:spPr>
              <a:xfrm>
                <a:off x="3655070" y="4837509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53" name="Line 53"/>
              <p:cNvSpPr/>
              <p:nvPr/>
            </p:nvSpPr>
            <p:spPr>
              <a:xfrm>
                <a:off x="3655070" y="4921002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3188777" y="5038725"/>
              <a:ext cx="109004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案例</a:t>
              </a:r>
            </a:p>
          </p:txBody>
        </p:sp>
        <p:sp>
          <p:nvSpPr>
            <p:cNvPr id="56" name="Freeform 56"/>
            <p:cNvSpPr/>
            <p:nvPr/>
          </p:nvSpPr>
          <p:spPr>
            <a:xfrm>
              <a:off x="4048125" y="4810125"/>
              <a:ext cx="1381125" cy="9525"/>
            </a:xfrm>
            <a:custGeom>
              <a:avLst/>
              <a:gdLst/>
              <a:ahLst/>
              <a:cxnLst/>
              <a:rect l="l" t="t" r="r" b="b"/>
              <a:pathLst>
                <a:path w="1381125" h="9525">
                  <a:moveTo>
                    <a:pt x="0" y="0"/>
                  </a:moveTo>
                  <a:lnTo>
                    <a:pt x="1381125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7" name="Freeform 57"/>
            <p:cNvSpPr/>
            <p:nvPr/>
          </p:nvSpPr>
          <p:spPr>
            <a:xfrm>
              <a:off x="5362575" y="47625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5587008" y="4571851"/>
              <a:ext cx="303609" cy="409873"/>
              <a:chOff x="5587008" y="4571851"/>
              <a:chExt cx="303609" cy="409873"/>
            </a:xfrm>
          </p:grpSpPr>
          <p:sp>
            <p:nvSpPr>
              <p:cNvPr id="58" name="Rectangle 58"/>
              <p:cNvSpPr/>
              <p:nvPr/>
            </p:nvSpPr>
            <p:spPr>
              <a:xfrm>
                <a:off x="5587008" y="4571851"/>
                <a:ext cx="303609" cy="409873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7590">
                <a:solidFill>
                  <a:schemeClr val="accent1"/>
                </a:solidFill>
              </a:ln>
            </p:spPr>
          </p:sp>
          <p:sp>
            <p:nvSpPr>
              <p:cNvPr id="59" name="Line 59"/>
              <p:cNvSpPr/>
              <p:nvPr/>
            </p:nvSpPr>
            <p:spPr>
              <a:xfrm>
                <a:off x="5655320" y="4670524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60" name="Line 60"/>
              <p:cNvSpPr/>
              <p:nvPr/>
            </p:nvSpPr>
            <p:spPr>
              <a:xfrm>
                <a:off x="5655320" y="4754017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61" name="Line 61"/>
              <p:cNvSpPr/>
              <p:nvPr/>
            </p:nvSpPr>
            <p:spPr>
              <a:xfrm>
                <a:off x="5655320" y="4837509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62" name="Line 62"/>
              <p:cNvSpPr/>
              <p:nvPr/>
            </p:nvSpPr>
            <p:spPr>
              <a:xfrm>
                <a:off x="5655320" y="4921002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5300650" y="50387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稽核結論</a:t>
              </a:r>
            </a:p>
          </p:txBody>
        </p:sp>
        <p:sp>
          <p:nvSpPr>
            <p:cNvPr id="65" name="Freeform 65"/>
            <p:cNvSpPr/>
            <p:nvPr/>
          </p:nvSpPr>
          <p:spPr>
            <a:xfrm>
              <a:off x="6048375" y="4810125"/>
              <a:ext cx="1381125" cy="9525"/>
            </a:xfrm>
            <a:custGeom>
              <a:avLst/>
              <a:gdLst/>
              <a:ahLst/>
              <a:cxnLst/>
              <a:rect l="l" t="t" r="r" b="b"/>
              <a:pathLst>
                <a:path w="1381125" h="9525">
                  <a:moveTo>
                    <a:pt x="0" y="0"/>
                  </a:moveTo>
                  <a:lnTo>
                    <a:pt x="1381125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66" name="Freeform 66"/>
            <p:cNvSpPr/>
            <p:nvPr/>
          </p:nvSpPr>
          <p:spPr>
            <a:xfrm>
              <a:off x="7362825" y="47625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grpSp>
          <p:nvGrpSpPr>
            <p:cNvPr id="72" name="Group 72"/>
            <p:cNvGrpSpPr/>
            <p:nvPr/>
          </p:nvGrpSpPr>
          <p:grpSpPr>
            <a:xfrm>
              <a:off x="7587258" y="4571851"/>
              <a:ext cx="303609" cy="409873"/>
              <a:chOff x="7587258" y="4571851"/>
              <a:chExt cx="303609" cy="409873"/>
            </a:xfrm>
          </p:grpSpPr>
          <p:sp>
            <p:nvSpPr>
              <p:cNvPr id="67" name="Rectangle 67"/>
              <p:cNvSpPr/>
              <p:nvPr/>
            </p:nvSpPr>
            <p:spPr>
              <a:xfrm>
                <a:off x="7587258" y="4571851"/>
                <a:ext cx="303609" cy="409873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7590">
                <a:solidFill>
                  <a:schemeClr val="accent1"/>
                </a:solidFill>
              </a:ln>
            </p:spPr>
          </p:sp>
          <p:sp>
            <p:nvSpPr>
              <p:cNvPr id="68" name="Line 68"/>
              <p:cNvSpPr/>
              <p:nvPr/>
            </p:nvSpPr>
            <p:spPr>
              <a:xfrm>
                <a:off x="7655570" y="4670524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69" name="Line 69"/>
              <p:cNvSpPr/>
              <p:nvPr/>
            </p:nvSpPr>
            <p:spPr>
              <a:xfrm>
                <a:off x="7655570" y="4754017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70" name="Line 70"/>
              <p:cNvSpPr/>
              <p:nvPr/>
            </p:nvSpPr>
            <p:spPr>
              <a:xfrm>
                <a:off x="7655570" y="4837509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71" name="Line 71"/>
              <p:cNvSpPr/>
              <p:nvPr/>
            </p:nvSpPr>
            <p:spPr>
              <a:xfrm>
                <a:off x="7655570" y="4921002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</p:grpSp>
        <p:sp>
          <p:nvSpPr>
            <p:cNvPr id="73" name="TextBox 73"/>
            <p:cNvSpPr txBox="1"/>
            <p:nvPr/>
          </p:nvSpPr>
          <p:spPr>
            <a:xfrm>
              <a:off x="7300900" y="50387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處置回條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838200" y="5334000"/>
              <a:ext cx="7791450" cy="295275"/>
            </a:xfrm>
            <a:prstGeom prst="roundRect">
              <a:avLst>
                <a:gd name="adj" fmla="val 19355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3042756" y="5349875"/>
              <a:ext cx="338233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同一</a:t>
              </a:r>
              <a:r>
                <a:rPr lang="en-US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event_id </a:t>
              </a:r>
              <a:r>
                <a:rPr lang="zh-TW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＋ 同次</a:t>
              </a:r>
              <a:r>
                <a:rPr lang="en-US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execution_id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830580" y="5661025"/>
              <a:ext cx="432387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分類、</a:t>
              </a:r>
              <a:r>
                <a:rPr lang="en-US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Top-5</a:t>
              </a:r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、</a:t>
              </a:r>
              <a:r>
                <a:rPr lang="en-US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Judge</a:t>
              </a:r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、策略與回條綁定同一事件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9710486" y="4476750"/>
              <a:ext cx="1438777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同一</a:t>
              </a:r>
              <a:r>
                <a:rPr lang="en-US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ID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9571076" y="5105400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事件與執行可追溯</a:t>
              </a:r>
            </a:p>
          </p:txBody>
        </p:sp>
      </p:grpSp>
      <p:grpSp>
        <p:nvGrpSpPr>
          <p:cNvPr id="83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80" name="Line 80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81" name="TextBox 81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0650541" y="6451600"/>
              <a:ext cx="937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答詢備用 1 / 3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4272534" cy="1082802"/>
            <a:chOff x="593598" y="257175"/>
            <a:chExt cx="4272534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158526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JUDGES · Q&amp;A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427253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答詢圖解｜評估與誤判</a:t>
              </a:r>
            </a:p>
          </p:txBody>
        </p:sp>
      </p:grpSp>
      <p:grpSp>
        <p:nvGrpSpPr>
          <p:cNvPr id="55" name="page-content"/>
          <p:cNvGrpSpPr/>
          <p:nvPr/>
        </p:nvGrpSpPr>
        <p:grpSpPr>
          <a:xfrm>
            <a:off x="609600" y="1571625"/>
            <a:ext cx="10972800" cy="4419600"/>
            <a:chOff x="609600" y="1571625"/>
            <a:chExt cx="10972800" cy="4419600"/>
          </a:xfrm>
        </p:grpSpPr>
        <p:sp>
          <p:nvSpPr>
            <p:cNvPr id="6" name="Rectangle 6"/>
            <p:cNvSpPr/>
            <p:nvPr/>
          </p:nvSpPr>
          <p:spPr>
            <a:xfrm>
              <a:off x="609600" y="15716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9277350" y="15716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29056" y="1736725"/>
              <a:ext cx="4155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Q3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61694" y="1711325"/>
              <a:ext cx="553250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評估資料如何切分？案例庫是否洩漏測試答案？</a:t>
              </a:r>
            </a:p>
          </p:txBody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38300" y="2257425"/>
              <a:ext cx="704850" cy="704850"/>
            </a:xfrm>
            <a:prstGeom prst="rect">
              <a:avLst/>
            </a:prstGeom>
          </p:spPr>
        </p:pic>
        <p:sp>
          <p:nvSpPr>
            <p:cNvPr id="11" name="TextBox 11"/>
            <p:cNvSpPr txBox="1"/>
            <p:nvPr/>
          </p:nvSpPr>
          <p:spPr>
            <a:xfrm>
              <a:off x="1213053" y="2889250"/>
              <a:ext cx="15553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訓練案例 1,550</a:t>
              </a:r>
            </a:p>
          </p:txBody>
        </p:sp>
        <p:grpSp>
          <p:nvGrpSpPr>
            <p:cNvPr id="14" name="Group 14"/>
            <p:cNvGrpSpPr/>
            <p:nvPr/>
          </p:nvGrpSpPr>
          <p:grpSpPr>
            <a:xfrm>
              <a:off x="4595217" y="2318742"/>
              <a:ext cx="526257" cy="526256"/>
              <a:chOff x="4595217" y="2318742"/>
              <a:chExt cx="526257" cy="526256"/>
            </a:xfrm>
          </p:grpSpPr>
          <p:sp>
            <p:nvSpPr>
              <p:cNvPr id="12" name="Ellipse 12"/>
              <p:cNvSpPr/>
              <p:nvPr/>
            </p:nvSpPr>
            <p:spPr>
              <a:xfrm>
                <a:off x="4595217" y="2318742"/>
                <a:ext cx="384572" cy="384572"/>
              </a:xfrm>
              <a:prstGeom prst="ellipse">
                <a:avLst/>
              </a:prstGeom>
              <a:solidFill>
                <a:schemeClr val="lt1"/>
              </a:solidFill>
              <a:ln w="25301">
                <a:solidFill>
                  <a:schemeClr val="accent1"/>
                </a:solidFill>
              </a:ln>
            </p:spPr>
          </p:sp>
          <p:sp>
            <p:nvSpPr>
              <p:cNvPr id="13" name="Line 13"/>
              <p:cNvSpPr/>
              <p:nvPr/>
            </p:nvSpPr>
            <p:spPr>
              <a:xfrm>
                <a:off x="4929188" y="2652712"/>
                <a:ext cx="192286" cy="192286"/>
              </a:xfrm>
              <a:custGeom>
                <a:avLst/>
                <a:gdLst/>
                <a:ahLst/>
                <a:cxnLst/>
                <a:rect l="l" t="t" r="r" b="b"/>
                <a:pathLst>
                  <a:path w="192286" h="192286">
                    <a:moveTo>
                      <a:pt x="0" y="0"/>
                    </a:moveTo>
                    <a:lnTo>
                      <a:pt x="192286" y="192286"/>
                    </a:lnTo>
                  </a:path>
                </a:pathLst>
              </a:custGeom>
              <a:noFill/>
              <a:ln w="50602" cap="rnd">
                <a:solidFill>
                  <a:schemeClr val="accent1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4226280" y="2889250"/>
              <a:ext cx="118673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72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72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檢索</a:t>
              </a:r>
            </a:p>
          </p:txBody>
        </p:sp>
        <p:grpSp>
          <p:nvGrpSpPr>
            <p:cNvPr id="21" name="Group 21"/>
            <p:cNvGrpSpPr/>
            <p:nvPr/>
          </p:nvGrpSpPr>
          <p:grpSpPr>
            <a:xfrm>
              <a:off x="7540228" y="2332137"/>
              <a:ext cx="369094" cy="498276"/>
              <a:chOff x="7540228" y="2332137"/>
              <a:chExt cx="369094" cy="498276"/>
            </a:xfrm>
          </p:grpSpPr>
          <p:sp>
            <p:nvSpPr>
              <p:cNvPr id="16" name="Rectangle 16"/>
              <p:cNvSpPr/>
              <p:nvPr/>
            </p:nvSpPr>
            <p:spPr>
              <a:xfrm>
                <a:off x="7540228" y="2332137"/>
                <a:ext cx="369094" cy="498277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9227">
                <a:solidFill>
                  <a:schemeClr val="accent1"/>
                </a:solidFill>
              </a:ln>
            </p:spPr>
          </p:sp>
          <p:sp>
            <p:nvSpPr>
              <p:cNvPr id="17" name="Line 17"/>
              <p:cNvSpPr/>
              <p:nvPr/>
            </p:nvSpPr>
            <p:spPr>
              <a:xfrm>
                <a:off x="7623274" y="2452092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7294A9"/>
                </a:solidFill>
              </a:ln>
            </p:spPr>
          </p:sp>
          <p:sp>
            <p:nvSpPr>
              <p:cNvPr id="18" name="Line 18"/>
              <p:cNvSpPr/>
              <p:nvPr/>
            </p:nvSpPr>
            <p:spPr>
              <a:xfrm>
                <a:off x="7623274" y="2553593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7294A9"/>
                </a:solidFill>
              </a:ln>
            </p:spPr>
          </p:sp>
          <p:sp>
            <p:nvSpPr>
              <p:cNvPr id="19" name="Line 19"/>
              <p:cNvSpPr/>
              <p:nvPr/>
            </p:nvSpPr>
            <p:spPr>
              <a:xfrm>
                <a:off x="7623274" y="2655094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7294A9"/>
                </a:solidFill>
              </a:ln>
            </p:spPr>
          </p:sp>
          <p:sp>
            <p:nvSpPr>
              <p:cNvPr id="20" name="Line 20"/>
              <p:cNvSpPr/>
              <p:nvPr/>
            </p:nvSpPr>
            <p:spPr>
              <a:xfrm>
                <a:off x="7623274" y="2756595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7294A9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7038848" y="2889250"/>
              <a:ext cx="137185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測試查詢 463</a:t>
              </a:r>
            </a:p>
          </p:txBody>
        </p:sp>
        <p:sp>
          <p:nvSpPr>
            <p:cNvPr id="23" name="Freeform 23"/>
            <p:cNvSpPr/>
            <p:nvPr/>
          </p:nvSpPr>
          <p:spPr>
            <a:xfrm>
              <a:off x="2667000" y="2619375"/>
              <a:ext cx="1762125" cy="9525"/>
            </a:xfrm>
            <a:custGeom>
              <a:avLst/>
              <a:gdLst/>
              <a:ahLst/>
              <a:cxnLst/>
              <a:rect l="l" t="t" r="r" b="b"/>
              <a:pathLst>
                <a:path w="1762125" h="9525">
                  <a:moveTo>
                    <a:pt x="0" y="0"/>
                  </a:moveTo>
                  <a:lnTo>
                    <a:pt x="1762125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4362450" y="25717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5267325" y="2619375"/>
              <a:ext cx="2009775" cy="9525"/>
            </a:xfrm>
            <a:custGeom>
              <a:avLst/>
              <a:gdLst/>
              <a:ahLst/>
              <a:cxnLst/>
              <a:rect l="l" t="t" r="r" b="b"/>
              <a:pathLst>
                <a:path w="2009775" h="9525">
                  <a:moveTo>
                    <a:pt x="2009775" y="0"/>
                  </a:moveTo>
                  <a:lnTo>
                    <a:pt x="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5267325" y="25717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66675" y="0"/>
                  </a:moveTo>
                  <a:lnTo>
                    <a:pt x="0" y="47625"/>
                  </a:lnTo>
                  <a:lnTo>
                    <a:pt x="66675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30580" y="3336925"/>
              <a:ext cx="39778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訓練庫只讀 · 查詢不重疊</a:t>
              </a:r>
              <a:r>
                <a:rPr lang="en-US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· AI </a:t>
              </a:r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不看真實標籤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314051" y="2139950"/>
              <a:ext cx="23164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677425" y="2781300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訓練／查詢重疊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09600" y="38957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9277350" y="38957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29056" y="4060825"/>
              <a:ext cx="4155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Q4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361694" y="4035425"/>
              <a:ext cx="494099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若支持錯誤判斷，如何避免直接誤封？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838200" y="4914900"/>
              <a:ext cx="14287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1064324" y="5016500"/>
              <a:ext cx="9765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30 筆誤判</a:t>
              </a:r>
            </a:p>
          </p:txBody>
        </p:sp>
        <p:sp>
          <p:nvSpPr>
            <p:cNvPr id="36" name="Freeform 36"/>
            <p:cNvSpPr/>
            <p:nvPr/>
          </p:nvSpPr>
          <p:spPr>
            <a:xfrm>
              <a:off x="2266950" y="4762500"/>
              <a:ext cx="704850" cy="381000"/>
            </a:xfrm>
            <a:custGeom>
              <a:avLst/>
              <a:gdLst/>
              <a:ahLst/>
              <a:cxnLst/>
              <a:rect l="l" t="t" r="r" b="b"/>
              <a:pathLst>
                <a:path w="704850" h="381000">
                  <a:moveTo>
                    <a:pt x="0" y="381000"/>
                  </a:moveTo>
                  <a:lnTo>
                    <a:pt x="342900" y="381000"/>
                  </a:lnTo>
                  <a:lnTo>
                    <a:pt x="342900" y="0"/>
                  </a:lnTo>
                  <a:lnTo>
                    <a:pt x="7048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2905125" y="47148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2609850" y="5143500"/>
              <a:ext cx="361950" cy="209550"/>
            </a:xfrm>
            <a:custGeom>
              <a:avLst/>
              <a:gdLst/>
              <a:ahLst/>
              <a:cxnLst/>
              <a:rect l="l" t="t" r="r" b="b"/>
              <a:pathLst>
                <a:path w="361950" h="209550">
                  <a:moveTo>
                    <a:pt x="0" y="0"/>
                  </a:moveTo>
                  <a:lnTo>
                    <a:pt x="0" y="209550"/>
                  </a:lnTo>
                  <a:lnTo>
                    <a:pt x="361950" y="2095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2905125" y="53054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2971800" y="4533900"/>
              <a:ext cx="228600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3293364" y="4635500"/>
              <a:ext cx="164287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18 複核／不確定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2971800" y="5124450"/>
              <a:ext cx="228600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3626548" y="5226050"/>
              <a:ext cx="9765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12 仍支持</a:t>
              </a:r>
            </a:p>
          </p:txBody>
        </p:sp>
        <p:sp>
          <p:nvSpPr>
            <p:cNvPr id="44" name="Freeform 44"/>
            <p:cNvSpPr/>
            <p:nvPr/>
          </p:nvSpPr>
          <p:spPr>
            <a:xfrm>
              <a:off x="5257800" y="47625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5762625" y="47148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5257800" y="535305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5762625" y="53054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5829300" y="4533900"/>
              <a:ext cx="2819400" cy="457200"/>
            </a:xfrm>
            <a:prstGeom prst="roundRect">
              <a:avLst>
                <a:gd name="adj" fmla="val 12500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675311" y="4635500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監測／蒐證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829300" y="5124450"/>
              <a:ext cx="2819400" cy="457200"/>
            </a:xfrm>
            <a:prstGeom prst="roundRect">
              <a:avLst>
                <a:gd name="adj" fmla="val 12500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317996" y="5238750"/>
              <a:ext cx="184200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若觸發 → 策略檢查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30580" y="5661025"/>
              <a:ext cx="4320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12 筆為支持統計；處置與回復另以隔離情境驗證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852359" y="4464050"/>
              <a:ext cx="1155032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18 / 30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783775" y="5105400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偵測誤判分流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56" name="Line 56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0650541" y="6451600"/>
              <a:ext cx="937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答詢備用 2 / 3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4272534" cy="1082802"/>
            <a:chOff x="593598" y="257175"/>
            <a:chExt cx="4272534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158526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JUDGES · Q&amp;A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427253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答詢圖解｜效果與部署</a:t>
              </a:r>
            </a:p>
          </p:txBody>
        </p:sp>
      </p:grpSp>
      <p:grpSp>
        <p:nvGrpSpPr>
          <p:cNvPr id="90" name="page-content"/>
          <p:cNvGrpSpPr/>
          <p:nvPr/>
        </p:nvGrpSpPr>
        <p:grpSpPr>
          <a:xfrm>
            <a:off x="609600" y="1571625"/>
            <a:ext cx="10972800" cy="4419600"/>
            <a:chOff x="609600" y="1571625"/>
            <a:chExt cx="10972800" cy="4419600"/>
          </a:xfrm>
        </p:grpSpPr>
        <p:sp>
          <p:nvSpPr>
            <p:cNvPr id="6" name="Rectangle 6"/>
            <p:cNvSpPr/>
            <p:nvPr/>
          </p:nvSpPr>
          <p:spPr>
            <a:xfrm>
              <a:off x="609600" y="15716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9277350" y="15716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29056" y="1736725"/>
              <a:ext cx="4155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Q5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61694" y="1711325"/>
              <a:ext cx="490622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6/6 是否代表各種真實攻擊都能完全防住？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838200" y="2238375"/>
              <a:ext cx="3143250" cy="1038225"/>
            </a:xfrm>
            <a:prstGeom prst="roundRect">
              <a:avLst>
                <a:gd name="adj" fmla="val 5505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513555" y="2282825"/>
              <a:ext cx="17925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隔離</a:t>
              </a:r>
              <a:r>
                <a:rPr lang="en-US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TCP 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測試床</a:t>
              </a:r>
            </a:p>
          </p:txBody>
        </p:sp>
        <p:grpSp>
          <p:nvGrpSpPr>
            <p:cNvPr id="21" name="Group 21"/>
            <p:cNvGrpSpPr/>
            <p:nvPr/>
          </p:nvGrpSpPr>
          <p:grpSpPr>
            <a:xfrm>
              <a:off x="1234678" y="2632472"/>
              <a:ext cx="273844" cy="297656"/>
              <a:chOff x="1234678" y="2632472"/>
              <a:chExt cx="273844" cy="297656"/>
            </a:xfrm>
          </p:grpSpPr>
          <p:sp>
            <p:nvSpPr>
              <p:cNvPr id="12" name="Rectangle 12"/>
              <p:cNvSpPr/>
              <p:nvPr/>
            </p:nvSpPr>
            <p:spPr>
              <a:xfrm>
                <a:off x="1234678" y="2632472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13" name="Ellipse 13"/>
              <p:cNvSpPr/>
              <p:nvPr/>
            </p:nvSpPr>
            <p:spPr>
              <a:xfrm>
                <a:off x="1448991" y="2662238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14" name="Line 14"/>
              <p:cNvSpPr/>
              <p:nvPr/>
            </p:nvSpPr>
            <p:spPr>
              <a:xfrm>
                <a:off x="1270397" y="2674144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15" name="Rectangle 15"/>
              <p:cNvSpPr/>
              <p:nvPr/>
            </p:nvSpPr>
            <p:spPr>
              <a:xfrm>
                <a:off x="1234678" y="2739628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16" name="Ellipse 16"/>
              <p:cNvSpPr/>
              <p:nvPr/>
            </p:nvSpPr>
            <p:spPr>
              <a:xfrm>
                <a:off x="1448991" y="2769394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17" name="Line 17"/>
              <p:cNvSpPr/>
              <p:nvPr/>
            </p:nvSpPr>
            <p:spPr>
              <a:xfrm>
                <a:off x="1270397" y="2781300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18" name="Rectangle 18"/>
              <p:cNvSpPr/>
              <p:nvPr/>
            </p:nvSpPr>
            <p:spPr>
              <a:xfrm>
                <a:off x="1234678" y="2846784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19" name="Ellipse 19"/>
              <p:cNvSpPr/>
              <p:nvPr/>
            </p:nvSpPr>
            <p:spPr>
              <a:xfrm>
                <a:off x="1448991" y="2876550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20" name="Line 20"/>
              <p:cNvSpPr/>
              <p:nvPr/>
            </p:nvSpPr>
            <p:spPr>
              <a:xfrm>
                <a:off x="1270397" y="2888456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</p:grpSp>
        <p:grpSp>
          <p:nvGrpSpPr>
            <p:cNvPr id="31" name="Group 31"/>
            <p:cNvGrpSpPr/>
            <p:nvPr/>
          </p:nvGrpSpPr>
          <p:grpSpPr>
            <a:xfrm>
              <a:off x="2249091" y="2638425"/>
              <a:ext cx="321469" cy="285750"/>
              <a:chOff x="2249091" y="2638425"/>
              <a:chExt cx="321469" cy="285750"/>
            </a:xfrm>
          </p:grpSpPr>
          <p:sp>
            <p:nvSpPr>
              <p:cNvPr id="22" name="Rectangle 22"/>
              <p:cNvSpPr/>
              <p:nvPr/>
            </p:nvSpPr>
            <p:spPr>
              <a:xfrm>
                <a:off x="2249091" y="2638425"/>
                <a:ext cx="321469" cy="285750"/>
              </a:xfrm>
              <a:prstGeom prst="roundRect">
                <a:avLst>
                  <a:gd name="adj" fmla="val 8333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23" name="Line 23"/>
              <p:cNvSpPr/>
              <p:nvPr/>
            </p:nvSpPr>
            <p:spPr>
              <a:xfrm>
                <a:off x="2249091" y="2733675"/>
                <a:ext cx="32146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1469" h="9525">
                    <a:moveTo>
                      <a:pt x="0" y="0"/>
                    </a:moveTo>
                    <a:lnTo>
                      <a:pt x="321469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2249091" y="2828925"/>
                <a:ext cx="32146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1469" h="9525">
                    <a:moveTo>
                      <a:pt x="0" y="0"/>
                    </a:moveTo>
                    <a:lnTo>
                      <a:pt x="321469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2356247" y="263842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2475309" y="263842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27" name="Line 27"/>
              <p:cNvSpPr/>
              <p:nvPr/>
            </p:nvSpPr>
            <p:spPr>
              <a:xfrm>
                <a:off x="2308622" y="273367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28" name="Line 28"/>
              <p:cNvSpPr/>
              <p:nvPr/>
            </p:nvSpPr>
            <p:spPr>
              <a:xfrm>
                <a:off x="2439591" y="273367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2356247" y="282892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2475309" y="282892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</p:grpSp>
        <p:grpSp>
          <p:nvGrpSpPr>
            <p:cNvPr id="41" name="Group 41"/>
            <p:cNvGrpSpPr/>
            <p:nvPr/>
          </p:nvGrpSpPr>
          <p:grpSpPr>
            <a:xfrm>
              <a:off x="3311128" y="2632472"/>
              <a:ext cx="273844" cy="297656"/>
              <a:chOff x="3311128" y="2632472"/>
              <a:chExt cx="273844" cy="297656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3311128" y="2632472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33" name="Ellipse 33"/>
              <p:cNvSpPr/>
              <p:nvPr/>
            </p:nvSpPr>
            <p:spPr>
              <a:xfrm>
                <a:off x="3525441" y="2662238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34" name="Line 34"/>
              <p:cNvSpPr/>
              <p:nvPr/>
            </p:nvSpPr>
            <p:spPr>
              <a:xfrm>
                <a:off x="3346847" y="2674144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35" name="Rectangle 35"/>
              <p:cNvSpPr/>
              <p:nvPr/>
            </p:nvSpPr>
            <p:spPr>
              <a:xfrm>
                <a:off x="3311128" y="2739628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36" name="Ellipse 36"/>
              <p:cNvSpPr/>
              <p:nvPr/>
            </p:nvSpPr>
            <p:spPr>
              <a:xfrm>
                <a:off x="3525441" y="2769394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37" name="Line 37"/>
              <p:cNvSpPr/>
              <p:nvPr/>
            </p:nvSpPr>
            <p:spPr>
              <a:xfrm>
                <a:off x="3346847" y="2781300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38" name="Rectangle 38"/>
              <p:cNvSpPr/>
              <p:nvPr/>
            </p:nvSpPr>
            <p:spPr>
              <a:xfrm>
                <a:off x="3311128" y="2846784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39" name="Ellipse 39"/>
              <p:cNvSpPr/>
              <p:nvPr/>
            </p:nvSpPr>
            <p:spPr>
              <a:xfrm>
                <a:off x="3525441" y="2876550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40" name="Line 40"/>
              <p:cNvSpPr/>
              <p:nvPr/>
            </p:nvSpPr>
            <p:spPr>
              <a:xfrm>
                <a:off x="3346847" y="2888456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</p:grpSp>
        <p:sp>
          <p:nvSpPr>
            <p:cNvPr id="42" name="Freeform 42"/>
            <p:cNvSpPr/>
            <p:nvPr/>
          </p:nvSpPr>
          <p:spPr>
            <a:xfrm>
              <a:off x="1581150" y="2790825"/>
              <a:ext cx="638175" cy="9525"/>
            </a:xfrm>
            <a:custGeom>
              <a:avLst/>
              <a:gdLst/>
              <a:ahLst/>
              <a:cxnLst/>
              <a:rect l="l" t="t" r="r" b="b"/>
              <a:pathLst>
                <a:path w="638175" h="9525">
                  <a:moveTo>
                    <a:pt x="0" y="0"/>
                  </a:moveTo>
                  <a:lnTo>
                    <a:pt x="638175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2152650" y="27432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2619375" y="2790825"/>
              <a:ext cx="638175" cy="9525"/>
            </a:xfrm>
            <a:custGeom>
              <a:avLst/>
              <a:gdLst/>
              <a:ahLst/>
              <a:cxnLst/>
              <a:rect l="l" t="t" r="r" b="b"/>
              <a:pathLst>
                <a:path w="638175" h="9525">
                  <a:moveTo>
                    <a:pt x="0" y="0"/>
                  </a:moveTo>
                  <a:lnTo>
                    <a:pt x="638175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3190875" y="27432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1737360" y="3013075"/>
              <a:ext cx="13449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4 規則＋2 監測</a:t>
              </a:r>
            </a:p>
          </p:txBody>
        </p:sp>
        <p:sp>
          <p:nvSpPr>
            <p:cNvPr id="47" name="Freeform 47"/>
            <p:cNvSpPr/>
            <p:nvPr/>
          </p:nvSpPr>
          <p:spPr>
            <a:xfrm>
              <a:off x="3981450" y="2486025"/>
              <a:ext cx="590550" cy="285750"/>
            </a:xfrm>
            <a:custGeom>
              <a:avLst/>
              <a:gdLst/>
              <a:ahLst/>
              <a:cxnLst/>
              <a:rect l="l" t="t" r="r" b="b"/>
              <a:pathLst>
                <a:path w="590550" h="285750">
                  <a:moveTo>
                    <a:pt x="0" y="285750"/>
                  </a:moveTo>
                  <a:lnTo>
                    <a:pt x="304800" y="285750"/>
                  </a:lnTo>
                  <a:lnTo>
                    <a:pt x="304800" y="0"/>
                  </a:lnTo>
                  <a:lnTo>
                    <a:pt x="5905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8" name="Freeform 48"/>
            <p:cNvSpPr/>
            <p:nvPr/>
          </p:nvSpPr>
          <p:spPr>
            <a:xfrm>
              <a:off x="4505325" y="24384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9" name="Freeform 49"/>
            <p:cNvSpPr/>
            <p:nvPr/>
          </p:nvSpPr>
          <p:spPr>
            <a:xfrm>
              <a:off x="4286250" y="2771775"/>
              <a:ext cx="285750" cy="247650"/>
            </a:xfrm>
            <a:custGeom>
              <a:avLst/>
              <a:gdLst/>
              <a:ahLst/>
              <a:cxnLst/>
              <a:rect l="l" t="t" r="r" b="b"/>
              <a:pathLst>
                <a:path w="285750" h="247650">
                  <a:moveTo>
                    <a:pt x="0" y="0"/>
                  </a:moveTo>
                  <a:lnTo>
                    <a:pt x="0" y="247650"/>
                  </a:lnTo>
                  <a:lnTo>
                    <a:pt x="285750" y="2476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4505325" y="2971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4572000" y="2257425"/>
              <a:ext cx="4076700" cy="457200"/>
            </a:xfrm>
            <a:prstGeom prst="roundRect">
              <a:avLst>
                <a:gd name="adj" fmla="val 12500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5697641" y="2359025"/>
              <a:ext cx="182541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背景服務保留 6 / 6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4572000" y="2790825"/>
              <a:ext cx="4076700" cy="457200"/>
            </a:xfrm>
            <a:prstGeom prst="roundRect">
              <a:avLst>
                <a:gd name="adj" fmla="val 12500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5808702" y="2892425"/>
              <a:ext cx="160329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回復完整性 6 / 6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30580" y="3336925"/>
              <a:ext cx="437981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6/6 驗證服務保留與回復；不等同真實攻擊防禦率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0055051" y="2139950"/>
              <a:ext cx="74964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6 / 6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9677425" y="2781300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背景保留與回復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609600" y="38957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9277350" y="38957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829056" y="4060825"/>
              <a:ext cx="4155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Q6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361694" y="4035425"/>
              <a:ext cx="474497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如何部署、保護資料，並接到既有環境？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838200" y="4600575"/>
              <a:ext cx="7810500" cy="981075"/>
            </a:xfrm>
            <a:prstGeom prst="roundRect">
              <a:avLst>
                <a:gd name="adj" fmla="val 6796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1039368" y="4635500"/>
              <a:ext cx="333890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本機工作站</a:t>
              </a:r>
              <a:r>
                <a:rPr lang="en-US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· GPU </a:t>
              </a:r>
              <a:r>
                <a:rPr lang="zh-TW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模型與案例庫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990600" y="4981575"/>
              <a:ext cx="16192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70" name="Group 70"/>
            <p:cNvGrpSpPr/>
            <p:nvPr/>
          </p:nvGrpSpPr>
          <p:grpSpPr>
            <a:xfrm>
              <a:off x="1090612" y="5049441"/>
              <a:ext cx="238126" cy="321468"/>
              <a:chOff x="1090612" y="5049441"/>
              <a:chExt cx="238126" cy="321468"/>
            </a:xfrm>
          </p:grpSpPr>
          <p:sp>
            <p:nvSpPr>
              <p:cNvPr id="65" name="Rectangle 65"/>
              <p:cNvSpPr/>
              <p:nvPr/>
            </p:nvSpPr>
            <p:spPr>
              <a:xfrm>
                <a:off x="1090612" y="5049441"/>
                <a:ext cx="238125" cy="321469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66" name="Line 66"/>
              <p:cNvSpPr/>
              <p:nvPr/>
            </p:nvSpPr>
            <p:spPr>
              <a:xfrm>
                <a:off x="1144191" y="5126831"/>
                <a:ext cx="1369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922" h="9525">
                    <a:moveTo>
                      <a:pt x="0" y="0"/>
                    </a:moveTo>
                    <a:lnTo>
                      <a:pt x="13692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67" name="Line 67"/>
              <p:cNvSpPr/>
              <p:nvPr/>
            </p:nvSpPr>
            <p:spPr>
              <a:xfrm>
                <a:off x="1144191" y="5192316"/>
                <a:ext cx="1369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922" h="9525">
                    <a:moveTo>
                      <a:pt x="0" y="0"/>
                    </a:moveTo>
                    <a:lnTo>
                      <a:pt x="13692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68" name="Line 68"/>
              <p:cNvSpPr/>
              <p:nvPr/>
            </p:nvSpPr>
            <p:spPr>
              <a:xfrm>
                <a:off x="1144191" y="5257800"/>
                <a:ext cx="1369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922" h="9525">
                    <a:moveTo>
                      <a:pt x="0" y="0"/>
                    </a:moveTo>
                    <a:lnTo>
                      <a:pt x="13692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69" name="Line 69"/>
              <p:cNvSpPr/>
              <p:nvPr/>
            </p:nvSpPr>
            <p:spPr>
              <a:xfrm>
                <a:off x="1144191" y="5323284"/>
                <a:ext cx="1369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922" h="9525">
                    <a:moveTo>
                      <a:pt x="0" y="0"/>
                    </a:moveTo>
                    <a:lnTo>
                      <a:pt x="13692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</p:grpSp>
        <p:sp>
          <p:nvSpPr>
            <p:cNvPr id="71" name="TextBox 71"/>
            <p:cNvSpPr txBox="1"/>
            <p:nvPr/>
          </p:nvSpPr>
          <p:spPr>
            <a:xfrm>
              <a:off x="1607820" y="509905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欄位遮罩</a:t>
              </a:r>
            </a:p>
          </p:txBody>
        </p:sp>
        <p:sp>
          <p:nvSpPr>
            <p:cNvPr id="72" name="Freeform 72"/>
            <p:cNvSpPr/>
            <p:nvPr/>
          </p:nvSpPr>
          <p:spPr>
            <a:xfrm>
              <a:off x="2609850" y="52101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73" name="Freeform 73"/>
            <p:cNvSpPr/>
            <p:nvPr/>
          </p:nvSpPr>
          <p:spPr>
            <a:xfrm>
              <a:off x="2828925" y="51625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74" name="Rectangle 74"/>
            <p:cNvSpPr/>
            <p:nvPr/>
          </p:nvSpPr>
          <p:spPr>
            <a:xfrm>
              <a:off x="2895600" y="4981575"/>
              <a:ext cx="16192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pic>
          <p:nvPicPr>
            <p:cNvPr id="75" name="Image 7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24175" y="5019675"/>
              <a:ext cx="381000" cy="381000"/>
            </a:xfrm>
            <a:prstGeom prst="rect">
              <a:avLst/>
            </a:prstGeom>
          </p:spPr>
        </p:pic>
        <p:sp>
          <p:nvSpPr>
            <p:cNvPr id="76" name="TextBox 76"/>
            <p:cNvSpPr txBox="1"/>
            <p:nvPr/>
          </p:nvSpPr>
          <p:spPr>
            <a:xfrm>
              <a:off x="3480435" y="5099050"/>
              <a:ext cx="8877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17 類推論</a:t>
              </a:r>
            </a:p>
          </p:txBody>
        </p:sp>
        <p:sp>
          <p:nvSpPr>
            <p:cNvPr id="77" name="Freeform 77"/>
            <p:cNvSpPr/>
            <p:nvPr/>
          </p:nvSpPr>
          <p:spPr>
            <a:xfrm>
              <a:off x="4514850" y="52101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78" name="Freeform 78"/>
            <p:cNvSpPr/>
            <p:nvPr/>
          </p:nvSpPr>
          <p:spPr>
            <a:xfrm>
              <a:off x="4733925" y="51625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79" name="Rectangle 79"/>
            <p:cNvSpPr/>
            <p:nvPr/>
          </p:nvSpPr>
          <p:spPr>
            <a:xfrm>
              <a:off x="4800600" y="4981575"/>
              <a:ext cx="16192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pic>
          <p:nvPicPr>
            <p:cNvPr id="80" name="Image 80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29175" y="5019675"/>
              <a:ext cx="381000" cy="381000"/>
            </a:xfrm>
            <a:prstGeom prst="rect">
              <a:avLst/>
            </a:prstGeom>
          </p:spPr>
        </p:pic>
        <p:sp>
          <p:nvSpPr>
            <p:cNvPr id="81" name="TextBox 81"/>
            <p:cNvSpPr txBox="1"/>
            <p:nvPr/>
          </p:nvSpPr>
          <p:spPr>
            <a:xfrm>
              <a:off x="5382094" y="5099050"/>
              <a:ext cx="89441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檢索＋</a:t>
              </a:r>
              <a:r>
                <a:rPr lang="en-US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AI</a:t>
              </a:r>
            </a:p>
          </p:txBody>
        </p:sp>
        <p:sp>
          <p:nvSpPr>
            <p:cNvPr id="82" name="Freeform 82"/>
            <p:cNvSpPr/>
            <p:nvPr/>
          </p:nvSpPr>
          <p:spPr>
            <a:xfrm>
              <a:off x="6419850" y="52101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83" name="Freeform 83"/>
            <p:cNvSpPr/>
            <p:nvPr/>
          </p:nvSpPr>
          <p:spPr>
            <a:xfrm>
              <a:off x="6638925" y="51625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84" name="Rectangle 84"/>
            <p:cNvSpPr/>
            <p:nvPr/>
          </p:nvSpPr>
          <p:spPr>
            <a:xfrm>
              <a:off x="6705600" y="4981575"/>
              <a:ext cx="16192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pic>
          <p:nvPicPr>
            <p:cNvPr id="85" name="Image 85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34175" y="5019675"/>
              <a:ext cx="381000" cy="381000"/>
            </a:xfrm>
            <a:prstGeom prst="rect">
              <a:avLst/>
            </a:prstGeom>
          </p:spPr>
        </p:pic>
        <p:sp>
          <p:nvSpPr>
            <p:cNvPr id="86" name="TextBox 86"/>
            <p:cNvSpPr txBox="1"/>
            <p:nvPr/>
          </p:nvSpPr>
          <p:spPr>
            <a:xfrm>
              <a:off x="7322820" y="509905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策略回條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830580" y="5661025"/>
              <a:ext cx="445676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本機</a:t>
              </a:r>
              <a:r>
                <a:rPr lang="en-US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稽核；私有權重、輸入及逐筆回覆不公開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10314051" y="4464050"/>
              <a:ext cx="23164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9708377" y="5105400"/>
              <a:ext cx="144299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外部</a:t>
              </a:r>
              <a:r>
                <a:rPr lang="en-US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 API </a:t>
              </a:r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呼叫</a:t>
              </a:r>
            </a:p>
          </p:txBody>
        </p:sp>
      </p:grpSp>
      <p:grpSp>
        <p:nvGrpSpPr>
          <p:cNvPr id="94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91" name="Line 91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92" name="TextBox 92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10650541" y="6451600"/>
              <a:ext cx="937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答詢備用 3 / 3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finals_editorial">
  <a:themeElements>
    <a:clrScheme name="finals_editorial">
      <a:dk1>
        <a:srgbClr val="171C1D"/>
      </a:dk1>
      <a:lt1>
        <a:srgbClr val="FFFFFF"/>
      </a:lt1>
      <a:dk2>
        <a:srgbClr val="1F497D"/>
      </a:dk2>
      <a:lt2>
        <a:srgbClr val="F0F2F3"/>
      </a:lt2>
      <a:accent1>
        <a:srgbClr val="105186"/>
      </a:accent1>
      <a:accent2>
        <a:srgbClr val="FDB338"/>
      </a:accent2>
      <a:accent3>
        <a:srgbClr val="F0F2F3"/>
      </a:accent3>
      <a:accent4>
        <a:srgbClr val="105186"/>
      </a:accent4>
      <a:accent5>
        <a:srgbClr val="092B42"/>
      </a:accent5>
      <a:accent6>
        <a:srgbClr val="53666E"/>
      </a:accent6>
      <a:hlink>
        <a:srgbClr val="FDB338"/>
      </a:hlink>
      <a:folHlink>
        <a:srgbClr val="F0F2F3"/>
      </a:folHlink>
    </a:clrScheme>
    <a:fontScheme name="finals_editorial">
      <a:majorFont>
        <a:latin typeface="Times New Roman"/>
        <a:ea typeface="DFKai-SB"/>
        <a:cs typeface="Times New Roman"/>
        <a:font script="Jpan" typeface="DFKai-SB"/>
        <a:font script="Hang" typeface="DFKai-SB"/>
        <a:font script="Hans" typeface="DFKai-SB"/>
        <a:font script="Hant" typeface="DFKai-SB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/>
        <a:ea typeface="DFKai-SB"/>
        <a:cs typeface="Times New Roman"/>
        <a:font script="Jpan" typeface="DFKai-SB"/>
        <a:font script="Hang" typeface="DFKai-SB"/>
        <a:font script="Hans" typeface="DFKai-SB"/>
        <a:font script="Hant" typeface="DFKai-SB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inals_editori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finals_editorial">
  <a:themeElements>
    <a:clrScheme name="finals_editorial">
      <a:dk1>
        <a:srgbClr val="171C1D"/>
      </a:dk1>
      <a:lt1>
        <a:srgbClr val="FFFFFF"/>
      </a:lt1>
      <a:dk2>
        <a:srgbClr val="1F497D"/>
      </a:dk2>
      <a:lt2>
        <a:srgbClr val="F0F2F3"/>
      </a:lt2>
      <a:accent1>
        <a:srgbClr val="105186"/>
      </a:accent1>
      <a:accent2>
        <a:srgbClr val="FDB338"/>
      </a:accent2>
      <a:accent3>
        <a:srgbClr val="F0F2F3"/>
      </a:accent3>
      <a:accent4>
        <a:srgbClr val="105186"/>
      </a:accent4>
      <a:accent5>
        <a:srgbClr val="092B42"/>
      </a:accent5>
      <a:accent6>
        <a:srgbClr val="53666E"/>
      </a:accent6>
      <a:hlink>
        <a:srgbClr val="FDB338"/>
      </a:hlink>
      <a:folHlink>
        <a:srgbClr val="F0F2F3"/>
      </a:folHlink>
    </a:clrScheme>
    <a:fontScheme name="finals_editorial">
      <a:majorFont>
        <a:latin typeface="Times New Roman"/>
        <a:ea typeface="DFKai-SB"/>
        <a:cs typeface="Times New Roman"/>
        <a:font script="Jpan" typeface="DFKai-SB"/>
        <a:font script="Hang" typeface="DFKai-SB"/>
        <a:font script="Hans" typeface="DFKai-SB"/>
        <a:font script="Hant" typeface="DFKai-SB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/>
        <a:ea typeface="DFKai-SB"/>
        <a:cs typeface="Times New Roman"/>
        <a:font script="Jpan" typeface="DFKai-SB"/>
        <a:font script="Hang" typeface="DFKai-SB"/>
        <a:font script="Hans" typeface="DFKai-SB"/>
        <a:font script="Hant" typeface="DFKai-SB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inals_editori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2207</Words>
  <Application>Microsoft Office PowerPoint</Application>
  <PresentationFormat>寬螢幕</PresentationFormat>
  <Paragraphs>268</Paragraphs>
  <Slides>12</Slides>
  <Notes>12</Notes>
  <HiddenSlides>0</HiddenSlides>
  <MMClips>1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5" baseType="lpstr">
      <vt:lpstr>Arial</vt:lpstr>
      <vt:lpstr>Times New Roman</vt:lpstr>
      <vt:lpstr>finals_editorial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subject/>
  <dc:creator/>
  <cp:keywords/>
  <dc:description/>
  <cp:lastModifiedBy/>
  <cp:revision>2</cp:revision>
  <dcterms:created xsi:type="dcterms:W3CDTF">2026-10-28T12:53:17Z</dcterms:created>
  <dcterms:modified xsi:type="dcterms:W3CDTF">2026-10-28T12:53:53Z</dcterms:modified>
  <cp:category/>
  <cp:contentStatus/>
  <dc:language>zh-TW</dc:language>
</cp:coreProperties>
</file>