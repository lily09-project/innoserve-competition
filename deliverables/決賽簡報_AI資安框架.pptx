
<file path=[Content_Types].xml><?xml version="1.0" encoding="utf-8"?>
<ns0:Types xmlns:ns0="http://schemas.openxmlformats.org/package/2006/content-types">
  <ns0:Default Extension="jpeg" ContentType="image/jpeg"/>
  <ns0:Default Extension="rels" ContentType="application/vnd.openxmlformats-package.relationships+xml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notesMasters/notesMaster1.xml" ContentType="application/vnd.openxmlformats-officedocument.presentationml.notes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theme/theme2.xml" ContentType="application/vnd.openxmlformats-officedocument.theme+xml"/>
  <ns0:Override PartName="/ppt/tags/tag1.xml" ContentType="application/vnd.openxmlformats-officedocument.presentationml.tags+xml"/>
  <ns0:Override PartName="/ppt/tags/tag2.xml" ContentType="application/vnd.openxmlformats-officedocument.presentationml.tags+xml"/>
  <ns0:Override PartName="/ppt/tags/tag3.xml" ContentType="application/vnd.openxmlformats-officedocument.presentationml.tags+xml"/>
  <ns0:Override PartName="/ppt/tags/tag4.xml" ContentType="application/vnd.openxmlformats-officedocument.presentationml.tags+xml"/>
  <ns0:Override PartName="/ppt/tags/tag5.xml" ContentType="application/vnd.openxmlformats-officedocument.presentationml.tags+xml"/>
  <ns0:Override PartName="/ppt/tags/tag6.xml" ContentType="application/vnd.openxmlformats-officedocument.presentationml.tags+xml"/>
  <ns0:Override PartName="/ppt/tags/tag7.xml" ContentType="application/vnd.openxmlformats-officedocument.presentationml.tags+xml"/>
  <ns0:Override PartName="/ppt/tags/tag8.xml" ContentType="application/vnd.openxmlformats-officedocument.presentationml.tags+xml"/>
  <ns0:Override PartName="/ppt/tags/tag9.xml" ContentType="application/vnd.openxmlformats-officedocument.presentationml.tags+xml"/>
  <ns0:Override PartName="/ppt/tags/tag10.xml" ContentType="application/vnd.openxmlformats-officedocument.presentationml.tags+xml"/>
  <ns0:Override PartName="/ppt/tags/tag11.xml" ContentType="application/vnd.openxmlformats-officedocument.presentationml.tags+xml"/>
  <ns0:Override PartName="/ppt/tags/tag12.xml" ContentType="application/vnd.openxmlformats-officedocument.presentationml.tags+xml"/>
  <ns0:Override PartName="/ppt/tags/tag13.xml" ContentType="application/vnd.openxmlformats-officedocument.presentationml.tags+xml"/>
  <ns0:Override PartName="/ppt/tags/tag14.xml" ContentType="application/vnd.openxmlformats-officedocument.presentationml.tags+xml"/>
  <ns0:Override PartName="/ppt/tags/tag15.xml" ContentType="application/vnd.openxmlformats-officedocument.presentationml.tags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tags/tag22.xml" ContentType="application/vnd.openxmlformats-officedocument.presentationml.tags+xml"/>
  <ns0:Override PartName="/ppt/tags/tag23.xml" ContentType="application/vnd.openxmlformats-officedocument.presentationml.tags+xml"/>
  <ns0:Override PartName="/ppt/tags/tag24.xml" ContentType="application/vnd.openxmlformats-officedocument.presentationml.tags+xml"/>
  <ns0:Override PartName="/ppt/tags/tag25.xml" ContentType="application/vnd.openxmlformats-officedocument.presentationml.tags+xml"/>
  <ns0:Override PartName="/ppt/tags/tag26.xml" ContentType="application/vnd.openxmlformats-officedocument.presentationml.tags+xml"/>
  <ns0:Override PartName="/ppt/tags/tag27.xml" ContentType="application/vnd.openxmlformats-officedocument.presentationml.tags+xml"/>
  <ns0:Override PartName="/ppt/tags/tag28.xml" ContentType="application/vnd.openxmlformats-officedocument.presentationml.tags+xml"/>
  <ns0:Override PartName="/ppt/tags/tag29.xml" ContentType="application/vnd.openxmlformats-officedocument.presentationml.tags+xml"/>
  <ns0:Override PartName="/ppt/tags/tag30.xml" ContentType="application/vnd.openxmlformats-officedocument.presentationml.tags+xml"/>
  <ns0:Override PartName="/ppt/tags/tag31.xml" ContentType="application/vnd.openxmlformats-officedocument.presentationml.tags+xml"/>
  <ns0:Override PartName="/ppt/tags/tag32.xml" ContentType="application/vnd.openxmlformats-officedocument.presentationml.tags+xml"/>
  <ns0:Override PartName="/ppt/tags/tag33.xml" ContentType="application/vnd.openxmlformats-officedocument.presentationml.tags+xml"/>
  <ns0:Override PartName="/ppt/tags/tag34.xml" ContentType="application/vnd.openxmlformats-officedocument.presentationml.tags+xml"/>
  <ns0:Override PartName="/ppt/tags/tag35.xml" ContentType="application/vnd.openxmlformats-officedocument.presentationml.tags+xml"/>
  <ns0:Override PartName="/ppt/tags/tag36.xml" ContentType="application/vnd.openxmlformats-officedocument.presentationml.tags+xml"/>
  <ns0:Override PartName="/ppt/tags/tag37.xml" ContentType="application/vnd.openxmlformats-officedocument.presentationml.tags+xml"/>
  <ns0:Override PartName="/ppt/tags/tag38.xml" ContentType="application/vnd.openxmlformats-officedocument.presentationml.tags+xml"/>
  <ns0:Override PartName="/ppt/tags/tag39.xml" ContentType="application/vnd.openxmlformats-officedocument.presentationml.tags+xml"/>
  <ns0:Override PartName="/ppt/tags/tag40.xml" ContentType="application/vnd.openxmlformats-officedocument.presentationml.tags+xml"/>
  <ns0:Override PartName="/ppt/tags/tag41.xml" ContentType="application/vnd.openxmlformats-officedocument.presentationml.tags+xml"/>
  <ns0:Override PartName="/ppt/tags/tag42.xml" ContentType="application/vnd.openxmlformats-officedocument.presentationml.tags+xml"/>
  <ns0:Override PartName="/ppt/tags/tag43.xml" ContentType="application/vnd.openxmlformats-officedocument.presentationml.tags+xml"/>
  <ns0:Override PartName="/ppt/tags/tag44.xml" ContentType="application/vnd.openxmlformats-officedocument.presentationml.tags+xml"/>
  <ns0:Override PartName="/ppt/tags/tag45.xml" ContentType="application/vnd.openxmlformats-officedocument.presentationml.tags+xml"/>
  <ns0:Override PartName="/ppt/tags/tag46.xml" ContentType="application/vnd.openxmlformats-officedocument.presentationml.tags+xml"/>
  <ns0:Override PartName="/ppt/tags/tag47.xml" ContentType="application/vnd.openxmlformats-officedocument.presentationml.tags+xml"/>
  <ns0:Override PartName="/ppt/tags/tag48.xml" ContentType="application/vnd.openxmlformats-officedocument.presentationml.tags+xml"/>
  <ns0:Override PartName="/ppt/tags/tag49.xml" ContentType="application/vnd.openxmlformats-officedocument.presentationml.tags+xml"/>
  <ns0:Override PartName="/ppt/tags/tag50.xml" ContentType="application/vnd.openxmlformats-officedocument.presentationml.tags+xml"/>
  <ns0:Override PartName="/ppt/tags/tag51.xml" ContentType="application/vnd.openxmlformats-officedocument.presentationml.tags+xml"/>
  <ns0:Override PartName="/ppt/tags/tag52.xml" ContentType="application/vnd.openxmlformats-officedocument.presentationml.tags+xml"/>
  <ns0:Override PartName="/ppt/tags/tag53.xml" ContentType="application/vnd.openxmlformats-officedocument.presentationml.tags+xml"/>
  <ns0:Override PartName="/ppt/tags/tag54.xml" ContentType="application/vnd.openxmlformats-officedocument.presentationml.tags+xml"/>
  <ns0:Override PartName="/ppt/tags/tag55.xml" ContentType="application/vnd.openxmlformats-officedocument.presentationml.tags+xml"/>
  <ns0:Override PartName="/ppt/tags/tag56.xml" ContentType="application/vnd.openxmlformats-officedocument.presentationml.tags+xml"/>
  <ns0:Override PartName="/ppt/tags/tag57.xml" ContentType="application/vnd.openxmlformats-officedocument.presentationml.tags+xml"/>
  <ns0:Override PartName="/ppt/tags/tag58.xml" ContentType="application/vnd.openxmlformats-officedocument.presentationml.tags+xml"/>
  <ns0:Override PartName="/ppt/tags/tag59.xml" ContentType="application/vnd.openxmlformats-officedocument.presentationml.tags+xml"/>
  <ns0:Override PartName="/ppt/tags/tag60.xml" ContentType="application/vnd.openxmlformats-officedocument.presentationml.tags+xml"/>
  <ns0:Override PartName="/ppt/tags/tag61.xml" ContentType="application/vnd.openxmlformats-officedocument.presentationml.tags+xml"/>
  <ns0:Override PartName="/ppt/tags/tag62.xml" ContentType="application/vnd.openxmlformats-officedocument.presentationml.tags+xml"/>
  <ns0:Override PartName="/ppt/tags/tag63.xml" ContentType="application/vnd.openxmlformats-officedocument.presentationml.tags+xml"/>
  <ns0:Override PartName="/ppt/tags/tag64.xml" ContentType="application/vnd.openxmlformats-officedocument.presentationml.tags+xml"/>
  <ns0:Override PartName="/ppt/tags/tag65.xml" ContentType="application/vnd.openxmlformats-officedocument.presentationml.tags+xml"/>
  <ns0:Override PartName="/ppt/tags/tag66.xml" ContentType="application/vnd.openxmlformats-officedocument.presentationml.tags+xml"/>
  <ns0:Override PartName="/ppt/tags/tag67.xml" ContentType="application/vnd.openxmlformats-officedocument.presentationml.tags+xml"/>
  <ns0:Override PartName="/ppt/tags/tag68.xml" ContentType="application/vnd.openxmlformats-officedocument.presentationml.tags+xml"/>
  <ns0:Override PartName="/ppt/tags/tag69.xml" ContentType="application/vnd.openxmlformats-officedocument.presentationml.tags+xml"/>
  <ns0:Override PartName="/ppt/tags/tag70.xml" ContentType="application/vnd.openxmlformats-officedocument.presentationml.tags+xml"/>
  <ns0:Override PartName="/ppt/tags/tag71.xml" ContentType="application/vnd.openxmlformats-officedocument.presentationml.tags+xml"/>
  <ns0:Override PartName="/ppt/tags/tag72.xml" ContentType="application/vnd.openxmlformats-officedocument.presentationml.tags+xml"/>
  <ns0:Override PartName="/ppt/notesSlides/notesSlide3.xml" ContentType="application/vnd.openxmlformats-officedocument.presentationml.notesSlide+xml"/>
  <ns0:Override PartName="/ppt/tags/tag73.xml" ContentType="application/vnd.openxmlformats-officedocument.presentationml.tags+xml"/>
  <ns0:Override PartName="/ppt/tags/tag74.xml" ContentType="application/vnd.openxmlformats-officedocument.presentationml.tags+xml"/>
  <ns0:Override PartName="/ppt/tags/tag75.xml" ContentType="application/vnd.openxmlformats-officedocument.presentationml.tags+xml"/>
  <ns0:Override PartName="/ppt/tags/tag76.xml" ContentType="application/vnd.openxmlformats-officedocument.presentationml.tags+xml"/>
  <ns0:Override PartName="/ppt/tags/tag77.xml" ContentType="application/vnd.openxmlformats-officedocument.presentationml.tags+xml"/>
  <ns0:Override PartName="/ppt/tags/tag78.xml" ContentType="application/vnd.openxmlformats-officedocument.presentationml.tags+xml"/>
  <ns0:Override PartName="/ppt/tags/tag79.xml" ContentType="application/vnd.openxmlformats-officedocument.presentationml.tags+xml"/>
  <ns0:Override PartName="/ppt/tags/tag80.xml" ContentType="application/vnd.openxmlformats-officedocument.presentationml.tags+xml"/>
  <ns0:Override PartName="/ppt/tags/tag81.xml" ContentType="application/vnd.openxmlformats-officedocument.presentationml.tags+xml"/>
  <ns0:Override PartName="/ppt/tags/tag82.xml" ContentType="application/vnd.openxmlformats-officedocument.presentationml.tags+xml"/>
  <ns0:Override PartName="/ppt/tags/tag83.xml" ContentType="application/vnd.openxmlformats-officedocument.presentationml.tags+xml"/>
  <ns0:Override PartName="/ppt/tags/tag84.xml" ContentType="application/vnd.openxmlformats-officedocument.presentationml.tags+xml"/>
  <ns0:Override PartName="/ppt/tags/tag85.xml" ContentType="application/vnd.openxmlformats-officedocument.presentationml.tags+xml"/>
  <ns0:Override PartName="/ppt/tags/tag86.xml" ContentType="application/vnd.openxmlformats-officedocument.presentationml.tags+xml"/>
  <ns0:Override PartName="/ppt/tags/tag87.xml" ContentType="application/vnd.openxmlformats-officedocument.presentationml.tags+xml"/>
  <ns0:Override PartName="/ppt/tags/tag88.xml" ContentType="application/vnd.openxmlformats-officedocument.presentationml.tags+xml"/>
  <ns0:Override PartName="/ppt/tags/tag89.xml" ContentType="application/vnd.openxmlformats-officedocument.presentationml.tags+xml"/>
  <ns0:Override PartName="/ppt/tags/tag90.xml" ContentType="application/vnd.openxmlformats-officedocument.presentationml.tags+xml"/>
  <ns0:Override PartName="/ppt/tags/tag91.xml" ContentType="application/vnd.openxmlformats-officedocument.presentationml.tags+xml"/>
  <ns0:Override PartName="/ppt/tags/tag92.xml" ContentType="application/vnd.openxmlformats-officedocument.presentationml.tags+xml"/>
  <ns0:Override PartName="/ppt/tags/tag93.xml" ContentType="application/vnd.openxmlformats-officedocument.presentationml.tags+xml"/>
  <ns0:Override PartName="/ppt/notesSlides/notesSlide4.xml" ContentType="application/vnd.openxmlformats-officedocument.presentationml.notesSlide+xml"/>
  <ns0:Override PartName="/ppt/tags/tag94.xml" ContentType="application/vnd.openxmlformats-officedocument.presentationml.tags+xml"/>
  <ns0:Override PartName="/ppt/tags/tag95.xml" ContentType="application/vnd.openxmlformats-officedocument.presentationml.tags+xml"/>
  <ns0:Override PartName="/ppt/tags/tag96.xml" ContentType="application/vnd.openxmlformats-officedocument.presentationml.tags+xml"/>
  <ns0:Override PartName="/ppt/tags/tag97.xml" ContentType="application/vnd.openxmlformats-officedocument.presentationml.tags+xml"/>
  <ns0:Override PartName="/ppt/tags/tag98.xml" ContentType="application/vnd.openxmlformats-officedocument.presentationml.tags+xml"/>
  <ns0:Override PartName="/ppt/tags/tag99.xml" ContentType="application/vnd.openxmlformats-officedocument.presentationml.tags+xml"/>
  <ns0:Override PartName="/ppt/tags/tag100.xml" ContentType="application/vnd.openxmlformats-officedocument.presentationml.tags+xml"/>
  <ns0:Override PartName="/ppt/tags/tag101.xml" ContentType="application/vnd.openxmlformats-officedocument.presentationml.tags+xml"/>
  <ns0:Override PartName="/ppt/tags/tag102.xml" ContentType="application/vnd.openxmlformats-officedocument.presentationml.tags+xml"/>
  <ns0:Override PartName="/ppt/tags/tag103.xml" ContentType="application/vnd.openxmlformats-officedocument.presentationml.tags+xml"/>
  <ns0:Override PartName="/ppt/tags/tag104.xml" ContentType="application/vnd.openxmlformats-officedocument.presentationml.tags+xml"/>
  <ns0:Override PartName="/ppt/tags/tag105.xml" ContentType="application/vnd.openxmlformats-officedocument.presentationml.tags+xml"/>
  <ns0:Override PartName="/ppt/tags/tag106.xml" ContentType="application/vnd.openxmlformats-officedocument.presentationml.tags+xml"/>
  <ns0:Override PartName="/ppt/tags/tag107.xml" ContentType="application/vnd.openxmlformats-officedocument.presentationml.tags+xml"/>
  <ns0:Override PartName="/ppt/tags/tag108.xml" ContentType="application/vnd.openxmlformats-officedocument.presentationml.tags+xml"/>
  <ns0:Override PartName="/ppt/tags/tag109.xml" ContentType="application/vnd.openxmlformats-officedocument.presentationml.tags+xml"/>
  <ns0:Override PartName="/ppt/tags/tag110.xml" ContentType="application/vnd.openxmlformats-officedocument.presentationml.tags+xml"/>
  <ns0:Override PartName="/ppt/tags/tag111.xml" ContentType="application/vnd.openxmlformats-officedocument.presentationml.tags+xml"/>
  <ns0:Override PartName="/ppt/tags/tag112.xml" ContentType="application/vnd.openxmlformats-officedocument.presentationml.tags+xml"/>
  <ns0:Override PartName="/ppt/tags/tag113.xml" ContentType="application/vnd.openxmlformats-officedocument.presentationml.tags+xml"/>
  <ns0:Override PartName="/ppt/tags/tag114.xml" ContentType="application/vnd.openxmlformats-officedocument.presentationml.tags+xml"/>
  <ns0:Override PartName="/ppt/tags/tag115.xml" ContentType="application/vnd.openxmlformats-officedocument.presentationml.tags+xml"/>
  <ns0:Override PartName="/ppt/tags/tag116.xml" ContentType="application/vnd.openxmlformats-officedocument.presentationml.tags+xml"/>
  <ns0:Override PartName="/ppt/tags/tag117.xml" ContentType="application/vnd.openxmlformats-officedocument.presentationml.tags+xml"/>
  <ns0:Override PartName="/ppt/tags/tag118.xml" ContentType="application/vnd.openxmlformats-officedocument.presentationml.tags+xml"/>
  <ns0:Override PartName="/ppt/tags/tag119.xml" ContentType="application/vnd.openxmlformats-officedocument.presentationml.tags+xml"/>
  <ns0:Override PartName="/ppt/tags/tag120.xml" ContentType="application/vnd.openxmlformats-officedocument.presentationml.tags+xml"/>
  <ns0:Override PartName="/ppt/tags/tag121.xml" ContentType="application/vnd.openxmlformats-officedocument.presentationml.tags+xml"/>
  <ns0:Override PartName="/ppt/tags/tag122.xml" ContentType="application/vnd.openxmlformats-officedocument.presentationml.tags+xml"/>
  <ns0:Override PartName="/ppt/tags/tag123.xml" ContentType="application/vnd.openxmlformats-officedocument.presentationml.tags+xml"/>
  <ns0:Override PartName="/ppt/tags/tag124.xml" ContentType="application/vnd.openxmlformats-officedocument.presentationml.tags+xml"/>
  <ns0:Override PartName="/ppt/tags/tag125.xml" ContentType="application/vnd.openxmlformats-officedocument.presentationml.tags+xml"/>
  <ns0:Override PartName="/ppt/notesSlides/notesSlide5.xml" ContentType="application/vnd.openxmlformats-officedocument.presentationml.notesSlide+xml"/>
  <ns0:Override PartName="/ppt/tags/tag126.xml" ContentType="application/vnd.openxmlformats-officedocument.presentationml.tags+xml"/>
  <ns0:Override PartName="/ppt/tags/tag127.xml" ContentType="application/vnd.openxmlformats-officedocument.presentationml.tags+xml"/>
  <ns0:Override PartName="/ppt/tags/tag128.xml" ContentType="application/vnd.openxmlformats-officedocument.presentationml.tags+xml"/>
  <ns0:Override PartName="/ppt/tags/tag129.xml" ContentType="application/vnd.openxmlformats-officedocument.presentationml.tags+xml"/>
  <ns0:Override PartName="/ppt/tags/tag130.xml" ContentType="application/vnd.openxmlformats-officedocument.presentationml.tags+xml"/>
  <ns0:Override PartName="/ppt/tags/tag131.xml" ContentType="application/vnd.openxmlformats-officedocument.presentationml.tags+xml"/>
  <ns0:Override PartName="/ppt/tags/tag132.xml" ContentType="application/vnd.openxmlformats-officedocument.presentationml.tags+xml"/>
  <ns0:Override PartName="/ppt/tags/tag133.xml" ContentType="application/vnd.openxmlformats-officedocument.presentationml.tags+xml"/>
  <ns0:Override PartName="/ppt/tags/tag134.xml" ContentType="application/vnd.openxmlformats-officedocument.presentationml.tags+xml"/>
  <ns0:Override PartName="/ppt/tags/tag135.xml" ContentType="application/vnd.openxmlformats-officedocument.presentationml.tags+xml"/>
  <ns0:Override PartName="/ppt/tags/tag136.xml" ContentType="application/vnd.openxmlformats-officedocument.presentationml.tags+xml"/>
  <ns0:Override PartName="/ppt/tags/tag137.xml" ContentType="application/vnd.openxmlformats-officedocument.presentationml.tags+xml"/>
  <ns0:Override PartName="/ppt/tags/tag138.xml" ContentType="application/vnd.openxmlformats-officedocument.presentationml.tags+xml"/>
  <ns0:Override PartName="/ppt/tags/tag139.xml" ContentType="application/vnd.openxmlformats-officedocument.presentationml.tags+xml"/>
  <ns0:Override PartName="/ppt/tags/tag140.xml" ContentType="application/vnd.openxmlformats-officedocument.presentationml.tags+xml"/>
  <ns0:Override PartName="/ppt/tags/tag141.xml" ContentType="application/vnd.openxmlformats-officedocument.presentationml.tags+xml"/>
  <ns0:Override PartName="/ppt/tags/tag142.xml" ContentType="application/vnd.openxmlformats-officedocument.presentationml.tags+xml"/>
  <ns0:Override PartName="/ppt/tags/tag143.xml" ContentType="application/vnd.openxmlformats-officedocument.presentationml.tags+xml"/>
  <ns0:Override PartName="/ppt/tags/tag144.xml" ContentType="application/vnd.openxmlformats-officedocument.presentationml.tags+xml"/>
  <ns0:Override PartName="/ppt/tags/tag145.xml" ContentType="application/vnd.openxmlformats-officedocument.presentationml.tags+xml"/>
  <ns0:Override PartName="/ppt/tags/tag146.xml" ContentType="application/vnd.openxmlformats-officedocument.presentationml.tags+xml"/>
  <ns0:Override PartName="/ppt/tags/tag147.xml" ContentType="application/vnd.openxmlformats-officedocument.presentationml.tags+xml"/>
  <ns0:Override PartName="/ppt/tags/tag148.xml" ContentType="application/vnd.openxmlformats-officedocument.presentationml.tags+xml"/>
  <ns0:Override PartName="/ppt/tags/tag149.xml" ContentType="application/vnd.openxmlformats-officedocument.presentationml.tags+xml"/>
  <ns0:Override PartName="/ppt/notesSlides/notesSlide6.xml" ContentType="application/vnd.openxmlformats-officedocument.presentationml.notesSlide+xml"/>
  <ns0:Override PartName="/ppt/tags/tag150.xml" ContentType="application/vnd.openxmlformats-officedocument.presentationml.tags+xml"/>
  <ns0:Override PartName="/ppt/tags/tag151.xml" ContentType="application/vnd.openxmlformats-officedocument.presentationml.tags+xml"/>
  <ns0:Override PartName="/ppt/tags/tag152.xml" ContentType="application/vnd.openxmlformats-officedocument.presentationml.tags+xml"/>
  <ns0:Override PartName="/ppt/tags/tag153.xml" ContentType="application/vnd.openxmlformats-officedocument.presentationml.tags+xml"/>
  <ns0:Override PartName="/ppt/tags/tag154.xml" ContentType="application/vnd.openxmlformats-officedocument.presentationml.tags+xml"/>
  <ns0:Override PartName="/ppt/tags/tag155.xml" ContentType="application/vnd.openxmlformats-officedocument.presentationml.tags+xml"/>
  <ns0:Override PartName="/ppt/tags/tag156.xml" ContentType="application/vnd.openxmlformats-officedocument.presentationml.tags+xml"/>
  <ns0:Override PartName="/ppt/tags/tag157.xml" ContentType="application/vnd.openxmlformats-officedocument.presentationml.tags+xml"/>
  <ns0:Override PartName="/ppt/tags/tag158.xml" ContentType="application/vnd.openxmlformats-officedocument.presentationml.tags+xml"/>
  <ns0:Override PartName="/ppt/tags/tag159.xml" ContentType="application/vnd.openxmlformats-officedocument.presentationml.tags+xml"/>
  <ns0:Override PartName="/ppt/tags/tag160.xml" ContentType="application/vnd.openxmlformats-officedocument.presentationml.tags+xml"/>
  <ns0:Override PartName="/ppt/tags/tag161.xml" ContentType="application/vnd.openxmlformats-officedocument.presentationml.tags+xml"/>
  <ns0:Override PartName="/ppt/tags/tag162.xml" ContentType="application/vnd.openxmlformats-officedocument.presentationml.tags+xml"/>
  <ns0:Override PartName="/ppt/tags/tag163.xml" ContentType="application/vnd.openxmlformats-officedocument.presentationml.tags+xml"/>
  <ns0:Override PartName="/ppt/tags/tag164.xml" ContentType="application/vnd.openxmlformats-officedocument.presentationml.tags+xml"/>
  <ns0:Override PartName="/ppt/tags/tag165.xml" ContentType="application/vnd.openxmlformats-officedocument.presentationml.tags+xml"/>
  <ns0:Override PartName="/ppt/tags/tag166.xml" ContentType="application/vnd.openxmlformats-officedocument.presentationml.tags+xml"/>
  <ns0:Override PartName="/ppt/tags/tag167.xml" ContentType="application/vnd.openxmlformats-officedocument.presentationml.tags+xml"/>
  <ns0:Override PartName="/ppt/tags/tag168.xml" ContentType="application/vnd.openxmlformats-officedocument.presentationml.tags+xml"/>
  <ns0:Override PartName="/ppt/tags/tag169.xml" ContentType="application/vnd.openxmlformats-officedocument.presentationml.tags+xml"/>
  <ns0:Override PartName="/ppt/notesSlides/notesSlide7.xml" ContentType="application/vnd.openxmlformats-officedocument.presentationml.notesSlide+xml"/>
  <ns0:Override PartName="/ppt/tags/tag170.xml" ContentType="application/vnd.openxmlformats-officedocument.presentationml.tags+xml"/>
  <ns0:Override PartName="/ppt/tags/tag171.xml" ContentType="application/vnd.openxmlformats-officedocument.presentationml.tags+xml"/>
  <ns0:Override PartName="/ppt/tags/tag172.xml" ContentType="application/vnd.openxmlformats-officedocument.presentationml.tags+xml"/>
  <ns0:Override PartName="/ppt/tags/tag173.xml" ContentType="application/vnd.openxmlformats-officedocument.presentationml.tags+xml"/>
  <ns0:Override PartName="/ppt/tags/tag174.xml" ContentType="application/vnd.openxmlformats-officedocument.presentationml.tags+xml"/>
  <ns0:Override PartName="/ppt/tags/tag175.xml" ContentType="application/vnd.openxmlformats-officedocument.presentationml.tags+xml"/>
  <ns0:Override PartName="/ppt/tags/tag176.xml" ContentType="application/vnd.openxmlformats-officedocument.presentationml.tags+xml"/>
  <ns0:Override PartName="/ppt/tags/tag177.xml" ContentType="application/vnd.openxmlformats-officedocument.presentationml.tags+xml"/>
  <ns0:Override PartName="/ppt/tags/tag178.xml" ContentType="application/vnd.openxmlformats-officedocument.presentationml.tags+xml"/>
  <ns0:Override PartName="/ppt/tags/tag179.xml" ContentType="application/vnd.openxmlformats-officedocument.presentationml.tags+xml"/>
  <ns0:Override PartName="/ppt/tags/tag180.xml" ContentType="application/vnd.openxmlformats-officedocument.presentationml.tags+xml"/>
  <ns0:Override PartName="/ppt/tags/tag181.xml" ContentType="application/vnd.openxmlformats-officedocument.presentationml.tags+xml"/>
  <ns0:Override PartName="/ppt/tags/tag182.xml" ContentType="application/vnd.openxmlformats-officedocument.presentationml.tags+xml"/>
  <ns0:Override PartName="/ppt/tags/tag183.xml" ContentType="application/vnd.openxmlformats-officedocument.presentationml.tags+xml"/>
  <ns0:Override PartName="/ppt/tags/tag184.xml" ContentType="application/vnd.openxmlformats-officedocument.presentationml.tags+xml"/>
  <ns0:Override PartName="/ppt/tags/tag185.xml" ContentType="application/vnd.openxmlformats-officedocument.presentationml.tags+xml"/>
  <ns0:Override PartName="/ppt/tags/tag186.xml" ContentType="application/vnd.openxmlformats-officedocument.presentationml.tags+xml"/>
  <ns0:Override PartName="/ppt/tags/tag187.xml" ContentType="application/vnd.openxmlformats-officedocument.presentationml.tags+xml"/>
  <ns0:Override PartName="/ppt/tags/tag188.xml" ContentType="application/vnd.openxmlformats-officedocument.presentationml.tags+xml"/>
  <ns0:Override PartName="/ppt/tags/tag189.xml" ContentType="application/vnd.openxmlformats-officedocument.presentationml.tags+xml"/>
  <ns0:Override PartName="/ppt/notesSlides/notesSlide8.xml" ContentType="application/vnd.openxmlformats-officedocument.presentationml.notesSlide+xml"/>
  <ns0:Override PartName="/ppt/tags/tag190.xml" ContentType="application/vnd.openxmlformats-officedocument.presentationml.tags+xml"/>
  <ns0:Override PartName="/ppt/tags/tag191.xml" ContentType="application/vnd.openxmlformats-officedocument.presentationml.tags+xml"/>
  <ns0:Override PartName="/ppt/tags/tag192.xml" ContentType="application/vnd.openxmlformats-officedocument.presentationml.tags+xml"/>
  <ns0:Override PartName="/ppt/tags/tag193.xml" ContentType="application/vnd.openxmlformats-officedocument.presentationml.tags+xml"/>
  <ns0:Override PartName="/ppt/tags/tag194.xml" ContentType="application/vnd.openxmlformats-officedocument.presentationml.tags+xml"/>
  <ns0:Override PartName="/ppt/tags/tag195.xml" ContentType="application/vnd.openxmlformats-officedocument.presentationml.tags+xml"/>
  <ns0:Override PartName="/ppt/tags/tag196.xml" ContentType="application/vnd.openxmlformats-officedocument.presentationml.tags+xml"/>
  <ns0:Override PartName="/ppt/tags/tag197.xml" ContentType="application/vnd.openxmlformats-officedocument.presentationml.tags+xml"/>
  <ns0:Override PartName="/ppt/tags/tag198.xml" ContentType="application/vnd.openxmlformats-officedocument.presentationml.tags+xml"/>
  <ns0:Override PartName="/ppt/tags/tag199.xml" ContentType="application/vnd.openxmlformats-officedocument.presentationml.tags+xml"/>
  <ns0:Override PartName="/ppt/tags/tag200.xml" ContentType="application/vnd.openxmlformats-officedocument.presentationml.tags+xml"/>
  <ns0:Override PartName="/ppt/tags/tag201.xml" ContentType="application/vnd.openxmlformats-officedocument.presentationml.tags+xml"/>
  <ns0:Override PartName="/ppt/tags/tag202.xml" ContentType="application/vnd.openxmlformats-officedocument.presentationml.tags+xml"/>
  <ns0:Override PartName="/ppt/tags/tag203.xml" ContentType="application/vnd.openxmlformats-officedocument.presentationml.tags+xml"/>
  <ns0:Override PartName="/ppt/tags/tag204.xml" ContentType="application/vnd.openxmlformats-officedocument.presentationml.tags+xml"/>
  <ns0:Override PartName="/ppt/tags/tag205.xml" ContentType="application/vnd.openxmlformats-officedocument.presentationml.tags+xml"/>
  <ns0:Override PartName="/ppt/notesSlides/notesSlide9.xml" ContentType="application/vnd.openxmlformats-officedocument.presentationml.notesSlide+xml"/>
  <ns0:Override PartName="/ppt/tags/tag206.xml" ContentType="application/vnd.openxmlformats-officedocument.presentationml.tags+xml"/>
  <ns0:Override PartName="/ppt/tags/tag207.xml" ContentType="application/vnd.openxmlformats-officedocument.presentationml.tags+xml"/>
  <ns0:Override PartName="/ppt/tags/tag208.xml" ContentType="application/vnd.openxmlformats-officedocument.presentationml.tags+xml"/>
  <ns0:Override PartName="/ppt/tags/tag209.xml" ContentType="application/vnd.openxmlformats-officedocument.presentationml.tags+xml"/>
  <ns0:Override PartName="/ppt/tags/tag210.xml" ContentType="application/vnd.openxmlformats-officedocument.presentationml.tags+xml"/>
  <ns0:Override PartName="/ppt/tags/tag211.xml" ContentType="application/vnd.openxmlformats-officedocument.presentationml.tags+xml"/>
  <ns0:Override PartName="/ppt/tags/tag212.xml" ContentType="application/vnd.openxmlformats-officedocument.presentationml.tags+xml"/>
  <ns0:Override PartName="/ppt/tags/tag213.xml" ContentType="application/vnd.openxmlformats-officedocument.presentationml.tags+xml"/>
  <ns0:Override PartName="/ppt/tags/tag214.xml" ContentType="application/vnd.openxmlformats-officedocument.presentationml.tags+xml"/>
  <ns0:Override PartName="/ppt/tags/tag215.xml" ContentType="application/vnd.openxmlformats-officedocument.presentationml.tags+xml"/>
  <ns0:Override PartName="/ppt/tags/tag216.xml" ContentType="application/vnd.openxmlformats-officedocument.presentationml.tags+xml"/>
  <ns0:Override PartName="/ppt/tags/tag217.xml" ContentType="application/vnd.openxmlformats-officedocument.presentationml.tags+xml"/>
  <ns0:Override PartName="/ppt/tags/tag218.xml" ContentType="application/vnd.openxmlformats-officedocument.presentationml.tags+xml"/>
  <ns0:Override PartName="/ppt/tags/tag219.xml" ContentType="application/vnd.openxmlformats-officedocument.presentationml.tags+xml"/>
  <ns0:Override PartName="/ppt/tags/tag220.xml" ContentType="application/vnd.openxmlformats-officedocument.presentationml.tags+xml"/>
  <ns0:Override PartName="/ppt/tags/tag221.xml" ContentType="application/vnd.openxmlformats-officedocument.presentationml.tags+xml"/>
  <ns0:Override PartName="/ppt/tags/tag222.xml" ContentType="application/vnd.openxmlformats-officedocument.presentationml.tags+xml"/>
  <ns0:Override PartName="/ppt/tags/tag223.xml" ContentType="application/vnd.openxmlformats-officedocument.presentationml.tags+xml"/>
  <ns0:Override PartName="/ppt/tags/tag224.xml" ContentType="application/vnd.openxmlformats-officedocument.presentationml.tags+xml"/>
  <ns0:Override PartName="/ppt/tags/tag225.xml" ContentType="application/vnd.openxmlformats-officedocument.presentationml.tags+xml"/>
  <ns0:Override PartName="/ppt/tags/tag226.xml" ContentType="application/vnd.openxmlformats-officedocument.presentationml.tags+xml"/>
  <ns0:Override PartName="/ppt/tags/tag227.xml" ContentType="application/vnd.openxmlformats-officedocument.presentationml.tags+xml"/>
  <ns0:Override PartName="/ppt/tags/tag228.xml" ContentType="application/vnd.openxmlformats-officedocument.presentationml.tags+xml"/>
  <ns0:Override PartName="/ppt/notesSlides/notesSlide10.xml" ContentType="application/vnd.openxmlformats-officedocument.presentationml.notesSlide+xml"/>
  <ns0:Override PartName="/ppt/tags/tag229.xml" ContentType="application/vnd.openxmlformats-officedocument.presentationml.tags+xml"/>
  <ns0:Override PartName="/ppt/tags/tag230.xml" ContentType="application/vnd.openxmlformats-officedocument.presentationml.tags+xml"/>
  <ns0:Override PartName="/ppt/tags/tag231.xml" ContentType="application/vnd.openxmlformats-officedocument.presentationml.tags+xml"/>
  <ns0:Override PartName="/ppt/tags/tag232.xml" ContentType="application/vnd.openxmlformats-officedocument.presentationml.tags+xml"/>
  <ns0:Override PartName="/ppt/tags/tag233.xml" ContentType="application/vnd.openxmlformats-officedocument.presentationml.tags+xml"/>
  <ns0:Override PartName="/ppt/tags/tag234.xml" ContentType="application/vnd.openxmlformats-officedocument.presentationml.tags+xml"/>
  <ns0:Override PartName="/ppt/tags/tag235.xml" ContentType="application/vnd.openxmlformats-officedocument.presentationml.tags+xml"/>
  <ns0:Override PartName="/ppt/tags/tag236.xml" ContentType="application/vnd.openxmlformats-officedocument.presentationml.tags+xml"/>
  <ns0:Override PartName="/ppt/tags/tag237.xml" ContentType="application/vnd.openxmlformats-officedocument.presentationml.tags+xml"/>
  <ns0:Override PartName="/ppt/tags/tag238.xml" ContentType="application/vnd.openxmlformats-officedocument.presentationml.tags+xml"/>
  <ns0:Override PartName="/ppt/tags/tag239.xml" ContentType="application/vnd.openxmlformats-officedocument.presentationml.tags+xml"/>
  <ns0:Override PartName="/ppt/tags/tag240.xml" ContentType="application/vnd.openxmlformats-officedocument.presentationml.tags+xml"/>
  <ns0:Override PartName="/ppt/tags/tag241.xml" ContentType="application/vnd.openxmlformats-officedocument.presentationml.tags+xml"/>
  <ns0:Override PartName="/ppt/tags/tag242.xml" ContentType="application/vnd.openxmlformats-officedocument.presentationml.tags+xml"/>
  <ns0:Override PartName="/ppt/tags/tag243.xml" ContentType="application/vnd.openxmlformats-officedocument.presentationml.tags+xml"/>
  <ns0:Override PartName="/ppt/tags/tag244.xml" ContentType="application/vnd.openxmlformats-officedocument.presentationml.tags+xml"/>
  <ns0:Override PartName="/ppt/tags/tag245.xml" ContentType="application/vnd.openxmlformats-officedocument.presentationml.tags+xml"/>
  <ns0:Override PartName="/ppt/tags/tag246.xml" ContentType="application/vnd.openxmlformats-officedocument.presentationml.tags+xml"/>
  <ns0:Override PartName="/ppt/tags/tag247.xml" ContentType="application/vnd.openxmlformats-officedocument.presentationml.tags+xml"/>
  <ns0:Override PartName="/ppt/tags/tag248.xml" ContentType="application/vnd.openxmlformats-officedocument.presentationml.tags+xml"/>
  <ns0:Override PartName="/ppt/tags/tag249.xml" ContentType="application/vnd.openxmlformats-officedocument.presentationml.tags+xml"/>
  <ns0:Override PartName="/ppt/tags/tag250.xml" ContentType="application/vnd.openxmlformats-officedocument.presentationml.tags+xml"/>
  <ns0:Override PartName="/ppt/notesSlides/notesSlide11.xml" ContentType="application/vnd.openxmlformats-officedocument.presentationml.notesSlide+xml"/>
  <ns0:Override PartName="/ppt/tags/tag251.xml" ContentType="application/vnd.openxmlformats-officedocument.presentationml.tags+xml"/>
  <ns0:Override PartName="/ppt/tags/tag252.xml" ContentType="application/vnd.openxmlformats-officedocument.presentationml.tags+xml"/>
  <ns0:Override PartName="/ppt/tags/tag253.xml" ContentType="application/vnd.openxmlformats-officedocument.presentationml.tags+xml"/>
  <ns0:Override PartName="/ppt/tags/tag254.xml" ContentType="application/vnd.openxmlformats-officedocument.presentationml.tags+xml"/>
  <ns0:Override PartName="/ppt/tags/tag255.xml" ContentType="application/vnd.openxmlformats-officedocument.presentationml.tags+xml"/>
  <ns0:Override PartName="/ppt/tags/tag256.xml" ContentType="application/vnd.openxmlformats-officedocument.presentationml.tags+xml"/>
  <ns0:Override PartName="/ppt/tags/tag257.xml" ContentType="application/vnd.openxmlformats-officedocument.presentationml.tags+xml"/>
  <ns0:Override PartName="/ppt/tags/tag258.xml" ContentType="application/vnd.openxmlformats-officedocument.presentationml.tags+xml"/>
  <ns0:Override PartName="/ppt/tags/tag259.xml" ContentType="application/vnd.openxmlformats-officedocument.presentationml.tags+xml"/>
  <ns0:Override PartName="/ppt/tags/tag260.xml" ContentType="application/vnd.openxmlformats-officedocument.presentationml.tags+xml"/>
  <ns0:Override PartName="/ppt/tags/tag261.xml" ContentType="application/vnd.openxmlformats-officedocument.presentationml.tags+xml"/>
  <ns0:Override PartName="/ppt/tags/tag262.xml" ContentType="application/vnd.openxmlformats-officedocument.presentationml.tags+xml"/>
  <ns0:Override PartName="/ppt/tags/tag263.xml" ContentType="application/vnd.openxmlformats-officedocument.presentationml.tags+xml"/>
  <ns0:Override PartName="/ppt/tags/tag264.xml" ContentType="application/vnd.openxmlformats-officedocument.presentationml.tags+xml"/>
  <ns0:Override PartName="/ppt/tags/tag265.xml" ContentType="application/vnd.openxmlformats-officedocument.presentationml.tags+xml"/>
  <ns0:Override PartName="/ppt/tags/tag266.xml" ContentType="application/vnd.openxmlformats-officedocument.presentationml.tags+xml"/>
  <ns0:Override PartName="/ppt/tags/tag267.xml" ContentType="application/vnd.openxmlformats-officedocument.presentationml.tags+xml"/>
  <ns0:Override PartName="/ppt/tags/tag268.xml" ContentType="application/vnd.openxmlformats-officedocument.presentationml.tags+xml"/>
  <ns0:Override PartName="/ppt/tags/tag269.xml" ContentType="application/vnd.openxmlformats-officedocument.presentationml.tags+xml"/>
  <ns0:Override PartName="/ppt/tags/tag270.xml" ContentType="application/vnd.openxmlformats-officedocument.presentationml.tags+xml"/>
  <ns0:Override PartName="/ppt/tags/tag271.xml" ContentType="application/vnd.openxmlformats-officedocument.presentationml.tags+xml"/>
  <ns0:Override PartName="/ppt/tags/tag272.xml" ContentType="application/vnd.openxmlformats-officedocument.presentationml.tags+xml"/>
  <ns0:Override PartName="/ppt/tags/tag273.xml" ContentType="application/vnd.openxmlformats-officedocument.presentationml.tags+xml"/>
  <ns0:Override PartName="/ppt/notesSlides/notesSlide12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Default Extension="mp4" ContentType="video/mp4"/>
  <ns0:Default Extension="png" ContentType="image/png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TW">
        <a:latin typeface="Segoe UI"/>
        <a:ea typeface="Microsoft JhengHei"/>
        <a:cs typeface="Segoe UI"/>
      </a:defRPr>
    </a:defPPr>
    <a:lvl1pPr marL="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1pPr>
    <a:lvl2pPr marL="4572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2pPr>
    <a:lvl3pPr marL="9144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3pPr>
    <a:lvl4pPr marL="13716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4pPr>
    <a:lvl5pPr marL="18288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5pPr>
    <a:lvl6pPr marL="22860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6pPr>
    <a:lvl7pPr marL="27432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7pPr>
    <a:lvl8pPr marL="32004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8pPr>
    <a:lvl9pPr marL="3657600" algn="l" defTabSz="457200" rtl="0" eaLnBrk="1" latinLnBrk="0" hangingPunct="1">
      <a:defRPr lang="zh-TW" sz="1800" kern="1200">
        <a:solidFill>
          <a:schemeClr val="tx1"/>
        </a:solidFill>
        <a:latin typeface="Segoe UI"/>
        <a:ea typeface="Microsoft JhengHei"/>
        <a:cs typeface="Segoe UI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TW">
              <a:latin typeface="Segoe UI"/>
              <a:ea typeface="Microsoft JhengHei"/>
              <a:cs typeface="Segoe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TW" sz="1200">
        <a:latin typeface="Segoe UI"/>
        <a:ea typeface="Microsoft JhengHei"/>
        <a:cs typeface="Segoe U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我們把入侵偵測、案例證據與受控處置串成同一事件流程，讓管理者能核對判斷依據，並追蹤處置與回復。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本頁為三十秒、兩倍速內嵌方法動畫，進入頁面後播放一次，結束停留。先讓評審看見同一事件的完整流程，再接續架構說明；影片計入五分鐘流程。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架構分為上下兩層的四個區域。流量表徵保留內容、時間差與方向，同一輸入平行送入兩個偵測模型，再融合為固定十七類、校準信心與流量表徵；後段以五百二十九維任務向量取得前五筆訓練案例，由本機AI給出支持、複核或不確定。策略閘門檢查範圍與期限，完成套用、讀回和到期撤銷。所有產物透過同一事件識別碼連結，AI不改寫正式分類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前段讓兩種模型分析同一筆流量。CTBM掌握封包內容、時間差與方向，PBCNN補充短視窗的位元組模式；經校準與融合閘門整合後，輸出十七類判定、信心與流量表徵。這些表徵會接到下一頁的案例檢索。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我們把五百一十二維流量表徵與十七維類別機率，組成五百二十九維任務向量，查詢只由訓練資料建立的案例庫。檢索同時考慮流量特徵與判定資訊，本機AI再依前五筆案例核對證據，回傳支持、複核或不確定；正式分類與稽核結論保留在同一事件紀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策略閘門檢查範圍、動作白名單與有效期，通過後才套用並讀回規則，再於到期撤銷。六種隔離情境包含四種套用規則、兩種監測或蒐證；背景服務六種皆保留，回復完整性六種皆通過。這裡呈現的是隔離TCP交易與回條驗證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偵測效果在相同一萬八千九百九十八筆封存測試比較。PBCNN的Macro-F1為百分之七十九點七五，CTBM為九十二點一零，融合後為九十三點零五；整體準確率百分之九十八點零八。比較採同一個測試集，讓互補融合的效果可以直接核對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在一千五百五十筆真實訓練案例和四百六十三筆測試查詢中，前五筆命中率為百分之九十七點六二，MRR為九十三點八九。相同四百六十三筆事件的本機稽核中，四百一十五筆支持、十三筆複核、三十五筆不確定；支持精確率九十七點一一。三十筆偵測誤判中，十八筆分流到複核或不確定，其餘十二筆仍獲支持，所以處置另受策略閘門控制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十七類整合重跑與六種隔離情境，驗證了同事件的判定、證據和回復紀錄。感謝聆聽，敬請指教。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答詢備用，不在五分鐘報告主動講述。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Q1：創新在哪裡？與一般 IDS 加上 RAG 有何不同？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把流量表徵與類別機率組成任務向量，檢索相關證據。AI 保留正式分類，同一事件一路連到策略與回復回條。互補判定 → 案例檢索 → 證據稽核 → 受控處置。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Q2：如何證明前段判斷與後段處置已經串起來？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17 類本機推論與 AI 稽核已逐類執行，產物使用同一事件 ID。6 種隔離情境的回條綁定同次執行，過期執行 ID 會被拒絕。分類、Top-5、Judge、策略與回條綁定同一事件。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答詢備用，不在五分鐘報告主動講述。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Q3：評估資料如何切分？案例庫是否洩漏測試答案？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偵測比較使用相同 18,998 筆測試；案例庫只由訓練資料建立。檢索使用 1,550 筆案例、463 筆查詢，訓練與查詢沒有重疊。偵測與檢索分開評估；AI 輸入不包含真實標籤。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Q4：AI 若支持錯誤判斷，如何避免直接誤封？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30 筆偵測誤判有 18 筆分流；其餘 12 筆仍獲 AI 支持。處置另經信心、政策、動作白名單與期限檢查，並可到期撤銷。AI 不改寫正式分類；複核／不確定走監測或蒐證。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dirty="0">
                <a:latin typeface="Segoe UI"/>
                <a:ea typeface="Microsoft JhengHei"/>
                <a:cs typeface="Segoe UI"/>
              </a:rPr>
              <a:t>答詢備用，不在五分鐘報告主動講述。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Q5：6/6 是否代表各種真實攻擊都能完全防住？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6/6 指隔離 TCP 情境中的背景服務保留及回復完整性。4 種情境套用規則、2 種監測或蒐證；不等同真實攻擊防禦率。偵測 Accuracy 98.08%、Macro-F1 93.05% 另依測試集計算。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Q6：如何部署、保護資料，並接到既有環境？</a:t>
            </a:r>
          </a:p>
          <a:p>
            <a:endParaRPr lang="zh-TW" dirty="0">
              <a:latin typeface="Segoe UI"/>
              <a:ea typeface="Microsoft JhengHei"/>
              <a:cs typeface="Segoe UI"/>
            </a:endParaRPr>
          </a:p>
          <a:p>
            <a:r>
              <a:rPr lang="zh-TW" dirty="0">
                <a:latin typeface="Segoe UI"/>
                <a:ea typeface="Microsoft JhengHei"/>
                <a:cs typeface="Segoe UI"/>
              </a:rPr>
              <a:t>本機 GPU 模型與本機案例庫處理事件，敏感欄位先遮罩。17 類已以前處理張量驗證；場域接入依資料介面配置。本機 AI 稽核；私有權重、輸入及逐筆回覆不公開。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s_editori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TW" smtClean="0">
                <a:latin typeface="Segoe UI"/>
                <a:ea typeface="Microsoft JhengHei"/>
                <a:cs typeface="Segoe UI"/>
              </a:rPr>
              <a:t>10/30/2026</a:t>
            </a:fld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>
                <a:latin typeface="Segoe UI"/>
                <a:ea typeface="Microsoft JhengHei"/>
                <a:cs typeface="Segoe UI"/>
              </a:rPr>
              <a:t>‹#›</a:t>
            </a:fld>
            <a:endParaRPr lang="zh-TW">
              <a:latin typeface="Segoe UI"/>
              <a:ea typeface="Microsoft JhengHei"/>
              <a:cs typeface="Segoe U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inals_editoria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TW" sz="1200">
                <a:solidFill>
                  <a:schemeClr val="tx1">
                    <a:tint val="75000"/>
                  </a:schemeClr>
                </a:solidFill>
                <a:latin typeface="Segoe UI"/>
                <a:ea typeface="Microsoft JhengHei"/>
                <a:cs typeface="Segoe UI"/>
              </a:defRPr>
            </a:lvl1pPr>
          </a:lstStyle>
          <a:p>
            <a:fld id="{5BCAD085-E8A6-8845-BD4E-CB4CCA059FC4}" type="datetimeFigureOut">
              <a:rPr lang="en-US" altLang="zh-TW" smtClean="0">
                <a:latin typeface="Segoe UI"/>
                <a:ea typeface="Microsoft JhengHei"/>
                <a:cs typeface="Segoe UI"/>
              </a:rPr>
              <a:t>10/30/2026</a:t>
            </a:fld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TW" sz="1200">
                <a:solidFill>
                  <a:schemeClr val="tx1">
                    <a:tint val="75000"/>
                  </a:schemeClr>
                </a:solidFill>
                <a:latin typeface="Segoe UI"/>
                <a:ea typeface="Microsoft JhengHei"/>
                <a:cs typeface="Segoe UI"/>
              </a:defRPr>
            </a:lvl1pPr>
          </a:lstStyle>
          <a:p>
            <a:endParaRPr lang="zh-TW">
              <a:latin typeface="Segoe UI"/>
              <a:ea typeface="Microsoft JhengHei"/>
              <a:cs typeface="Segoe U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TW" sz="1200">
                <a:solidFill>
                  <a:schemeClr val="tx1">
                    <a:tint val="75000"/>
                  </a:schemeClr>
                </a:solidFill>
                <a:latin typeface="Segoe UI"/>
                <a:ea typeface="Microsoft JhengHei"/>
                <a:cs typeface="Segoe UI"/>
              </a:defRPr>
            </a:lvl1pPr>
          </a:lstStyle>
          <a:p>
            <a:fld id="{C1FF6DA9-008F-8B48-92A6-B652298478BF}" type="slidenum">
              <a:rPr lang="zh-TW" smtClean="0">
                <a:latin typeface="Segoe UI"/>
                <a:ea typeface="Microsoft JhengHei"/>
                <a:cs typeface="Segoe UI"/>
              </a:rPr>
              <a:t>‹#›</a:t>
            </a:fld>
            <a:endParaRPr lang="zh-TW">
              <a:latin typeface="Segoe UI"/>
              <a:ea typeface="Microsoft JhengHei"/>
              <a:cs typeface="Segoe U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TW" sz="2850" kern="1200">
          <a:solidFill>
            <a:schemeClr val="tx1"/>
          </a:solidFill>
          <a:latin typeface="Segoe UI"/>
          <a:ea typeface="Microsoft JhengHei"/>
          <a:cs typeface="Segoe U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Segoe UI"/>
        <a:buChar char="•"/>
        <a:defRPr lang="zh-TW" sz="1500" kern="1200">
          <a:solidFill>
            <a:schemeClr val="tx1"/>
          </a:solidFill>
          <a:latin typeface="Segoe UI"/>
          <a:ea typeface="Microsoft JhengHei"/>
          <a:cs typeface="Segoe UI"/>
        </a:defRPr>
      </a:lvl1pPr>
      <a:lvl2pPr marL="742950" indent="-285750" algn="l" defTabSz="457200" rtl="0" eaLnBrk="1" latinLnBrk="0" hangingPunct="1">
        <a:spcBef>
          <a:spcPct val="20000"/>
        </a:spcBef>
        <a:buFont typeface="Segoe UI"/>
        <a:buChar char="–"/>
        <a:defRPr lang="zh-TW" sz="1400" kern="1200">
          <a:solidFill>
            <a:schemeClr val="tx1"/>
          </a:solidFill>
          <a:latin typeface="Segoe UI"/>
          <a:ea typeface="Microsoft JhengHei"/>
          <a:cs typeface="Segoe UI"/>
        </a:defRPr>
      </a:lvl2pPr>
      <a:lvl3pPr marL="1143000" indent="-228600" algn="l" defTabSz="457200" rtl="0" eaLnBrk="1" latinLnBrk="0" hangingPunct="1">
        <a:spcBef>
          <a:spcPct val="20000"/>
        </a:spcBef>
        <a:buFont typeface="Segoe UI"/>
        <a:buChar char="•"/>
        <a:defRPr lang="zh-TW" sz="1300" kern="1200">
          <a:solidFill>
            <a:schemeClr val="tx1"/>
          </a:solidFill>
          <a:latin typeface="Segoe UI"/>
          <a:ea typeface="Microsoft JhengHei"/>
          <a:cs typeface="Segoe UI"/>
        </a:defRPr>
      </a:lvl3pPr>
      <a:lvl4pPr marL="1600200" indent="-228600" algn="l" defTabSz="457200" rtl="0" eaLnBrk="1" latinLnBrk="0" hangingPunct="1">
        <a:spcBef>
          <a:spcPct val="20000"/>
        </a:spcBef>
        <a:buFont typeface="Segoe UI"/>
        <a:buChar char="–"/>
        <a:defRPr lang="zh-TW" sz="1200" kern="1200">
          <a:solidFill>
            <a:schemeClr val="tx1"/>
          </a:solidFill>
          <a:latin typeface="Segoe UI"/>
          <a:ea typeface="Microsoft JhengHei"/>
          <a:cs typeface="Segoe UI"/>
        </a:defRPr>
      </a:lvl4pPr>
      <a:lvl5pPr marL="2057400" indent="-228600" algn="l" defTabSz="457200" rtl="0" eaLnBrk="1" latinLnBrk="0" hangingPunct="1">
        <a:spcBef>
          <a:spcPct val="20000"/>
        </a:spcBef>
        <a:buFont typeface="Segoe UI"/>
        <a:buChar char="»"/>
        <a:defRPr lang="zh-TW" sz="1100" kern="1200">
          <a:solidFill>
            <a:schemeClr val="tx1"/>
          </a:solidFill>
          <a:latin typeface="Segoe UI"/>
          <a:ea typeface="Microsoft JhengHei"/>
          <a:cs typeface="Segoe UI"/>
        </a:defRPr>
      </a:lvl5pPr>
      <a:lvl6pPr marL="2514600" indent="-228600" algn="l" defTabSz="457200" rtl="0" eaLnBrk="1" latinLnBrk="0" hangingPunct="1">
        <a:spcBef>
          <a:spcPct val="20000"/>
        </a:spcBef>
        <a:buFont typeface="Segoe UI"/>
        <a:buChar char="•"/>
        <a:defRPr lang="zh-TW" sz="1050" kern="1200">
          <a:solidFill>
            <a:schemeClr val="tx1"/>
          </a:solidFill>
          <a:latin typeface="Segoe UI"/>
          <a:ea typeface="Microsoft JhengHei"/>
          <a:cs typeface="Segoe UI"/>
        </a:defRPr>
      </a:lvl6pPr>
      <a:lvl7pPr marL="2971800" indent="-228600" algn="l" defTabSz="457200" rtl="0" eaLnBrk="1" latinLnBrk="0" hangingPunct="1">
        <a:spcBef>
          <a:spcPct val="20000"/>
        </a:spcBef>
        <a:buFont typeface="Segoe UI"/>
        <a:buChar char="•"/>
        <a:defRPr lang="zh-TW" sz="950" kern="1200">
          <a:solidFill>
            <a:schemeClr val="tx1"/>
          </a:solidFill>
          <a:latin typeface="Segoe UI"/>
          <a:ea typeface="Microsoft JhengHei"/>
          <a:cs typeface="Segoe UI"/>
        </a:defRPr>
      </a:lvl7pPr>
      <a:lvl8pPr marL="3429000" indent="-228600" algn="l" defTabSz="457200" rtl="0" eaLnBrk="1" latinLnBrk="0" hangingPunct="1">
        <a:spcBef>
          <a:spcPct val="20000"/>
        </a:spcBef>
        <a:buFont typeface="Segoe UI"/>
        <a:buChar char="•"/>
        <a:defRPr lang="zh-TW" sz="850" kern="1200">
          <a:solidFill>
            <a:schemeClr val="tx1"/>
          </a:solidFill>
          <a:latin typeface="Segoe UI"/>
          <a:ea typeface="Microsoft JhengHei"/>
          <a:cs typeface="Segoe UI"/>
        </a:defRPr>
      </a:lvl8pPr>
      <a:lvl9pPr marL="3886200" indent="-228600" algn="l" defTabSz="457200" rtl="0" eaLnBrk="1" latinLnBrk="0" hangingPunct="1">
        <a:spcBef>
          <a:spcPct val="20000"/>
        </a:spcBef>
        <a:buFont typeface="Segoe UI"/>
        <a:buChar char="•"/>
        <a:defRPr lang="zh-TW" sz="800" kern="1200">
          <a:solidFill>
            <a:schemeClr val="tx1"/>
          </a:solidFill>
          <a:latin typeface="Segoe UI"/>
          <a:ea typeface="Microsoft JhengHei"/>
          <a:cs typeface="Segoe UI"/>
        </a:defRPr>
      </a:lvl9pPr>
    </p:bodyStyle>
    <p:otherStyle>
      <a:defPPr>
        <a:defRPr lang="zh-TW">
          <a:latin typeface="Segoe UI"/>
          <a:ea typeface="Microsoft JhengHei"/>
          <a:cs typeface="Segoe UI"/>
        </a:defRPr>
      </a:defPPr>
      <a:lvl1pPr marL="0" algn="l" defTabSz="457200" rtl="0" eaLnBrk="1" latinLnBrk="0" hangingPunct="1">
        <a:defRPr lang="zh-TW" sz="1500" kern="1200">
          <a:solidFill>
            <a:schemeClr val="tx1"/>
          </a:solidFill>
          <a:latin typeface="Segoe UI"/>
          <a:ea typeface="Microsoft JhengHei"/>
          <a:cs typeface="Segoe UI"/>
        </a:defRPr>
      </a:lvl1pPr>
      <a:lvl2pPr marL="457200" algn="l" defTabSz="457200" rtl="0" eaLnBrk="1" latinLnBrk="0" hangingPunct="1">
        <a:defRPr lang="zh-TW" sz="1400" kern="1200">
          <a:solidFill>
            <a:schemeClr val="tx1"/>
          </a:solidFill>
          <a:latin typeface="Segoe UI"/>
          <a:ea typeface="Microsoft JhengHei"/>
          <a:cs typeface="Segoe UI"/>
        </a:defRPr>
      </a:lvl2pPr>
      <a:lvl3pPr marL="914400" algn="l" defTabSz="457200" rtl="0" eaLnBrk="1" latinLnBrk="0" hangingPunct="1">
        <a:defRPr lang="zh-TW" sz="1300" kern="1200">
          <a:solidFill>
            <a:schemeClr val="tx1"/>
          </a:solidFill>
          <a:latin typeface="Segoe UI"/>
          <a:ea typeface="Microsoft JhengHei"/>
          <a:cs typeface="Segoe UI"/>
        </a:defRPr>
      </a:lvl3pPr>
      <a:lvl4pPr marL="1371600" algn="l" defTabSz="457200" rtl="0" eaLnBrk="1" latinLnBrk="0" hangingPunct="1">
        <a:defRPr lang="zh-TW" sz="1200" kern="1200">
          <a:solidFill>
            <a:schemeClr val="tx1"/>
          </a:solidFill>
          <a:latin typeface="Segoe UI"/>
          <a:ea typeface="Microsoft JhengHei"/>
          <a:cs typeface="Segoe UI"/>
        </a:defRPr>
      </a:lvl4pPr>
      <a:lvl5pPr marL="1828800" algn="l" defTabSz="457200" rtl="0" eaLnBrk="1" latinLnBrk="0" hangingPunct="1">
        <a:defRPr lang="zh-TW" sz="1100" kern="1200">
          <a:solidFill>
            <a:schemeClr val="tx1"/>
          </a:solidFill>
          <a:latin typeface="Segoe UI"/>
          <a:ea typeface="Microsoft JhengHei"/>
          <a:cs typeface="Segoe UI"/>
        </a:defRPr>
      </a:lvl5pPr>
      <a:lvl6pPr marL="2286000" algn="l" defTabSz="457200" rtl="0" eaLnBrk="1" latinLnBrk="0" hangingPunct="1">
        <a:defRPr lang="zh-TW" sz="1050" kern="1200">
          <a:solidFill>
            <a:schemeClr val="tx1"/>
          </a:solidFill>
          <a:latin typeface="Segoe UI"/>
          <a:ea typeface="Microsoft JhengHei"/>
          <a:cs typeface="Segoe UI"/>
        </a:defRPr>
      </a:lvl6pPr>
      <a:lvl7pPr marL="2743200" algn="l" defTabSz="457200" rtl="0" eaLnBrk="1" latinLnBrk="0" hangingPunct="1">
        <a:defRPr lang="zh-TW" sz="950" kern="1200">
          <a:solidFill>
            <a:schemeClr val="tx1"/>
          </a:solidFill>
          <a:latin typeface="Segoe UI"/>
          <a:ea typeface="Microsoft JhengHei"/>
          <a:cs typeface="Segoe UI"/>
        </a:defRPr>
      </a:lvl7pPr>
      <a:lvl8pPr marL="3200400" algn="l" defTabSz="457200" rtl="0" eaLnBrk="1" latinLnBrk="0" hangingPunct="1">
        <a:defRPr lang="zh-TW" sz="850" kern="1200">
          <a:solidFill>
            <a:schemeClr val="tx1"/>
          </a:solidFill>
          <a:latin typeface="Segoe UI"/>
          <a:ea typeface="Microsoft JhengHei"/>
          <a:cs typeface="Segoe UI"/>
        </a:defRPr>
      </a:lvl8pPr>
      <a:lvl9pPr marL="3657600" algn="l" defTabSz="457200" rtl="0" eaLnBrk="1" latinLnBrk="0" hangingPunct="1">
        <a:defRPr lang="zh-TW" sz="800" kern="1200">
          <a:solidFill>
            <a:schemeClr val="tx1"/>
          </a:solidFill>
          <a:latin typeface="Segoe UI"/>
          <a:ea typeface="Microsoft JhengHei"/>
          <a:cs typeface="Segoe U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1.xml" /><ns0:Relationship Id="rId2" Type="http://schemas.openxmlformats.org/officeDocument/2006/relationships/video" Target="../media/opening-film.mp4" /><ns0:Relationship Id="rId1" Type="http://schemas.microsoft.com/office/2007/relationships/media" Target="../media/opening-film.mp4" /><ns0:Relationship Id="rId5" Type="http://schemas.openxmlformats.org/officeDocument/2006/relationships/image" Target="../media/opening-poster.png" /><ns0:Relationship Id="rId4" Type="http://schemas.openxmlformats.org/officeDocument/2006/relationships/notesSlide" Target="../notesSlides/notesSlide2.xml" /></ns0: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26" Type="http://schemas.openxmlformats.org/officeDocument/2006/relationships/tags" Target="../tags/tag47.xml"/><Relationship Id="rId39" Type="http://schemas.openxmlformats.org/officeDocument/2006/relationships/tags" Target="../tags/tag60.xml"/><Relationship Id="rId21" Type="http://schemas.openxmlformats.org/officeDocument/2006/relationships/tags" Target="../tags/tag42.xml"/><Relationship Id="rId34" Type="http://schemas.openxmlformats.org/officeDocument/2006/relationships/tags" Target="../tags/tag55.xml"/><Relationship Id="rId42" Type="http://schemas.openxmlformats.org/officeDocument/2006/relationships/tags" Target="../tags/tag63.xml"/><Relationship Id="rId47" Type="http://schemas.openxmlformats.org/officeDocument/2006/relationships/tags" Target="../tags/tag68.xml"/><Relationship Id="rId50" Type="http://schemas.openxmlformats.org/officeDocument/2006/relationships/tags" Target="../tags/tag71.xml"/><Relationship Id="rId7" Type="http://schemas.openxmlformats.org/officeDocument/2006/relationships/tags" Target="../tags/tag2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9" Type="http://schemas.openxmlformats.org/officeDocument/2006/relationships/tags" Target="../tags/tag50.xml"/><Relationship Id="rId11" Type="http://schemas.openxmlformats.org/officeDocument/2006/relationships/tags" Target="../tags/tag32.xml"/><Relationship Id="rId24" Type="http://schemas.openxmlformats.org/officeDocument/2006/relationships/tags" Target="../tags/tag45.xml"/><Relationship Id="rId32" Type="http://schemas.openxmlformats.org/officeDocument/2006/relationships/tags" Target="../tags/tag53.xml"/><Relationship Id="rId37" Type="http://schemas.openxmlformats.org/officeDocument/2006/relationships/tags" Target="../tags/tag58.xml"/><Relationship Id="rId40" Type="http://schemas.openxmlformats.org/officeDocument/2006/relationships/tags" Target="../tags/tag61.xml"/><Relationship Id="rId45" Type="http://schemas.openxmlformats.org/officeDocument/2006/relationships/tags" Target="../tags/tag66.xml"/><Relationship Id="rId53" Type="http://schemas.openxmlformats.org/officeDocument/2006/relationships/notesSlide" Target="../notesSlides/notesSlide3.xml"/><Relationship Id="rId5" Type="http://schemas.openxmlformats.org/officeDocument/2006/relationships/tags" Target="../tags/tag26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31" Type="http://schemas.openxmlformats.org/officeDocument/2006/relationships/tags" Target="../tags/tag52.xml"/><Relationship Id="rId44" Type="http://schemas.openxmlformats.org/officeDocument/2006/relationships/tags" Target="../tags/tag65.xml"/><Relationship Id="rId52" Type="http://schemas.openxmlformats.org/officeDocument/2006/relationships/slideLayout" Target="../slideLayouts/slideLayout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tags" Target="../tags/tag43.xml"/><Relationship Id="rId27" Type="http://schemas.openxmlformats.org/officeDocument/2006/relationships/tags" Target="../tags/tag48.xml"/><Relationship Id="rId30" Type="http://schemas.openxmlformats.org/officeDocument/2006/relationships/tags" Target="../tags/tag51.xml"/><Relationship Id="rId35" Type="http://schemas.openxmlformats.org/officeDocument/2006/relationships/tags" Target="../tags/tag56.xml"/><Relationship Id="rId43" Type="http://schemas.openxmlformats.org/officeDocument/2006/relationships/tags" Target="../tags/tag64.xml"/><Relationship Id="rId48" Type="http://schemas.openxmlformats.org/officeDocument/2006/relationships/tags" Target="../tags/tag69.xml"/><Relationship Id="rId8" Type="http://schemas.openxmlformats.org/officeDocument/2006/relationships/tags" Target="../tags/tag29.xml"/><Relationship Id="rId51" Type="http://schemas.openxmlformats.org/officeDocument/2006/relationships/tags" Target="../tags/tag72.xml"/><Relationship Id="rId3" Type="http://schemas.openxmlformats.org/officeDocument/2006/relationships/tags" Target="../tags/tag24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5" Type="http://schemas.openxmlformats.org/officeDocument/2006/relationships/tags" Target="../tags/tag46.xml"/><Relationship Id="rId33" Type="http://schemas.openxmlformats.org/officeDocument/2006/relationships/tags" Target="../tags/tag54.xml"/><Relationship Id="rId38" Type="http://schemas.openxmlformats.org/officeDocument/2006/relationships/tags" Target="../tags/tag59.xml"/><Relationship Id="rId46" Type="http://schemas.openxmlformats.org/officeDocument/2006/relationships/tags" Target="../tags/tag67.xml"/><Relationship Id="rId20" Type="http://schemas.openxmlformats.org/officeDocument/2006/relationships/tags" Target="../tags/tag41.xml"/><Relationship Id="rId41" Type="http://schemas.openxmlformats.org/officeDocument/2006/relationships/tags" Target="../tags/tag62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5" Type="http://schemas.openxmlformats.org/officeDocument/2006/relationships/tags" Target="../tags/tag36.xml"/><Relationship Id="rId23" Type="http://schemas.openxmlformats.org/officeDocument/2006/relationships/tags" Target="../tags/tag44.xml"/><Relationship Id="rId28" Type="http://schemas.openxmlformats.org/officeDocument/2006/relationships/tags" Target="../tags/tag49.xml"/><Relationship Id="rId36" Type="http://schemas.openxmlformats.org/officeDocument/2006/relationships/tags" Target="../tags/tag57.xml"/><Relationship Id="rId49" Type="http://schemas.openxmlformats.org/officeDocument/2006/relationships/tags" Target="../tags/tag7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18" Type="http://schemas.openxmlformats.org/officeDocument/2006/relationships/tags" Target="../tags/tag90.xml"/><Relationship Id="rId3" Type="http://schemas.openxmlformats.org/officeDocument/2006/relationships/tags" Target="../tags/tag75.xml"/><Relationship Id="rId21" Type="http://schemas.openxmlformats.org/officeDocument/2006/relationships/tags" Target="../tags/tag93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17" Type="http://schemas.openxmlformats.org/officeDocument/2006/relationships/tags" Target="../tags/tag89.xml"/><Relationship Id="rId2" Type="http://schemas.openxmlformats.org/officeDocument/2006/relationships/tags" Target="../tags/tag74.xml"/><Relationship Id="rId16" Type="http://schemas.openxmlformats.org/officeDocument/2006/relationships/tags" Target="../tags/tag88.xml"/><Relationship Id="rId20" Type="http://schemas.openxmlformats.org/officeDocument/2006/relationships/tags" Target="../tags/tag92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tags" Target="../tags/tag87.xml"/><Relationship Id="rId23" Type="http://schemas.openxmlformats.org/officeDocument/2006/relationships/notesSlide" Target="../notesSlides/notesSlide4.xml"/><Relationship Id="rId10" Type="http://schemas.openxmlformats.org/officeDocument/2006/relationships/tags" Target="../tags/tag82.xml"/><Relationship Id="rId19" Type="http://schemas.openxmlformats.org/officeDocument/2006/relationships/tags" Target="../tags/tag91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tags" Target="../tags/tag86.xml"/><Relationship Id="rId22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06.xml"/><Relationship Id="rId18" Type="http://schemas.openxmlformats.org/officeDocument/2006/relationships/tags" Target="../tags/tag111.xml"/><Relationship Id="rId26" Type="http://schemas.openxmlformats.org/officeDocument/2006/relationships/tags" Target="../tags/tag119.xml"/><Relationship Id="rId3" Type="http://schemas.openxmlformats.org/officeDocument/2006/relationships/tags" Target="../tags/tag96.xml"/><Relationship Id="rId21" Type="http://schemas.openxmlformats.org/officeDocument/2006/relationships/tags" Target="../tags/tag114.xml"/><Relationship Id="rId34" Type="http://schemas.openxmlformats.org/officeDocument/2006/relationships/notesSlide" Target="../notesSlides/notesSlide5.xml"/><Relationship Id="rId7" Type="http://schemas.openxmlformats.org/officeDocument/2006/relationships/tags" Target="../tags/tag100.xml"/><Relationship Id="rId12" Type="http://schemas.openxmlformats.org/officeDocument/2006/relationships/tags" Target="../tags/tag105.xml"/><Relationship Id="rId17" Type="http://schemas.openxmlformats.org/officeDocument/2006/relationships/tags" Target="../tags/tag110.xml"/><Relationship Id="rId25" Type="http://schemas.openxmlformats.org/officeDocument/2006/relationships/tags" Target="../tags/tag118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95.xml"/><Relationship Id="rId16" Type="http://schemas.openxmlformats.org/officeDocument/2006/relationships/tags" Target="../tags/tag109.xml"/><Relationship Id="rId20" Type="http://schemas.openxmlformats.org/officeDocument/2006/relationships/tags" Target="../tags/tag113.xml"/><Relationship Id="rId29" Type="http://schemas.openxmlformats.org/officeDocument/2006/relationships/tags" Target="../tags/tag122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11" Type="http://schemas.openxmlformats.org/officeDocument/2006/relationships/tags" Target="../tags/tag104.xml"/><Relationship Id="rId24" Type="http://schemas.openxmlformats.org/officeDocument/2006/relationships/tags" Target="../tags/tag117.xml"/><Relationship Id="rId32" Type="http://schemas.openxmlformats.org/officeDocument/2006/relationships/tags" Target="../tags/tag125.xml"/><Relationship Id="rId5" Type="http://schemas.openxmlformats.org/officeDocument/2006/relationships/tags" Target="../tags/tag98.xml"/><Relationship Id="rId15" Type="http://schemas.openxmlformats.org/officeDocument/2006/relationships/tags" Target="../tags/tag108.xml"/><Relationship Id="rId23" Type="http://schemas.openxmlformats.org/officeDocument/2006/relationships/tags" Target="../tags/tag116.xml"/><Relationship Id="rId28" Type="http://schemas.openxmlformats.org/officeDocument/2006/relationships/tags" Target="../tags/tag121.xml"/><Relationship Id="rId10" Type="http://schemas.openxmlformats.org/officeDocument/2006/relationships/tags" Target="../tags/tag103.xml"/><Relationship Id="rId19" Type="http://schemas.openxmlformats.org/officeDocument/2006/relationships/tags" Target="../tags/tag112.xml"/><Relationship Id="rId31" Type="http://schemas.openxmlformats.org/officeDocument/2006/relationships/tags" Target="../tags/tag124.xml"/><Relationship Id="rId4" Type="http://schemas.openxmlformats.org/officeDocument/2006/relationships/tags" Target="../tags/tag97.xml"/><Relationship Id="rId9" Type="http://schemas.openxmlformats.org/officeDocument/2006/relationships/tags" Target="../tags/tag102.xml"/><Relationship Id="rId14" Type="http://schemas.openxmlformats.org/officeDocument/2006/relationships/tags" Target="../tags/tag107.xml"/><Relationship Id="rId22" Type="http://schemas.openxmlformats.org/officeDocument/2006/relationships/tags" Target="../tags/tag115.xml"/><Relationship Id="rId27" Type="http://schemas.openxmlformats.org/officeDocument/2006/relationships/tags" Target="../tags/tag120.xml"/><Relationship Id="rId30" Type="http://schemas.openxmlformats.org/officeDocument/2006/relationships/tags" Target="../tags/tag123.xml"/><Relationship Id="rId8" Type="http://schemas.openxmlformats.org/officeDocument/2006/relationships/tags" Target="../tags/tag10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13" Type="http://schemas.openxmlformats.org/officeDocument/2006/relationships/tags" Target="../tags/tag138.xml"/><Relationship Id="rId18" Type="http://schemas.openxmlformats.org/officeDocument/2006/relationships/tags" Target="../tags/tag143.xml"/><Relationship Id="rId26" Type="http://schemas.openxmlformats.org/officeDocument/2006/relationships/notesSlide" Target="../notesSlides/notesSlide6.xml"/><Relationship Id="rId3" Type="http://schemas.openxmlformats.org/officeDocument/2006/relationships/tags" Target="../tags/tag128.xml"/><Relationship Id="rId21" Type="http://schemas.openxmlformats.org/officeDocument/2006/relationships/tags" Target="../tags/tag146.xml"/><Relationship Id="rId7" Type="http://schemas.openxmlformats.org/officeDocument/2006/relationships/tags" Target="../tags/tag132.xml"/><Relationship Id="rId12" Type="http://schemas.openxmlformats.org/officeDocument/2006/relationships/tags" Target="../tags/tag137.xml"/><Relationship Id="rId17" Type="http://schemas.openxmlformats.org/officeDocument/2006/relationships/tags" Target="../tags/tag142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127.xml"/><Relationship Id="rId16" Type="http://schemas.openxmlformats.org/officeDocument/2006/relationships/tags" Target="../tags/tag141.xml"/><Relationship Id="rId20" Type="http://schemas.openxmlformats.org/officeDocument/2006/relationships/tags" Target="../tags/tag145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tags" Target="../tags/tag136.xml"/><Relationship Id="rId24" Type="http://schemas.openxmlformats.org/officeDocument/2006/relationships/tags" Target="../tags/tag149.xml"/><Relationship Id="rId5" Type="http://schemas.openxmlformats.org/officeDocument/2006/relationships/tags" Target="../tags/tag130.xml"/><Relationship Id="rId15" Type="http://schemas.openxmlformats.org/officeDocument/2006/relationships/tags" Target="../tags/tag140.xml"/><Relationship Id="rId23" Type="http://schemas.openxmlformats.org/officeDocument/2006/relationships/tags" Target="../tags/tag148.xml"/><Relationship Id="rId10" Type="http://schemas.openxmlformats.org/officeDocument/2006/relationships/tags" Target="../tags/tag135.xml"/><Relationship Id="rId19" Type="http://schemas.openxmlformats.org/officeDocument/2006/relationships/tags" Target="../tags/tag144.xml"/><Relationship Id="rId4" Type="http://schemas.openxmlformats.org/officeDocument/2006/relationships/tags" Target="../tags/tag129.xml"/><Relationship Id="rId9" Type="http://schemas.openxmlformats.org/officeDocument/2006/relationships/tags" Target="../tags/tag134.xml"/><Relationship Id="rId14" Type="http://schemas.openxmlformats.org/officeDocument/2006/relationships/tags" Target="../tags/tag139.xml"/><Relationship Id="rId22" Type="http://schemas.openxmlformats.org/officeDocument/2006/relationships/tags" Target="../tags/tag14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tags" Target="../tags/tag162.xml"/><Relationship Id="rId18" Type="http://schemas.openxmlformats.org/officeDocument/2006/relationships/tags" Target="../tags/tag167.xml"/><Relationship Id="rId3" Type="http://schemas.openxmlformats.org/officeDocument/2006/relationships/tags" Target="../tags/tag152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17" Type="http://schemas.openxmlformats.org/officeDocument/2006/relationships/tags" Target="../tags/tag166.xml"/><Relationship Id="rId2" Type="http://schemas.openxmlformats.org/officeDocument/2006/relationships/tags" Target="../tags/tag151.xml"/><Relationship Id="rId16" Type="http://schemas.openxmlformats.org/officeDocument/2006/relationships/tags" Target="../tags/tag165.xml"/><Relationship Id="rId20" Type="http://schemas.openxmlformats.org/officeDocument/2006/relationships/tags" Target="../tags/tag169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5" Type="http://schemas.openxmlformats.org/officeDocument/2006/relationships/tags" Target="../tags/tag154.xml"/><Relationship Id="rId15" Type="http://schemas.openxmlformats.org/officeDocument/2006/relationships/tags" Target="../tags/tag164.xml"/><Relationship Id="rId10" Type="http://schemas.openxmlformats.org/officeDocument/2006/relationships/tags" Target="../tags/tag159.xml"/><Relationship Id="rId19" Type="http://schemas.openxmlformats.org/officeDocument/2006/relationships/tags" Target="../tags/tag168.xml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tags" Target="../tags/tag163.xml"/><Relationship Id="rId2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77.xml"/><Relationship Id="rId13" Type="http://schemas.openxmlformats.org/officeDocument/2006/relationships/tags" Target="../tags/tag182.xml"/><Relationship Id="rId18" Type="http://schemas.openxmlformats.org/officeDocument/2006/relationships/tags" Target="../tags/tag187.xml"/><Relationship Id="rId3" Type="http://schemas.openxmlformats.org/officeDocument/2006/relationships/tags" Target="../tags/tag172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176.xml"/><Relationship Id="rId12" Type="http://schemas.openxmlformats.org/officeDocument/2006/relationships/tags" Target="../tags/tag181.xml"/><Relationship Id="rId17" Type="http://schemas.openxmlformats.org/officeDocument/2006/relationships/tags" Target="../tags/tag186.xml"/><Relationship Id="rId2" Type="http://schemas.openxmlformats.org/officeDocument/2006/relationships/tags" Target="../tags/tag171.xml"/><Relationship Id="rId16" Type="http://schemas.openxmlformats.org/officeDocument/2006/relationships/tags" Target="../tags/tag185.xml"/><Relationship Id="rId20" Type="http://schemas.openxmlformats.org/officeDocument/2006/relationships/tags" Target="../tags/tag189.xml"/><Relationship Id="rId1" Type="http://schemas.openxmlformats.org/officeDocument/2006/relationships/tags" Target="../tags/tag170.xml"/><Relationship Id="rId6" Type="http://schemas.openxmlformats.org/officeDocument/2006/relationships/tags" Target="../tags/tag175.xml"/><Relationship Id="rId11" Type="http://schemas.openxmlformats.org/officeDocument/2006/relationships/tags" Target="../tags/tag180.xml"/><Relationship Id="rId5" Type="http://schemas.openxmlformats.org/officeDocument/2006/relationships/tags" Target="../tags/tag174.xml"/><Relationship Id="rId15" Type="http://schemas.openxmlformats.org/officeDocument/2006/relationships/tags" Target="../tags/tag184.xml"/><Relationship Id="rId10" Type="http://schemas.openxmlformats.org/officeDocument/2006/relationships/tags" Target="../tags/tag179.xml"/><Relationship Id="rId19" Type="http://schemas.openxmlformats.org/officeDocument/2006/relationships/tags" Target="../tags/tag188.xml"/><Relationship Id="rId4" Type="http://schemas.openxmlformats.org/officeDocument/2006/relationships/tags" Target="../tags/tag173.xml"/><Relationship Id="rId9" Type="http://schemas.openxmlformats.org/officeDocument/2006/relationships/tags" Target="../tags/tag178.xml"/><Relationship Id="rId14" Type="http://schemas.openxmlformats.org/officeDocument/2006/relationships/tags" Target="../tags/tag183.xml"/><Relationship Id="rId2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97.xml"/><Relationship Id="rId13" Type="http://schemas.openxmlformats.org/officeDocument/2006/relationships/tags" Target="../tags/tag202.xml"/><Relationship Id="rId18" Type="http://schemas.openxmlformats.org/officeDocument/2006/relationships/notesSlide" Target="../notesSlides/notesSlide9.xml"/><Relationship Id="rId3" Type="http://schemas.openxmlformats.org/officeDocument/2006/relationships/tags" Target="../tags/tag192.xml"/><Relationship Id="rId7" Type="http://schemas.openxmlformats.org/officeDocument/2006/relationships/tags" Target="../tags/tag196.xml"/><Relationship Id="rId12" Type="http://schemas.openxmlformats.org/officeDocument/2006/relationships/tags" Target="../tags/tag201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91.xml"/><Relationship Id="rId16" Type="http://schemas.openxmlformats.org/officeDocument/2006/relationships/tags" Target="../tags/tag205.xml"/><Relationship Id="rId1" Type="http://schemas.openxmlformats.org/officeDocument/2006/relationships/tags" Target="../tags/tag190.xml"/><Relationship Id="rId6" Type="http://schemas.openxmlformats.org/officeDocument/2006/relationships/tags" Target="../tags/tag195.xml"/><Relationship Id="rId11" Type="http://schemas.openxmlformats.org/officeDocument/2006/relationships/tags" Target="../tags/tag200.xml"/><Relationship Id="rId5" Type="http://schemas.openxmlformats.org/officeDocument/2006/relationships/tags" Target="../tags/tag194.xml"/><Relationship Id="rId15" Type="http://schemas.openxmlformats.org/officeDocument/2006/relationships/tags" Target="../tags/tag204.xml"/><Relationship Id="rId10" Type="http://schemas.openxmlformats.org/officeDocument/2006/relationships/tags" Target="../tags/tag199.xml"/><Relationship Id="rId4" Type="http://schemas.openxmlformats.org/officeDocument/2006/relationships/tags" Target="../tags/tag193.xml"/><Relationship Id="rId9" Type="http://schemas.openxmlformats.org/officeDocument/2006/relationships/tags" Target="../tags/tag198.xml"/><Relationship Id="rId14" Type="http://schemas.openxmlformats.org/officeDocument/2006/relationships/tags" Target="../tags/tag20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13" Type="http://schemas.openxmlformats.org/officeDocument/2006/relationships/tags" Target="../tags/tag218.xml"/><Relationship Id="rId18" Type="http://schemas.openxmlformats.org/officeDocument/2006/relationships/tags" Target="../tags/tag223.xml"/><Relationship Id="rId3" Type="http://schemas.openxmlformats.org/officeDocument/2006/relationships/tags" Target="../tags/tag208.xml"/><Relationship Id="rId21" Type="http://schemas.openxmlformats.org/officeDocument/2006/relationships/tags" Target="../tags/tag226.xml"/><Relationship Id="rId7" Type="http://schemas.openxmlformats.org/officeDocument/2006/relationships/tags" Target="../tags/tag212.xml"/><Relationship Id="rId12" Type="http://schemas.openxmlformats.org/officeDocument/2006/relationships/tags" Target="../tags/tag217.xml"/><Relationship Id="rId17" Type="http://schemas.openxmlformats.org/officeDocument/2006/relationships/tags" Target="../tags/tag222.xml"/><Relationship Id="rId25" Type="http://schemas.openxmlformats.org/officeDocument/2006/relationships/notesSlide" Target="../notesSlides/notesSlide10.xml"/><Relationship Id="rId2" Type="http://schemas.openxmlformats.org/officeDocument/2006/relationships/tags" Target="../tags/tag207.xml"/><Relationship Id="rId16" Type="http://schemas.openxmlformats.org/officeDocument/2006/relationships/tags" Target="../tags/tag221.xml"/><Relationship Id="rId20" Type="http://schemas.openxmlformats.org/officeDocument/2006/relationships/tags" Target="../tags/tag225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tags" Target="../tags/tag216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10.xml"/><Relationship Id="rId15" Type="http://schemas.openxmlformats.org/officeDocument/2006/relationships/tags" Target="../tags/tag220.xml"/><Relationship Id="rId23" Type="http://schemas.openxmlformats.org/officeDocument/2006/relationships/tags" Target="../tags/tag228.xml"/><Relationship Id="rId10" Type="http://schemas.openxmlformats.org/officeDocument/2006/relationships/tags" Target="../tags/tag215.xml"/><Relationship Id="rId19" Type="http://schemas.openxmlformats.org/officeDocument/2006/relationships/tags" Target="../tags/tag224.xml"/><Relationship Id="rId4" Type="http://schemas.openxmlformats.org/officeDocument/2006/relationships/tags" Target="../tags/tag209.xml"/><Relationship Id="rId9" Type="http://schemas.openxmlformats.org/officeDocument/2006/relationships/tags" Target="../tags/tag214.xml"/><Relationship Id="rId14" Type="http://schemas.openxmlformats.org/officeDocument/2006/relationships/tags" Target="../tags/tag219.xml"/><Relationship Id="rId22" Type="http://schemas.openxmlformats.org/officeDocument/2006/relationships/tags" Target="../tags/tag22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tags" Target="../tags/tag246.xml"/><Relationship Id="rId3" Type="http://schemas.openxmlformats.org/officeDocument/2006/relationships/tags" Target="../tags/tag231.xml"/><Relationship Id="rId21" Type="http://schemas.openxmlformats.org/officeDocument/2006/relationships/tags" Target="../tags/tag249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20" Type="http://schemas.openxmlformats.org/officeDocument/2006/relationships/tags" Target="../tags/tag248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24" Type="http://schemas.openxmlformats.org/officeDocument/2006/relationships/notesSlide" Target="../notesSlides/notesSlide11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238.xml"/><Relationship Id="rId19" Type="http://schemas.openxmlformats.org/officeDocument/2006/relationships/tags" Target="../tags/tag247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Relationship Id="rId22" Type="http://schemas.openxmlformats.org/officeDocument/2006/relationships/tags" Target="../tags/tag25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tags" Target="../tags/tag263.xml"/><Relationship Id="rId18" Type="http://schemas.openxmlformats.org/officeDocument/2006/relationships/tags" Target="../tags/tag268.xml"/><Relationship Id="rId3" Type="http://schemas.openxmlformats.org/officeDocument/2006/relationships/tags" Target="../tags/tag253.xml"/><Relationship Id="rId21" Type="http://schemas.openxmlformats.org/officeDocument/2006/relationships/tags" Target="../tags/tag271.xml"/><Relationship Id="rId7" Type="http://schemas.openxmlformats.org/officeDocument/2006/relationships/tags" Target="../tags/tag257.xml"/><Relationship Id="rId12" Type="http://schemas.openxmlformats.org/officeDocument/2006/relationships/tags" Target="../tags/tag262.xml"/><Relationship Id="rId17" Type="http://schemas.openxmlformats.org/officeDocument/2006/relationships/tags" Target="../tags/tag267.xml"/><Relationship Id="rId25" Type="http://schemas.openxmlformats.org/officeDocument/2006/relationships/notesSlide" Target="../notesSlides/notesSlide12.xml"/><Relationship Id="rId2" Type="http://schemas.openxmlformats.org/officeDocument/2006/relationships/tags" Target="../tags/tag252.xml"/><Relationship Id="rId16" Type="http://schemas.openxmlformats.org/officeDocument/2006/relationships/tags" Target="../tags/tag266.xml"/><Relationship Id="rId20" Type="http://schemas.openxmlformats.org/officeDocument/2006/relationships/tags" Target="../tags/tag270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tags" Target="../tags/tag261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55.xml"/><Relationship Id="rId15" Type="http://schemas.openxmlformats.org/officeDocument/2006/relationships/tags" Target="../tags/tag265.xml"/><Relationship Id="rId23" Type="http://schemas.openxmlformats.org/officeDocument/2006/relationships/tags" Target="../tags/tag273.xml"/><Relationship Id="rId10" Type="http://schemas.openxmlformats.org/officeDocument/2006/relationships/tags" Target="../tags/tag260.xml"/><Relationship Id="rId19" Type="http://schemas.openxmlformats.org/officeDocument/2006/relationships/tags" Target="../tags/tag269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14" Type="http://schemas.openxmlformats.org/officeDocument/2006/relationships/tags" Target="../tags/tag264.xml"/><Relationship Id="rId22" Type="http://schemas.openxmlformats.org/officeDocument/2006/relationships/tags" Target="../tags/tag2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line"/>
          <p:cNvGrpSpPr/>
          <p:nvPr/>
        </p:nvGrpSpPr>
        <p:grpSpPr>
          <a:xfrm>
            <a:off x="609600" y="431800"/>
            <a:ext cx="1764193" cy="220028"/>
            <a:chOff x="609600" y="431800"/>
            <a:chExt cx="1764193" cy="220028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15"/>
              </p:custDataLst>
            </p:nvPr>
          </p:nvSpPr>
          <p:spPr>
            <a:xfrm>
              <a:off x="794385" y="431800"/>
              <a:ext cx="15794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rgbClr val="5EEAD4"/>
                  </a:solidFill>
                  <a:latin typeface="Segoe UI"/>
                  <a:ea typeface="Microsoft JhengHei"/>
                  <a:cs typeface="Segoe UI"/>
                </a:rPr>
                <a:t>2026 資安技術組 · 決賽</a:t>
              </a:r>
            </a:p>
          </p:txBody>
        </p:sp>
      </p:grpSp>
      <p:grpSp>
        <p:nvGrpSpPr>
          <p:cNvPr id="75" name="page-content"/>
          <p:cNvGrpSpPr/>
          <p:nvPr/>
        </p:nvGrpSpPr>
        <p:grpSpPr>
          <a:xfrm>
            <a:off x="429024" y="1450658"/>
            <a:ext cx="11040028" cy="4439920"/>
            <a:chOff x="429024" y="1450658"/>
            <a:chExt cx="11040028" cy="4439920"/>
          </a:xfrm>
        </p:grpSpPr>
        <p:sp>
          <p:nvSpPr>
            <p:cNvPr id="5" name="TextBox 5"/>
            <p:cNvSpPr txBox="1"/>
            <p:nvPr>
              <p:custDataLst>
                <p:tags r:id="rId3"/>
              </p:custDataLst>
            </p:nvPr>
          </p:nvSpPr>
          <p:spPr>
            <a:xfrm>
              <a:off x="592836" y="1555750"/>
              <a:ext cx="625297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融合新型內容相依時序方向模型</a:t>
              </a:r>
            </a:p>
          </p:txBody>
        </p:sp>
        <p:sp>
          <p:nvSpPr>
            <p:cNvPr id="6" name="TextBox 6"/>
            <p:cNvSpPr txBox="1"/>
            <p:nvPr>
              <p:custDataLst>
                <p:tags r:id="rId4"/>
              </p:custDataLst>
            </p:nvPr>
          </p:nvSpPr>
          <p:spPr>
            <a:xfrm>
              <a:off x="592836" y="2146300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入侵偵測與任務導向檢索增強稽核</a:t>
              </a:r>
            </a:p>
          </p:txBody>
        </p:sp>
        <p:sp>
          <p:nvSpPr>
            <p:cNvPr id="7" name="TextBox 7"/>
            <p:cNvSpPr txBox="1"/>
            <p:nvPr>
              <p:custDataLst>
                <p:tags r:id="rId5"/>
              </p:custDataLst>
            </p:nvPr>
          </p:nvSpPr>
          <p:spPr>
            <a:xfrm>
              <a:off x="592836" y="2736850"/>
              <a:ext cx="29925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3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之</a:t>
              </a:r>
              <a:r>
                <a:rPr lang="en-US" sz="33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 AI </a:t>
              </a:r>
              <a:r>
                <a:rPr lang="zh-TW" sz="33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資安框架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3333750"/>
              <a:ext cx="53340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600456" y="3594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從流量判定，走到有證據、可回復的處置。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933450" y="4876800"/>
              <a:ext cx="6000750" cy="9525"/>
            </a:xfrm>
            <a:custGeom>
              <a:avLst/>
              <a:gdLst/>
              <a:ahLst/>
              <a:cxnLst/>
              <a:rect l="l" t="t" r="r" b="b"/>
              <a:pathLst>
                <a:path w="6000750" h="9525">
                  <a:moveTo>
                    <a:pt x="0" y="0"/>
                  </a:moveTo>
                  <a:lnTo>
                    <a:pt x="6000750" y="0"/>
                  </a:lnTo>
                </a:path>
              </a:pathLst>
            </a:custGeom>
            <a:noFill/>
            <a:ln w="19050" cap="rnd">
              <a:solidFill>
                <a:srgbClr val="2A4260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90550" y="453390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75097" y="4718447"/>
              <a:ext cx="316706" cy="316706"/>
              <a:chOff x="775097" y="4718447"/>
              <a:chExt cx="316706" cy="316706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20341" y="4763691"/>
                <a:ext cx="226219" cy="226219"/>
              </a:xfrm>
              <a:prstGeom prst="roundRect">
                <a:avLst>
                  <a:gd name="adj" fmla="val 12500"/>
                </a:avLst>
              </a:prstGeom>
              <a:solidFill>
                <a:srgbClr val="15293F"/>
              </a:solidFill>
              <a:ln w="16966" cap="rnd">
                <a:solidFill>
                  <a:srgbClr val="5EEAD4"/>
                </a:solidFill>
                <a:round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882551" y="4825901"/>
                <a:ext cx="101798" cy="101798"/>
              </a:xfrm>
              <a:prstGeom prst="roundRect">
                <a:avLst>
                  <a:gd name="adj" fmla="val 16667"/>
                </a:avLst>
              </a:prstGeom>
              <a:solidFill>
                <a:srgbClr val="2A4260"/>
              </a:solidFill>
              <a:ln w="16966" cap="rnd">
                <a:solidFill>
                  <a:srgbClr val="5EEAD4"/>
                </a:solidFill>
                <a:round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5097" y="4718447"/>
                <a:ext cx="316706" cy="316706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316706">
                    <a:moveTo>
                      <a:pt x="96143" y="0"/>
                    </a:moveTo>
                    <a:lnTo>
                      <a:pt x="96143" y="45244"/>
                    </a:lnTo>
                    <a:moveTo>
                      <a:pt x="158353" y="0"/>
                    </a:moveTo>
                    <a:lnTo>
                      <a:pt x="158353" y="45244"/>
                    </a:lnTo>
                    <a:moveTo>
                      <a:pt x="220563" y="0"/>
                    </a:moveTo>
                    <a:lnTo>
                      <a:pt x="220563" y="45244"/>
                    </a:lnTo>
                    <a:moveTo>
                      <a:pt x="96143" y="271462"/>
                    </a:moveTo>
                    <a:lnTo>
                      <a:pt x="96143" y="316706"/>
                    </a:lnTo>
                    <a:moveTo>
                      <a:pt x="158353" y="271462"/>
                    </a:moveTo>
                    <a:lnTo>
                      <a:pt x="158353" y="316706"/>
                    </a:lnTo>
                    <a:moveTo>
                      <a:pt x="220563" y="271462"/>
                    </a:moveTo>
                    <a:lnTo>
                      <a:pt x="220563" y="316706"/>
                    </a:lnTo>
                    <a:moveTo>
                      <a:pt x="0" y="96143"/>
                    </a:moveTo>
                    <a:lnTo>
                      <a:pt x="45244" y="96143"/>
                    </a:lnTo>
                    <a:moveTo>
                      <a:pt x="0" y="158353"/>
                    </a:moveTo>
                    <a:lnTo>
                      <a:pt x="45244" y="158353"/>
                    </a:lnTo>
                    <a:moveTo>
                      <a:pt x="0" y="220563"/>
                    </a:moveTo>
                    <a:lnTo>
                      <a:pt x="45244" y="220563"/>
                    </a:lnTo>
                    <a:moveTo>
                      <a:pt x="271462" y="96143"/>
                    </a:moveTo>
                    <a:lnTo>
                      <a:pt x="316706" y="96143"/>
                    </a:lnTo>
                    <a:moveTo>
                      <a:pt x="271462" y="158353"/>
                    </a:moveTo>
                    <a:lnTo>
                      <a:pt x="316706" y="158353"/>
                    </a:lnTo>
                    <a:moveTo>
                      <a:pt x="271462" y="220563"/>
                    </a:moveTo>
                    <a:lnTo>
                      <a:pt x="316706" y="220563"/>
                    </a:lnTo>
                  </a:path>
                </a:pathLst>
              </a:custGeom>
              <a:noFill/>
              <a:ln w="16966" cap="rnd">
                <a:solidFill>
                  <a:srgbClr val="5EEAD4"/>
                </a:solidFill>
                <a:round/>
              </a:ln>
            </p:spPr>
          </p:sp>
        </p:grpSp>
        <p:sp>
          <p:nvSpPr>
            <p:cNvPr id="16" name="TextBox 16"/>
            <p:cNvSpPr txBox="1"/>
            <p:nvPr>
              <p:custDataLst>
                <p:tags r:id="rId7"/>
              </p:custDataLst>
            </p:nvPr>
          </p:nvSpPr>
          <p:spPr>
            <a:xfrm>
              <a:off x="674370" y="53403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偵測</a:t>
              </a:r>
            </a:p>
          </p:txBody>
        </p:sp>
        <p:sp>
          <p:nvSpPr>
            <p:cNvPr id="17" name="TextBox 17"/>
            <p:cNvSpPr txBox="1"/>
            <p:nvPr>
              <p:custDataLst>
                <p:tags r:id="rId8"/>
              </p:custDataLst>
            </p:nvPr>
          </p:nvSpPr>
          <p:spPr>
            <a:xfrm>
              <a:off x="429024" y="5670550"/>
              <a:ext cx="9691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17 類互補判定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590800" y="453390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2792313" y="4729758"/>
              <a:ext cx="299740" cy="294085"/>
              <a:chOff x="2792313" y="4729758"/>
              <a:chExt cx="299740" cy="29408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792313" y="4769346"/>
                <a:ext cx="214908" cy="226219"/>
              </a:xfrm>
              <a:custGeom>
                <a:avLst/>
                <a:gdLst/>
                <a:ahLst/>
                <a:cxnLst/>
                <a:rect l="l" t="t" r="r" b="b"/>
                <a:pathLst>
                  <a:path w="214908" h="226219">
                    <a:moveTo>
                      <a:pt x="0" y="0"/>
                    </a:moveTo>
                    <a:lnTo>
                      <a:pt x="0" y="175320"/>
                    </a:lnTo>
                    <a:cubicBezTo>
                      <a:pt x="0" y="226219"/>
                      <a:pt x="214908" y="226219"/>
                      <a:pt x="214908" y="175320"/>
                    </a:cubicBezTo>
                    <a:lnTo>
                      <a:pt x="214908" y="0"/>
                    </a:lnTo>
                  </a:path>
                </a:pathLst>
              </a:custGeom>
              <a:solidFill>
                <a:srgbClr val="15293F"/>
              </a:solidFill>
              <a:ln w="16966" cap="rnd">
                <a:solidFill>
                  <a:srgbClr val="5EEAD4"/>
                </a:solidFill>
                <a:round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2792313" y="4729758"/>
                <a:ext cx="214908" cy="79177"/>
              </a:xfrm>
              <a:prstGeom prst="ellipse">
                <a:avLst/>
              </a:prstGeom>
              <a:solidFill>
                <a:srgbClr val="15293F"/>
              </a:solidFill>
              <a:ln w="16966" cap="rnd">
                <a:solidFill>
                  <a:srgbClr val="5EEAD4"/>
                </a:solidFill>
                <a:round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792313" y="4848523"/>
                <a:ext cx="214908" cy="50899"/>
              </a:xfrm>
              <a:custGeom>
                <a:avLst/>
                <a:gdLst/>
                <a:ahLst/>
                <a:cxnLst/>
                <a:rect l="l" t="t" r="r" b="b"/>
                <a:pathLst>
                  <a:path w="214908" h="50899">
                    <a:moveTo>
                      <a:pt x="0" y="0"/>
                    </a:moveTo>
                    <a:cubicBezTo>
                      <a:pt x="0" y="50899"/>
                      <a:pt x="214908" y="50899"/>
                      <a:pt x="214908" y="0"/>
                    </a:cubicBezTo>
                  </a:path>
                </a:pathLst>
              </a:custGeom>
              <a:noFill/>
              <a:ln w="16966" cap="rnd">
                <a:solidFill>
                  <a:srgbClr val="5EEAD4"/>
                </a:solidFill>
                <a:round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2933700" y="4859834"/>
                <a:ext cx="124420" cy="124420"/>
              </a:xfrm>
              <a:prstGeom prst="ellipse">
                <a:avLst/>
              </a:prstGeom>
              <a:solidFill>
                <a:srgbClr val="2A4260"/>
              </a:solidFill>
              <a:ln w="16966" cap="rnd">
                <a:solidFill>
                  <a:srgbClr val="5EEAD4"/>
                </a:solidFill>
                <a:round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041154" y="4967288"/>
                <a:ext cx="50899" cy="56555"/>
              </a:xfrm>
              <a:custGeom>
                <a:avLst/>
                <a:gdLst/>
                <a:ahLst/>
                <a:cxnLst/>
                <a:rect l="l" t="t" r="r" b="b"/>
                <a:pathLst>
                  <a:path w="50899" h="56555">
                    <a:moveTo>
                      <a:pt x="0" y="0"/>
                    </a:moveTo>
                    <a:lnTo>
                      <a:pt x="50899" y="56555"/>
                    </a:lnTo>
                  </a:path>
                </a:pathLst>
              </a:custGeom>
              <a:solidFill>
                <a:srgbClr val="15293F"/>
              </a:solidFill>
              <a:ln w="22622" cap="rnd">
                <a:solidFill>
                  <a:srgbClr val="5EEAD4"/>
                </a:solidFill>
                <a:round/>
              </a:ln>
            </p:spPr>
          </p:sp>
        </p:grpSp>
        <p:sp>
          <p:nvSpPr>
            <p:cNvPr id="25" name="TextBox 25"/>
            <p:cNvSpPr txBox="1"/>
            <p:nvPr>
              <p:custDataLst>
                <p:tags r:id="rId9"/>
              </p:custDataLst>
            </p:nvPr>
          </p:nvSpPr>
          <p:spPr>
            <a:xfrm>
              <a:off x="2674620" y="53403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檢索</a:t>
              </a:r>
            </a:p>
          </p:txBody>
        </p:sp>
        <p:sp>
          <p:nvSpPr>
            <p:cNvPr id="26" name="TextBox 26"/>
            <p:cNvSpPr txBox="1"/>
            <p:nvPr>
              <p:custDataLst>
                <p:tags r:id="rId10"/>
              </p:custDataLst>
            </p:nvPr>
          </p:nvSpPr>
          <p:spPr>
            <a:xfrm>
              <a:off x="2383031" y="5670550"/>
              <a:ext cx="106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Top-5 </a:t>
              </a:r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訓練案例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4591050" y="453390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4820841" y="4724102"/>
              <a:ext cx="226218" cy="305396"/>
              <a:chOff x="4820841" y="4724102"/>
              <a:chExt cx="226218" cy="305396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4820841" y="4724102"/>
                <a:ext cx="226219" cy="305395"/>
              </a:xfrm>
              <a:prstGeom prst="roundRect">
                <a:avLst>
                  <a:gd name="adj" fmla="val 10000"/>
                </a:avLst>
              </a:prstGeom>
              <a:solidFill>
                <a:srgbClr val="15293F"/>
              </a:solidFill>
              <a:ln w="14139">
                <a:solidFill>
                  <a:srgbClr val="5EEAD4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4871740" y="4797623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4871740" y="4859834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4871740" y="4922044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4871740" y="4984254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</p:grpSp>
        <p:sp>
          <p:nvSpPr>
            <p:cNvPr id="34" name="TextBox 34"/>
            <p:cNvSpPr txBox="1"/>
            <p:nvPr>
              <p:custDataLst>
                <p:tags r:id="rId11"/>
              </p:custDataLst>
            </p:nvPr>
          </p:nvSpPr>
          <p:spPr>
            <a:xfrm>
              <a:off x="4674870" y="53403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稽核</a:t>
              </a:r>
            </a:p>
          </p:txBody>
        </p:sp>
        <p:sp>
          <p:nvSpPr>
            <p:cNvPr id="35" name="TextBox 35"/>
            <p:cNvSpPr txBox="1"/>
            <p:nvPr>
              <p:custDataLst>
                <p:tags r:id="rId12"/>
              </p:custDataLst>
            </p:nvPr>
          </p:nvSpPr>
          <p:spPr>
            <a:xfrm>
              <a:off x="4490634" y="5670550"/>
              <a:ext cx="846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本機</a:t>
              </a:r>
              <a:r>
                <a:rPr lang="en-US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 AI </a:t>
              </a:r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三態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591300" y="453390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815435" y="4724102"/>
              <a:ext cx="265807" cy="311051"/>
              <a:chOff x="6815435" y="4724102"/>
              <a:chExt cx="265807" cy="31105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815435" y="4724102"/>
                <a:ext cx="237530" cy="305395"/>
              </a:xfrm>
              <a:custGeom>
                <a:avLst/>
                <a:gdLst/>
                <a:ahLst/>
                <a:cxnLst/>
                <a:rect l="l" t="t" r="r" b="b"/>
                <a:pathLst>
                  <a:path w="237530" h="305395">
                    <a:moveTo>
                      <a:pt x="118765" y="0"/>
                    </a:moveTo>
                    <a:lnTo>
                      <a:pt x="237530" y="50899"/>
                    </a:lnTo>
                    <a:lnTo>
                      <a:pt x="237530" y="141387"/>
                    </a:lnTo>
                    <a:cubicBezTo>
                      <a:pt x="237530" y="214908"/>
                      <a:pt x="180975" y="265807"/>
                      <a:pt x="118765" y="305395"/>
                    </a:cubicBezTo>
                    <a:cubicBezTo>
                      <a:pt x="56555" y="265807"/>
                      <a:pt x="0" y="214908"/>
                      <a:pt x="0" y="141387"/>
                    </a:cubicBezTo>
                    <a:lnTo>
                      <a:pt x="0" y="50899"/>
                    </a:lnTo>
                    <a:close/>
                  </a:path>
                </a:pathLst>
              </a:custGeom>
              <a:solidFill>
                <a:srgbClr val="15293F"/>
              </a:solidFill>
              <a:ln w="16966" cap="rnd">
                <a:solidFill>
                  <a:srgbClr val="5EEAD4"/>
                </a:solidFill>
                <a:round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871990" y="4820245"/>
                <a:ext cx="130076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0488">
                    <a:moveTo>
                      <a:pt x="0" y="45244"/>
                    </a:moveTo>
                    <a:lnTo>
                      <a:pt x="45244" y="90488"/>
                    </a:lnTo>
                    <a:lnTo>
                      <a:pt x="130076" y="0"/>
                    </a:lnTo>
                  </a:path>
                </a:pathLst>
              </a:custGeom>
              <a:noFill/>
              <a:ln w="22622" cap="rnd">
                <a:solidFill>
                  <a:srgbClr val="5EEAD4"/>
                </a:solidFill>
                <a:round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07721" y="4939010"/>
                <a:ext cx="73521" cy="96143"/>
              </a:xfrm>
              <a:custGeom>
                <a:avLst/>
                <a:gdLst/>
                <a:ahLst/>
                <a:cxnLst/>
                <a:rect l="l" t="t" r="r" b="b"/>
                <a:pathLst>
                  <a:path w="73521" h="96143">
                    <a:moveTo>
                      <a:pt x="16966" y="0"/>
                    </a:moveTo>
                    <a:lnTo>
                      <a:pt x="73521" y="0"/>
                    </a:lnTo>
                    <a:lnTo>
                      <a:pt x="73521" y="67866"/>
                    </a:lnTo>
                    <a:lnTo>
                      <a:pt x="0" y="67866"/>
                    </a:lnTo>
                    <a:moveTo>
                      <a:pt x="28277" y="39588"/>
                    </a:moveTo>
                    <a:lnTo>
                      <a:pt x="0" y="67866"/>
                    </a:lnTo>
                    <a:lnTo>
                      <a:pt x="28277" y="96143"/>
                    </a:lnTo>
                  </a:path>
                </a:pathLst>
              </a:custGeom>
              <a:noFill/>
              <a:ln w="16966" cap="rnd">
                <a:solidFill>
                  <a:srgbClr val="5EEAD4"/>
                </a:solidFill>
                <a:round/>
              </a:ln>
            </p:spPr>
          </p:sp>
        </p:grpSp>
        <p:sp>
          <p:nvSpPr>
            <p:cNvPr id="41" name="TextBox 41"/>
            <p:cNvSpPr txBox="1"/>
            <p:nvPr>
              <p:custDataLst>
                <p:tags r:id="rId13"/>
              </p:custDataLst>
            </p:nvPr>
          </p:nvSpPr>
          <p:spPr>
            <a:xfrm>
              <a:off x="6675120" y="5340350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回復</a:t>
              </a:r>
            </a:p>
          </p:txBody>
        </p:sp>
        <p:sp>
          <p:nvSpPr>
            <p:cNvPr id="42" name="TextBox 42"/>
            <p:cNvSpPr txBox="1"/>
            <p:nvPr>
              <p:custDataLst>
                <p:tags r:id="rId14"/>
              </p:custDataLst>
            </p:nvPr>
          </p:nvSpPr>
          <p:spPr>
            <a:xfrm>
              <a:off x="6380931" y="56705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讀回＋到期回復</a:t>
              </a: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8708708" y="1450658"/>
              <a:ext cx="2760344" cy="2760344"/>
              <a:chOff x="8708708" y="1450658"/>
              <a:chExt cx="2760344" cy="2760344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8993505" y="1735455"/>
                <a:ext cx="2190750" cy="2190750"/>
              </a:xfrm>
              <a:prstGeom prst="ellipse">
                <a:avLst/>
              </a:prstGeom>
              <a:solidFill>
                <a:srgbClr val="15293F"/>
              </a:solidFill>
              <a:ln w="43815">
                <a:solidFill>
                  <a:srgbClr val="2A426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993505" y="1735455"/>
                <a:ext cx="2190750" cy="219075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2190750">
                    <a:moveTo>
                      <a:pt x="1095375" y="0"/>
                    </a:moveTo>
                    <a:cubicBezTo>
                      <a:pt x="1825625" y="0"/>
                      <a:pt x="2190750" y="365125"/>
                      <a:pt x="2190750" y="1095375"/>
                    </a:cubicBezTo>
                    <a:cubicBezTo>
                      <a:pt x="2190750" y="1825625"/>
                      <a:pt x="1825625" y="2190750"/>
                      <a:pt x="1095375" y="2190750"/>
                    </a:cubicBezTo>
                    <a:cubicBezTo>
                      <a:pt x="365125" y="2190750"/>
                      <a:pt x="0" y="1825625"/>
                      <a:pt x="0" y="1095375"/>
                    </a:cubicBezTo>
                    <a:cubicBezTo>
                      <a:pt x="0" y="365125"/>
                      <a:pt x="365125" y="0"/>
                      <a:pt x="1095375" y="0"/>
                    </a:cubicBezTo>
                  </a:path>
                </a:pathLst>
              </a:custGeom>
              <a:noFill/>
              <a:ln w="56959">
                <a:solidFill>
                  <a:srgbClr val="5EEAD4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9715083" y="2350234"/>
                <a:ext cx="836593" cy="978991"/>
                <a:chOff x="9715083" y="2350234"/>
                <a:chExt cx="836593" cy="978991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9715083" y="2350234"/>
                  <a:ext cx="747593" cy="961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7593" h="961192">
                      <a:moveTo>
                        <a:pt x="373797" y="0"/>
                      </a:moveTo>
                      <a:lnTo>
                        <a:pt x="747593" y="160199"/>
                      </a:lnTo>
                      <a:lnTo>
                        <a:pt x="747593" y="444996"/>
                      </a:lnTo>
                      <a:cubicBezTo>
                        <a:pt x="747593" y="676394"/>
                        <a:pt x="569595" y="836593"/>
                        <a:pt x="373797" y="961192"/>
                      </a:cubicBezTo>
                      <a:cubicBezTo>
                        <a:pt x="177998" y="836593"/>
                        <a:pt x="0" y="676394"/>
                        <a:pt x="0" y="444996"/>
                      </a:cubicBezTo>
                      <a:lnTo>
                        <a:pt x="0" y="16019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w="53400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9893082" y="2652832"/>
                  <a:ext cx="409396" cy="2847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396" h="284797">
                      <a:moveTo>
                        <a:pt x="0" y="142399"/>
                      </a:moveTo>
                      <a:lnTo>
                        <a:pt x="142399" y="284797"/>
                      </a:lnTo>
                      <a:lnTo>
                        <a:pt x="409396" y="0"/>
                      </a:lnTo>
                    </a:path>
                  </a:pathLst>
                </a:custGeom>
                <a:noFill/>
                <a:ln w="71199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0320278" y="3026628"/>
                  <a:ext cx="231398" cy="302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398" h="302597">
                      <a:moveTo>
                        <a:pt x="53400" y="0"/>
                      </a:moveTo>
                      <a:lnTo>
                        <a:pt x="231398" y="0"/>
                      </a:lnTo>
                      <a:lnTo>
                        <a:pt x="231398" y="213598"/>
                      </a:lnTo>
                      <a:lnTo>
                        <a:pt x="0" y="213598"/>
                      </a:lnTo>
                      <a:moveTo>
                        <a:pt x="88999" y="124599"/>
                      </a:moveTo>
                      <a:lnTo>
                        <a:pt x="0" y="213598"/>
                      </a:lnTo>
                      <a:lnTo>
                        <a:pt x="88999" y="302597"/>
                      </a:lnTo>
                    </a:path>
                  </a:pathLst>
                </a:custGeom>
                <a:noFill/>
                <a:ln w="53400" cap="rnd">
                  <a:solidFill>
                    <a:srgbClr val="5EEAD4"/>
                  </a:solidFill>
                  <a:round/>
                </a:ln>
              </p:spPr>
            </p:sp>
          </p:grpSp>
          <p:sp>
            <p:nvSpPr>
              <p:cNvPr id="49" name="Ellipse 49"/>
              <p:cNvSpPr/>
              <p:nvPr/>
            </p:nvSpPr>
            <p:spPr>
              <a:xfrm>
                <a:off x="9804082" y="1450658"/>
                <a:ext cx="569595" cy="569595"/>
              </a:xfrm>
              <a:prstGeom prst="ellipse">
                <a:avLst/>
              </a:prstGeom>
              <a:solidFill>
                <a:schemeClr val="accent5"/>
              </a:solidFill>
              <a:ln w="30670">
                <a:solidFill>
                  <a:srgbClr val="2A4260"/>
                </a:solidFill>
              </a:ln>
            </p:spPr>
          </p:sp>
          <p:grpSp>
            <p:nvGrpSpPr>
              <p:cNvPr id="53" name="Group 53"/>
              <p:cNvGrpSpPr/>
              <p:nvPr/>
            </p:nvGrpSpPr>
            <p:grpSpPr>
              <a:xfrm>
                <a:off x="9897189" y="1543764"/>
                <a:ext cx="383381" cy="383381"/>
                <a:chOff x="9897189" y="1543764"/>
                <a:chExt cx="383381" cy="383381"/>
              </a:xfrm>
            </p:grpSpPr>
            <p:sp>
              <p:nvSpPr>
                <p:cNvPr id="50" name="Rectangle 50"/>
                <p:cNvSpPr/>
                <p:nvPr/>
              </p:nvSpPr>
              <p:spPr>
                <a:xfrm>
                  <a:off x="9951958" y="1598533"/>
                  <a:ext cx="273844" cy="273844"/>
                </a:xfrm>
                <a:prstGeom prst="roundRect">
                  <a:avLst>
                    <a:gd name="adj" fmla="val 12500"/>
                  </a:avLst>
                </a:pr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51" name="Rectangle 51"/>
                <p:cNvSpPr/>
                <p:nvPr/>
              </p:nvSpPr>
              <p:spPr>
                <a:xfrm>
                  <a:off x="10027265" y="1673840"/>
                  <a:ext cx="123230" cy="12323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2A4260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9897189" y="1543764"/>
                  <a:ext cx="383381" cy="3833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3381" h="383381">
                      <a:moveTo>
                        <a:pt x="116384" y="0"/>
                      </a:moveTo>
                      <a:lnTo>
                        <a:pt x="116384" y="54769"/>
                      </a:lnTo>
                      <a:moveTo>
                        <a:pt x="191691" y="0"/>
                      </a:moveTo>
                      <a:lnTo>
                        <a:pt x="191691" y="54769"/>
                      </a:lnTo>
                      <a:moveTo>
                        <a:pt x="266998" y="0"/>
                      </a:moveTo>
                      <a:lnTo>
                        <a:pt x="266998" y="54769"/>
                      </a:lnTo>
                      <a:moveTo>
                        <a:pt x="116384" y="328612"/>
                      </a:moveTo>
                      <a:lnTo>
                        <a:pt x="116384" y="383381"/>
                      </a:lnTo>
                      <a:moveTo>
                        <a:pt x="191691" y="328612"/>
                      </a:moveTo>
                      <a:lnTo>
                        <a:pt x="191691" y="383381"/>
                      </a:lnTo>
                      <a:moveTo>
                        <a:pt x="266998" y="328612"/>
                      </a:moveTo>
                      <a:lnTo>
                        <a:pt x="266998" y="383381"/>
                      </a:lnTo>
                      <a:moveTo>
                        <a:pt x="0" y="116384"/>
                      </a:moveTo>
                      <a:lnTo>
                        <a:pt x="54769" y="116384"/>
                      </a:lnTo>
                      <a:moveTo>
                        <a:pt x="0" y="191691"/>
                      </a:moveTo>
                      <a:lnTo>
                        <a:pt x="54769" y="191691"/>
                      </a:lnTo>
                      <a:moveTo>
                        <a:pt x="0" y="266998"/>
                      </a:moveTo>
                      <a:lnTo>
                        <a:pt x="54769" y="266998"/>
                      </a:lnTo>
                      <a:moveTo>
                        <a:pt x="328612" y="116384"/>
                      </a:moveTo>
                      <a:lnTo>
                        <a:pt x="383381" y="116384"/>
                      </a:lnTo>
                      <a:moveTo>
                        <a:pt x="328612" y="191691"/>
                      </a:moveTo>
                      <a:lnTo>
                        <a:pt x="383381" y="191691"/>
                      </a:lnTo>
                      <a:moveTo>
                        <a:pt x="328612" y="266998"/>
                      </a:moveTo>
                      <a:lnTo>
                        <a:pt x="383381" y="266998"/>
                      </a:lnTo>
                    </a:path>
                  </a:pathLst>
                </a:custGeom>
                <a:noFill/>
                <a:ln w="20538" cap="rnd">
                  <a:solidFill>
                    <a:srgbClr val="5EEAD4"/>
                  </a:solidFill>
                  <a:round/>
                </a:ln>
              </p:spPr>
            </p:sp>
          </p:grpSp>
          <p:sp>
            <p:nvSpPr>
              <p:cNvPr id="54" name="Ellipse 54"/>
              <p:cNvSpPr/>
              <p:nvPr/>
            </p:nvSpPr>
            <p:spPr>
              <a:xfrm>
                <a:off x="10899457" y="2546033"/>
                <a:ext cx="569595" cy="569595"/>
              </a:xfrm>
              <a:prstGeom prst="ellipse">
                <a:avLst/>
              </a:prstGeom>
              <a:solidFill>
                <a:schemeClr val="accent5"/>
              </a:solidFill>
              <a:ln w="30670">
                <a:solidFill>
                  <a:srgbClr val="2A4260"/>
                </a:solidFill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11013103" y="2652832"/>
                <a:ext cx="362843" cy="355997"/>
                <a:chOff x="11013103" y="2652832"/>
                <a:chExt cx="362843" cy="355997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11013103" y="2700754"/>
                  <a:ext cx="260152" cy="273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52" h="273844">
                      <a:moveTo>
                        <a:pt x="0" y="0"/>
                      </a:moveTo>
                      <a:lnTo>
                        <a:pt x="0" y="212229"/>
                      </a:lnTo>
                      <a:cubicBezTo>
                        <a:pt x="0" y="273844"/>
                        <a:pt x="260152" y="273844"/>
                        <a:pt x="260152" y="212229"/>
                      </a:cubicBezTo>
                      <a:lnTo>
                        <a:pt x="260152" y="0"/>
                      </a:lnTo>
                    </a:path>
                  </a:pathLst>
                </a:cu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56" name="Ellipse 56"/>
                <p:cNvSpPr/>
                <p:nvPr/>
              </p:nvSpPr>
              <p:spPr>
                <a:xfrm>
                  <a:off x="11013103" y="2652832"/>
                  <a:ext cx="260152" cy="95845"/>
                </a:xfrm>
                <a:prstGeom prst="ellipse">
                  <a:avLst/>
                </a:pr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11013103" y="2796600"/>
                  <a:ext cx="260152" cy="616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152" h="61615">
                      <a:moveTo>
                        <a:pt x="0" y="0"/>
                      </a:moveTo>
                      <a:cubicBezTo>
                        <a:pt x="0" y="61615"/>
                        <a:pt x="260152" y="61615"/>
                        <a:pt x="260152" y="0"/>
                      </a:cubicBezTo>
                    </a:path>
                  </a:pathLst>
                </a:custGeom>
                <a:noFill/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58" name="Ellipse 58"/>
                <p:cNvSpPr/>
                <p:nvPr/>
              </p:nvSpPr>
              <p:spPr>
                <a:xfrm>
                  <a:off x="11184255" y="2810292"/>
                  <a:ext cx="150614" cy="150614"/>
                </a:xfrm>
                <a:prstGeom prst="ellipse">
                  <a:avLst/>
                </a:prstGeom>
                <a:solidFill>
                  <a:srgbClr val="2A4260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1314331" y="2940368"/>
                  <a:ext cx="61615" cy="68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15" h="68461">
                      <a:moveTo>
                        <a:pt x="0" y="0"/>
                      </a:moveTo>
                      <a:lnTo>
                        <a:pt x="61615" y="68461"/>
                      </a:lnTo>
                    </a:path>
                  </a:pathLst>
                </a:custGeom>
                <a:solidFill>
                  <a:schemeClr val="accent5"/>
                </a:solidFill>
                <a:ln w="27384" cap="rnd">
                  <a:solidFill>
                    <a:srgbClr val="5EEAD4"/>
                  </a:solidFill>
                  <a:round/>
                </a:ln>
              </p:spPr>
            </p:sp>
          </p:grpSp>
          <p:sp>
            <p:nvSpPr>
              <p:cNvPr id="61" name="Ellipse 61"/>
              <p:cNvSpPr/>
              <p:nvPr/>
            </p:nvSpPr>
            <p:spPr>
              <a:xfrm>
                <a:off x="9804082" y="3641407"/>
                <a:ext cx="569595" cy="569595"/>
              </a:xfrm>
              <a:prstGeom prst="ellipse">
                <a:avLst/>
              </a:prstGeom>
              <a:solidFill>
                <a:schemeClr val="accent5"/>
              </a:solidFill>
              <a:ln w="30670">
                <a:solidFill>
                  <a:srgbClr val="2A4260"/>
                </a:solidFill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9917728" y="3761899"/>
                <a:ext cx="342305" cy="328612"/>
                <a:chOff x="9917728" y="3761899"/>
                <a:chExt cx="342305" cy="328612"/>
              </a:xfrm>
            </p:grpSpPr>
            <p:sp>
              <p:nvSpPr>
                <p:cNvPr id="62" name="Rectangle 62"/>
                <p:cNvSpPr/>
                <p:nvPr/>
              </p:nvSpPr>
              <p:spPr>
                <a:xfrm>
                  <a:off x="9917728" y="3761899"/>
                  <a:ext cx="342305" cy="328612"/>
                </a:xfrm>
                <a:prstGeom prst="roundRect">
                  <a:avLst>
                    <a:gd name="adj" fmla="val 8333"/>
                  </a:avLst>
                </a:pr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9917728" y="3761899"/>
                  <a:ext cx="342305" cy="328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305" h="328612">
                      <a:moveTo>
                        <a:pt x="0" y="109538"/>
                      </a:moveTo>
                      <a:lnTo>
                        <a:pt x="342305" y="109538"/>
                      </a:lnTo>
                      <a:moveTo>
                        <a:pt x="0" y="219075"/>
                      </a:moveTo>
                      <a:lnTo>
                        <a:pt x="342305" y="219075"/>
                      </a:lnTo>
                      <a:moveTo>
                        <a:pt x="109538" y="0"/>
                      </a:moveTo>
                      <a:lnTo>
                        <a:pt x="109538" y="109538"/>
                      </a:lnTo>
                      <a:moveTo>
                        <a:pt x="246459" y="0"/>
                      </a:moveTo>
                      <a:lnTo>
                        <a:pt x="246459" y="109538"/>
                      </a:lnTo>
                      <a:moveTo>
                        <a:pt x="61615" y="109538"/>
                      </a:moveTo>
                      <a:lnTo>
                        <a:pt x="61615" y="219075"/>
                      </a:lnTo>
                      <a:moveTo>
                        <a:pt x="205383" y="109538"/>
                      </a:moveTo>
                      <a:lnTo>
                        <a:pt x="205383" y="219075"/>
                      </a:lnTo>
                      <a:moveTo>
                        <a:pt x="109538" y="219075"/>
                      </a:moveTo>
                      <a:lnTo>
                        <a:pt x="109538" y="328612"/>
                      </a:lnTo>
                      <a:moveTo>
                        <a:pt x="246459" y="219075"/>
                      </a:moveTo>
                      <a:lnTo>
                        <a:pt x="246459" y="328612"/>
                      </a:lnTo>
                    </a:path>
                  </a:pathLst>
                </a:custGeom>
                <a:noFill/>
                <a:ln w="20538" cap="rnd">
                  <a:solidFill>
                    <a:srgbClr val="5EEAD4"/>
                  </a:solidFill>
                  <a:round/>
                </a:ln>
              </p:spPr>
            </p:sp>
          </p:grpSp>
          <p:sp>
            <p:nvSpPr>
              <p:cNvPr id="65" name="Ellipse 65"/>
              <p:cNvSpPr/>
              <p:nvPr/>
            </p:nvSpPr>
            <p:spPr>
              <a:xfrm>
                <a:off x="8708708" y="2546033"/>
                <a:ext cx="569595" cy="569595"/>
              </a:xfrm>
              <a:prstGeom prst="ellipse">
                <a:avLst/>
              </a:prstGeom>
              <a:solidFill>
                <a:schemeClr val="accent5"/>
              </a:solidFill>
              <a:ln w="30670">
                <a:solidFill>
                  <a:srgbClr val="2A4260"/>
                </a:solidFill>
              </a:ln>
            </p:spPr>
          </p:sp>
          <p:grpSp>
            <p:nvGrpSpPr>
              <p:cNvPr id="72" name="Group 72"/>
              <p:cNvGrpSpPr/>
              <p:nvPr/>
            </p:nvGrpSpPr>
            <p:grpSpPr>
              <a:xfrm>
                <a:off x="8794968" y="2645985"/>
                <a:ext cx="397074" cy="362843"/>
                <a:chOff x="8794968" y="2645985"/>
                <a:chExt cx="397074" cy="362843"/>
              </a:xfrm>
            </p:grpSpPr>
            <p:sp>
              <p:nvSpPr>
                <p:cNvPr id="66" name="Rectangle 66"/>
                <p:cNvSpPr/>
                <p:nvPr/>
              </p:nvSpPr>
              <p:spPr>
                <a:xfrm>
                  <a:off x="8856583" y="2645985"/>
                  <a:ext cx="273844" cy="136922"/>
                </a:xfrm>
                <a:prstGeom prst="roundRect">
                  <a:avLst>
                    <a:gd name="adj" fmla="val 20000"/>
                  </a:avLst>
                </a:pr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842891" y="2782907"/>
                  <a:ext cx="301228" cy="1369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228" h="136922">
                      <a:moveTo>
                        <a:pt x="150614" y="0"/>
                      </a:moveTo>
                      <a:lnTo>
                        <a:pt x="150614" y="88999"/>
                      </a:lnTo>
                      <a:moveTo>
                        <a:pt x="0" y="88999"/>
                      </a:moveTo>
                      <a:lnTo>
                        <a:pt x="301228" y="88999"/>
                      </a:lnTo>
                      <a:moveTo>
                        <a:pt x="0" y="88999"/>
                      </a:moveTo>
                      <a:lnTo>
                        <a:pt x="0" y="136922"/>
                      </a:lnTo>
                      <a:moveTo>
                        <a:pt x="150614" y="88999"/>
                      </a:moveTo>
                      <a:lnTo>
                        <a:pt x="150614" y="136922"/>
                      </a:lnTo>
                      <a:moveTo>
                        <a:pt x="301228" y="88999"/>
                      </a:moveTo>
                      <a:lnTo>
                        <a:pt x="301228" y="136922"/>
                      </a:lnTo>
                    </a:path>
                  </a:pathLst>
                </a:custGeom>
                <a:noFill/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68" name="Rectangle 68"/>
                <p:cNvSpPr/>
                <p:nvPr/>
              </p:nvSpPr>
              <p:spPr>
                <a:xfrm>
                  <a:off x="8794968" y="2919829"/>
                  <a:ext cx="95845" cy="88999"/>
                </a:xfrm>
                <a:prstGeom prst="roundRect">
                  <a:avLst>
                    <a:gd name="adj" fmla="val 23077"/>
                  </a:avLst>
                </a:pr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69" name="Rectangle 69"/>
                <p:cNvSpPr/>
                <p:nvPr/>
              </p:nvSpPr>
              <p:spPr>
                <a:xfrm>
                  <a:off x="8945582" y="2919829"/>
                  <a:ext cx="95845" cy="88999"/>
                </a:xfrm>
                <a:prstGeom prst="roundRect">
                  <a:avLst>
                    <a:gd name="adj" fmla="val 23077"/>
                  </a:avLst>
                </a:pr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70" name="Rectangle 70"/>
                <p:cNvSpPr/>
                <p:nvPr/>
              </p:nvSpPr>
              <p:spPr>
                <a:xfrm>
                  <a:off x="9096196" y="2919829"/>
                  <a:ext cx="95845" cy="88999"/>
                </a:xfrm>
                <a:prstGeom prst="roundRect">
                  <a:avLst>
                    <a:gd name="adj" fmla="val 23077"/>
                  </a:avLst>
                </a:pr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  <p:sp>
              <p:nvSpPr>
                <p:cNvPr id="71" name="Freeform 71"/>
                <p:cNvSpPr/>
                <p:nvPr/>
              </p:nvSpPr>
              <p:spPr>
                <a:xfrm>
                  <a:off x="8911352" y="2714446"/>
                  <a:ext cx="164306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306" h="9525">
                      <a:moveTo>
                        <a:pt x="0" y="0"/>
                      </a:moveTo>
                      <a:lnTo>
                        <a:pt x="164306" y="0"/>
                      </a:lnTo>
                    </a:path>
                  </a:pathLst>
                </a:custGeom>
                <a:solidFill>
                  <a:schemeClr val="accent5"/>
                </a:solidFill>
                <a:ln w="20538" cap="rnd">
                  <a:solidFill>
                    <a:srgbClr val="5EEAD4"/>
                  </a:solidFill>
                  <a:round/>
                </a:ln>
              </p:spPr>
            </p:sp>
          </p:grpSp>
          <p:sp>
            <p:nvSpPr>
              <p:cNvPr id="73" name="Ellipse 73"/>
              <p:cNvSpPr/>
              <p:nvPr/>
            </p:nvSpPr>
            <p:spPr>
              <a:xfrm>
                <a:off x="10768012" y="1976438"/>
                <a:ext cx="175260" cy="17526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88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76" name="Line 7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2A4260"/>
              </a:solidFill>
            </a:ln>
          </p:spPr>
        </p:sp>
        <p:sp>
          <p:nvSpPr>
            <p:cNvPr id="77" name="TextBox 77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87" name="TextBox 87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01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peningFilm_30s_Embedded">
            <a:hlinkClick r:id="" action="ppaction://media"/>
            <a:extLst>
              <a:ext uri="{FF2B5EF4-FFF2-40B4-BE49-F238E27FC236}">
                <a16:creationId xmlns:a16="http://schemas.microsoft.com/office/drawing/2014/main" id="{2DF7044A-F50A-4404-86F6-C4039600A46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4249293" cy="855853"/>
            <a:chOff x="595122" y="431800"/>
            <a:chExt cx="4249293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50"/>
              </p:custDataLst>
            </p:nvPr>
          </p:nvSpPr>
          <p:spPr>
            <a:xfrm>
              <a:off x="794385" y="431800"/>
              <a:ext cx="10357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FRAMEWORK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51"/>
              </p:custDataLst>
            </p:nvPr>
          </p:nvSpPr>
          <p:spPr>
            <a:xfrm>
              <a:off x="595122" y="730250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一個框架，四個連續階段</a:t>
              </a:r>
            </a:p>
          </p:txBody>
        </p:sp>
      </p:grpSp>
      <p:grpSp>
        <p:nvGrpSpPr>
          <p:cNvPr id="135" name="page-content"/>
          <p:cNvGrpSpPr/>
          <p:nvPr/>
        </p:nvGrpSpPr>
        <p:grpSpPr>
          <a:xfrm>
            <a:off x="609600" y="1428750"/>
            <a:ext cx="10972800" cy="4191000"/>
            <a:chOff x="609600" y="1428750"/>
            <a:chExt cx="10972800" cy="4191000"/>
          </a:xfrm>
        </p:grpSpPr>
        <p:sp>
          <p:nvSpPr>
            <p:cNvPr id="6" name="Ellipse 6"/>
            <p:cNvSpPr/>
            <p:nvPr/>
          </p:nvSpPr>
          <p:spPr>
            <a:xfrm>
              <a:off x="609600" y="1428750"/>
              <a:ext cx="419100" cy="419100"/>
            </a:xfrm>
            <a:prstGeom prst="ellipse">
              <a:avLst/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98302" y="1525786"/>
              <a:ext cx="241696" cy="220861"/>
              <a:chOff x="698302" y="1525786"/>
              <a:chExt cx="241696" cy="220861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735806" y="1525786"/>
                <a:ext cx="166688" cy="83344"/>
              </a:xfrm>
              <a:prstGeom prst="roundRect">
                <a:avLst>
                  <a:gd name="adj" fmla="val 20000"/>
                </a:avLst>
              </a:pr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727472" y="1609130"/>
                <a:ext cx="183356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83344">
                    <a:moveTo>
                      <a:pt x="91678" y="0"/>
                    </a:moveTo>
                    <a:lnTo>
                      <a:pt x="91678" y="54173"/>
                    </a:lnTo>
                    <a:moveTo>
                      <a:pt x="0" y="54173"/>
                    </a:moveTo>
                    <a:lnTo>
                      <a:pt x="183356" y="54173"/>
                    </a:lnTo>
                    <a:moveTo>
                      <a:pt x="0" y="54173"/>
                    </a:moveTo>
                    <a:lnTo>
                      <a:pt x="0" y="83344"/>
                    </a:lnTo>
                    <a:moveTo>
                      <a:pt x="91678" y="54173"/>
                    </a:moveTo>
                    <a:lnTo>
                      <a:pt x="91678" y="83344"/>
                    </a:lnTo>
                    <a:moveTo>
                      <a:pt x="183356" y="54173"/>
                    </a:moveTo>
                    <a:lnTo>
                      <a:pt x="183356" y="83344"/>
                    </a:lnTo>
                  </a:path>
                </a:pathLst>
              </a:custGeom>
              <a:noFill/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98302" y="1692473"/>
                <a:ext cx="58341" cy="54173"/>
              </a:xfrm>
              <a:prstGeom prst="roundRect">
                <a:avLst>
                  <a:gd name="adj" fmla="val 23077"/>
                </a:avLst>
              </a:pr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789980" y="1692473"/>
                <a:ext cx="58341" cy="54173"/>
              </a:xfrm>
              <a:prstGeom prst="roundRect">
                <a:avLst>
                  <a:gd name="adj" fmla="val 23077"/>
                </a:avLst>
              </a:pr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881658" y="1692473"/>
                <a:ext cx="58341" cy="54173"/>
              </a:xfrm>
              <a:prstGeom prst="roundRect">
                <a:avLst>
                  <a:gd name="adj" fmla="val 23077"/>
                </a:avLst>
              </a:pr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9144" y="1567458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14" name="TextBox 14"/>
            <p:cNvSpPr txBox="1"/>
            <p:nvPr>
              <p:custDataLst>
                <p:tags r:id="rId3"/>
              </p:custDataLst>
            </p:nvPr>
          </p:nvSpPr>
          <p:spPr>
            <a:xfrm>
              <a:off x="1138047" y="145415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8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01</a:t>
              </a:r>
            </a:p>
          </p:txBody>
        </p:sp>
        <p:sp>
          <p:nvSpPr>
            <p:cNvPr id="15" name="TextBox 15"/>
            <p:cNvSpPr txBox="1"/>
            <p:nvPr>
              <p:custDataLst>
                <p:tags r:id="rId4"/>
              </p:custDataLst>
            </p:nvPr>
          </p:nvSpPr>
          <p:spPr>
            <a:xfrm>
              <a:off x="1385697" y="1454150"/>
              <a:ext cx="6695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前處理張量</a:t>
              </a:r>
            </a:p>
          </p:txBody>
        </p:sp>
        <p:sp>
          <p:nvSpPr>
            <p:cNvPr id="16" name="TextBox 16"/>
            <p:cNvSpPr txBox="1"/>
            <p:nvPr>
              <p:custDataLst>
                <p:tags r:id="rId5"/>
              </p:custDataLst>
            </p:nvPr>
          </p:nvSpPr>
          <p:spPr>
            <a:xfrm>
              <a:off x="1134999" y="16192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流量表徵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3257550" y="15621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9600" y="2000250"/>
              <a:ext cx="2571750" cy="297180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409950" y="1428750"/>
              <a:ext cx="419100" cy="419100"/>
            </a:xfrm>
            <a:prstGeom prst="ellipse">
              <a:avLst/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502819" y="1521619"/>
              <a:ext cx="233362" cy="233362"/>
              <a:chOff x="3502819" y="1521619"/>
              <a:chExt cx="233362" cy="233362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536156" y="1554956"/>
                <a:ext cx="166688" cy="166688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3581995" y="1600795"/>
                <a:ext cx="75009" cy="75009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502819" y="1521619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70842" y="0"/>
                    </a:moveTo>
                    <a:lnTo>
                      <a:pt x="70842" y="33338"/>
                    </a:lnTo>
                    <a:moveTo>
                      <a:pt x="116681" y="0"/>
                    </a:moveTo>
                    <a:lnTo>
                      <a:pt x="116681" y="33338"/>
                    </a:lnTo>
                    <a:moveTo>
                      <a:pt x="162520" y="0"/>
                    </a:moveTo>
                    <a:lnTo>
                      <a:pt x="162520" y="33338"/>
                    </a:lnTo>
                    <a:moveTo>
                      <a:pt x="70842" y="200025"/>
                    </a:moveTo>
                    <a:lnTo>
                      <a:pt x="70842" y="233362"/>
                    </a:lnTo>
                    <a:moveTo>
                      <a:pt x="116681" y="200025"/>
                    </a:moveTo>
                    <a:lnTo>
                      <a:pt x="116681" y="233362"/>
                    </a:lnTo>
                    <a:moveTo>
                      <a:pt x="162520" y="200025"/>
                    </a:moveTo>
                    <a:lnTo>
                      <a:pt x="162520" y="233362"/>
                    </a:lnTo>
                    <a:moveTo>
                      <a:pt x="0" y="70842"/>
                    </a:moveTo>
                    <a:lnTo>
                      <a:pt x="33338" y="70842"/>
                    </a:lnTo>
                    <a:moveTo>
                      <a:pt x="0" y="116681"/>
                    </a:moveTo>
                    <a:lnTo>
                      <a:pt x="33338" y="116681"/>
                    </a:lnTo>
                    <a:moveTo>
                      <a:pt x="0" y="162520"/>
                    </a:moveTo>
                    <a:lnTo>
                      <a:pt x="33338" y="162520"/>
                    </a:lnTo>
                    <a:moveTo>
                      <a:pt x="200025" y="70842"/>
                    </a:moveTo>
                    <a:lnTo>
                      <a:pt x="233362" y="70842"/>
                    </a:lnTo>
                    <a:moveTo>
                      <a:pt x="200025" y="116681"/>
                    </a:moveTo>
                    <a:lnTo>
                      <a:pt x="233362" y="116681"/>
                    </a:lnTo>
                    <a:moveTo>
                      <a:pt x="200025" y="162520"/>
                    </a:moveTo>
                    <a:lnTo>
                      <a:pt x="233362" y="162520"/>
                    </a:lnTo>
                  </a:path>
                </a:pathLst>
              </a:custGeom>
              <a:noFill/>
              <a:ln w="12502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24" name="TextBox 24"/>
            <p:cNvSpPr txBox="1"/>
            <p:nvPr>
              <p:custDataLst>
                <p:tags r:id="rId6"/>
              </p:custDataLst>
            </p:nvPr>
          </p:nvSpPr>
          <p:spPr>
            <a:xfrm>
              <a:off x="3938397" y="145415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8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02</a:t>
              </a:r>
            </a:p>
          </p:txBody>
        </p:sp>
        <p:sp>
          <p:nvSpPr>
            <p:cNvPr id="25" name="TextBox 25"/>
            <p:cNvSpPr txBox="1"/>
            <p:nvPr>
              <p:custDataLst>
                <p:tags r:id="rId7"/>
              </p:custDataLst>
            </p:nvPr>
          </p:nvSpPr>
          <p:spPr>
            <a:xfrm>
              <a:off x="4186047" y="1454150"/>
              <a:ext cx="95908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CTBM</a:t>
              </a:r>
              <a:r>
                <a:rPr lang="zh-TW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＋</a:t>
              </a:r>
              <a:r>
                <a:rPr lang="en-US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PBCNN</a:t>
              </a:r>
            </a:p>
          </p:txBody>
        </p:sp>
        <p:sp>
          <p:nvSpPr>
            <p:cNvPr id="26" name="TextBox 26"/>
            <p:cNvSpPr txBox="1"/>
            <p:nvPr>
              <p:custDataLst>
                <p:tags r:id="rId8"/>
              </p:custDataLst>
            </p:nvPr>
          </p:nvSpPr>
          <p:spPr>
            <a:xfrm>
              <a:off x="3935349" y="16192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互補判定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6057900" y="15621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409950" y="2000250"/>
              <a:ext cx="2571750" cy="297180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6210300" y="1428750"/>
              <a:ext cx="419100" cy="419100"/>
            </a:xfrm>
            <a:prstGeom prst="ellipse">
              <a:avLst/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315670" y="1529953"/>
              <a:ext cx="220862" cy="216694"/>
              <a:chOff x="6315670" y="1529953"/>
              <a:chExt cx="220862" cy="216694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315670" y="1559123"/>
                <a:ext cx="158353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58353" h="166688">
                    <a:moveTo>
                      <a:pt x="0" y="0"/>
                    </a:moveTo>
                    <a:lnTo>
                      <a:pt x="0" y="129183"/>
                    </a:lnTo>
                    <a:cubicBezTo>
                      <a:pt x="0" y="166688"/>
                      <a:pt x="158353" y="166688"/>
                      <a:pt x="158353" y="129183"/>
                    </a:cubicBezTo>
                    <a:lnTo>
                      <a:pt x="158353" y="0"/>
                    </a:lnTo>
                  </a:path>
                </a:pathLst>
              </a:cu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6315670" y="1529953"/>
                <a:ext cx="158353" cy="58341"/>
              </a:xfrm>
              <a:prstGeom prst="ellipse">
                <a:avLst/>
              </a:pr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315670" y="1617464"/>
                <a:ext cx="158353" cy="37505"/>
              </a:xfrm>
              <a:custGeom>
                <a:avLst/>
                <a:gdLst/>
                <a:ahLst/>
                <a:cxnLst/>
                <a:rect l="l" t="t" r="r" b="b"/>
                <a:pathLst>
                  <a:path w="158353" h="37505">
                    <a:moveTo>
                      <a:pt x="0" y="0"/>
                    </a:moveTo>
                    <a:cubicBezTo>
                      <a:pt x="0" y="37505"/>
                      <a:pt x="158353" y="37505"/>
                      <a:pt x="158353" y="0"/>
                    </a:cubicBezTo>
                  </a:path>
                </a:pathLst>
              </a:custGeom>
              <a:noFill/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6419850" y="1625798"/>
                <a:ext cx="91678" cy="91678"/>
              </a:xfrm>
              <a:prstGeom prst="ellipse">
                <a:avLst/>
              </a:prstGeom>
              <a:solidFill>
                <a:schemeClr val="lt2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499027" y="1704975"/>
                <a:ext cx="37505" cy="41672"/>
              </a:xfrm>
              <a:custGeom>
                <a:avLst/>
                <a:gdLst/>
                <a:ahLst/>
                <a:cxnLst/>
                <a:rect l="l" t="t" r="r" b="b"/>
                <a:pathLst>
                  <a:path w="37505" h="41672">
                    <a:moveTo>
                      <a:pt x="0" y="0"/>
                    </a:moveTo>
                    <a:lnTo>
                      <a:pt x="37505" y="41672"/>
                    </a:lnTo>
                  </a:path>
                </a:pathLst>
              </a:custGeom>
              <a:solidFill>
                <a:schemeClr val="lt1"/>
              </a:solidFill>
              <a:ln w="16669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36" name="TextBox 36"/>
            <p:cNvSpPr txBox="1"/>
            <p:nvPr>
              <p:custDataLst>
                <p:tags r:id="rId9"/>
              </p:custDataLst>
            </p:nvPr>
          </p:nvSpPr>
          <p:spPr>
            <a:xfrm>
              <a:off x="6738747" y="145415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8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03</a:t>
              </a:r>
            </a:p>
          </p:txBody>
        </p:sp>
        <p:sp>
          <p:nvSpPr>
            <p:cNvPr id="37" name="TextBox 37"/>
            <p:cNvSpPr txBox="1"/>
            <p:nvPr>
              <p:custDataLst>
                <p:tags r:id="rId10"/>
              </p:custDataLst>
            </p:nvPr>
          </p:nvSpPr>
          <p:spPr>
            <a:xfrm>
              <a:off x="6986397" y="1454150"/>
              <a:ext cx="9252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Top-5</a:t>
              </a:r>
              <a:r>
                <a:rPr lang="zh-TW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＋本機</a:t>
              </a:r>
              <a:r>
                <a:rPr lang="en-US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 AI</a:t>
              </a:r>
            </a:p>
          </p:txBody>
        </p:sp>
        <p:sp>
          <p:nvSpPr>
            <p:cNvPr id="38" name="TextBox 38"/>
            <p:cNvSpPr txBox="1"/>
            <p:nvPr>
              <p:custDataLst>
                <p:tags r:id="rId11"/>
              </p:custDataLst>
            </p:nvPr>
          </p:nvSpPr>
          <p:spPr>
            <a:xfrm>
              <a:off x="6735699" y="16192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證據稽核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8858250" y="15621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10300" y="2000250"/>
              <a:ext cx="2571750" cy="297180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010650" y="1428750"/>
              <a:ext cx="419100" cy="419100"/>
            </a:xfrm>
            <a:prstGeom prst="ellipse">
              <a:avLst/>
            </a:prstGeom>
            <a:solidFill>
              <a:srgbClr val="EAF1FE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132689" y="1525786"/>
              <a:ext cx="195857" cy="229195"/>
              <a:chOff x="9132689" y="1525786"/>
              <a:chExt cx="195857" cy="22919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132689" y="1525786"/>
                <a:ext cx="175022" cy="225028"/>
              </a:xfrm>
              <a:custGeom>
                <a:avLst/>
                <a:gdLst/>
                <a:ahLst/>
                <a:cxnLst/>
                <a:rect l="l" t="t" r="r" b="b"/>
                <a:pathLst>
                  <a:path w="175022" h="225028">
                    <a:moveTo>
                      <a:pt x="87511" y="0"/>
                    </a:moveTo>
                    <a:lnTo>
                      <a:pt x="175022" y="37505"/>
                    </a:lnTo>
                    <a:lnTo>
                      <a:pt x="175022" y="104180"/>
                    </a:lnTo>
                    <a:cubicBezTo>
                      <a:pt x="175022" y="158353"/>
                      <a:pt x="133350" y="195858"/>
                      <a:pt x="87511" y="225028"/>
                    </a:cubicBezTo>
                    <a:cubicBezTo>
                      <a:pt x="41672" y="195858"/>
                      <a:pt x="0" y="158353"/>
                      <a:pt x="0" y="104180"/>
                    </a:cubicBezTo>
                    <a:lnTo>
                      <a:pt x="0" y="37505"/>
                    </a:lnTo>
                    <a:close/>
                  </a:path>
                </a:pathLst>
              </a:custGeom>
              <a:solidFill>
                <a:schemeClr val="lt1"/>
              </a:solidFill>
              <a:ln w="12502" cap="rnd">
                <a:solidFill>
                  <a:schemeClr val="accent1"/>
                </a:solidFill>
                <a:round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174361" y="1596628"/>
                <a:ext cx="9584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5845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95845" y="0"/>
                    </a:lnTo>
                  </a:path>
                </a:pathLst>
              </a:custGeom>
              <a:noFill/>
              <a:ln w="16669" cap="rnd">
                <a:solidFill>
                  <a:schemeClr val="accent1"/>
                </a:solidFill>
                <a:round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274373" y="1684139"/>
                <a:ext cx="54173" cy="70842"/>
              </a:xfrm>
              <a:custGeom>
                <a:avLst/>
                <a:gdLst/>
                <a:ahLst/>
                <a:cxnLst/>
                <a:rect l="l" t="t" r="r" b="b"/>
                <a:pathLst>
                  <a:path w="54173" h="70842">
                    <a:moveTo>
                      <a:pt x="12502" y="0"/>
                    </a:moveTo>
                    <a:lnTo>
                      <a:pt x="54173" y="0"/>
                    </a:lnTo>
                    <a:lnTo>
                      <a:pt x="54173" y="50006"/>
                    </a:lnTo>
                    <a:lnTo>
                      <a:pt x="0" y="50006"/>
                    </a:lnTo>
                    <a:moveTo>
                      <a:pt x="20836" y="29170"/>
                    </a:moveTo>
                    <a:lnTo>
                      <a:pt x="0" y="50006"/>
                    </a:lnTo>
                    <a:lnTo>
                      <a:pt x="20836" y="70842"/>
                    </a:lnTo>
                  </a:path>
                </a:pathLst>
              </a:custGeom>
              <a:noFill/>
              <a:ln w="12502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46" name="TextBox 46"/>
            <p:cNvSpPr txBox="1"/>
            <p:nvPr>
              <p:custDataLst>
                <p:tags r:id="rId12"/>
              </p:custDataLst>
            </p:nvPr>
          </p:nvSpPr>
          <p:spPr>
            <a:xfrm>
              <a:off x="9539097" y="1454150"/>
              <a:ext cx="1616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8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04</a:t>
              </a:r>
            </a:p>
          </p:txBody>
        </p:sp>
        <p:sp>
          <p:nvSpPr>
            <p:cNvPr id="47" name="TextBox 47"/>
            <p:cNvSpPr txBox="1"/>
            <p:nvPr>
              <p:custDataLst>
                <p:tags r:id="rId13"/>
              </p:custDataLst>
            </p:nvPr>
          </p:nvSpPr>
          <p:spPr>
            <a:xfrm>
              <a:off x="9786747" y="1454150"/>
              <a:ext cx="85867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策略·讀回·到期</a:t>
              </a:r>
            </a:p>
          </p:txBody>
        </p:sp>
        <p:sp>
          <p:nvSpPr>
            <p:cNvPr id="48" name="TextBox 48"/>
            <p:cNvSpPr txBox="1"/>
            <p:nvPr>
              <p:custDataLst>
                <p:tags r:id="rId14"/>
              </p:custDataLst>
            </p:nvPr>
          </p:nvSpPr>
          <p:spPr>
            <a:xfrm>
              <a:off x="9536049" y="16192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受控回復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9010650" y="2000250"/>
              <a:ext cx="2571750" cy="2971800"/>
            </a:xfrm>
            <a:prstGeom prst="roundRect">
              <a:avLst>
                <a:gd name="adj" fmla="val 518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62000" y="2171700"/>
              <a:ext cx="2266950" cy="590550"/>
            </a:xfrm>
            <a:prstGeom prst="roundRect">
              <a:avLst>
                <a:gd name="adj" fmla="val 16129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51" name="TextBox 51"/>
            <p:cNvSpPr txBox="1"/>
            <p:nvPr>
              <p:custDataLst>
                <p:tags r:id="rId15"/>
              </p:custDataLst>
            </p:nvPr>
          </p:nvSpPr>
          <p:spPr>
            <a:xfrm>
              <a:off x="907161" y="2260600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真實前處理張量</a:t>
              </a:r>
            </a:p>
          </p:txBody>
        </p:sp>
        <p:sp>
          <p:nvSpPr>
            <p:cNvPr id="52" name="TextBox 52"/>
            <p:cNvSpPr txBox="1"/>
            <p:nvPr>
              <p:custDataLst>
                <p:tags r:id="rId16"/>
              </p:custDataLst>
            </p:nvPr>
          </p:nvSpPr>
          <p:spPr>
            <a:xfrm>
              <a:off x="909066" y="2530475"/>
              <a:ext cx="1249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遮罩欄位 · 流量切窗</a:t>
              </a:r>
            </a:p>
          </p:txBody>
        </p:sp>
        <p:sp>
          <p:nvSpPr>
            <p:cNvPr id="53" name="TextBox 53"/>
            <p:cNvSpPr txBox="1"/>
            <p:nvPr>
              <p:custDataLst>
                <p:tags r:id="rId17"/>
              </p:custDataLst>
            </p:nvPr>
          </p:nvSpPr>
          <p:spPr>
            <a:xfrm>
              <a:off x="756666" y="29210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三種線索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62000" y="3162300"/>
              <a:ext cx="704850" cy="3810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55" name="TextBox 55"/>
            <p:cNvSpPr txBox="1"/>
            <p:nvPr>
              <p:custDataLst>
                <p:tags r:id="rId18"/>
              </p:custDataLst>
            </p:nvPr>
          </p:nvSpPr>
          <p:spPr>
            <a:xfrm>
              <a:off x="926148" y="3257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內容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543050" y="3162300"/>
              <a:ext cx="704850" cy="3810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57" name="TextBox 57"/>
            <p:cNvSpPr txBox="1"/>
            <p:nvPr>
              <p:custDataLst>
                <p:tags r:id="rId19"/>
              </p:custDataLst>
            </p:nvPr>
          </p:nvSpPr>
          <p:spPr>
            <a:xfrm>
              <a:off x="1626426" y="32575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時間差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324100" y="3162300"/>
              <a:ext cx="704850" cy="38100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59" name="TextBox 59"/>
            <p:cNvSpPr txBox="1"/>
            <p:nvPr>
              <p:custDataLst>
                <p:tags r:id="rId20"/>
              </p:custDataLst>
            </p:nvPr>
          </p:nvSpPr>
          <p:spPr>
            <a:xfrm>
              <a:off x="2488248" y="325755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方向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1895475" y="3581400"/>
              <a:ext cx="9525" cy="438150"/>
            </a:xfrm>
            <a:custGeom>
              <a:avLst/>
              <a:gdLst/>
              <a:ahLst/>
              <a:cxnLst/>
              <a:rect l="l" t="t" r="r" b="b"/>
              <a:pathLst>
                <a:path w="9525" h="438150">
                  <a:moveTo>
                    <a:pt x="0" y="0"/>
                  </a:moveTo>
                  <a:lnTo>
                    <a:pt x="0" y="43815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61" name="Freeform 61"/>
            <p:cNvSpPr/>
            <p:nvPr/>
          </p:nvSpPr>
          <p:spPr>
            <a:xfrm>
              <a:off x="1838325" y="39433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" y="4057650"/>
              <a:ext cx="2266950" cy="590550"/>
            </a:xfrm>
            <a:prstGeom prst="roundRect">
              <a:avLst>
                <a:gd name="adj" fmla="val 16129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63" name="TextBox 63"/>
            <p:cNvSpPr txBox="1"/>
            <p:nvPr>
              <p:custDataLst>
                <p:tags r:id="rId21"/>
              </p:custDataLst>
            </p:nvPr>
          </p:nvSpPr>
          <p:spPr>
            <a:xfrm>
              <a:off x="907161" y="414655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流量表徵</a:t>
              </a:r>
            </a:p>
          </p:txBody>
        </p:sp>
        <p:sp>
          <p:nvSpPr>
            <p:cNvPr id="64" name="TextBox 64"/>
            <p:cNvSpPr txBox="1"/>
            <p:nvPr>
              <p:custDataLst>
                <p:tags r:id="rId22"/>
              </p:custDataLst>
            </p:nvPr>
          </p:nvSpPr>
          <p:spPr>
            <a:xfrm>
              <a:off x="909066" y="441642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送入兩個互補模型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562350" y="2171700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66" name="TextBox 66"/>
            <p:cNvSpPr txBox="1"/>
            <p:nvPr>
              <p:custDataLst>
                <p:tags r:id="rId23"/>
              </p:custDataLst>
            </p:nvPr>
          </p:nvSpPr>
          <p:spPr>
            <a:xfrm>
              <a:off x="3707511" y="2241550"/>
              <a:ext cx="5816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CTBM</a:t>
              </a:r>
            </a:p>
          </p:txBody>
        </p:sp>
        <p:sp>
          <p:nvSpPr>
            <p:cNvPr id="67" name="TextBox 67"/>
            <p:cNvSpPr txBox="1"/>
            <p:nvPr>
              <p:custDataLst>
                <p:tags r:id="rId24"/>
              </p:custDataLst>
            </p:nvPr>
          </p:nvSpPr>
          <p:spPr>
            <a:xfrm>
              <a:off x="3709416" y="2511425"/>
              <a:ext cx="1216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內容 · 時間差 · 方向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562350" y="2857500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69" name="TextBox 69"/>
            <p:cNvSpPr txBox="1"/>
            <p:nvPr>
              <p:custDataLst>
                <p:tags r:id="rId25"/>
              </p:custDataLst>
            </p:nvPr>
          </p:nvSpPr>
          <p:spPr>
            <a:xfrm>
              <a:off x="3707511" y="2927350"/>
              <a:ext cx="7132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PBCNN</a:t>
              </a:r>
            </a:p>
          </p:txBody>
        </p:sp>
        <p:sp>
          <p:nvSpPr>
            <p:cNvPr id="70" name="TextBox 70"/>
            <p:cNvSpPr txBox="1"/>
            <p:nvPr>
              <p:custDataLst>
                <p:tags r:id="rId26"/>
              </p:custDataLst>
            </p:nvPr>
          </p:nvSpPr>
          <p:spPr>
            <a:xfrm>
              <a:off x="3709416" y="31972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短窗位元組模式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5676900" y="2447925"/>
              <a:ext cx="171450" cy="1371600"/>
            </a:xfrm>
            <a:custGeom>
              <a:avLst/>
              <a:gdLst/>
              <a:ahLst/>
              <a:cxnLst/>
              <a:rect l="l" t="t" r="r" b="b"/>
              <a:pathLst>
                <a:path w="171450" h="1371600">
                  <a:moveTo>
                    <a:pt x="0" y="0"/>
                  </a:moveTo>
                  <a:lnTo>
                    <a:pt x="171450" y="0"/>
                  </a:lnTo>
                  <a:lnTo>
                    <a:pt x="171450" y="1371600"/>
                  </a:lnTo>
                  <a:lnTo>
                    <a:pt x="19050" y="13716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72" name="Freeform 72"/>
            <p:cNvSpPr/>
            <p:nvPr/>
          </p:nvSpPr>
          <p:spPr>
            <a:xfrm>
              <a:off x="5695950" y="37623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0"/>
                  </a:moveTo>
                  <a:lnTo>
                    <a:pt x="0" y="57150"/>
                  </a:lnTo>
                  <a:lnTo>
                    <a:pt x="76200" y="11430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73" name="Line 73"/>
            <p:cNvSpPr/>
            <p:nvPr/>
          </p:nvSpPr>
          <p:spPr>
            <a:xfrm>
              <a:off x="5676900" y="3133725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3562350" y="3543300"/>
              <a:ext cx="2114550" cy="552450"/>
            </a:xfrm>
            <a:prstGeom prst="roundRect">
              <a:avLst>
                <a:gd name="adj" fmla="val 17241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75" name="TextBox 75"/>
            <p:cNvSpPr txBox="1"/>
            <p:nvPr>
              <p:custDataLst>
                <p:tags r:id="rId27"/>
              </p:custDataLst>
            </p:nvPr>
          </p:nvSpPr>
          <p:spPr>
            <a:xfrm>
              <a:off x="3707511" y="3613150"/>
              <a:ext cx="14743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校準＋</a:t>
              </a:r>
              <a:r>
                <a:rPr lang="en-US" sz="142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OOF Gate</a:t>
              </a:r>
            </a:p>
          </p:txBody>
        </p:sp>
        <p:sp>
          <p:nvSpPr>
            <p:cNvPr id="76" name="TextBox 76"/>
            <p:cNvSpPr txBox="1"/>
            <p:nvPr>
              <p:custDataLst>
                <p:tags r:id="rId28"/>
              </p:custDataLst>
            </p:nvPr>
          </p:nvSpPr>
          <p:spPr>
            <a:xfrm>
              <a:off x="3709416" y="388302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依事件證據融合</a:t>
              </a:r>
            </a:p>
          </p:txBody>
        </p:sp>
        <p:sp>
          <p:nvSpPr>
            <p:cNvPr id="77" name="Freeform 77"/>
            <p:cNvSpPr/>
            <p:nvPr/>
          </p:nvSpPr>
          <p:spPr>
            <a:xfrm>
              <a:off x="4619625" y="40957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78" name="Freeform 78"/>
            <p:cNvSpPr/>
            <p:nvPr/>
          </p:nvSpPr>
          <p:spPr>
            <a:xfrm>
              <a:off x="4562475" y="41719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79" name="Rectangle 79"/>
            <p:cNvSpPr/>
            <p:nvPr/>
          </p:nvSpPr>
          <p:spPr>
            <a:xfrm>
              <a:off x="3562350" y="4267200"/>
              <a:ext cx="2266950" cy="552450"/>
            </a:xfrm>
            <a:prstGeom prst="roundRect">
              <a:avLst>
                <a:gd name="adj" fmla="val 17241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80" name="TextBox 80"/>
            <p:cNvSpPr txBox="1"/>
            <p:nvPr>
              <p:custDataLst>
                <p:tags r:id="rId29"/>
              </p:custDataLst>
            </p:nvPr>
          </p:nvSpPr>
          <p:spPr>
            <a:xfrm>
              <a:off x="3707511" y="4337050"/>
              <a:ext cx="1242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17 類正式判定</a:t>
              </a:r>
            </a:p>
          </p:txBody>
        </p:sp>
        <p:sp>
          <p:nvSpPr>
            <p:cNvPr id="81" name="TextBox 81"/>
            <p:cNvSpPr txBox="1"/>
            <p:nvPr>
              <p:custDataLst>
                <p:tags r:id="rId30"/>
              </p:custDataLst>
            </p:nvPr>
          </p:nvSpPr>
          <p:spPr>
            <a:xfrm>
              <a:off x="3709416" y="4606925"/>
              <a:ext cx="1203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信心 ＋ 512 維表徵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362700" y="2171700"/>
              <a:ext cx="2266950" cy="552450"/>
            </a:xfrm>
            <a:prstGeom prst="roundRect">
              <a:avLst>
                <a:gd name="adj" fmla="val 17241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83" name="TextBox 83"/>
            <p:cNvSpPr txBox="1"/>
            <p:nvPr>
              <p:custDataLst>
                <p:tags r:id="rId31"/>
              </p:custDataLst>
            </p:nvPr>
          </p:nvSpPr>
          <p:spPr>
            <a:xfrm>
              <a:off x="6507861" y="2241550"/>
              <a:ext cx="135288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529 維任務向量</a:t>
              </a:r>
            </a:p>
          </p:txBody>
        </p:sp>
        <p:sp>
          <p:nvSpPr>
            <p:cNvPr id="84" name="TextBox 84"/>
            <p:cNvSpPr txBox="1"/>
            <p:nvPr>
              <p:custDataLst>
                <p:tags r:id="rId32"/>
              </p:custDataLst>
            </p:nvPr>
          </p:nvSpPr>
          <p:spPr>
            <a:xfrm>
              <a:off x="6509766" y="2511425"/>
              <a:ext cx="1518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512 表徵 ＋ 17 機率</a:t>
              </a:r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 · L2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7496175" y="27241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86" name="Freeform 86"/>
            <p:cNvSpPr/>
            <p:nvPr/>
          </p:nvSpPr>
          <p:spPr>
            <a:xfrm>
              <a:off x="7439025" y="28003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362700" y="2895600"/>
              <a:ext cx="2266950" cy="704850"/>
            </a:xfrm>
            <a:prstGeom prst="roundRect">
              <a:avLst>
                <a:gd name="adj" fmla="val 13514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88" name="TextBox 88"/>
            <p:cNvSpPr txBox="1"/>
            <p:nvPr>
              <p:custDataLst>
                <p:tags r:id="rId33"/>
              </p:custDataLst>
            </p:nvPr>
          </p:nvSpPr>
          <p:spPr>
            <a:xfrm>
              <a:off x="6507861" y="2965450"/>
              <a:ext cx="137758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Top-5 </a:t>
              </a:r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相似案例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6515100" y="3276600"/>
              <a:ext cx="228600" cy="209550"/>
            </a:xfrm>
            <a:prstGeom prst="roundRect">
              <a:avLst>
                <a:gd name="adj" fmla="val 18182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90" name="TextBox 90"/>
            <p:cNvSpPr txBox="1"/>
            <p:nvPr>
              <p:custDataLst>
                <p:tags r:id="rId34"/>
              </p:custDataLst>
            </p:nvPr>
          </p:nvSpPr>
          <p:spPr>
            <a:xfrm>
              <a:off x="6569042" y="3302000"/>
              <a:ext cx="8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9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1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800850" y="3276600"/>
              <a:ext cx="228600" cy="209550"/>
            </a:xfrm>
            <a:prstGeom prst="roundRect">
              <a:avLst>
                <a:gd name="adj" fmla="val 18182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92" name="TextBox 92"/>
            <p:cNvSpPr txBox="1"/>
            <p:nvPr>
              <p:custDataLst>
                <p:tags r:id="rId35"/>
              </p:custDataLst>
            </p:nvPr>
          </p:nvSpPr>
          <p:spPr>
            <a:xfrm>
              <a:off x="6854792" y="3302000"/>
              <a:ext cx="8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9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2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7086600" y="3276600"/>
              <a:ext cx="228600" cy="209550"/>
            </a:xfrm>
            <a:prstGeom prst="roundRect">
              <a:avLst>
                <a:gd name="adj" fmla="val 18182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94" name="TextBox 94"/>
            <p:cNvSpPr txBox="1"/>
            <p:nvPr>
              <p:custDataLst>
                <p:tags r:id="rId36"/>
              </p:custDataLst>
            </p:nvPr>
          </p:nvSpPr>
          <p:spPr>
            <a:xfrm>
              <a:off x="7140542" y="3302000"/>
              <a:ext cx="8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9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3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7372350" y="3276600"/>
              <a:ext cx="228600" cy="209550"/>
            </a:xfrm>
            <a:prstGeom prst="roundRect">
              <a:avLst>
                <a:gd name="adj" fmla="val 18182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96" name="TextBox 96"/>
            <p:cNvSpPr txBox="1"/>
            <p:nvPr>
              <p:custDataLst>
                <p:tags r:id="rId37"/>
              </p:custDataLst>
            </p:nvPr>
          </p:nvSpPr>
          <p:spPr>
            <a:xfrm>
              <a:off x="7426292" y="3302000"/>
              <a:ext cx="8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9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4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7658100" y="3276600"/>
              <a:ext cx="228600" cy="209550"/>
            </a:xfrm>
            <a:prstGeom prst="roundRect">
              <a:avLst>
                <a:gd name="adj" fmla="val 18182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98" name="TextBox 98"/>
            <p:cNvSpPr txBox="1"/>
            <p:nvPr>
              <p:custDataLst>
                <p:tags r:id="rId38"/>
              </p:custDataLst>
            </p:nvPr>
          </p:nvSpPr>
          <p:spPr>
            <a:xfrm>
              <a:off x="7712042" y="3302000"/>
              <a:ext cx="857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9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5</a:t>
              </a:r>
            </a:p>
          </p:txBody>
        </p:sp>
        <p:sp>
          <p:nvSpPr>
            <p:cNvPr id="99" name="TextBox 99"/>
            <p:cNvSpPr txBox="1"/>
            <p:nvPr>
              <p:custDataLst>
                <p:tags r:id="rId39"/>
              </p:custDataLst>
            </p:nvPr>
          </p:nvSpPr>
          <p:spPr>
            <a:xfrm>
              <a:off x="7996047" y="3302000"/>
              <a:ext cx="4056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訓練庫</a:t>
              </a:r>
            </a:p>
          </p:txBody>
        </p:sp>
        <p:sp>
          <p:nvSpPr>
            <p:cNvPr id="100" name="Freeform 100"/>
            <p:cNvSpPr/>
            <p:nvPr/>
          </p:nvSpPr>
          <p:spPr>
            <a:xfrm>
              <a:off x="7496175" y="36004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101" name="Freeform 101"/>
            <p:cNvSpPr/>
            <p:nvPr/>
          </p:nvSpPr>
          <p:spPr>
            <a:xfrm>
              <a:off x="7439025" y="36766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6362700" y="3771900"/>
              <a:ext cx="22669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103" name="TextBox 103"/>
            <p:cNvSpPr txBox="1"/>
            <p:nvPr>
              <p:custDataLst>
                <p:tags r:id="rId40"/>
              </p:custDataLst>
            </p:nvPr>
          </p:nvSpPr>
          <p:spPr>
            <a:xfrm>
              <a:off x="6923272" y="3898900"/>
              <a:ext cx="10965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本機</a:t>
              </a:r>
              <a:r>
                <a:rPr lang="en-US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 AI </a:t>
              </a:r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稽核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362700" y="4362450"/>
              <a:ext cx="704850" cy="457200"/>
            </a:xfrm>
            <a:prstGeom prst="roundRect">
              <a:avLst>
                <a:gd name="adj" fmla="val 20833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105" name="TextBox 105"/>
            <p:cNvSpPr txBox="1"/>
            <p:nvPr>
              <p:custDataLst>
                <p:tags r:id="rId41"/>
              </p:custDataLst>
            </p:nvPr>
          </p:nvSpPr>
          <p:spPr>
            <a:xfrm>
              <a:off x="6526847" y="45053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支持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7143750" y="4362450"/>
              <a:ext cx="704850" cy="457200"/>
            </a:xfrm>
            <a:prstGeom prst="roundRect">
              <a:avLst>
                <a:gd name="adj" fmla="val 20833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107" name="TextBox 107"/>
            <p:cNvSpPr txBox="1"/>
            <p:nvPr>
              <p:custDataLst>
                <p:tags r:id="rId42"/>
              </p:custDataLst>
            </p:nvPr>
          </p:nvSpPr>
          <p:spPr>
            <a:xfrm>
              <a:off x="7307897" y="45053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複核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924800" y="4362450"/>
              <a:ext cx="704850" cy="457200"/>
            </a:xfrm>
            <a:prstGeom prst="roundRect">
              <a:avLst>
                <a:gd name="adj" fmla="val 20833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109" name="TextBox 109"/>
            <p:cNvSpPr txBox="1"/>
            <p:nvPr>
              <p:custDataLst>
                <p:tags r:id="rId43"/>
              </p:custDataLst>
            </p:nvPr>
          </p:nvSpPr>
          <p:spPr>
            <a:xfrm>
              <a:off x="8008176" y="450532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不確定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9163050" y="2171700"/>
              <a:ext cx="22669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111" name="TextBox 111"/>
            <p:cNvSpPr txBox="1"/>
            <p:nvPr>
              <p:custDataLst>
                <p:tags r:id="rId44"/>
              </p:custDataLst>
            </p:nvPr>
          </p:nvSpPr>
          <p:spPr>
            <a:xfrm>
              <a:off x="9882359" y="22987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策略檢查</a:t>
              </a:r>
            </a:p>
          </p:txBody>
        </p:sp>
        <p:sp>
          <p:nvSpPr>
            <p:cNvPr id="112" name="Freeform 112"/>
            <p:cNvSpPr/>
            <p:nvPr/>
          </p:nvSpPr>
          <p:spPr>
            <a:xfrm>
              <a:off x="10296525" y="26479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113" name="Freeform 113"/>
            <p:cNvSpPr/>
            <p:nvPr/>
          </p:nvSpPr>
          <p:spPr>
            <a:xfrm>
              <a:off x="10239375" y="27241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9163050" y="2800350"/>
              <a:ext cx="22669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115" name="TextBox 115"/>
            <p:cNvSpPr txBox="1"/>
            <p:nvPr>
              <p:custDataLst>
                <p:tags r:id="rId45"/>
              </p:custDataLst>
            </p:nvPr>
          </p:nvSpPr>
          <p:spPr>
            <a:xfrm>
              <a:off x="9882359" y="292735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套用規則</a:t>
              </a:r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10296525" y="32766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117" name="Freeform 117"/>
            <p:cNvSpPr/>
            <p:nvPr/>
          </p:nvSpPr>
          <p:spPr>
            <a:xfrm>
              <a:off x="10239375" y="33528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18" name="Rectangle 118"/>
            <p:cNvSpPr/>
            <p:nvPr/>
          </p:nvSpPr>
          <p:spPr>
            <a:xfrm>
              <a:off x="9163050" y="3429000"/>
              <a:ext cx="2266950" cy="476250"/>
            </a:xfrm>
            <a:prstGeom prst="roundRect">
              <a:avLst>
                <a:gd name="adj" fmla="val 2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119" name="TextBox 119"/>
            <p:cNvSpPr txBox="1"/>
            <p:nvPr>
              <p:custDataLst>
                <p:tags r:id="rId46"/>
              </p:custDataLst>
            </p:nvPr>
          </p:nvSpPr>
          <p:spPr>
            <a:xfrm>
              <a:off x="9882359" y="355600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讀回驗證</a:t>
              </a:r>
            </a:p>
          </p:txBody>
        </p:sp>
        <p:sp>
          <p:nvSpPr>
            <p:cNvPr id="120" name="Freeform 120"/>
            <p:cNvSpPr/>
            <p:nvPr/>
          </p:nvSpPr>
          <p:spPr>
            <a:xfrm>
              <a:off x="10296525" y="390525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121" name="Freeform 121"/>
            <p:cNvSpPr/>
            <p:nvPr/>
          </p:nvSpPr>
          <p:spPr>
            <a:xfrm>
              <a:off x="10239375" y="3981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22" name="Rectangle 122"/>
            <p:cNvSpPr/>
            <p:nvPr/>
          </p:nvSpPr>
          <p:spPr>
            <a:xfrm>
              <a:off x="9163050" y="4057650"/>
              <a:ext cx="2266950" cy="476250"/>
            </a:xfrm>
            <a:prstGeom prst="roundRect">
              <a:avLst>
                <a:gd name="adj" fmla="val 2000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123" name="TextBox 123"/>
            <p:cNvSpPr txBox="1"/>
            <p:nvPr>
              <p:custDataLst>
                <p:tags r:id="rId47"/>
              </p:custDataLst>
            </p:nvPr>
          </p:nvSpPr>
          <p:spPr>
            <a:xfrm>
              <a:off x="9882359" y="418465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到期回復</a:t>
              </a:r>
            </a:p>
          </p:txBody>
        </p:sp>
        <p:sp>
          <p:nvSpPr>
            <p:cNvPr id="124" name="TextBox 124"/>
            <p:cNvSpPr txBox="1"/>
            <p:nvPr>
              <p:custDataLst>
                <p:tags r:id="rId48"/>
              </p:custDataLst>
            </p:nvPr>
          </p:nvSpPr>
          <p:spPr>
            <a:xfrm>
              <a:off x="9417917" y="4673600"/>
              <a:ext cx="1720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複核／不確定 → 監測或蒐證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609600" y="5162550"/>
              <a:ext cx="10972800" cy="4572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6" name="Line 126"/>
            <p:cNvSpPr/>
            <p:nvPr/>
          </p:nvSpPr>
          <p:spPr>
            <a:xfrm>
              <a:off x="1895475" y="4972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 cap="rnd">
              <a:solidFill>
                <a:srgbClr val="9AAAC0"/>
              </a:solidFill>
              <a:custDash>
                <a:ds d="333333" sp="333333"/>
              </a:custDash>
            </a:ln>
          </p:spPr>
        </p:sp>
        <p:sp>
          <p:nvSpPr>
            <p:cNvPr id="127" name="Ellipse 127"/>
            <p:cNvSpPr/>
            <p:nvPr/>
          </p:nvSpPr>
          <p:spPr>
            <a:xfrm>
              <a:off x="1847850" y="51149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8" name="Line 128"/>
            <p:cNvSpPr/>
            <p:nvPr/>
          </p:nvSpPr>
          <p:spPr>
            <a:xfrm>
              <a:off x="4695825" y="4972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 cap="rnd">
              <a:solidFill>
                <a:srgbClr val="9AAAC0"/>
              </a:solidFill>
              <a:custDash>
                <a:ds d="333333" sp="333333"/>
              </a:custDash>
            </a:ln>
          </p:spPr>
        </p:sp>
        <p:sp>
          <p:nvSpPr>
            <p:cNvPr id="129" name="Ellipse 129"/>
            <p:cNvSpPr/>
            <p:nvPr/>
          </p:nvSpPr>
          <p:spPr>
            <a:xfrm>
              <a:off x="4648200" y="51149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0" name="Line 130"/>
            <p:cNvSpPr/>
            <p:nvPr/>
          </p:nvSpPr>
          <p:spPr>
            <a:xfrm>
              <a:off x="7496175" y="4972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 cap="rnd">
              <a:solidFill>
                <a:srgbClr val="9AAAC0"/>
              </a:solidFill>
              <a:custDash>
                <a:ds d="333333" sp="333333"/>
              </a:custDash>
            </a:ln>
          </p:spPr>
        </p:sp>
        <p:sp>
          <p:nvSpPr>
            <p:cNvPr id="131" name="Ellipse 131"/>
            <p:cNvSpPr/>
            <p:nvPr/>
          </p:nvSpPr>
          <p:spPr>
            <a:xfrm>
              <a:off x="7448550" y="51149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2" name="Line 132"/>
            <p:cNvSpPr/>
            <p:nvPr/>
          </p:nvSpPr>
          <p:spPr>
            <a:xfrm>
              <a:off x="10296525" y="49720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 cap="rnd">
              <a:solidFill>
                <a:srgbClr val="9AAAC0"/>
              </a:solidFill>
              <a:custDash>
                <a:ds d="333333" sp="333333"/>
              </a:custDash>
            </a:ln>
          </p:spPr>
        </p:sp>
        <p:sp>
          <p:nvSpPr>
            <p:cNvPr id="133" name="Ellipse 133"/>
            <p:cNvSpPr/>
            <p:nvPr/>
          </p:nvSpPr>
          <p:spPr>
            <a:xfrm>
              <a:off x="10248900" y="51149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4" name="TextBox 134"/>
            <p:cNvSpPr txBox="1"/>
            <p:nvPr>
              <p:custDataLst>
                <p:tags r:id="rId49"/>
              </p:custDataLst>
            </p:nvPr>
          </p:nvSpPr>
          <p:spPr>
            <a:xfrm>
              <a:off x="3292019" y="5280025"/>
              <a:ext cx="55587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同一事件</a:t>
              </a:r>
              <a:r>
                <a:rPr lang="en-US" sz="142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 ID </a:t>
              </a:r>
              <a:r>
                <a:rPr lang="zh-TW" sz="142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串起 正式判定</a:t>
              </a:r>
              <a:r>
                <a:rPr lang="en-US" sz="142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 · Top-5 </a:t>
              </a:r>
              <a:r>
                <a:rPr lang="zh-TW" sz="142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證據</a:t>
              </a:r>
              <a:r>
                <a:rPr lang="en-US" sz="142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 · AI </a:t>
              </a:r>
              <a:r>
                <a:rPr lang="zh-TW" sz="142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稽核結論 · 處置回條</a:t>
              </a:r>
            </a:p>
          </p:txBody>
        </p:sp>
      </p:grpSp>
      <p:grpSp>
        <p:nvGrpSpPr>
          <p:cNvPr id="148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136" name="Line 136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137" name="TextBox 137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138" name="Rectangle 138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1" name="Rectangle 141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42" name="Rectangle 142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44" name="Rectangle 144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46" name="Rectangle 146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47" name="TextBox 147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03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4632960" cy="855853"/>
            <a:chOff x="595122" y="431800"/>
            <a:chExt cx="4632960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20"/>
              </p:custDataLst>
            </p:nvPr>
          </p:nvSpPr>
          <p:spPr>
            <a:xfrm>
              <a:off x="794385" y="431800"/>
              <a:ext cx="8816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DETECTION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21"/>
              </p:custDataLst>
            </p:nvPr>
          </p:nvSpPr>
          <p:spPr>
            <a:xfrm>
              <a:off x="595122" y="730250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互補模型，形成同一次判定</a:t>
              </a:r>
            </a:p>
          </p:txBody>
        </p:sp>
      </p:grpSp>
      <p:grpSp>
        <p:nvGrpSpPr>
          <p:cNvPr id="66" name="page-content"/>
          <p:cNvGrpSpPr/>
          <p:nvPr/>
        </p:nvGrpSpPr>
        <p:grpSpPr>
          <a:xfrm>
            <a:off x="603123" y="1428750"/>
            <a:ext cx="10979277" cy="4498467"/>
            <a:chOff x="603123" y="1428750"/>
            <a:chExt cx="10979277" cy="4498467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2667000" cy="28575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831342" y="16446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同一流量輸入</a:t>
              </a: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830199" y="2152650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封包內容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2114550" y="2095500"/>
              <a:ext cx="933450" cy="323850"/>
            </a:xfrm>
            <a:prstGeom prst="roundRect">
              <a:avLst>
                <a:gd name="adj" fmla="val 1764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09800" y="21526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62200" y="21526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14600" y="21526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67000" y="21526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819400" y="21526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5"/>
              </p:custDataLst>
            </p:nvPr>
          </p:nvSpPr>
          <p:spPr>
            <a:xfrm>
              <a:off x="830199" y="2819400"/>
              <a:ext cx="6541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時間差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14550" y="2762250"/>
              <a:ext cx="933450" cy="323850"/>
            </a:xfrm>
            <a:prstGeom prst="roundRect">
              <a:avLst>
                <a:gd name="adj" fmla="val 1764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09800" y="2933700"/>
              <a:ext cx="85725" cy="952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362200" y="2905125"/>
              <a:ext cx="85725" cy="123825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514600" y="2876550"/>
              <a:ext cx="85725" cy="15240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67000" y="2847975"/>
              <a:ext cx="85725" cy="180975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19400" y="281940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>
              <p:custDataLst>
                <p:tags r:id="rId6"/>
              </p:custDataLst>
            </p:nvPr>
          </p:nvSpPr>
          <p:spPr>
            <a:xfrm>
              <a:off x="830199" y="3486150"/>
              <a:ext cx="44140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方向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114550" y="3429000"/>
              <a:ext cx="933450" cy="323850"/>
            </a:xfrm>
            <a:prstGeom prst="roundRect">
              <a:avLst>
                <a:gd name="adj" fmla="val 17647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09800" y="34861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62200" y="34861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514600" y="34861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667000" y="34861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819400" y="3486150"/>
              <a:ext cx="85725" cy="2095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3276600" y="2076450"/>
              <a:ext cx="533400" cy="781050"/>
            </a:xfrm>
            <a:custGeom>
              <a:avLst/>
              <a:gdLst/>
              <a:ahLst/>
              <a:cxnLst/>
              <a:rect l="l" t="t" r="r" b="b"/>
              <a:pathLst>
                <a:path w="533400" h="781050">
                  <a:moveTo>
                    <a:pt x="0" y="781050"/>
                  </a:moveTo>
                  <a:lnTo>
                    <a:pt x="266700" y="781050"/>
                  </a:lnTo>
                  <a:lnTo>
                    <a:pt x="266700" y="0"/>
                  </a:lnTo>
                  <a:lnTo>
                    <a:pt x="533400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3733800" y="20193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31" name="Freeform 31"/>
            <p:cNvSpPr/>
            <p:nvPr/>
          </p:nvSpPr>
          <p:spPr>
            <a:xfrm>
              <a:off x="3543300" y="2857500"/>
              <a:ext cx="266700" cy="790575"/>
            </a:xfrm>
            <a:custGeom>
              <a:avLst/>
              <a:gdLst/>
              <a:ahLst/>
              <a:cxnLst/>
              <a:rect l="l" t="t" r="r" b="b"/>
              <a:pathLst>
                <a:path w="266700" h="790575">
                  <a:moveTo>
                    <a:pt x="0" y="0"/>
                  </a:moveTo>
                  <a:lnTo>
                    <a:pt x="0" y="790575"/>
                  </a:lnTo>
                  <a:lnTo>
                    <a:pt x="266700" y="790575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32" name="Freeform 32"/>
            <p:cNvSpPr/>
            <p:nvPr/>
          </p:nvSpPr>
          <p:spPr>
            <a:xfrm>
              <a:off x="3733800" y="35909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810000" y="1428750"/>
              <a:ext cx="3429000" cy="1276350"/>
            </a:xfrm>
            <a:prstGeom prst="roundRect">
              <a:avLst>
                <a:gd name="adj" fmla="val 10448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810000" y="1657350"/>
              <a:ext cx="38100" cy="819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117181" y="1783556"/>
              <a:ext cx="566738" cy="566738"/>
              <a:chOff x="4117181" y="1783556"/>
              <a:chExt cx="566738" cy="566738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198144" y="1864519"/>
                <a:ext cx="404812" cy="404812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30361" cap="rnd">
                <a:solidFill>
                  <a:schemeClr val="accent1"/>
                </a:solidFill>
                <a:round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4309467" y="1975842"/>
                <a:ext cx="182166" cy="182166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30361" cap="rnd">
                <a:solidFill>
                  <a:schemeClr val="accent1"/>
                </a:solidFill>
                <a:round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117181" y="1783556"/>
                <a:ext cx="566738" cy="566738"/>
              </a:xfrm>
              <a:custGeom>
                <a:avLst/>
                <a:gdLst/>
                <a:ahLst/>
                <a:cxnLst/>
                <a:rect l="l" t="t" r="r" b="b"/>
                <a:pathLst>
                  <a:path w="566738" h="566738">
                    <a:moveTo>
                      <a:pt x="172045" y="0"/>
                    </a:moveTo>
                    <a:lnTo>
                      <a:pt x="172045" y="80962"/>
                    </a:lnTo>
                    <a:moveTo>
                      <a:pt x="283369" y="0"/>
                    </a:moveTo>
                    <a:lnTo>
                      <a:pt x="283369" y="80962"/>
                    </a:lnTo>
                    <a:moveTo>
                      <a:pt x="394692" y="0"/>
                    </a:moveTo>
                    <a:lnTo>
                      <a:pt x="394692" y="80962"/>
                    </a:lnTo>
                    <a:moveTo>
                      <a:pt x="172045" y="485775"/>
                    </a:moveTo>
                    <a:lnTo>
                      <a:pt x="172045" y="566738"/>
                    </a:lnTo>
                    <a:moveTo>
                      <a:pt x="283369" y="485775"/>
                    </a:moveTo>
                    <a:lnTo>
                      <a:pt x="283369" y="566738"/>
                    </a:lnTo>
                    <a:moveTo>
                      <a:pt x="394692" y="485775"/>
                    </a:moveTo>
                    <a:lnTo>
                      <a:pt x="394692" y="566738"/>
                    </a:lnTo>
                    <a:moveTo>
                      <a:pt x="0" y="172045"/>
                    </a:moveTo>
                    <a:lnTo>
                      <a:pt x="80962" y="172045"/>
                    </a:lnTo>
                    <a:moveTo>
                      <a:pt x="0" y="283369"/>
                    </a:moveTo>
                    <a:lnTo>
                      <a:pt x="80962" y="283369"/>
                    </a:lnTo>
                    <a:moveTo>
                      <a:pt x="0" y="394692"/>
                    </a:moveTo>
                    <a:lnTo>
                      <a:pt x="80962" y="394692"/>
                    </a:lnTo>
                    <a:moveTo>
                      <a:pt x="485775" y="172045"/>
                    </a:moveTo>
                    <a:lnTo>
                      <a:pt x="566738" y="172045"/>
                    </a:lnTo>
                    <a:moveTo>
                      <a:pt x="485775" y="283369"/>
                    </a:moveTo>
                    <a:lnTo>
                      <a:pt x="566738" y="283369"/>
                    </a:lnTo>
                    <a:moveTo>
                      <a:pt x="485775" y="394692"/>
                    </a:moveTo>
                    <a:lnTo>
                      <a:pt x="566738" y="394692"/>
                    </a:lnTo>
                  </a:path>
                </a:pathLst>
              </a:custGeom>
              <a:noFill/>
              <a:ln w="30361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39" name="TextBox 39"/>
            <p:cNvSpPr txBox="1"/>
            <p:nvPr>
              <p:custDataLst>
                <p:tags r:id="rId7"/>
              </p:custDataLst>
            </p:nvPr>
          </p:nvSpPr>
          <p:spPr>
            <a:xfrm>
              <a:off x="4942332" y="1670050"/>
              <a:ext cx="8600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CTBM</a:t>
              </a:r>
            </a:p>
          </p:txBody>
        </p:sp>
        <p:sp>
          <p:nvSpPr>
            <p:cNvPr id="40" name="TextBox 40"/>
            <p:cNvSpPr txBox="1"/>
            <p:nvPr>
              <p:custDataLst>
                <p:tags r:id="rId8"/>
              </p:custDataLst>
            </p:nvPr>
          </p:nvSpPr>
          <p:spPr>
            <a:xfrm>
              <a:off x="4946142" y="2063750"/>
              <a:ext cx="13820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內容 · 時序 · 方向</a:t>
              </a:r>
            </a:p>
          </p:txBody>
        </p:sp>
        <p:sp>
          <p:nvSpPr>
            <p:cNvPr id="41" name="TextBox 41"/>
            <p:cNvSpPr txBox="1"/>
            <p:nvPr>
              <p:custDataLst>
                <p:tags r:id="rId9"/>
              </p:custDataLst>
            </p:nvPr>
          </p:nvSpPr>
          <p:spPr>
            <a:xfrm>
              <a:off x="4947285" y="23368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讀取流量的時序關係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810000" y="3009900"/>
              <a:ext cx="3429000" cy="1276350"/>
            </a:xfrm>
            <a:prstGeom prst="roundRect">
              <a:avLst>
                <a:gd name="adj" fmla="val 10448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3810000" y="3238500"/>
              <a:ext cx="38100" cy="819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4127302" y="3476030"/>
              <a:ext cx="546496" cy="364331"/>
              <a:chOff x="4127302" y="3476030"/>
              <a:chExt cx="546496" cy="364331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4127302" y="3476030"/>
                <a:ext cx="546497" cy="364331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 w="25301">
                <a:solidFill>
                  <a:schemeClr val="accent1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4127302" y="3476030"/>
                <a:ext cx="27324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73248" h="202406">
                    <a:moveTo>
                      <a:pt x="0" y="0"/>
                    </a:moveTo>
                    <a:lnTo>
                      <a:pt x="273248" y="202406"/>
                    </a:lnTo>
                  </a:path>
                </a:pathLst>
              </a:custGeom>
              <a:noFill/>
              <a:ln w="25301" cap="rnd">
                <a:solidFill>
                  <a:schemeClr val="accent1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4400550" y="3476030"/>
                <a:ext cx="27324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73248" h="202406">
                    <a:moveTo>
                      <a:pt x="0" y="202406"/>
                    </a:moveTo>
                    <a:lnTo>
                      <a:pt x="273248" y="0"/>
                    </a:lnTo>
                  </a:path>
                </a:pathLst>
              </a:custGeom>
              <a:noFill/>
              <a:ln w="25301" cap="rnd">
                <a:solidFill>
                  <a:schemeClr val="accent1"/>
                </a:solidFill>
              </a:ln>
            </p:spPr>
          </p:sp>
        </p:grpSp>
        <p:sp>
          <p:nvSpPr>
            <p:cNvPr id="48" name="TextBox 48"/>
            <p:cNvSpPr txBox="1"/>
            <p:nvPr>
              <p:custDataLst>
                <p:tags r:id="rId10"/>
              </p:custDataLst>
            </p:nvPr>
          </p:nvSpPr>
          <p:spPr>
            <a:xfrm>
              <a:off x="4942332" y="3251200"/>
              <a:ext cx="105467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PBCNN</a:t>
              </a:r>
            </a:p>
          </p:txBody>
        </p:sp>
        <p:sp>
          <p:nvSpPr>
            <p:cNvPr id="49" name="TextBox 49"/>
            <p:cNvSpPr txBox="1"/>
            <p:nvPr>
              <p:custDataLst>
                <p:tags r:id="rId11"/>
              </p:custDataLst>
            </p:nvPr>
          </p:nvSpPr>
          <p:spPr>
            <a:xfrm>
              <a:off x="4946142" y="36449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短窗位元組模式</a:t>
              </a:r>
            </a:p>
          </p:txBody>
        </p:sp>
        <p:sp>
          <p:nvSpPr>
            <p:cNvPr id="50" name="TextBox 50"/>
            <p:cNvSpPr txBox="1"/>
            <p:nvPr>
              <p:custDataLst>
                <p:tags r:id="rId12"/>
              </p:custDataLst>
            </p:nvPr>
          </p:nvSpPr>
          <p:spPr>
            <a:xfrm>
              <a:off x="4947285" y="391795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補充局部內容特徵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7239000" y="2076450"/>
              <a:ext cx="571500" cy="781050"/>
            </a:xfrm>
            <a:custGeom>
              <a:avLst/>
              <a:gdLst/>
              <a:ahLst/>
              <a:cxnLst/>
              <a:rect l="l" t="t" r="r" b="b"/>
              <a:pathLst>
                <a:path w="571500" h="781050">
                  <a:moveTo>
                    <a:pt x="0" y="0"/>
                  </a:moveTo>
                  <a:lnTo>
                    <a:pt x="285750" y="0"/>
                  </a:lnTo>
                  <a:lnTo>
                    <a:pt x="285750" y="781050"/>
                  </a:lnTo>
                  <a:lnTo>
                    <a:pt x="571500" y="78105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52" name="Freeform 52"/>
            <p:cNvSpPr/>
            <p:nvPr/>
          </p:nvSpPr>
          <p:spPr>
            <a:xfrm>
              <a:off x="7734300" y="2800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53" name="Freeform 53"/>
            <p:cNvSpPr/>
            <p:nvPr/>
          </p:nvSpPr>
          <p:spPr>
            <a:xfrm>
              <a:off x="7239000" y="2857500"/>
              <a:ext cx="285750" cy="790575"/>
            </a:xfrm>
            <a:custGeom>
              <a:avLst/>
              <a:gdLst/>
              <a:ahLst/>
              <a:cxnLst/>
              <a:rect l="l" t="t" r="r" b="b"/>
              <a:pathLst>
                <a:path w="285750" h="790575">
                  <a:moveTo>
                    <a:pt x="0" y="790575"/>
                  </a:moveTo>
                  <a:lnTo>
                    <a:pt x="285750" y="790575"/>
                  </a:lnTo>
                  <a:lnTo>
                    <a:pt x="285750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54" name="Freeform 54"/>
            <p:cNvSpPr/>
            <p:nvPr/>
          </p:nvSpPr>
          <p:spPr>
            <a:xfrm>
              <a:off x="7467600" y="28575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57150" y="0"/>
                  </a:lnTo>
                  <a:lnTo>
                    <a:pt x="114300" y="7620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810500" y="1866900"/>
              <a:ext cx="3771900" cy="1981200"/>
            </a:xfrm>
            <a:prstGeom prst="roundRect">
              <a:avLst>
                <a:gd name="adj" fmla="val 7692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56" name="TextBox 56"/>
            <p:cNvSpPr txBox="1"/>
            <p:nvPr>
              <p:custDataLst>
                <p:tags r:id="rId13"/>
              </p:custDataLst>
            </p:nvPr>
          </p:nvSpPr>
          <p:spPr>
            <a:xfrm>
              <a:off x="8084820" y="2101850"/>
              <a:ext cx="23360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校準＋</a:t>
              </a:r>
              <a:r>
                <a:rPr lang="en-US" sz="22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OOF Gate</a:t>
              </a:r>
            </a:p>
          </p:txBody>
        </p:sp>
        <p:sp>
          <p:nvSpPr>
            <p:cNvPr id="57" name="TextBox 57"/>
            <p:cNvSpPr txBox="1"/>
            <p:nvPr>
              <p:custDataLst>
                <p:tags r:id="rId14"/>
              </p:custDataLst>
            </p:nvPr>
          </p:nvSpPr>
          <p:spPr>
            <a:xfrm>
              <a:off x="8088249" y="2590800"/>
              <a:ext cx="150489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依事件證據融合</a:t>
              </a:r>
            </a:p>
          </p:txBody>
        </p:sp>
        <p:sp>
          <p:nvSpPr>
            <p:cNvPr id="58" name="TextBox 58"/>
            <p:cNvSpPr txBox="1"/>
            <p:nvPr>
              <p:custDataLst>
                <p:tags r:id="rId15"/>
              </p:custDataLst>
            </p:nvPr>
          </p:nvSpPr>
          <p:spPr>
            <a:xfrm>
              <a:off x="8089392" y="29591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形成同一次正式判定</a:t>
              </a:r>
            </a:p>
          </p:txBody>
        </p:sp>
        <p:sp>
          <p:nvSpPr>
            <p:cNvPr id="59" name="TextBox 59"/>
            <p:cNvSpPr txBox="1"/>
            <p:nvPr>
              <p:custDataLst>
                <p:tags r:id="rId16"/>
              </p:custDataLst>
            </p:nvPr>
          </p:nvSpPr>
          <p:spPr>
            <a:xfrm>
              <a:off x="8089392" y="3435350"/>
              <a:ext cx="15318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Macro-F1 93.05%</a:t>
              </a:r>
            </a:p>
          </p:txBody>
        </p:sp>
        <p:sp>
          <p:nvSpPr>
            <p:cNvPr id="60" name="TextBox 60"/>
            <p:cNvSpPr txBox="1"/>
            <p:nvPr>
              <p:custDataLst>
                <p:tags r:id="rId17"/>
              </p:custDataLst>
            </p:nvPr>
          </p:nvSpPr>
          <p:spPr>
            <a:xfrm>
              <a:off x="9614535" y="3460750"/>
              <a:ext cx="7089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見第 07 頁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9696450" y="3848100"/>
              <a:ext cx="9525" cy="781050"/>
            </a:xfrm>
            <a:custGeom>
              <a:avLst/>
              <a:gdLst/>
              <a:ahLst/>
              <a:cxnLst/>
              <a:rect l="l" t="t" r="r" b="b"/>
              <a:pathLst>
                <a:path w="9525" h="781050">
                  <a:moveTo>
                    <a:pt x="0" y="0"/>
                  </a:moveTo>
                  <a:lnTo>
                    <a:pt x="0" y="78105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62" name="Freeform 62"/>
            <p:cNvSpPr/>
            <p:nvPr/>
          </p:nvSpPr>
          <p:spPr>
            <a:xfrm>
              <a:off x="9639300" y="45529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09600" y="4648200"/>
              <a:ext cx="10972800" cy="685800"/>
            </a:xfrm>
            <a:prstGeom prst="roundRect">
              <a:avLst>
                <a:gd name="adj" fmla="val 1944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4" name="TextBox 64"/>
            <p:cNvSpPr txBox="1"/>
            <p:nvPr>
              <p:custDataLst>
                <p:tags r:id="rId18"/>
              </p:custDataLst>
            </p:nvPr>
          </p:nvSpPr>
          <p:spPr>
            <a:xfrm>
              <a:off x="3431417" y="4864100"/>
              <a:ext cx="52720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17 類判定 ＋ 校準信心 ＋ 模型表徵 → 後段檢索與稽核</a:t>
              </a:r>
            </a:p>
          </p:txBody>
        </p:sp>
        <p:sp>
          <p:nvSpPr>
            <p:cNvPr id="65" name="TextBox 65"/>
            <p:cNvSpPr txBox="1"/>
            <p:nvPr>
              <p:custDataLst>
                <p:tags r:id="rId19"/>
              </p:custDataLst>
            </p:nvPr>
          </p:nvSpPr>
          <p:spPr>
            <a:xfrm>
              <a:off x="603123" y="5676900"/>
              <a:ext cx="73216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兩個模型讀同一筆流量：</a:t>
              </a:r>
              <a:r>
                <a:rPr lang="en-US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CTBM </a:t>
              </a:r>
              <a:r>
                <a:rPr lang="zh-TW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看時序與方向，</a:t>
              </a:r>
              <a:r>
                <a:rPr lang="en-US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PBCNN </a:t>
              </a:r>
              <a:r>
                <a:rPr lang="zh-TW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看短窗位元組，再由</a:t>
              </a:r>
              <a:r>
                <a:rPr lang="en-US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 Gate </a:t>
              </a:r>
              <a:r>
                <a:rPr lang="zh-TW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依證據融合。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67" name="Line 67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68" name="TextBox 68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8" name="TextBox 78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04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5400294" cy="855853"/>
            <a:chOff x="595122" y="431800"/>
            <a:chExt cx="5400294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31"/>
              </p:custDataLst>
            </p:nvPr>
          </p:nvSpPr>
          <p:spPr>
            <a:xfrm>
              <a:off x="794385" y="431800"/>
              <a:ext cx="7652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EVIDENCE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32"/>
              </p:custDataLst>
            </p:nvPr>
          </p:nvSpPr>
          <p:spPr>
            <a:xfrm>
              <a:off x="595122" y="730250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把偵測表徵，變成可核對的證據</a:t>
              </a:r>
            </a:p>
          </p:txBody>
        </p:sp>
      </p:grpSp>
      <p:grpSp>
        <p:nvGrpSpPr>
          <p:cNvPr id="99" name="page-content"/>
          <p:cNvGrpSpPr/>
          <p:nvPr/>
        </p:nvGrpSpPr>
        <p:grpSpPr>
          <a:xfrm>
            <a:off x="600456" y="1511300"/>
            <a:ext cx="10981944" cy="4584700"/>
            <a:chOff x="600456" y="1511300"/>
            <a:chExt cx="10981944" cy="4584700"/>
          </a:xfrm>
        </p:grpSpPr>
        <p:sp>
          <p:nvSpPr>
            <p:cNvPr id="6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604266" y="1511300"/>
              <a:ext cx="56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STEP 01</a:t>
              </a:r>
            </a:p>
          </p:txBody>
        </p:sp>
        <p:sp>
          <p:nvSpPr>
            <p:cNvPr id="7" name="TextBox 7"/>
            <p:cNvSpPr txBox="1"/>
            <p:nvPr>
              <p:custDataLst>
                <p:tags r:id="rId4"/>
              </p:custDataLst>
            </p:nvPr>
          </p:nvSpPr>
          <p:spPr>
            <a:xfrm>
              <a:off x="600456" y="17272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組合任務向量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3962400" y="36195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9" name="Freeform 9"/>
            <p:cNvSpPr/>
            <p:nvPr/>
          </p:nvSpPr>
          <p:spPr>
            <a:xfrm>
              <a:off x="4219575" y="3562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10" name="TextBox 10"/>
            <p:cNvSpPr txBox="1"/>
            <p:nvPr>
              <p:custDataLst>
                <p:tags r:id="rId5"/>
              </p:custDataLst>
            </p:nvPr>
          </p:nvSpPr>
          <p:spPr>
            <a:xfrm>
              <a:off x="4442841" y="1511300"/>
              <a:ext cx="56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STEP 02</a:t>
              </a:r>
            </a:p>
          </p:txBody>
        </p:sp>
        <p:sp>
          <p:nvSpPr>
            <p:cNvPr id="11" name="TextBox 11"/>
            <p:cNvSpPr txBox="1"/>
            <p:nvPr>
              <p:custDataLst>
                <p:tags r:id="rId6"/>
              </p:custDataLst>
            </p:nvPr>
          </p:nvSpPr>
          <p:spPr>
            <a:xfrm>
              <a:off x="4439031" y="17272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找出相似案例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7800975" y="36195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13" name="Freeform 13"/>
            <p:cNvSpPr/>
            <p:nvPr/>
          </p:nvSpPr>
          <p:spPr>
            <a:xfrm>
              <a:off x="8058150" y="3562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14" name="TextBox 14"/>
            <p:cNvSpPr txBox="1"/>
            <p:nvPr>
              <p:custDataLst>
                <p:tags r:id="rId7"/>
              </p:custDataLst>
            </p:nvPr>
          </p:nvSpPr>
          <p:spPr>
            <a:xfrm>
              <a:off x="8281416" y="1511300"/>
              <a:ext cx="56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STEP 03</a:t>
              </a:r>
            </a:p>
          </p:txBody>
        </p:sp>
        <p:sp>
          <p:nvSpPr>
            <p:cNvPr id="15" name="TextBox 15"/>
            <p:cNvSpPr txBox="1"/>
            <p:nvPr>
              <p:custDataLst>
                <p:tags r:id="rId8"/>
              </p:custDataLst>
            </p:nvPr>
          </p:nvSpPr>
          <p:spPr>
            <a:xfrm>
              <a:off x="8277606" y="1727200"/>
              <a:ext cx="13899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本機</a:t>
              </a:r>
              <a:r>
                <a:rPr lang="en-US" sz="180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 AI </a:t>
              </a:r>
              <a:r>
                <a:rPr lang="zh-TW" sz="180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稽核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09600" y="2209800"/>
              <a:ext cx="3295650" cy="628650"/>
            </a:xfrm>
            <a:prstGeom prst="roundRect">
              <a:avLst>
                <a:gd name="adj" fmla="val 18182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13792" y="2360414"/>
              <a:ext cx="363141" cy="336947"/>
              <a:chOff x="813792" y="2360414"/>
              <a:chExt cx="363141" cy="336947"/>
            </a:xfrm>
          </p:grpSpPr>
          <p:sp>
            <p:nvSpPr>
              <p:cNvPr id="17" name="Line 17"/>
              <p:cNvSpPr/>
              <p:nvPr/>
            </p:nvSpPr>
            <p:spPr>
              <a:xfrm>
                <a:off x="813792" y="2360414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45839" y="0"/>
                    </a:moveTo>
                    <a:lnTo>
                      <a:pt x="0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813792" y="2360414"/>
                <a:ext cx="9525" cy="32742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7422">
                    <a:moveTo>
                      <a:pt x="0" y="0"/>
                    </a:moveTo>
                    <a:lnTo>
                      <a:pt x="0" y="327422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813792" y="2687836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0" y="0"/>
                    </a:moveTo>
                    <a:lnTo>
                      <a:pt x="45839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121569" y="2360414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0" y="0"/>
                    </a:moveTo>
                    <a:lnTo>
                      <a:pt x="45839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167408" y="2360414"/>
                <a:ext cx="9525" cy="32742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7422">
                    <a:moveTo>
                      <a:pt x="0" y="0"/>
                    </a:moveTo>
                    <a:lnTo>
                      <a:pt x="0" y="327422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1121569" y="2687836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45839" y="0"/>
                    </a:moveTo>
                    <a:lnTo>
                      <a:pt x="0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898922" y="2399705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898922" y="2471738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898922" y="2543770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898922" y="2615803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>
              <p:custDataLst>
                <p:tags r:id="rId9"/>
              </p:custDataLst>
            </p:nvPr>
          </p:nvSpPr>
          <p:spPr>
            <a:xfrm>
              <a:off x="1363599" y="2457450"/>
              <a:ext cx="107981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512 維表徵</a:t>
              </a:r>
            </a:p>
          </p:txBody>
        </p:sp>
        <p:sp>
          <p:nvSpPr>
            <p:cNvPr id="29" name="TextBox 29"/>
            <p:cNvSpPr txBox="1"/>
            <p:nvPr>
              <p:custDataLst>
                <p:tags r:id="rId10"/>
              </p:custDataLst>
            </p:nvPr>
          </p:nvSpPr>
          <p:spPr>
            <a:xfrm>
              <a:off x="2082133" y="2901950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3276600"/>
              <a:ext cx="3295650" cy="628650"/>
            </a:xfrm>
            <a:prstGeom prst="roundRect">
              <a:avLst>
                <a:gd name="adj" fmla="val 18182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13792" y="3427214"/>
              <a:ext cx="363141" cy="336947"/>
              <a:chOff x="813792" y="3427214"/>
              <a:chExt cx="363141" cy="336947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813792" y="3427214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45839" y="0"/>
                    </a:moveTo>
                    <a:lnTo>
                      <a:pt x="0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813792" y="3427214"/>
                <a:ext cx="9525" cy="32742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7422">
                    <a:moveTo>
                      <a:pt x="0" y="0"/>
                    </a:moveTo>
                    <a:lnTo>
                      <a:pt x="0" y="327422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813792" y="3754636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0" y="0"/>
                    </a:moveTo>
                    <a:lnTo>
                      <a:pt x="45839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1121569" y="3427214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0" y="0"/>
                    </a:moveTo>
                    <a:lnTo>
                      <a:pt x="45839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1167408" y="3427214"/>
                <a:ext cx="9525" cy="32742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7422">
                    <a:moveTo>
                      <a:pt x="0" y="0"/>
                    </a:moveTo>
                    <a:lnTo>
                      <a:pt x="0" y="327422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1121569" y="3754636"/>
                <a:ext cx="4583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839" h="9525">
                    <a:moveTo>
                      <a:pt x="45839" y="0"/>
                    </a:moveTo>
                    <a:lnTo>
                      <a:pt x="0" y="0"/>
                    </a:lnTo>
                  </a:path>
                </a:pathLst>
              </a:custGeom>
              <a:noFill/>
              <a:ln w="16371" cap="rnd">
                <a:solidFill>
                  <a:schemeClr val="accent1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898922" y="3466505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98922" y="3538538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898922" y="3610570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898922" y="3682603"/>
                <a:ext cx="183356" cy="39291"/>
              </a:xfrm>
              <a:prstGeom prst="roundRect">
                <a:avLst>
                  <a:gd name="adj" fmla="val 33333"/>
                </a:avLst>
              </a:prstGeom>
              <a:solidFill>
                <a:srgbClr val="9AAAC0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>
              <p:custDataLst>
                <p:tags r:id="rId11"/>
              </p:custDataLst>
            </p:nvPr>
          </p:nvSpPr>
          <p:spPr>
            <a:xfrm>
              <a:off x="1363599" y="3524250"/>
              <a:ext cx="1382873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17 維類別機率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257425" y="39052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00275" y="41529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" y="4248150"/>
              <a:ext cx="3295650" cy="914400"/>
            </a:xfrm>
            <a:prstGeom prst="roundRect">
              <a:avLst>
                <a:gd name="adj" fmla="val 14583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46" name="TextBox 46"/>
            <p:cNvSpPr txBox="1"/>
            <p:nvPr>
              <p:custDataLst>
                <p:tags r:id="rId12"/>
              </p:custDataLst>
            </p:nvPr>
          </p:nvSpPr>
          <p:spPr>
            <a:xfrm>
              <a:off x="1259453" y="4413250"/>
              <a:ext cx="192450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529 維任務向量</a:t>
              </a:r>
            </a:p>
          </p:txBody>
        </p:sp>
        <p:sp>
          <p:nvSpPr>
            <p:cNvPr id="47" name="TextBox 47"/>
            <p:cNvSpPr txBox="1"/>
            <p:nvPr>
              <p:custDataLst>
                <p:tags r:id="rId13"/>
              </p:custDataLst>
            </p:nvPr>
          </p:nvSpPr>
          <p:spPr>
            <a:xfrm>
              <a:off x="1594922" y="4829175"/>
              <a:ext cx="128055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L2 </a:t>
              </a:r>
              <a:r>
                <a:rPr lang="zh-TW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正規化後檢索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4544020" y="2330053"/>
              <a:ext cx="725687" cy="711994"/>
              <a:chOff x="4544020" y="2330053"/>
              <a:chExt cx="725687" cy="711994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544020" y="2425898"/>
                <a:ext cx="520303" cy="547688"/>
              </a:xfrm>
              <a:custGeom>
                <a:avLst/>
                <a:gdLst/>
                <a:ahLst/>
                <a:cxnLst/>
                <a:rect l="l" t="t" r="r" b="b"/>
                <a:pathLst>
                  <a:path w="520303" h="547688">
                    <a:moveTo>
                      <a:pt x="0" y="0"/>
                    </a:moveTo>
                    <a:lnTo>
                      <a:pt x="0" y="424458"/>
                    </a:lnTo>
                    <a:cubicBezTo>
                      <a:pt x="0" y="547688"/>
                      <a:pt x="520303" y="547688"/>
                      <a:pt x="520303" y="424458"/>
                    </a:cubicBezTo>
                    <a:lnTo>
                      <a:pt x="520303" y="0"/>
                    </a:lnTo>
                  </a:path>
                </a:pathLst>
              </a:custGeom>
              <a:solidFill>
                <a:schemeClr val="lt1"/>
              </a:solidFill>
              <a:ln w="41077" cap="rnd">
                <a:solidFill>
                  <a:schemeClr val="accent1"/>
                </a:solidFill>
                <a:round/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4544020" y="2330053"/>
                <a:ext cx="520303" cy="191691"/>
              </a:xfrm>
              <a:prstGeom prst="ellipse">
                <a:avLst/>
              </a:prstGeom>
              <a:solidFill>
                <a:schemeClr val="lt1"/>
              </a:solidFill>
              <a:ln w="41077" cap="rnd">
                <a:solidFill>
                  <a:schemeClr val="accent1"/>
                </a:solidFill>
                <a:round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544020" y="2617589"/>
                <a:ext cx="520303" cy="123230"/>
              </a:xfrm>
              <a:custGeom>
                <a:avLst/>
                <a:gdLst/>
                <a:ahLst/>
                <a:cxnLst/>
                <a:rect l="l" t="t" r="r" b="b"/>
                <a:pathLst>
                  <a:path w="520303" h="123230">
                    <a:moveTo>
                      <a:pt x="0" y="0"/>
                    </a:moveTo>
                    <a:cubicBezTo>
                      <a:pt x="0" y="123230"/>
                      <a:pt x="520303" y="123230"/>
                      <a:pt x="520303" y="0"/>
                    </a:cubicBezTo>
                  </a:path>
                </a:pathLst>
              </a:custGeom>
              <a:noFill/>
              <a:ln w="41077" cap="rnd">
                <a:solidFill>
                  <a:schemeClr val="accent1"/>
                </a:solidFill>
                <a:round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4886325" y="2644973"/>
                <a:ext cx="301228" cy="301228"/>
              </a:xfrm>
              <a:prstGeom prst="ellipse">
                <a:avLst/>
              </a:prstGeom>
              <a:solidFill>
                <a:schemeClr val="lt2"/>
              </a:solidFill>
              <a:ln w="41077" cap="rnd">
                <a:solidFill>
                  <a:schemeClr val="accent1"/>
                </a:solidFill>
                <a:round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5146477" y="2905125"/>
                <a:ext cx="123230" cy="136922"/>
              </a:xfrm>
              <a:custGeom>
                <a:avLst/>
                <a:gdLst/>
                <a:ahLst/>
                <a:cxnLst/>
                <a:rect l="l" t="t" r="r" b="b"/>
                <a:pathLst>
                  <a:path w="123230" h="136922">
                    <a:moveTo>
                      <a:pt x="0" y="0"/>
                    </a:moveTo>
                    <a:lnTo>
                      <a:pt x="123230" y="136922"/>
                    </a:lnTo>
                  </a:path>
                </a:pathLst>
              </a:custGeom>
              <a:solidFill>
                <a:schemeClr val="lt1"/>
              </a:solidFill>
              <a:ln w="54769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54" name="TextBox 54"/>
            <p:cNvSpPr txBox="1"/>
            <p:nvPr>
              <p:custDataLst>
                <p:tags r:id="rId14"/>
              </p:custDataLst>
            </p:nvPr>
          </p:nvSpPr>
          <p:spPr>
            <a:xfrm>
              <a:off x="5506593" y="23685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訓練案例庫</a:t>
              </a:r>
            </a:p>
          </p:txBody>
        </p:sp>
        <p:sp>
          <p:nvSpPr>
            <p:cNvPr id="55" name="TextBox 55"/>
            <p:cNvSpPr txBox="1"/>
            <p:nvPr>
              <p:custDataLst>
                <p:tags r:id="rId15"/>
              </p:custDataLst>
            </p:nvPr>
          </p:nvSpPr>
          <p:spPr>
            <a:xfrm>
              <a:off x="5508117" y="2711450"/>
              <a:ext cx="10400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1,550 筆案例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448175" y="3333750"/>
              <a:ext cx="571500" cy="8001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>
              <p:custDataLst>
                <p:tags r:id="rId16"/>
              </p:custDataLst>
            </p:nvPr>
          </p:nvSpPr>
          <p:spPr>
            <a:xfrm>
              <a:off x="4614389" y="3587750"/>
              <a:ext cx="170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1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114925" y="3333750"/>
              <a:ext cx="571500" cy="800100"/>
            </a:xfrm>
            <a:prstGeom prst="roundRect">
              <a:avLst>
                <a:gd name="adj" fmla="val 16667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59" name="TextBox 59"/>
            <p:cNvSpPr txBox="1"/>
            <p:nvPr>
              <p:custDataLst>
                <p:tags r:id="rId17"/>
              </p:custDataLst>
            </p:nvPr>
          </p:nvSpPr>
          <p:spPr>
            <a:xfrm>
              <a:off x="5281139" y="3587750"/>
              <a:ext cx="170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2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781675" y="3333750"/>
              <a:ext cx="571500" cy="800100"/>
            </a:xfrm>
            <a:prstGeom prst="roundRect">
              <a:avLst>
                <a:gd name="adj" fmla="val 16667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1" name="TextBox 61"/>
            <p:cNvSpPr txBox="1"/>
            <p:nvPr>
              <p:custDataLst>
                <p:tags r:id="rId18"/>
              </p:custDataLst>
            </p:nvPr>
          </p:nvSpPr>
          <p:spPr>
            <a:xfrm>
              <a:off x="5947889" y="3587750"/>
              <a:ext cx="170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3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448425" y="3333750"/>
              <a:ext cx="571500" cy="800100"/>
            </a:xfrm>
            <a:prstGeom prst="roundRect">
              <a:avLst>
                <a:gd name="adj" fmla="val 16667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3" name="TextBox 63"/>
            <p:cNvSpPr txBox="1"/>
            <p:nvPr>
              <p:custDataLst>
                <p:tags r:id="rId19"/>
              </p:custDataLst>
            </p:nvPr>
          </p:nvSpPr>
          <p:spPr>
            <a:xfrm>
              <a:off x="6614640" y="3587750"/>
              <a:ext cx="170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115175" y="3333750"/>
              <a:ext cx="571500" cy="800100"/>
            </a:xfrm>
            <a:prstGeom prst="roundRect">
              <a:avLst>
                <a:gd name="adj" fmla="val 16667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5" name="TextBox 65"/>
            <p:cNvSpPr txBox="1"/>
            <p:nvPr>
              <p:custDataLst>
                <p:tags r:id="rId20"/>
              </p:custDataLst>
            </p:nvPr>
          </p:nvSpPr>
          <p:spPr>
            <a:xfrm>
              <a:off x="7281390" y="3587750"/>
              <a:ext cx="1708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5</a:t>
              </a:r>
            </a:p>
          </p:txBody>
        </p:sp>
        <p:sp>
          <p:nvSpPr>
            <p:cNvPr id="66" name="TextBox 66"/>
            <p:cNvSpPr txBox="1"/>
            <p:nvPr>
              <p:custDataLst>
                <p:tags r:id="rId21"/>
              </p:custDataLst>
            </p:nvPr>
          </p:nvSpPr>
          <p:spPr>
            <a:xfrm>
              <a:off x="4439793" y="4311650"/>
              <a:ext cx="16006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Top-5 </a:t>
              </a:r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相似案例</a:t>
              </a:r>
            </a:p>
          </p:txBody>
        </p:sp>
        <p:sp>
          <p:nvSpPr>
            <p:cNvPr id="67" name="TextBox 67"/>
            <p:cNvSpPr txBox="1"/>
            <p:nvPr>
              <p:custDataLst>
                <p:tags r:id="rId22"/>
              </p:custDataLst>
            </p:nvPr>
          </p:nvSpPr>
          <p:spPr>
            <a:xfrm>
              <a:off x="4442079" y="464820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只檢索訓練資料，依相似度排序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286750" y="2209800"/>
              <a:ext cx="3295650" cy="876300"/>
            </a:xfrm>
            <a:prstGeom prst="roundRect">
              <a:avLst>
                <a:gd name="adj" fmla="val 15217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69" name="TextBox 69"/>
            <p:cNvSpPr txBox="1"/>
            <p:nvPr>
              <p:custDataLst>
                <p:tags r:id="rId23"/>
              </p:custDataLst>
            </p:nvPr>
          </p:nvSpPr>
          <p:spPr>
            <a:xfrm>
              <a:off x="9045575" y="23749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80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判定＋案例證據</a:t>
              </a:r>
            </a:p>
          </p:txBody>
        </p:sp>
        <p:sp>
          <p:nvSpPr>
            <p:cNvPr id="70" name="TextBox 70"/>
            <p:cNvSpPr txBox="1"/>
            <p:nvPr>
              <p:custDataLst>
                <p:tags r:id="rId24"/>
              </p:custDataLst>
            </p:nvPr>
          </p:nvSpPr>
          <p:spPr>
            <a:xfrm>
              <a:off x="9388932" y="274320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8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核對同一事件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8829675" y="3086100"/>
              <a:ext cx="1104900" cy="304800"/>
            </a:xfrm>
            <a:custGeom>
              <a:avLst/>
              <a:gdLst/>
              <a:ahLst/>
              <a:cxnLst/>
              <a:rect l="l" t="t" r="r" b="b"/>
              <a:pathLst>
                <a:path w="1104900" h="304800">
                  <a:moveTo>
                    <a:pt x="1104900" y="0"/>
                  </a:moveTo>
                  <a:lnTo>
                    <a:pt x="1104900" y="152400"/>
                  </a:lnTo>
                  <a:lnTo>
                    <a:pt x="0" y="152400"/>
                  </a:lnTo>
                  <a:lnTo>
                    <a:pt x="0" y="3048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72" name="Freeform 72"/>
            <p:cNvSpPr/>
            <p:nvPr/>
          </p:nvSpPr>
          <p:spPr>
            <a:xfrm>
              <a:off x="8772525" y="3314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73" name="Freeform 73"/>
            <p:cNvSpPr/>
            <p:nvPr/>
          </p:nvSpPr>
          <p:spPr>
            <a:xfrm>
              <a:off x="9934575" y="32385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74" name="Freeform 74"/>
            <p:cNvSpPr/>
            <p:nvPr/>
          </p:nvSpPr>
          <p:spPr>
            <a:xfrm>
              <a:off x="9877425" y="3314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75" name="Freeform 75"/>
            <p:cNvSpPr/>
            <p:nvPr/>
          </p:nvSpPr>
          <p:spPr>
            <a:xfrm>
              <a:off x="9934575" y="3238500"/>
              <a:ext cx="1104900" cy="152400"/>
            </a:xfrm>
            <a:custGeom>
              <a:avLst/>
              <a:gdLst/>
              <a:ahLst/>
              <a:cxnLst/>
              <a:rect l="l" t="t" r="r" b="b"/>
              <a:pathLst>
                <a:path w="1104900" h="152400">
                  <a:moveTo>
                    <a:pt x="0" y="0"/>
                  </a:moveTo>
                  <a:lnTo>
                    <a:pt x="1104900" y="0"/>
                  </a:lnTo>
                  <a:lnTo>
                    <a:pt x="1104900" y="1524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76" name="Freeform 76"/>
            <p:cNvSpPr/>
            <p:nvPr/>
          </p:nvSpPr>
          <p:spPr>
            <a:xfrm>
              <a:off x="10982325" y="3314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77" name="Rectangle 77"/>
            <p:cNvSpPr/>
            <p:nvPr/>
          </p:nvSpPr>
          <p:spPr>
            <a:xfrm>
              <a:off x="8286750" y="3409950"/>
              <a:ext cx="1009650" cy="95250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8652272" y="3556397"/>
              <a:ext cx="278606" cy="278606"/>
              <a:chOff x="8652272" y="3556397"/>
              <a:chExt cx="278606" cy="278606"/>
            </a:xfrm>
          </p:grpSpPr>
          <p:sp>
            <p:nvSpPr>
              <p:cNvPr id="78" name="Ellipse 78"/>
              <p:cNvSpPr/>
              <p:nvPr/>
            </p:nvSpPr>
            <p:spPr>
              <a:xfrm>
                <a:off x="8652272" y="3556397"/>
                <a:ext cx="278606" cy="278606"/>
              </a:xfrm>
              <a:prstGeom prst="ellipse">
                <a:avLst/>
              </a:prstGeom>
              <a:solidFill>
                <a:srgbClr val="E2F3F0"/>
              </a:solidFill>
              <a:ln w="13395">
                <a:solidFill>
                  <a:schemeClr val="accent3"/>
                </a:solidFill>
              </a:ln>
            </p:spPr>
          </p:sp>
          <p:sp>
            <p:nvSpPr>
              <p:cNvPr id="79" name="Line 79"/>
              <p:cNvSpPr/>
              <p:nvPr/>
            </p:nvSpPr>
            <p:spPr>
              <a:xfrm>
                <a:off x="8721923" y="3701058"/>
                <a:ext cx="48220" cy="48220"/>
              </a:xfrm>
              <a:custGeom>
                <a:avLst/>
                <a:gdLst/>
                <a:ahLst/>
                <a:cxnLst/>
                <a:rect l="l" t="t" r="r" b="b"/>
                <a:pathLst>
                  <a:path w="48220" h="48220">
                    <a:moveTo>
                      <a:pt x="0" y="0"/>
                    </a:moveTo>
                    <a:lnTo>
                      <a:pt x="48220" y="48220"/>
                    </a:lnTo>
                  </a:path>
                </a:pathLst>
              </a:custGeom>
              <a:noFill/>
              <a:ln w="21431" cap="rnd">
                <a:solidFill>
                  <a:schemeClr val="accent3"/>
                </a:solidFill>
              </a:ln>
            </p:spPr>
          </p:sp>
          <p:sp>
            <p:nvSpPr>
              <p:cNvPr id="80" name="Line 80"/>
              <p:cNvSpPr/>
              <p:nvPr/>
            </p:nvSpPr>
            <p:spPr>
              <a:xfrm>
                <a:off x="8770144" y="3642122"/>
                <a:ext cx="96441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6441" h="107156">
                    <a:moveTo>
                      <a:pt x="0" y="107156"/>
                    </a:moveTo>
                    <a:lnTo>
                      <a:pt x="96441" y="0"/>
                    </a:lnTo>
                  </a:path>
                </a:pathLst>
              </a:custGeom>
              <a:noFill/>
              <a:ln w="21431" cap="rnd">
                <a:solidFill>
                  <a:schemeClr val="accent3"/>
                </a:solidFill>
              </a:ln>
            </p:spPr>
          </p:sp>
        </p:grpSp>
        <p:sp>
          <p:nvSpPr>
            <p:cNvPr id="82" name="TextBox 82"/>
            <p:cNvSpPr txBox="1"/>
            <p:nvPr>
              <p:custDataLst>
                <p:tags r:id="rId25"/>
              </p:custDataLst>
            </p:nvPr>
          </p:nvSpPr>
          <p:spPr>
            <a:xfrm>
              <a:off x="8568570" y="40132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支持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429750" y="3409950"/>
              <a:ext cx="1009650" cy="95250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9811345" y="3572470"/>
              <a:ext cx="251818" cy="251818"/>
              <a:chOff x="9811345" y="3572470"/>
              <a:chExt cx="251818" cy="251818"/>
            </a:xfrm>
          </p:grpSpPr>
          <p:sp>
            <p:nvSpPr>
              <p:cNvPr id="84" name="Ellipse 84"/>
              <p:cNvSpPr/>
              <p:nvPr/>
            </p:nvSpPr>
            <p:spPr>
              <a:xfrm>
                <a:off x="9811345" y="3572470"/>
                <a:ext cx="182166" cy="182166"/>
              </a:xfrm>
              <a:prstGeom prst="ellipse">
                <a:avLst/>
              </a:prstGeom>
              <a:solidFill>
                <a:schemeClr val="lt1"/>
              </a:solidFill>
              <a:ln w="13395">
                <a:solidFill>
                  <a:schemeClr val="accent1"/>
                </a:solidFill>
              </a:ln>
            </p:spPr>
          </p:sp>
          <p:sp>
            <p:nvSpPr>
              <p:cNvPr id="85" name="Line 85"/>
              <p:cNvSpPr/>
              <p:nvPr/>
            </p:nvSpPr>
            <p:spPr>
              <a:xfrm>
                <a:off x="9972080" y="3733205"/>
                <a:ext cx="91083" cy="91083"/>
              </a:xfrm>
              <a:custGeom>
                <a:avLst/>
                <a:gdLst/>
                <a:ahLst/>
                <a:cxnLst/>
                <a:rect l="l" t="t" r="r" b="b"/>
                <a:pathLst>
                  <a:path w="91083" h="91083">
                    <a:moveTo>
                      <a:pt x="0" y="0"/>
                    </a:moveTo>
                    <a:lnTo>
                      <a:pt x="91083" y="91083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</a:ln>
            </p:spPr>
          </p:sp>
        </p:grpSp>
        <p:sp>
          <p:nvSpPr>
            <p:cNvPr id="87" name="TextBox 87"/>
            <p:cNvSpPr txBox="1"/>
            <p:nvPr>
              <p:custDataLst>
                <p:tags r:id="rId26"/>
              </p:custDataLst>
            </p:nvPr>
          </p:nvSpPr>
          <p:spPr>
            <a:xfrm>
              <a:off x="9711570" y="401320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複核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0572750" y="3409950"/>
              <a:ext cx="1009650" cy="952500"/>
            </a:xfrm>
            <a:prstGeom prst="roundRect">
              <a:avLst>
                <a:gd name="adj" fmla="val 12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10938272" y="3556397"/>
              <a:ext cx="278606" cy="278606"/>
              <a:chOff x="10938272" y="3556397"/>
              <a:chExt cx="278606" cy="278606"/>
            </a:xfrm>
          </p:grpSpPr>
          <p:sp>
            <p:nvSpPr>
              <p:cNvPr id="89" name="Ellipse 89"/>
              <p:cNvSpPr/>
              <p:nvPr/>
            </p:nvSpPr>
            <p:spPr>
              <a:xfrm>
                <a:off x="10938272" y="3556397"/>
                <a:ext cx="278606" cy="278606"/>
              </a:xfrm>
              <a:prstGeom prst="ellipse">
                <a:avLst/>
              </a:prstGeom>
              <a:solidFill>
                <a:srgbClr val="EAF1FE"/>
              </a:solidFill>
              <a:ln w="13395">
                <a:solidFill>
                  <a:schemeClr val="accent1"/>
                </a:solidFill>
              </a:ln>
            </p:spPr>
          </p:sp>
          <p:sp>
            <p:nvSpPr>
              <p:cNvPr id="90" name="Line 90"/>
              <p:cNvSpPr/>
              <p:nvPr/>
            </p:nvSpPr>
            <p:spPr>
              <a:xfrm>
                <a:off x="11077575" y="375999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5358"/>
                    </a:lnTo>
                  </a:path>
                </a:pathLst>
              </a:custGeom>
              <a:noFill/>
              <a:ln w="26789" cap="rnd">
                <a:solidFill>
                  <a:schemeClr val="accent1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11034712" y="3599259"/>
                <a:ext cx="85725" cy="12323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3230">
                    <a:moveTo>
                      <a:pt x="0" y="53578"/>
                    </a:moveTo>
                    <a:cubicBezTo>
                      <a:pt x="0" y="0"/>
                      <a:pt x="85725" y="0"/>
                      <a:pt x="85725" y="53578"/>
                    </a:cubicBezTo>
                    <a:cubicBezTo>
                      <a:pt x="85725" y="91083"/>
                      <a:pt x="42862" y="91083"/>
                      <a:pt x="42862" y="123230"/>
                    </a:cubicBezTo>
                  </a:path>
                </a:pathLst>
              </a:custGeom>
              <a:noFill/>
              <a:ln w="21431" cap="rnd">
                <a:solidFill>
                  <a:schemeClr val="accent1"/>
                </a:solidFill>
              </a:ln>
            </p:spPr>
          </p:sp>
        </p:grpSp>
        <p:sp>
          <p:nvSpPr>
            <p:cNvPr id="93" name="TextBox 93"/>
            <p:cNvSpPr txBox="1"/>
            <p:nvPr>
              <p:custDataLst>
                <p:tags r:id="rId27"/>
              </p:custDataLst>
            </p:nvPr>
          </p:nvSpPr>
          <p:spPr>
            <a:xfrm>
              <a:off x="10758989" y="4013200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不確定</a:t>
              </a:r>
            </a:p>
          </p:txBody>
        </p:sp>
        <p:sp>
          <p:nvSpPr>
            <p:cNvPr id="94" name="TextBox 94"/>
            <p:cNvSpPr txBox="1"/>
            <p:nvPr>
              <p:custDataLst>
                <p:tags r:id="rId28"/>
              </p:custDataLst>
            </p:nvPr>
          </p:nvSpPr>
          <p:spPr>
            <a:xfrm>
              <a:off x="8278368" y="4502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保留正式分類</a:t>
              </a:r>
            </a:p>
          </p:txBody>
        </p:sp>
        <p:sp>
          <p:nvSpPr>
            <p:cNvPr id="95" name="TextBox 95"/>
            <p:cNvSpPr txBox="1"/>
            <p:nvPr>
              <p:custDataLst>
                <p:tags r:id="rId29"/>
              </p:custDataLst>
            </p:nvPr>
          </p:nvSpPr>
          <p:spPr>
            <a:xfrm>
              <a:off x="8280654" y="483870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稽核結論附回事件紀錄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609600" y="5562600"/>
              <a:ext cx="10972800" cy="533400"/>
            </a:xfrm>
            <a:prstGeom prst="roundRect">
              <a:avLst>
                <a:gd name="adj" fmla="val 2142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Ellipse 97"/>
            <p:cNvSpPr/>
            <p:nvPr/>
          </p:nvSpPr>
          <p:spPr>
            <a:xfrm>
              <a:off x="819150" y="57721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8" name="TextBox 98"/>
            <p:cNvSpPr txBox="1"/>
            <p:nvPr>
              <p:custDataLst>
                <p:tags r:id="rId30"/>
              </p:custDataLst>
            </p:nvPr>
          </p:nvSpPr>
          <p:spPr>
            <a:xfrm>
              <a:off x="1059180" y="5705475"/>
              <a:ext cx="4337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同一事件</a:t>
              </a:r>
              <a:r>
                <a:rPr lang="en-US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 ID</a:t>
              </a:r>
              <a:r>
                <a:rPr lang="zh-TW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：分類結果與檢索證據一路可追溯。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100" name="Line 100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101" name="TextBox 101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11" name="TextBox 111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05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5783961" cy="855853"/>
            <a:chOff x="595122" y="431800"/>
            <a:chExt cx="5783961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23"/>
              </p:custDataLst>
            </p:nvPr>
          </p:nvSpPr>
          <p:spPr>
            <a:xfrm>
              <a:off x="794385" y="431800"/>
              <a:ext cx="7570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CONTROL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24"/>
              </p:custDataLst>
            </p:nvPr>
          </p:nvSpPr>
          <p:spPr>
            <a:xfrm>
              <a:off x="595122" y="730250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受控執行，留下可回復的處置紀錄</a:t>
              </a:r>
            </a:p>
          </p:txBody>
        </p:sp>
      </p:grpSp>
      <p:grpSp>
        <p:nvGrpSpPr>
          <p:cNvPr id="67" name="page-content"/>
          <p:cNvGrpSpPr/>
          <p:nvPr/>
        </p:nvGrpSpPr>
        <p:grpSpPr>
          <a:xfrm>
            <a:off x="599694" y="1485900"/>
            <a:ext cx="10982706" cy="4654296"/>
            <a:chOff x="599694" y="1485900"/>
            <a:chExt cx="10982706" cy="4654296"/>
          </a:xfrm>
        </p:grpSpPr>
        <p:sp>
          <p:nvSpPr>
            <p:cNvPr id="6" name="Rectangle 6"/>
            <p:cNvSpPr/>
            <p:nvPr/>
          </p:nvSpPr>
          <p:spPr>
            <a:xfrm>
              <a:off x="609600" y="1485900"/>
              <a:ext cx="2571750" cy="2381250"/>
            </a:xfrm>
            <a:prstGeom prst="roundRect">
              <a:avLst>
                <a:gd name="adj" fmla="val 64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832104" y="1657350"/>
              <a:ext cx="19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01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595438" y="2033588"/>
              <a:ext cx="671512" cy="785812"/>
              <a:chOff x="1595438" y="2033588"/>
              <a:chExt cx="671512" cy="785812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595438" y="2033588"/>
                <a:ext cx="600075" cy="771525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771525">
                    <a:moveTo>
                      <a:pt x="300038" y="0"/>
                    </a:moveTo>
                    <a:lnTo>
                      <a:pt x="600075" y="128588"/>
                    </a:lnTo>
                    <a:lnTo>
                      <a:pt x="600075" y="357188"/>
                    </a:lnTo>
                    <a:cubicBezTo>
                      <a:pt x="600075" y="542925"/>
                      <a:pt x="457200" y="671512"/>
                      <a:pt x="300038" y="771525"/>
                    </a:cubicBezTo>
                    <a:cubicBezTo>
                      <a:pt x="142875" y="671512"/>
                      <a:pt x="0" y="542925"/>
                      <a:pt x="0" y="357188"/>
                    </a:cubicBezTo>
                    <a:lnTo>
                      <a:pt x="0" y="128588"/>
                    </a:lnTo>
                    <a:close/>
                  </a:path>
                </a:pathLst>
              </a:custGeom>
              <a:solidFill>
                <a:schemeClr val="lt1"/>
              </a:solidFill>
              <a:ln w="42862" cap="rnd">
                <a:solidFill>
                  <a:schemeClr val="accent1"/>
                </a:solidFill>
                <a:round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738312" y="2276475"/>
                <a:ext cx="328612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228600">
                    <a:moveTo>
                      <a:pt x="0" y="114300"/>
                    </a:moveTo>
                    <a:lnTo>
                      <a:pt x="114300" y="228600"/>
                    </a:lnTo>
                    <a:lnTo>
                      <a:pt x="328612" y="0"/>
                    </a:lnTo>
                  </a:path>
                </a:pathLst>
              </a:custGeom>
              <a:noFill/>
              <a:ln w="57150" cap="rnd">
                <a:solidFill>
                  <a:schemeClr val="accent1"/>
                </a:solidFill>
                <a:round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81212" y="2576512"/>
                <a:ext cx="18573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242888">
                    <a:moveTo>
                      <a:pt x="42862" y="0"/>
                    </a:moveTo>
                    <a:lnTo>
                      <a:pt x="185738" y="0"/>
                    </a:lnTo>
                    <a:lnTo>
                      <a:pt x="185738" y="171450"/>
                    </a:lnTo>
                    <a:lnTo>
                      <a:pt x="0" y="171450"/>
                    </a:lnTo>
                    <a:moveTo>
                      <a:pt x="71438" y="100012"/>
                    </a:moveTo>
                    <a:lnTo>
                      <a:pt x="0" y="171450"/>
                    </a:lnTo>
                    <a:lnTo>
                      <a:pt x="71438" y="242888"/>
                    </a:lnTo>
                  </a:path>
                </a:pathLst>
              </a:custGeom>
              <a:noFill/>
              <a:ln w="42862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12" name="TextBox 12"/>
            <p:cNvSpPr txBox="1"/>
            <p:nvPr>
              <p:custDataLst>
                <p:tags r:id="rId4"/>
              </p:custDataLst>
            </p:nvPr>
          </p:nvSpPr>
          <p:spPr>
            <a:xfrm>
              <a:off x="1326419" y="3054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政策檢查</a:t>
              </a:r>
            </a:p>
          </p:txBody>
        </p:sp>
        <p:sp>
          <p:nvSpPr>
            <p:cNvPr id="13" name="TextBox 13"/>
            <p:cNvSpPr txBox="1"/>
            <p:nvPr>
              <p:custDataLst>
                <p:tags r:id="rId5"/>
              </p:custDataLst>
            </p:nvPr>
          </p:nvSpPr>
          <p:spPr>
            <a:xfrm>
              <a:off x="1099049" y="3448050"/>
              <a:ext cx="15515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範圍 · 允許動作 · 期限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3257550" y="2600325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409950" y="1485900"/>
              <a:ext cx="2571750" cy="2381250"/>
            </a:xfrm>
            <a:prstGeom prst="roundRect">
              <a:avLst>
                <a:gd name="adj" fmla="val 64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16" name="TextBox 16"/>
            <p:cNvSpPr txBox="1"/>
            <p:nvPr>
              <p:custDataLst>
                <p:tags r:id="rId6"/>
              </p:custDataLst>
            </p:nvPr>
          </p:nvSpPr>
          <p:spPr>
            <a:xfrm>
              <a:off x="3632454" y="1657350"/>
              <a:ext cx="19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02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310062" y="2076450"/>
              <a:ext cx="771526" cy="685800"/>
              <a:chOff x="4310062" y="2076450"/>
              <a:chExt cx="771526" cy="685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10062" y="2076450"/>
                <a:ext cx="771525" cy="685800"/>
              </a:xfrm>
              <a:prstGeom prst="roundRect">
                <a:avLst>
                  <a:gd name="adj" fmla="val 8333"/>
                </a:avLst>
              </a:prstGeom>
              <a:solidFill>
                <a:schemeClr val="lt1"/>
              </a:solidFill>
              <a:ln w="35719">
                <a:solidFill>
                  <a:schemeClr val="accent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4310062" y="2305050"/>
                <a:ext cx="771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1525" h="9525">
                    <a:moveTo>
                      <a:pt x="0" y="0"/>
                    </a:moveTo>
                    <a:lnTo>
                      <a:pt x="771525" y="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4310062" y="2533650"/>
                <a:ext cx="771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1525" h="9525">
                    <a:moveTo>
                      <a:pt x="0" y="0"/>
                    </a:moveTo>
                    <a:lnTo>
                      <a:pt x="771525" y="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4567238" y="20764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4852988" y="20764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4452938" y="23050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767262" y="23050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4567238" y="25336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4852988" y="253365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</p:grpSp>
        <p:sp>
          <p:nvSpPr>
            <p:cNvPr id="27" name="TextBox 27"/>
            <p:cNvSpPr txBox="1"/>
            <p:nvPr>
              <p:custDataLst>
                <p:tags r:id="rId7"/>
              </p:custDataLst>
            </p:nvPr>
          </p:nvSpPr>
          <p:spPr>
            <a:xfrm>
              <a:off x="4126770" y="3054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套用規則</a:t>
              </a:r>
            </a:p>
          </p:txBody>
        </p:sp>
        <p:sp>
          <p:nvSpPr>
            <p:cNvPr id="28" name="TextBox 28"/>
            <p:cNvSpPr txBox="1"/>
            <p:nvPr>
              <p:custDataLst>
                <p:tags r:id="rId8"/>
              </p:custDataLst>
            </p:nvPr>
          </p:nvSpPr>
          <p:spPr>
            <a:xfrm>
              <a:off x="4022916" y="34480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受允許策略才執行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057900" y="2600325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10300" y="1485900"/>
              <a:ext cx="2571750" cy="2381250"/>
            </a:xfrm>
            <a:prstGeom prst="roundRect">
              <a:avLst>
                <a:gd name="adj" fmla="val 64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31" name="TextBox 31"/>
            <p:cNvSpPr txBox="1"/>
            <p:nvPr>
              <p:custDataLst>
                <p:tags r:id="rId9"/>
              </p:custDataLst>
            </p:nvPr>
          </p:nvSpPr>
          <p:spPr>
            <a:xfrm>
              <a:off x="6432804" y="1657350"/>
              <a:ext cx="19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03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7210425" y="2033588"/>
              <a:ext cx="571500" cy="771524"/>
              <a:chOff x="7210425" y="2033588"/>
              <a:chExt cx="571500" cy="771524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210425" y="2033588"/>
                <a:ext cx="571500" cy="771525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35719">
                <a:solidFill>
                  <a:schemeClr val="accent1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7339012" y="2219325"/>
                <a:ext cx="3286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9525">
                    <a:moveTo>
                      <a:pt x="0" y="0"/>
                    </a:moveTo>
                    <a:lnTo>
                      <a:pt x="328612" y="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7339012" y="2376488"/>
                <a:ext cx="3286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9525">
                    <a:moveTo>
                      <a:pt x="0" y="0"/>
                    </a:moveTo>
                    <a:lnTo>
                      <a:pt x="328612" y="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7339012" y="2533650"/>
                <a:ext cx="3286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9525">
                    <a:moveTo>
                      <a:pt x="0" y="0"/>
                    </a:moveTo>
                    <a:lnTo>
                      <a:pt x="328612" y="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7339012" y="2690812"/>
                <a:ext cx="3286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8612" h="9525">
                    <a:moveTo>
                      <a:pt x="0" y="0"/>
                    </a:moveTo>
                    <a:lnTo>
                      <a:pt x="328612" y="0"/>
                    </a:lnTo>
                  </a:path>
                </a:pathLst>
              </a:custGeom>
              <a:noFill/>
              <a:ln w="28575" cap="rnd">
                <a:solidFill>
                  <a:srgbClr val="9AAAC0"/>
                </a:solidFill>
              </a:ln>
            </p:spPr>
          </p:sp>
        </p:grpSp>
        <p:sp>
          <p:nvSpPr>
            <p:cNvPr id="38" name="TextBox 38"/>
            <p:cNvSpPr txBox="1"/>
            <p:nvPr>
              <p:custDataLst>
                <p:tags r:id="rId10"/>
              </p:custDataLst>
            </p:nvPr>
          </p:nvSpPr>
          <p:spPr>
            <a:xfrm>
              <a:off x="6927120" y="3054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讀回驗證</a:t>
              </a:r>
            </a:p>
          </p:txBody>
        </p:sp>
        <p:sp>
          <p:nvSpPr>
            <p:cNvPr id="39" name="TextBox 39"/>
            <p:cNvSpPr txBox="1"/>
            <p:nvPr>
              <p:custDataLst>
                <p:tags r:id="rId11"/>
              </p:custDataLst>
            </p:nvPr>
          </p:nvSpPr>
          <p:spPr>
            <a:xfrm>
              <a:off x="6742494" y="34480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核對規則與事件回條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858250" y="2600325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010650" y="1485900"/>
              <a:ext cx="2571750" cy="2381250"/>
            </a:xfrm>
            <a:prstGeom prst="roundRect">
              <a:avLst>
                <a:gd name="adj" fmla="val 640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42" name="TextBox 42"/>
            <p:cNvSpPr txBox="1"/>
            <p:nvPr>
              <p:custDataLst>
                <p:tags r:id="rId12"/>
              </p:custDataLst>
            </p:nvPr>
          </p:nvSpPr>
          <p:spPr>
            <a:xfrm>
              <a:off x="9233154" y="1657350"/>
              <a:ext cx="19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04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9939338" y="2062162"/>
              <a:ext cx="714374" cy="714376"/>
              <a:chOff x="9939338" y="2062162"/>
              <a:chExt cx="714374" cy="714376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9939338" y="2062162"/>
                <a:ext cx="714375" cy="714375"/>
              </a:xfrm>
              <a:prstGeom prst="ellipse">
                <a:avLst/>
              </a:prstGeom>
              <a:solidFill>
                <a:schemeClr val="lt1"/>
              </a:solidFill>
              <a:ln w="35719">
                <a:solidFill>
                  <a:schemeClr val="accent1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0296525" y="2176462"/>
                <a:ext cx="952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8">
                    <a:moveTo>
                      <a:pt x="0" y="242888"/>
                    </a:moveTo>
                    <a:lnTo>
                      <a:pt x="0" y="0"/>
                    </a:lnTo>
                  </a:path>
                </a:pathLst>
              </a:custGeom>
              <a:noFill/>
              <a:ln w="35719" cap="rnd">
                <a:solidFill>
                  <a:schemeClr val="accent1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10296525" y="2419350"/>
                <a:ext cx="185738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00012">
                    <a:moveTo>
                      <a:pt x="0" y="0"/>
                    </a:moveTo>
                    <a:lnTo>
                      <a:pt x="185738" y="100012"/>
                    </a:lnTo>
                  </a:path>
                </a:pathLst>
              </a:custGeom>
              <a:noFill/>
              <a:ln w="35719" cap="rnd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>
              <p:custDataLst>
                <p:tags r:id="rId13"/>
              </p:custDataLst>
            </p:nvPr>
          </p:nvSpPr>
          <p:spPr>
            <a:xfrm>
              <a:off x="9727470" y="305435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9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到期回復</a:t>
              </a:r>
            </a:p>
          </p:txBody>
        </p:sp>
        <p:sp>
          <p:nvSpPr>
            <p:cNvPr id="48" name="TextBox 48"/>
            <p:cNvSpPr txBox="1"/>
            <p:nvPr>
              <p:custDataLst>
                <p:tags r:id="rId14"/>
              </p:custDataLst>
            </p:nvPr>
          </p:nvSpPr>
          <p:spPr>
            <a:xfrm>
              <a:off x="9542844" y="344805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撤銷並確認服務恢復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524000" y="3867150"/>
              <a:ext cx="2381250" cy="476250"/>
            </a:xfrm>
            <a:custGeom>
              <a:avLst/>
              <a:gdLst/>
              <a:ahLst/>
              <a:cxnLst/>
              <a:rect l="l" t="t" r="r" b="b"/>
              <a:pathLst>
                <a:path w="2381250" h="476250">
                  <a:moveTo>
                    <a:pt x="0" y="0"/>
                  </a:moveTo>
                  <a:lnTo>
                    <a:pt x="0" y="476250"/>
                  </a:lnTo>
                  <a:lnTo>
                    <a:pt x="2381250" y="476250"/>
                  </a:lnTo>
                </a:path>
              </a:pathLst>
            </a:custGeom>
            <a:noFill/>
            <a:ln w="19050">
              <a:solidFill>
                <a:srgbClr val="9AAAC0"/>
              </a:solidFill>
              <a:custDash>
                <a:ds d="300000" sp="250000"/>
              </a:custDash>
              <a:round/>
            </a:ln>
          </p:spPr>
        </p:sp>
        <p:sp>
          <p:nvSpPr>
            <p:cNvPr id="50" name="Freeform 50"/>
            <p:cNvSpPr/>
            <p:nvPr/>
          </p:nvSpPr>
          <p:spPr>
            <a:xfrm>
              <a:off x="3829050" y="42862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9050" cap="rnd">
              <a:solidFill>
                <a:srgbClr val="9AAAC0"/>
              </a:solidFill>
              <a:round/>
            </a:ln>
          </p:spPr>
        </p:sp>
        <p:sp>
          <p:nvSpPr>
            <p:cNvPr id="51" name="Rectangle 51"/>
            <p:cNvSpPr/>
            <p:nvPr/>
          </p:nvSpPr>
          <p:spPr>
            <a:xfrm>
              <a:off x="4038600" y="4095750"/>
              <a:ext cx="75438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4293394" y="4198739"/>
              <a:ext cx="214312" cy="289322"/>
              <a:chOff x="4293394" y="4198739"/>
              <a:chExt cx="214312" cy="289322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4293394" y="4198739"/>
                <a:ext cx="214312" cy="289322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3395">
                <a:solidFill>
                  <a:schemeClr val="accent1"/>
                </a:solidFill>
              </a:ln>
            </p:spPr>
          </p:sp>
          <p:sp>
            <p:nvSpPr>
              <p:cNvPr id="53" name="Line 53"/>
              <p:cNvSpPr/>
              <p:nvPr/>
            </p:nvSpPr>
            <p:spPr>
              <a:xfrm>
                <a:off x="4341614" y="4268391"/>
                <a:ext cx="1232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230" h="9525">
                    <a:moveTo>
                      <a:pt x="0" y="0"/>
                    </a:moveTo>
                    <a:lnTo>
                      <a:pt x="123230" y="0"/>
                    </a:lnTo>
                  </a:path>
                </a:pathLst>
              </a:custGeom>
              <a:noFill/>
              <a:ln w="10716" cap="rnd">
                <a:solidFill>
                  <a:srgbClr val="9AAAC0"/>
                </a:solidFill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4341614" y="4327327"/>
                <a:ext cx="1232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230" h="9525">
                    <a:moveTo>
                      <a:pt x="0" y="0"/>
                    </a:moveTo>
                    <a:lnTo>
                      <a:pt x="123230" y="0"/>
                    </a:lnTo>
                  </a:path>
                </a:pathLst>
              </a:custGeom>
              <a:noFill/>
              <a:ln w="10716" cap="rnd">
                <a:solidFill>
                  <a:srgbClr val="9AAAC0"/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4341614" y="4386262"/>
                <a:ext cx="1232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230" h="9525">
                    <a:moveTo>
                      <a:pt x="0" y="0"/>
                    </a:moveTo>
                    <a:lnTo>
                      <a:pt x="123230" y="0"/>
                    </a:lnTo>
                  </a:path>
                </a:pathLst>
              </a:custGeom>
              <a:noFill/>
              <a:ln w="10716" cap="rnd">
                <a:solidFill>
                  <a:srgbClr val="9AAAC0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4341614" y="4445198"/>
                <a:ext cx="12323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3230" h="9525">
                    <a:moveTo>
                      <a:pt x="0" y="0"/>
                    </a:moveTo>
                    <a:lnTo>
                      <a:pt x="123230" y="0"/>
                    </a:lnTo>
                  </a:path>
                </a:pathLst>
              </a:custGeom>
              <a:noFill/>
              <a:ln w="10716" cap="rnd">
                <a:solidFill>
                  <a:srgbClr val="9AAAC0"/>
                </a:solidFill>
              </a:ln>
            </p:spPr>
          </p:sp>
        </p:grpSp>
        <p:sp>
          <p:nvSpPr>
            <p:cNvPr id="58" name="TextBox 58"/>
            <p:cNvSpPr txBox="1"/>
            <p:nvPr>
              <p:custDataLst>
                <p:tags r:id="rId15"/>
              </p:custDataLst>
            </p:nvPr>
          </p:nvSpPr>
          <p:spPr>
            <a:xfrm>
              <a:off x="4717161" y="4241800"/>
              <a:ext cx="3862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複核／不確定 → 不自動處置，改為監測或蒐證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09600" y="4953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 cap="rnd">
              <a:solidFill>
                <a:srgbClr val="DCE3EC"/>
              </a:solidFill>
            </a:ln>
          </p:spPr>
        </p:sp>
        <p:sp>
          <p:nvSpPr>
            <p:cNvPr id="60" name="TextBox 60"/>
            <p:cNvSpPr txBox="1"/>
            <p:nvPr>
              <p:custDataLst>
                <p:tags r:id="rId16"/>
              </p:custDataLst>
            </p:nvPr>
          </p:nvSpPr>
          <p:spPr>
            <a:xfrm>
              <a:off x="599694" y="5149850"/>
              <a:ext cx="221480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6 種隔離</a:t>
              </a:r>
              <a:r>
                <a:rPr lang="en-US" sz="19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 TCP </a:t>
              </a:r>
              <a:r>
                <a:rPr lang="zh-TW" sz="19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情境</a:t>
              </a:r>
            </a:p>
          </p:txBody>
        </p:sp>
        <p:sp>
          <p:nvSpPr>
            <p:cNvPr id="61" name="TextBox 61"/>
            <p:cNvSpPr txBox="1"/>
            <p:nvPr>
              <p:custDataLst>
                <p:tags r:id="rId17"/>
              </p:custDataLst>
            </p:nvPr>
          </p:nvSpPr>
          <p:spPr>
            <a:xfrm>
              <a:off x="602742" y="5549900"/>
              <a:ext cx="2490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4 種套用規則、2 種監測或蒐證</a:t>
              </a:r>
            </a:p>
          </p:txBody>
        </p:sp>
        <p:sp>
          <p:nvSpPr>
            <p:cNvPr id="62" name="TextBox 62"/>
            <p:cNvSpPr txBox="1"/>
            <p:nvPr>
              <p:custDataLst>
                <p:tags r:id="rId18"/>
              </p:custDataLst>
            </p:nvPr>
          </p:nvSpPr>
          <p:spPr>
            <a:xfrm>
              <a:off x="603885" y="5880100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隔離交易與回復驗證，不等同原生攻擊防禦率</a:t>
              </a:r>
            </a:p>
          </p:txBody>
        </p:sp>
        <p:sp>
          <p:nvSpPr>
            <p:cNvPr id="63" name="TextBox 63"/>
            <p:cNvSpPr txBox="1"/>
            <p:nvPr>
              <p:custDataLst>
                <p:tags r:id="rId19"/>
              </p:custDataLst>
            </p:nvPr>
          </p:nvSpPr>
          <p:spPr>
            <a:xfrm>
              <a:off x="7219950" y="5251450"/>
              <a:ext cx="93924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6/6</a:t>
              </a:r>
            </a:p>
          </p:txBody>
        </p:sp>
        <p:sp>
          <p:nvSpPr>
            <p:cNvPr id="64" name="TextBox 64"/>
            <p:cNvSpPr txBox="1"/>
            <p:nvPr>
              <p:custDataLst>
                <p:tags r:id="rId20"/>
              </p:custDataLst>
            </p:nvPr>
          </p:nvSpPr>
          <p:spPr>
            <a:xfrm>
              <a:off x="7232904" y="59055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背景服務保留</a:t>
              </a:r>
            </a:p>
          </p:txBody>
        </p:sp>
        <p:sp>
          <p:nvSpPr>
            <p:cNvPr id="65" name="TextBox 65"/>
            <p:cNvSpPr txBox="1"/>
            <p:nvPr>
              <p:custDataLst>
                <p:tags r:id="rId21"/>
              </p:custDataLst>
            </p:nvPr>
          </p:nvSpPr>
          <p:spPr>
            <a:xfrm>
              <a:off x="9391650" y="5251450"/>
              <a:ext cx="93924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6/6</a:t>
              </a:r>
            </a:p>
          </p:txBody>
        </p:sp>
        <p:sp>
          <p:nvSpPr>
            <p:cNvPr id="66" name="TextBox 66"/>
            <p:cNvSpPr txBox="1"/>
            <p:nvPr>
              <p:custDataLst>
                <p:tags r:id="rId22"/>
              </p:custDataLst>
            </p:nvPr>
          </p:nvSpPr>
          <p:spPr>
            <a:xfrm>
              <a:off x="9404604" y="59055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到期回復完整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68" name="Line 68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69" name="TextBox 69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79" name="TextBox 79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06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5016627" cy="855853"/>
            <a:chOff x="595122" y="431800"/>
            <a:chExt cx="5016627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19"/>
              </p:custDataLst>
            </p:nvPr>
          </p:nvSpPr>
          <p:spPr>
            <a:xfrm>
              <a:off x="794385" y="431800"/>
              <a:ext cx="15808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RESULT · DETECTION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20"/>
              </p:custDataLst>
            </p:nvPr>
          </p:nvSpPr>
          <p:spPr>
            <a:xfrm>
              <a:off x="595122" y="730250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互補融合，提升整體辨識效果</a:t>
              </a:r>
            </a:p>
          </p:txBody>
        </p:sp>
      </p:grpSp>
      <p:grpSp>
        <p:nvGrpSpPr>
          <p:cNvPr id="32" name="page-content"/>
          <p:cNvGrpSpPr/>
          <p:nvPr/>
        </p:nvGrpSpPr>
        <p:grpSpPr>
          <a:xfrm>
            <a:off x="601218" y="1511300"/>
            <a:ext cx="10981182" cy="4546600"/>
            <a:chOff x="601218" y="1511300"/>
            <a:chExt cx="10981182" cy="4546600"/>
          </a:xfrm>
        </p:grpSpPr>
        <p:sp>
          <p:nvSpPr>
            <p:cNvPr id="6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602742" y="1511300"/>
              <a:ext cx="2839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相同 18,998 筆封存測試</a:t>
              </a:r>
              <a:r>
                <a:rPr lang="en-US" sz="13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 · Macro-F1</a:t>
              </a:r>
            </a:p>
          </p:txBody>
        </p:sp>
        <p:grpSp>
          <p:nvGrpSpPr>
            <p:cNvPr id="22" name="detector-comparison-chartArea"/>
            <p:cNvGrpSpPr/>
            <p:nvPr/>
          </p:nvGrpSpPr>
          <p:grpSpPr>
            <a:xfrm>
              <a:off x="601218" y="1962150"/>
              <a:ext cx="7774690" cy="3147378"/>
              <a:chOff x="601218" y="1962150"/>
              <a:chExt cx="7774690" cy="3147378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905000" y="1962150"/>
                <a:ext cx="9525" cy="2781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81300">
                    <a:moveTo>
                      <a:pt x="0" y="0"/>
                    </a:moveTo>
                    <a:lnTo>
                      <a:pt x="0" y="2781300"/>
                    </a:lnTo>
                  </a:path>
                </a:pathLst>
              </a:custGeom>
              <a:noFill/>
              <a:ln w="9525" cap="rnd">
                <a:solidFill>
                  <a:srgbClr val="DCE3EC"/>
                </a:solidFill>
              </a:ln>
            </p:spPr>
          </p:sp>
          <p:sp>
            <p:nvSpPr>
              <p:cNvPr id="8" name="TextBox 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777103" y="4889500"/>
                <a:ext cx="21610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120" dirty="0">
                    <a:solidFill>
                      <a:srgbClr val="52637A"/>
                    </a:solidFill>
                    <a:latin typeface="Segoe UI"/>
                    <a:ea typeface="Microsoft JhengHei"/>
                    <a:cs typeface="Segoe UI"/>
                  </a:rPr>
                  <a:t>0%</a:t>
                </a:r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4857750" y="1962150"/>
                <a:ext cx="9525" cy="2781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81300">
                    <a:moveTo>
                      <a:pt x="0" y="0"/>
                    </a:moveTo>
                    <a:lnTo>
                      <a:pt x="0" y="2781300"/>
                    </a:lnTo>
                  </a:path>
                </a:pathLst>
              </a:custGeom>
              <a:noFill/>
              <a:ln w="9525" cap="rnd">
                <a:solidFill>
                  <a:srgbClr val="DCE3EC"/>
                </a:solidFill>
              </a:ln>
            </p:spPr>
          </p:sp>
          <p:sp>
            <p:nvSpPr>
              <p:cNvPr id="10" name="TextBox 10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689212" y="4889500"/>
                <a:ext cx="29738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120" dirty="0">
                    <a:solidFill>
                      <a:srgbClr val="52637A"/>
                    </a:solidFill>
                    <a:latin typeface="Segoe UI"/>
                    <a:ea typeface="Microsoft JhengHei"/>
                    <a:cs typeface="Segoe UI"/>
                  </a:rPr>
                  <a:t>50%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7810500" y="1962150"/>
                <a:ext cx="9525" cy="2781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781300">
                    <a:moveTo>
                      <a:pt x="0" y="0"/>
                    </a:moveTo>
                    <a:lnTo>
                      <a:pt x="0" y="2781300"/>
                    </a:lnTo>
                  </a:path>
                </a:pathLst>
              </a:custGeom>
              <a:noFill/>
              <a:ln w="9525" cap="rnd">
                <a:solidFill>
                  <a:srgbClr val="DCE3EC"/>
                </a:solidFill>
              </a:ln>
            </p:spPr>
          </p:sp>
          <p:sp>
            <p:nvSpPr>
              <p:cNvPr id="12" name="TextBox 1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601321" y="4889500"/>
                <a:ext cx="3786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TW" sz="1120" dirty="0">
                    <a:solidFill>
                      <a:srgbClr val="52637A"/>
                    </a:solidFill>
                    <a:latin typeface="Segoe UI"/>
                    <a:ea typeface="Microsoft JhengHei"/>
                    <a:cs typeface="Segoe UI"/>
                  </a:rPr>
                  <a:t>100%</a:t>
                </a:r>
              </a:p>
            </p:txBody>
          </p:sp>
          <p:sp>
            <p:nvSpPr>
              <p:cNvPr id="13" name="TextBox 13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601218" y="2320925"/>
                <a:ext cx="8286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dk1"/>
                    </a:solidFill>
                    <a:latin typeface="Segoe UI"/>
                    <a:ea typeface="Microsoft JhengHei"/>
                    <a:cs typeface="Segoe UI"/>
                  </a:rPr>
                  <a:t>PBCNN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905000" y="2209800"/>
                <a:ext cx="4709516" cy="457200"/>
              </a:xfrm>
              <a:prstGeom prst="roundRect">
                <a:avLst>
                  <a:gd name="adj" fmla="val 12500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738722" y="2295525"/>
                <a:ext cx="851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b="1" dirty="0">
                    <a:solidFill>
                      <a:schemeClr val="dk1"/>
                    </a:solidFill>
                    <a:latin typeface="Segoe UI"/>
                    <a:ea typeface="Microsoft JhengHei"/>
                    <a:cs typeface="Segoe UI"/>
                  </a:rPr>
                  <a:t>79.75%</a:t>
                </a:r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01218" y="3197225"/>
                <a:ext cx="6757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dk1"/>
                    </a:solidFill>
                    <a:latin typeface="Segoe UI"/>
                    <a:ea typeface="Microsoft JhengHei"/>
                    <a:cs typeface="Segoe UI"/>
                  </a:rPr>
                  <a:t>CTBM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905000" y="3086100"/>
                <a:ext cx="5439129" cy="457200"/>
              </a:xfrm>
              <a:prstGeom prst="roundRect">
                <a:avLst>
                  <a:gd name="adj" fmla="val 12500"/>
                </a:avLst>
              </a:prstGeom>
              <a:solidFill>
                <a:srgbClr val="9AAAC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7468335" y="3171825"/>
                <a:ext cx="851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b="1" dirty="0">
                    <a:solidFill>
                      <a:schemeClr val="dk1"/>
                    </a:solidFill>
                    <a:latin typeface="Segoe UI"/>
                    <a:ea typeface="Microsoft JhengHei"/>
                    <a:cs typeface="Segoe UI"/>
                  </a:rPr>
                  <a:t>92.10%</a:t>
                </a:r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01218" y="4073525"/>
                <a:ext cx="104674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3"/>
                    </a:solidFill>
                    <a:latin typeface="Segoe UI"/>
                    <a:ea typeface="Microsoft JhengHei"/>
                    <a:cs typeface="Segoe UI"/>
                  </a:rPr>
                  <a:t>OOF Gate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905000" y="3962400"/>
                <a:ext cx="5495089" cy="457200"/>
              </a:xfrm>
              <a:prstGeom prst="roundRect">
                <a:avLst>
                  <a:gd name="adj" fmla="val 125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7524295" y="4048125"/>
                <a:ext cx="851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800" b="1" dirty="0">
                    <a:solidFill>
                      <a:schemeClr val="accent3"/>
                    </a:solidFill>
                    <a:latin typeface="Segoe UI"/>
                    <a:ea typeface="Microsoft JhengHei"/>
                    <a:cs typeface="Segoe UI"/>
                  </a:rPr>
                  <a:t>93.05%</a:t>
                </a:r>
              </a:p>
            </p:txBody>
          </p:sp>
        </p:grpSp>
        <p:sp>
          <p:nvSpPr>
            <p:cNvPr id="23" name="Rectangle 23"/>
            <p:cNvSpPr/>
            <p:nvPr/>
          </p:nvSpPr>
          <p:spPr>
            <a:xfrm>
              <a:off x="8724900" y="1676400"/>
              <a:ext cx="2857500" cy="3238500"/>
            </a:xfrm>
            <a:prstGeom prst="roundRect">
              <a:avLst>
                <a:gd name="adj" fmla="val 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>
              <p:custDataLst>
                <p:tags r:id="rId4"/>
              </p:custDataLst>
            </p:nvPr>
          </p:nvSpPr>
          <p:spPr>
            <a:xfrm>
              <a:off x="9003792" y="19875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整體準確率</a:t>
              </a:r>
            </a:p>
          </p:txBody>
        </p:sp>
        <p:sp>
          <p:nvSpPr>
            <p:cNvPr id="25" name="TextBox 25"/>
            <p:cNvSpPr txBox="1"/>
            <p:nvPr>
              <p:custDataLst>
                <p:tags r:id="rId5"/>
              </p:custDataLst>
            </p:nvPr>
          </p:nvSpPr>
          <p:spPr>
            <a:xfrm>
              <a:off x="8991600" y="2343150"/>
              <a:ext cx="219085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rgbClr val="5EEAD4"/>
                  </a:solidFill>
                  <a:latin typeface="Segoe UI"/>
                  <a:ea typeface="Microsoft JhengHei"/>
                  <a:cs typeface="Segoe UI"/>
                </a:rPr>
                <a:t>98.08%</a:t>
              </a:r>
            </a:p>
          </p:txBody>
        </p:sp>
        <p:sp>
          <p:nvSpPr>
            <p:cNvPr id="26" name="TextBox 26"/>
            <p:cNvSpPr txBox="1"/>
            <p:nvPr>
              <p:custDataLst>
                <p:tags r:id="rId6"/>
              </p:custDataLst>
            </p:nvPr>
          </p:nvSpPr>
          <p:spPr>
            <a:xfrm>
              <a:off x="9003792" y="3149600"/>
              <a:ext cx="17598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17 類分類</a:t>
              </a:r>
              <a:r>
                <a:rPr lang="en-US" sz="1350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 · OOF Gate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9010650" y="37719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 cap="rnd">
              <a:solidFill>
                <a:srgbClr val="2A4260"/>
              </a:solidFill>
            </a:ln>
          </p:spPr>
        </p:sp>
        <p:sp>
          <p:nvSpPr>
            <p:cNvPr id="28" name="TextBox 28"/>
            <p:cNvSpPr txBox="1"/>
            <p:nvPr>
              <p:custDataLst>
                <p:tags r:id="rId7"/>
              </p:custDataLst>
            </p:nvPr>
          </p:nvSpPr>
          <p:spPr>
            <a:xfrm>
              <a:off x="9004554" y="40005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同一封存測試集</a:t>
              </a:r>
            </a:p>
          </p:txBody>
        </p:sp>
        <p:sp>
          <p:nvSpPr>
            <p:cNvPr id="29" name="TextBox 29"/>
            <p:cNvSpPr txBox="1"/>
            <p:nvPr>
              <p:custDataLst>
                <p:tags r:id="rId8"/>
              </p:custDataLst>
            </p:nvPr>
          </p:nvSpPr>
          <p:spPr>
            <a:xfrm>
              <a:off x="9004554" y="4286250"/>
              <a:ext cx="10825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固定 17 類輸出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9600" y="5448300"/>
              <a:ext cx="10972800" cy="609600"/>
            </a:xfrm>
            <a:prstGeom prst="roundRect">
              <a:avLst>
                <a:gd name="adj" fmla="val 1875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31" name="TextBox 31"/>
            <p:cNvSpPr txBox="1"/>
            <p:nvPr>
              <p:custDataLst>
                <p:tags r:id="rId9"/>
              </p:custDataLst>
            </p:nvPr>
          </p:nvSpPr>
          <p:spPr>
            <a:xfrm>
              <a:off x="868680" y="5638800"/>
              <a:ext cx="6771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融合相較</a:t>
              </a:r>
              <a:r>
                <a:rPr lang="en-US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 PBCNN </a:t>
              </a:r>
              <a:r>
                <a:rPr lang="zh-TW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提升 13.30 個百分點；相較</a:t>
              </a:r>
              <a:r>
                <a:rPr lang="en-US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 CTBM </a:t>
              </a:r>
              <a:r>
                <a:rPr lang="zh-TW" sz="150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提升 0.95 個百分點。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33" name="Line 3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34" name="TextBox 34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44" name="TextBox 44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07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4774630" cy="855853"/>
            <a:chOff x="595122" y="431800"/>
            <a:chExt cx="4774630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19"/>
              </p:custDataLst>
            </p:nvPr>
          </p:nvSpPr>
          <p:spPr>
            <a:xfrm>
              <a:off x="794385" y="431800"/>
              <a:ext cx="1464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RESULT · EVIDENCE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20"/>
              </p:custDataLst>
            </p:nvPr>
          </p:nvSpPr>
          <p:spPr>
            <a:xfrm>
              <a:off x="595122" y="730250"/>
              <a:ext cx="477463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案例提供證據，</a:t>
              </a:r>
              <a:r>
                <a:rPr lang="en-US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完成分流</a:t>
              </a:r>
            </a:p>
          </p:txBody>
        </p:sp>
      </p:grpSp>
      <p:grpSp>
        <p:nvGrpSpPr>
          <p:cNvPr id="46" name="page-content"/>
          <p:cNvGrpSpPr/>
          <p:nvPr/>
        </p:nvGrpSpPr>
        <p:grpSpPr>
          <a:xfrm>
            <a:off x="609600" y="1562100"/>
            <a:ext cx="10972800" cy="4514850"/>
            <a:chOff x="609600" y="1562100"/>
            <a:chExt cx="10972800" cy="4514850"/>
          </a:xfrm>
        </p:grpSpPr>
        <p:sp>
          <p:nvSpPr>
            <p:cNvPr id="6" name="Rectangle 6"/>
            <p:cNvSpPr/>
            <p:nvPr/>
          </p:nvSpPr>
          <p:spPr>
            <a:xfrm>
              <a:off x="609600" y="1562100"/>
              <a:ext cx="3619500" cy="3695700"/>
            </a:xfrm>
            <a:prstGeom prst="roundRect">
              <a:avLst>
                <a:gd name="adj" fmla="val 473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889254" y="18097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檢索效果</a:t>
              </a: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876300" y="2152650"/>
              <a:ext cx="219085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97.62%</a:t>
              </a: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888111" y="2870200"/>
              <a:ext cx="11864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Top-5 </a:t>
              </a:r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命中率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895350" y="337185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14288" cap="rnd">
              <a:solidFill>
                <a:srgbClr val="DCE3EC"/>
              </a:solidFill>
            </a:ln>
          </p:spPr>
        </p:sp>
        <p:sp>
          <p:nvSpPr>
            <p:cNvPr id="11" name="TextBox 11"/>
            <p:cNvSpPr txBox="1"/>
            <p:nvPr>
              <p:custDataLst>
                <p:tags r:id="rId6"/>
              </p:custDataLst>
            </p:nvPr>
          </p:nvSpPr>
          <p:spPr>
            <a:xfrm>
              <a:off x="879348" y="3549650"/>
              <a:ext cx="14903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1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93.89%</a:t>
              </a:r>
            </a:p>
          </p:txBody>
        </p:sp>
        <p:sp>
          <p:nvSpPr>
            <p:cNvPr id="12" name="TextBox 12"/>
            <p:cNvSpPr txBox="1"/>
            <p:nvPr>
              <p:custDataLst>
                <p:tags r:id="rId7"/>
              </p:custDataLst>
            </p:nvPr>
          </p:nvSpPr>
          <p:spPr>
            <a:xfrm>
              <a:off x="888492" y="4064000"/>
              <a:ext cx="14823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MRR@5 </a:t>
              </a:r>
              <a:r>
                <a:rPr lang="zh-TW" sz="1350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排序品質</a:t>
              </a:r>
            </a:p>
          </p:txBody>
        </p:sp>
        <p:sp>
          <p:nvSpPr>
            <p:cNvPr id="13" name="TextBox 13"/>
            <p:cNvSpPr txBox="1"/>
            <p:nvPr>
              <p:custDataLst>
                <p:tags r:id="rId8"/>
              </p:custDataLst>
            </p:nvPr>
          </p:nvSpPr>
          <p:spPr>
            <a:xfrm>
              <a:off x="889635" y="4775200"/>
              <a:ext cx="2071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1,550 案例 ／ 463 查詢 · 重疊 0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762500" y="1562100"/>
              <a:ext cx="6819900" cy="590550"/>
            </a:xfrm>
            <a:prstGeom prst="roundRect">
              <a:avLst>
                <a:gd name="adj" fmla="val 2258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>
              <p:custDataLst>
                <p:tags r:id="rId9"/>
              </p:custDataLst>
            </p:nvPr>
          </p:nvSpPr>
          <p:spPr>
            <a:xfrm>
              <a:off x="6825904" y="1739900"/>
              <a:ext cx="2635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463 筆事件 → 本機</a:t>
              </a:r>
              <a:r>
                <a:rPr lang="en-US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 AI </a:t>
              </a:r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稽核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829300" y="2152650"/>
              <a:ext cx="2343150" cy="476250"/>
            </a:xfrm>
            <a:custGeom>
              <a:avLst/>
              <a:gdLst/>
              <a:ahLst/>
              <a:cxnLst/>
              <a:rect l="l" t="t" r="r" b="b"/>
              <a:pathLst>
                <a:path w="2343150" h="476250">
                  <a:moveTo>
                    <a:pt x="2343150" y="0"/>
                  </a:moveTo>
                  <a:lnTo>
                    <a:pt x="2343150" y="247650"/>
                  </a:lnTo>
                  <a:lnTo>
                    <a:pt x="0" y="247650"/>
                  </a:lnTo>
                  <a:lnTo>
                    <a:pt x="0" y="47625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17" name="Freeform 17"/>
            <p:cNvSpPr/>
            <p:nvPr/>
          </p:nvSpPr>
          <p:spPr>
            <a:xfrm>
              <a:off x="5772150" y="2552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8" name="Freeform 18"/>
            <p:cNvSpPr/>
            <p:nvPr/>
          </p:nvSpPr>
          <p:spPr>
            <a:xfrm>
              <a:off x="8172450" y="24003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19" name="Freeform 19"/>
            <p:cNvSpPr/>
            <p:nvPr/>
          </p:nvSpPr>
          <p:spPr>
            <a:xfrm>
              <a:off x="8115300" y="2552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20" name="Freeform 20"/>
            <p:cNvSpPr/>
            <p:nvPr/>
          </p:nvSpPr>
          <p:spPr>
            <a:xfrm>
              <a:off x="8172450" y="2400300"/>
              <a:ext cx="2343150" cy="228600"/>
            </a:xfrm>
            <a:custGeom>
              <a:avLst/>
              <a:gdLst/>
              <a:ahLst/>
              <a:cxnLst/>
              <a:rect l="l" t="t" r="r" b="b"/>
              <a:pathLst>
                <a:path w="2343150" h="228600">
                  <a:moveTo>
                    <a:pt x="0" y="0"/>
                  </a:moveTo>
                  <a:lnTo>
                    <a:pt x="2343150" y="0"/>
                  </a:lnTo>
                  <a:lnTo>
                    <a:pt x="2343150" y="22860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458450" y="2552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762500" y="2647950"/>
              <a:ext cx="2133600" cy="1866900"/>
            </a:xfrm>
            <a:prstGeom prst="roundRect">
              <a:avLst>
                <a:gd name="adj" fmla="val 8163"/>
              </a:avLst>
            </a:prstGeom>
            <a:solidFill>
              <a:srgbClr val="E2F3F0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5659041" y="2858691"/>
              <a:ext cx="340518" cy="340518"/>
              <a:chOff x="5659041" y="2858691"/>
              <a:chExt cx="340518" cy="340518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5659041" y="2858691"/>
                <a:ext cx="340519" cy="340519"/>
              </a:xfrm>
              <a:prstGeom prst="ellipse">
                <a:avLst/>
              </a:prstGeom>
              <a:solidFill>
                <a:srgbClr val="E2F3F0"/>
              </a:solidFill>
              <a:ln w="16371">
                <a:solidFill>
                  <a:schemeClr val="accent3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5744170" y="3035498"/>
                <a:ext cx="58936" cy="58936"/>
              </a:xfrm>
              <a:custGeom>
                <a:avLst/>
                <a:gdLst/>
                <a:ahLst/>
                <a:cxnLst/>
                <a:rect l="l" t="t" r="r" b="b"/>
                <a:pathLst>
                  <a:path w="58936" h="58936">
                    <a:moveTo>
                      <a:pt x="0" y="0"/>
                    </a:moveTo>
                    <a:lnTo>
                      <a:pt x="58936" y="58936"/>
                    </a:lnTo>
                  </a:path>
                </a:pathLst>
              </a:custGeom>
              <a:noFill/>
              <a:ln w="26194" cap="rnd">
                <a:solidFill>
                  <a:schemeClr val="accent3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5803106" y="2963466"/>
                <a:ext cx="117872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17872" h="130969">
                    <a:moveTo>
                      <a:pt x="0" y="130969"/>
                    </a:moveTo>
                    <a:lnTo>
                      <a:pt x="117872" y="0"/>
                    </a:lnTo>
                  </a:path>
                </a:pathLst>
              </a:custGeom>
              <a:noFill/>
              <a:ln w="26194" cap="rnd">
                <a:solidFill>
                  <a:schemeClr val="accent3"/>
                </a:solidFill>
              </a:ln>
            </p:spPr>
          </p:sp>
        </p:grpSp>
        <p:sp>
          <p:nvSpPr>
            <p:cNvPr id="27" name="TextBox 27"/>
            <p:cNvSpPr txBox="1"/>
            <p:nvPr>
              <p:custDataLst>
                <p:tags r:id="rId10"/>
              </p:custDataLst>
            </p:nvPr>
          </p:nvSpPr>
          <p:spPr>
            <a:xfrm>
              <a:off x="5289002" y="3327400"/>
              <a:ext cx="94407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90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415</a:t>
              </a:r>
            </a:p>
          </p:txBody>
        </p:sp>
        <p:sp>
          <p:nvSpPr>
            <p:cNvPr id="28" name="TextBox 28"/>
            <p:cNvSpPr txBox="1"/>
            <p:nvPr>
              <p:custDataLst>
                <p:tags r:id="rId11"/>
              </p:custDataLst>
            </p:nvPr>
          </p:nvSpPr>
          <p:spPr>
            <a:xfrm>
              <a:off x="5606294" y="403225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支持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05650" y="2647950"/>
              <a:ext cx="2133600" cy="1866900"/>
            </a:xfrm>
            <a:prstGeom prst="roundRect">
              <a:avLst>
                <a:gd name="adj" fmla="val 8163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021836" y="2878336"/>
              <a:ext cx="307776" cy="307776"/>
              <a:chOff x="8021836" y="2878336"/>
              <a:chExt cx="307776" cy="307776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8021836" y="2878336"/>
                <a:ext cx="222647" cy="222647"/>
              </a:xfrm>
              <a:prstGeom prst="ellipse">
                <a:avLst/>
              </a:prstGeom>
              <a:solidFill>
                <a:schemeClr val="lt1"/>
              </a:solidFill>
              <a:ln w="16371">
                <a:solidFill>
                  <a:schemeClr val="accent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8218289" y="3074789"/>
                <a:ext cx="111323" cy="111323"/>
              </a:xfrm>
              <a:custGeom>
                <a:avLst/>
                <a:gdLst/>
                <a:ahLst/>
                <a:cxnLst/>
                <a:rect l="l" t="t" r="r" b="b"/>
                <a:pathLst>
                  <a:path w="111323" h="111323">
                    <a:moveTo>
                      <a:pt x="0" y="0"/>
                    </a:moveTo>
                    <a:lnTo>
                      <a:pt x="111323" y="111323"/>
                    </a:lnTo>
                  </a:path>
                </a:pathLst>
              </a:custGeom>
              <a:noFill/>
              <a:ln w="26194" cap="rnd">
                <a:solidFill>
                  <a:schemeClr val="accent1"/>
                </a:solidFill>
              </a:ln>
            </p:spPr>
          </p:sp>
        </p:grpSp>
        <p:sp>
          <p:nvSpPr>
            <p:cNvPr id="33" name="TextBox 33"/>
            <p:cNvSpPr txBox="1"/>
            <p:nvPr>
              <p:custDataLst>
                <p:tags r:id="rId12"/>
              </p:custDataLst>
            </p:nvPr>
          </p:nvSpPr>
          <p:spPr>
            <a:xfrm>
              <a:off x="7783147" y="3327400"/>
              <a:ext cx="64208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90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13</a:t>
              </a:r>
            </a:p>
          </p:txBody>
        </p:sp>
        <p:sp>
          <p:nvSpPr>
            <p:cNvPr id="34" name="TextBox 34"/>
            <p:cNvSpPr txBox="1"/>
            <p:nvPr>
              <p:custDataLst>
                <p:tags r:id="rId13"/>
              </p:custDataLst>
            </p:nvPr>
          </p:nvSpPr>
          <p:spPr>
            <a:xfrm>
              <a:off x="7949445" y="403225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複核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448800" y="2647950"/>
              <a:ext cx="2133600" cy="1866900"/>
            </a:xfrm>
            <a:prstGeom prst="roundRect">
              <a:avLst>
                <a:gd name="adj" fmla="val 8163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45341" y="2858691"/>
              <a:ext cx="340518" cy="340518"/>
              <a:chOff x="10345341" y="2858691"/>
              <a:chExt cx="340518" cy="340518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10345341" y="2858691"/>
                <a:ext cx="340519" cy="340519"/>
              </a:xfrm>
              <a:prstGeom prst="ellipse">
                <a:avLst/>
              </a:prstGeom>
              <a:solidFill>
                <a:srgbClr val="EAF1FE"/>
              </a:solidFill>
              <a:ln w="16371">
                <a:solidFill>
                  <a:schemeClr val="accent1"/>
                </a:solidFill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10515600" y="310753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6548"/>
                    </a:lnTo>
                  </a:path>
                </a:pathLst>
              </a:custGeom>
              <a:noFill/>
              <a:ln w="32742" cap="rnd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463212" y="2911078"/>
                <a:ext cx="104775" cy="150614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0614">
                    <a:moveTo>
                      <a:pt x="0" y="65484"/>
                    </a:moveTo>
                    <a:cubicBezTo>
                      <a:pt x="0" y="0"/>
                      <a:pt x="104775" y="0"/>
                      <a:pt x="104775" y="65484"/>
                    </a:cubicBezTo>
                    <a:cubicBezTo>
                      <a:pt x="104775" y="111323"/>
                      <a:pt x="52388" y="111323"/>
                      <a:pt x="52388" y="150614"/>
                    </a:cubicBezTo>
                  </a:path>
                </a:pathLst>
              </a:custGeom>
              <a:noFill/>
              <a:ln w="26194" cap="rnd">
                <a:solidFill>
                  <a:schemeClr val="accent1"/>
                </a:solidFill>
              </a:ln>
            </p:spPr>
          </p:sp>
        </p:grpSp>
        <p:sp>
          <p:nvSpPr>
            <p:cNvPr id="40" name="TextBox 40"/>
            <p:cNvSpPr txBox="1"/>
            <p:nvPr>
              <p:custDataLst>
                <p:tags r:id="rId14"/>
              </p:custDataLst>
            </p:nvPr>
          </p:nvSpPr>
          <p:spPr>
            <a:xfrm>
              <a:off x="10126297" y="3327400"/>
              <a:ext cx="64208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90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35</a:t>
              </a:r>
            </a:p>
          </p:txBody>
        </p:sp>
        <p:sp>
          <p:nvSpPr>
            <p:cNvPr id="41" name="TextBox 41"/>
            <p:cNvSpPr txBox="1"/>
            <p:nvPr>
              <p:custDataLst>
                <p:tags r:id="rId15"/>
              </p:custDataLst>
            </p:nvPr>
          </p:nvSpPr>
          <p:spPr>
            <a:xfrm>
              <a:off x="10197014" y="4032250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不確定</a:t>
              </a:r>
            </a:p>
          </p:txBody>
        </p:sp>
        <p:sp>
          <p:nvSpPr>
            <p:cNvPr id="42" name="TextBox 42"/>
            <p:cNvSpPr txBox="1"/>
            <p:nvPr>
              <p:custDataLst>
                <p:tags r:id="rId16"/>
              </p:custDataLst>
            </p:nvPr>
          </p:nvSpPr>
          <p:spPr>
            <a:xfrm>
              <a:off x="4755642" y="4749800"/>
              <a:ext cx="33268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支持精確率 97.11% · 正式分類保持可追溯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" y="552450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44" name="TextBox 44"/>
            <p:cNvSpPr txBox="1"/>
            <p:nvPr>
              <p:custDataLst>
                <p:tags r:id="rId17"/>
              </p:custDataLst>
            </p:nvPr>
          </p:nvSpPr>
          <p:spPr>
            <a:xfrm>
              <a:off x="867156" y="5648325"/>
              <a:ext cx="8169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18 / 30</a:t>
              </a:r>
            </a:p>
          </p:txBody>
        </p:sp>
        <p:sp>
          <p:nvSpPr>
            <p:cNvPr id="45" name="TextBox 45"/>
            <p:cNvSpPr txBox="1"/>
            <p:nvPr>
              <p:custDataLst>
                <p:tags r:id="rId18"/>
              </p:custDataLst>
            </p:nvPr>
          </p:nvSpPr>
          <p:spPr>
            <a:xfrm>
              <a:off x="1669161" y="5699125"/>
              <a:ext cx="64424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筆偵測誤判分流至複核或不確定；其餘 12 筆仍獲支持，處置另經策略檢查。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47" name="Line 47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48" name="TextBox 48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58" name="TextBox 58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08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5400294" cy="855853"/>
            <a:chOff x="595122" y="431800"/>
            <a:chExt cx="5400294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15"/>
              </p:custDataLst>
            </p:nvPr>
          </p:nvSpPr>
          <p:spPr>
            <a:xfrm>
              <a:off x="794385" y="431800"/>
              <a:ext cx="2019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5EEAD4"/>
                  </a:solidFill>
                  <a:latin typeface="Segoe UI"/>
                  <a:ea typeface="Microsoft JhengHei"/>
                  <a:cs typeface="Segoe UI"/>
                </a:rPr>
                <a:t>AI SECURITY FRAMEWORK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16"/>
              </p:custDataLst>
            </p:nvPr>
          </p:nvSpPr>
          <p:spPr>
            <a:xfrm>
              <a:off x="595122" y="730250"/>
              <a:ext cx="540029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一套可展示、可查核的資安框架</a:t>
              </a:r>
            </a:p>
          </p:txBody>
        </p:sp>
      </p:grpSp>
      <p:grpSp>
        <p:nvGrpSpPr>
          <p:cNvPr id="41" name="page-content"/>
          <p:cNvGrpSpPr/>
          <p:nvPr/>
        </p:nvGrpSpPr>
        <p:grpSpPr>
          <a:xfrm>
            <a:off x="598170" y="1587500"/>
            <a:ext cx="10984230" cy="4573905"/>
            <a:chOff x="598170" y="1587500"/>
            <a:chExt cx="10984230" cy="4573905"/>
          </a:xfrm>
        </p:grpSpPr>
        <p:sp>
          <p:nvSpPr>
            <p:cNvPr id="6" name="TextBox 6"/>
            <p:cNvSpPr txBox="1"/>
            <p:nvPr>
              <p:custDataLst>
                <p:tags r:id="rId3"/>
              </p:custDataLst>
            </p:nvPr>
          </p:nvSpPr>
          <p:spPr>
            <a:xfrm>
              <a:off x="598170" y="1587500"/>
              <a:ext cx="54749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5EEAD4"/>
                  </a:solidFill>
                  <a:latin typeface="Segoe UI"/>
                  <a:ea typeface="Microsoft JhengHei"/>
                  <a:cs typeface="Segoe UI"/>
                </a:rPr>
                <a:t>偵測有依據，稽核有證據，處置可回復。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714500" y="3028950"/>
              <a:ext cx="8772525" cy="9525"/>
            </a:xfrm>
            <a:custGeom>
              <a:avLst/>
              <a:gdLst/>
              <a:ahLst/>
              <a:cxnLst/>
              <a:rect l="l" t="t" r="r" b="b"/>
              <a:pathLst>
                <a:path w="8772525" h="9525">
                  <a:moveTo>
                    <a:pt x="0" y="0"/>
                  </a:moveTo>
                  <a:lnTo>
                    <a:pt x="8772525" y="0"/>
                  </a:lnTo>
                </a:path>
              </a:pathLst>
            </a:custGeom>
            <a:noFill/>
            <a:ln w="19050" cap="rnd">
              <a:solidFill>
                <a:srgbClr val="2A4260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371600" y="268605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601391" y="2876252"/>
              <a:ext cx="226218" cy="305396"/>
              <a:chOff x="1601391" y="2876252"/>
              <a:chExt cx="226218" cy="305396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1601391" y="2876252"/>
                <a:ext cx="226219" cy="305395"/>
              </a:xfrm>
              <a:prstGeom prst="roundRect">
                <a:avLst>
                  <a:gd name="adj" fmla="val 10000"/>
                </a:avLst>
              </a:prstGeom>
              <a:solidFill>
                <a:srgbClr val="15293F"/>
              </a:solidFill>
              <a:ln w="14139">
                <a:solidFill>
                  <a:srgbClr val="5EEAD4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652290" y="2949773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652290" y="3011984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652290" y="3074194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652290" y="3136404"/>
                <a:ext cx="13007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0076" h="9525">
                    <a:moveTo>
                      <a:pt x="0" y="0"/>
                    </a:moveTo>
                    <a:lnTo>
                      <a:pt x="130076" y="0"/>
                    </a:lnTo>
                  </a:path>
                </a:pathLst>
              </a:custGeom>
              <a:noFill/>
              <a:ln w="11311" cap="rnd">
                <a:solidFill>
                  <a:srgbClr val="A8B8CC"/>
                </a:solidFill>
              </a:ln>
            </p:spPr>
          </p:sp>
        </p:grpSp>
        <p:sp>
          <p:nvSpPr>
            <p:cNvPr id="15" name="TextBox 15"/>
            <p:cNvSpPr txBox="1"/>
            <p:nvPr>
              <p:custDataLst>
                <p:tags r:id="rId4"/>
              </p:custDataLst>
            </p:nvPr>
          </p:nvSpPr>
          <p:spPr>
            <a:xfrm>
              <a:off x="1233297" y="34925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正式判定</a:t>
              </a:r>
            </a:p>
          </p:txBody>
        </p:sp>
        <p:sp>
          <p:nvSpPr>
            <p:cNvPr id="16" name="TextBox 16"/>
            <p:cNvSpPr txBox="1"/>
            <p:nvPr>
              <p:custDataLst>
                <p:tags r:id="rId5"/>
              </p:custDataLst>
            </p:nvPr>
          </p:nvSpPr>
          <p:spPr>
            <a:xfrm>
              <a:off x="1285461" y="3822700"/>
              <a:ext cx="818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17 類＋信心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4295775" y="268605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497288" y="2887563"/>
              <a:ext cx="288429" cy="288429"/>
              <a:chOff x="4497288" y="2887563"/>
              <a:chExt cx="288429" cy="288429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497288" y="2887563"/>
                <a:ext cx="214908" cy="214908"/>
              </a:xfrm>
              <a:prstGeom prst="ellipse">
                <a:avLst/>
              </a:prstGeom>
              <a:solidFill>
                <a:srgbClr val="15293F"/>
              </a:solidFill>
              <a:ln w="14139">
                <a:solidFill>
                  <a:srgbClr val="5EEAD4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4683919" y="3074194"/>
                <a:ext cx="101798" cy="101798"/>
              </a:xfrm>
              <a:custGeom>
                <a:avLst/>
                <a:gdLst/>
                <a:ahLst/>
                <a:cxnLst/>
                <a:rect l="l" t="t" r="r" b="b"/>
                <a:pathLst>
                  <a:path w="101798" h="101798">
                    <a:moveTo>
                      <a:pt x="0" y="0"/>
                    </a:moveTo>
                    <a:lnTo>
                      <a:pt x="101798" y="101798"/>
                    </a:lnTo>
                  </a:path>
                </a:pathLst>
              </a:custGeom>
              <a:noFill/>
              <a:ln w="28277" cap="rnd">
                <a:solidFill>
                  <a:srgbClr val="5EEAD4"/>
                </a:solidFill>
              </a:ln>
            </p:spPr>
          </p:sp>
        </p:grpSp>
        <p:sp>
          <p:nvSpPr>
            <p:cNvPr id="21" name="TextBox 21"/>
            <p:cNvSpPr txBox="1"/>
            <p:nvPr>
              <p:custDataLst>
                <p:tags r:id="rId6"/>
              </p:custDataLst>
            </p:nvPr>
          </p:nvSpPr>
          <p:spPr>
            <a:xfrm>
              <a:off x="4157472" y="34925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檢索證據</a:t>
              </a:r>
            </a:p>
          </p:txBody>
        </p:sp>
        <p:sp>
          <p:nvSpPr>
            <p:cNvPr id="22" name="TextBox 22"/>
            <p:cNvSpPr txBox="1"/>
            <p:nvPr>
              <p:custDataLst>
                <p:tags r:id="rId7"/>
              </p:custDataLst>
            </p:nvPr>
          </p:nvSpPr>
          <p:spPr>
            <a:xfrm>
              <a:off x="4088005" y="3822700"/>
              <a:ext cx="10616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Top-5 </a:t>
              </a:r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訓練案例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219950" y="268605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7415808" y="2881908"/>
              <a:ext cx="294084" cy="294084"/>
              <a:chOff x="7415808" y="2881908"/>
              <a:chExt cx="294084" cy="294084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7415808" y="2881908"/>
                <a:ext cx="294084" cy="294084"/>
              </a:xfrm>
              <a:prstGeom prst="ellipse">
                <a:avLst/>
              </a:prstGeom>
              <a:solidFill>
                <a:srgbClr val="15293F"/>
              </a:solidFill>
              <a:ln w="14139">
                <a:solidFill>
                  <a:srgbClr val="5EEAD4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7489329" y="3034605"/>
                <a:ext cx="50899" cy="50899"/>
              </a:xfrm>
              <a:custGeom>
                <a:avLst/>
                <a:gdLst/>
                <a:ahLst/>
                <a:cxnLst/>
                <a:rect l="l" t="t" r="r" b="b"/>
                <a:pathLst>
                  <a:path w="50899" h="50899">
                    <a:moveTo>
                      <a:pt x="0" y="0"/>
                    </a:moveTo>
                    <a:lnTo>
                      <a:pt x="50899" y="50899"/>
                    </a:lnTo>
                  </a:path>
                </a:pathLst>
              </a:custGeom>
              <a:noFill/>
              <a:ln w="22622" cap="rnd">
                <a:solidFill>
                  <a:srgbClr val="5EEAD4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7540228" y="2972395"/>
                <a:ext cx="101798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101798" h="113109">
                    <a:moveTo>
                      <a:pt x="0" y="113109"/>
                    </a:moveTo>
                    <a:lnTo>
                      <a:pt x="101798" y="0"/>
                    </a:lnTo>
                  </a:path>
                </a:pathLst>
              </a:custGeom>
              <a:noFill/>
              <a:ln w="22622" cap="rnd">
                <a:solidFill>
                  <a:srgbClr val="5EEAD4"/>
                </a:solidFill>
              </a:ln>
            </p:spPr>
          </p:sp>
        </p:grpSp>
        <p:sp>
          <p:nvSpPr>
            <p:cNvPr id="28" name="TextBox 28"/>
            <p:cNvSpPr txBox="1"/>
            <p:nvPr>
              <p:custDataLst>
                <p:tags r:id="rId8"/>
              </p:custDataLst>
            </p:nvPr>
          </p:nvSpPr>
          <p:spPr>
            <a:xfrm>
              <a:off x="7081647" y="34925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稽核結論</a:t>
              </a:r>
            </a:p>
          </p:txBody>
        </p:sp>
        <p:sp>
          <p:nvSpPr>
            <p:cNvPr id="29" name="TextBox 29"/>
            <p:cNvSpPr txBox="1"/>
            <p:nvPr>
              <p:custDataLst>
                <p:tags r:id="rId9"/>
              </p:custDataLst>
            </p:nvPr>
          </p:nvSpPr>
          <p:spPr>
            <a:xfrm>
              <a:off x="6858806" y="38227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支持／複核／不確定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10144125" y="2686050"/>
              <a:ext cx="685800" cy="685800"/>
            </a:xfrm>
            <a:prstGeom prst="ellipse">
              <a:avLst/>
            </a:prstGeom>
            <a:solidFill>
              <a:srgbClr val="15293F"/>
            </a:solidFill>
            <a:ln w="19050">
              <a:solidFill>
                <a:srgbClr val="5EEAD4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345638" y="2887563"/>
              <a:ext cx="282774" cy="282774"/>
              <a:chOff x="10345638" y="2887563"/>
              <a:chExt cx="282774" cy="282774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10345638" y="2887563"/>
                <a:ext cx="282773" cy="282773"/>
              </a:xfrm>
              <a:prstGeom prst="ellipse">
                <a:avLst/>
              </a:prstGeom>
              <a:solidFill>
                <a:srgbClr val="15293F"/>
              </a:solidFill>
              <a:ln w="14139">
                <a:solidFill>
                  <a:srgbClr val="5EEAD4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10487025" y="2932807"/>
                <a:ext cx="9525" cy="9614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6143">
                    <a:moveTo>
                      <a:pt x="0" y="96143"/>
                    </a:moveTo>
                    <a:lnTo>
                      <a:pt x="0" y="0"/>
                    </a:lnTo>
                  </a:path>
                </a:pathLst>
              </a:custGeom>
              <a:noFill/>
              <a:ln w="14139" cap="rnd">
                <a:solidFill>
                  <a:srgbClr val="5EEAD4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10487025" y="3028950"/>
                <a:ext cx="73521" cy="39588"/>
              </a:xfrm>
              <a:custGeom>
                <a:avLst/>
                <a:gdLst/>
                <a:ahLst/>
                <a:cxnLst/>
                <a:rect l="l" t="t" r="r" b="b"/>
                <a:pathLst>
                  <a:path w="73521" h="39588">
                    <a:moveTo>
                      <a:pt x="0" y="0"/>
                    </a:moveTo>
                    <a:lnTo>
                      <a:pt x="73521" y="39588"/>
                    </a:lnTo>
                  </a:path>
                </a:pathLst>
              </a:custGeom>
              <a:noFill/>
              <a:ln w="14139" cap="rnd">
                <a:solidFill>
                  <a:srgbClr val="5EEAD4"/>
                </a:solidFill>
              </a:ln>
            </p:spPr>
          </p:sp>
        </p:grpSp>
        <p:sp>
          <p:nvSpPr>
            <p:cNvPr id="35" name="TextBox 35"/>
            <p:cNvSpPr txBox="1"/>
            <p:nvPr>
              <p:custDataLst>
                <p:tags r:id="rId10"/>
              </p:custDataLst>
            </p:nvPr>
          </p:nvSpPr>
          <p:spPr>
            <a:xfrm>
              <a:off x="10005822" y="34925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處置回條</a:t>
              </a:r>
            </a:p>
          </p:txBody>
        </p:sp>
        <p:sp>
          <p:nvSpPr>
            <p:cNvPr id="36" name="TextBox 36"/>
            <p:cNvSpPr txBox="1"/>
            <p:nvPr>
              <p:custDataLst>
                <p:tags r:id="rId11"/>
              </p:custDataLst>
            </p:nvPr>
          </p:nvSpPr>
          <p:spPr>
            <a:xfrm>
              <a:off x="9933756" y="382270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1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讀回＋到期回復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4572000"/>
              <a:ext cx="10972800" cy="533400"/>
            </a:xfrm>
            <a:prstGeom prst="roundRect">
              <a:avLst>
                <a:gd name="adj" fmla="val 25000"/>
              </a:avLst>
            </a:prstGeom>
            <a:solidFill>
              <a:srgbClr val="15293F"/>
            </a:solidFill>
            <a:ln>
              <a:noFill/>
            </a:ln>
          </p:spPr>
        </p:sp>
        <p:sp>
          <p:nvSpPr>
            <p:cNvPr id="38" name="TextBox 38"/>
            <p:cNvSpPr txBox="1"/>
            <p:nvPr>
              <p:custDataLst>
                <p:tags r:id="rId12"/>
              </p:custDataLst>
            </p:nvPr>
          </p:nvSpPr>
          <p:spPr>
            <a:xfrm>
              <a:off x="3677409" y="4724400"/>
              <a:ext cx="478161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58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同一事件</a:t>
              </a:r>
              <a:r>
                <a:rPr lang="en-US" sz="158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 ID</a:t>
              </a:r>
              <a:r>
                <a:rPr lang="zh-TW" sz="158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，串起分類、證據、判斷與回復紀錄。</a:t>
              </a:r>
            </a:p>
          </p:txBody>
        </p:sp>
        <p:sp>
          <p:nvSpPr>
            <p:cNvPr id="39" name="TextBox 39"/>
            <p:cNvSpPr txBox="1"/>
            <p:nvPr>
              <p:custDataLst>
                <p:tags r:id="rId13"/>
              </p:custDataLst>
            </p:nvPr>
          </p:nvSpPr>
          <p:spPr>
            <a:xfrm>
              <a:off x="602361" y="5461000"/>
              <a:ext cx="37054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4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17 類真實張量重跑 · 6 種隔離</a:t>
              </a:r>
              <a:r>
                <a:rPr lang="en-US" sz="14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 TCP </a:t>
              </a:r>
              <a:r>
                <a:rPr lang="zh-TW" sz="142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情境驗證</a:t>
              </a:r>
            </a:p>
          </p:txBody>
        </p:sp>
        <p:sp>
          <p:nvSpPr>
            <p:cNvPr id="40" name="TextBox 40"/>
            <p:cNvSpPr txBox="1"/>
            <p:nvPr>
              <p:custDataLst>
                <p:tags r:id="rId14"/>
              </p:custDataLst>
            </p:nvPr>
          </p:nvSpPr>
          <p:spPr>
            <a:xfrm>
              <a:off x="8463280" y="57213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225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感謝聆聽，敬請指教。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42" name="Line 42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2A4260"/>
              </a:solidFill>
            </a:ln>
          </p:spPr>
        </p:sp>
        <p:sp>
          <p:nvSpPr>
            <p:cNvPr id="43" name="TextBox 43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296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486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677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9867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058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2A4260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10248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>
              <p:custDataLst>
                <p:tags r:id="rId2"/>
              </p:custDataLst>
            </p:nvPr>
          </p:nvSpPr>
          <p:spPr>
            <a:xfrm>
              <a:off x="11074971" y="6511925"/>
              <a:ext cx="4765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A8B8CC"/>
                  </a:solidFill>
                  <a:latin typeface="Segoe UI"/>
                  <a:ea typeface="Microsoft JhengHei"/>
                  <a:cs typeface="Segoe UI"/>
                </a:rPr>
                <a:t>09 / 09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3865626" cy="855853"/>
            <a:chOff x="595122" y="431800"/>
            <a:chExt cx="3865626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22"/>
              </p:custDataLst>
            </p:nvPr>
          </p:nvSpPr>
          <p:spPr>
            <a:xfrm>
              <a:off x="794385" y="431800"/>
              <a:ext cx="1101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JUDGES · Q&amp;A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23"/>
              </p:custDataLst>
            </p:nvPr>
          </p:nvSpPr>
          <p:spPr>
            <a:xfrm>
              <a:off x="595122" y="730250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答詢圖解｜創新與整合</a:t>
              </a:r>
            </a:p>
          </p:txBody>
        </p:sp>
      </p:grpSp>
      <p:grpSp>
        <p:nvGrpSpPr>
          <p:cNvPr id="92" name="page-content"/>
          <p:cNvGrpSpPr/>
          <p:nvPr/>
        </p:nvGrpSpPr>
        <p:grpSpPr>
          <a:xfrm>
            <a:off x="609600" y="1428750"/>
            <a:ext cx="10972800" cy="4686300"/>
            <a:chOff x="609600" y="1428750"/>
            <a:chExt cx="10972800" cy="46863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0" y="1428750"/>
              <a:ext cx="2438400" cy="2247900"/>
            </a:xfrm>
            <a:prstGeom prst="roundRect">
              <a:avLst>
                <a:gd name="adj" fmla="val 678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638300"/>
              <a:ext cx="514350" cy="2857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954836" y="1685925"/>
              <a:ext cx="23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Q1</a:t>
              </a: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496568" y="1644650"/>
              <a:ext cx="46937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創新在哪裡？與一般</a:t>
              </a:r>
              <a:r>
                <a:rPr lang="en-US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 IDS </a:t>
              </a:r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加上</a:t>
              </a:r>
              <a:r>
                <a:rPr lang="en-US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 RAG </a:t>
              </a:r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有何不同？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1352550" y="2152650"/>
              <a:ext cx="762000" cy="76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533525" y="2333625"/>
              <a:ext cx="400050" cy="400050"/>
              <a:chOff x="1533525" y="2333625"/>
              <a:chExt cx="400050" cy="4000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1590675" y="2390775"/>
                <a:ext cx="285750" cy="285750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1669256" y="2469356"/>
                <a:ext cx="128588" cy="128588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533525" y="2333625"/>
                <a:ext cx="400050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00050">
                    <a:moveTo>
                      <a:pt x="121444" y="0"/>
                    </a:moveTo>
                    <a:lnTo>
                      <a:pt x="121444" y="57150"/>
                    </a:lnTo>
                    <a:moveTo>
                      <a:pt x="200025" y="0"/>
                    </a:moveTo>
                    <a:lnTo>
                      <a:pt x="200025" y="57150"/>
                    </a:lnTo>
                    <a:moveTo>
                      <a:pt x="278606" y="0"/>
                    </a:moveTo>
                    <a:lnTo>
                      <a:pt x="278606" y="57150"/>
                    </a:lnTo>
                    <a:moveTo>
                      <a:pt x="121444" y="342900"/>
                    </a:moveTo>
                    <a:lnTo>
                      <a:pt x="121444" y="400050"/>
                    </a:lnTo>
                    <a:moveTo>
                      <a:pt x="200025" y="342900"/>
                    </a:moveTo>
                    <a:lnTo>
                      <a:pt x="200025" y="400050"/>
                    </a:lnTo>
                    <a:moveTo>
                      <a:pt x="278606" y="342900"/>
                    </a:moveTo>
                    <a:lnTo>
                      <a:pt x="278606" y="400050"/>
                    </a:lnTo>
                    <a:moveTo>
                      <a:pt x="0" y="121444"/>
                    </a:moveTo>
                    <a:lnTo>
                      <a:pt x="57150" y="121444"/>
                    </a:lnTo>
                    <a:moveTo>
                      <a:pt x="0" y="200025"/>
                    </a:moveTo>
                    <a:lnTo>
                      <a:pt x="57150" y="200025"/>
                    </a:lnTo>
                    <a:moveTo>
                      <a:pt x="0" y="278606"/>
                    </a:moveTo>
                    <a:lnTo>
                      <a:pt x="57150" y="278606"/>
                    </a:lnTo>
                    <a:moveTo>
                      <a:pt x="342900" y="121444"/>
                    </a:moveTo>
                    <a:lnTo>
                      <a:pt x="400050" y="121444"/>
                    </a:lnTo>
                    <a:moveTo>
                      <a:pt x="342900" y="200025"/>
                    </a:moveTo>
                    <a:lnTo>
                      <a:pt x="400050" y="200025"/>
                    </a:lnTo>
                    <a:moveTo>
                      <a:pt x="342900" y="278606"/>
                    </a:moveTo>
                    <a:lnTo>
                      <a:pt x="400050" y="278606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16" name="TextBox 16"/>
            <p:cNvSpPr txBox="1"/>
            <p:nvPr>
              <p:custDataLst>
                <p:tags r:id="rId5"/>
              </p:custDataLst>
            </p:nvPr>
          </p:nvSpPr>
          <p:spPr>
            <a:xfrm>
              <a:off x="1339405" y="299720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互補判定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209800" y="2533650"/>
              <a:ext cx="1066800" cy="9525"/>
            </a:xfrm>
            <a:custGeom>
              <a:avLst/>
              <a:gdLst/>
              <a:ahLst/>
              <a:cxnLst/>
              <a:rect l="l" t="t" r="r" b="b"/>
              <a:pathLst>
                <a:path w="1066800" h="9525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18" name="Freeform 18"/>
            <p:cNvSpPr/>
            <p:nvPr/>
          </p:nvSpPr>
          <p:spPr>
            <a:xfrm>
              <a:off x="3200400" y="24765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19" name="Ellipse 19"/>
            <p:cNvSpPr/>
            <p:nvPr/>
          </p:nvSpPr>
          <p:spPr>
            <a:xfrm>
              <a:off x="3371850" y="2152650"/>
              <a:ext cx="762000" cy="76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574256" y="2347912"/>
              <a:ext cx="378619" cy="371476"/>
              <a:chOff x="3574256" y="2347912"/>
              <a:chExt cx="378619" cy="37147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574256" y="2397919"/>
                <a:ext cx="271462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85750">
                    <a:moveTo>
                      <a:pt x="0" y="0"/>
                    </a:moveTo>
                    <a:lnTo>
                      <a:pt x="0" y="221456"/>
                    </a:lnTo>
                    <a:cubicBezTo>
                      <a:pt x="0" y="285750"/>
                      <a:pt x="271462" y="285750"/>
                      <a:pt x="271462" y="221456"/>
                    </a:cubicBezTo>
                    <a:lnTo>
                      <a:pt x="271462" y="0"/>
                    </a:lnTo>
                  </a:path>
                </a:pathLst>
              </a:custGeom>
              <a:solidFill>
                <a:schemeClr val="lt1"/>
              </a:solidFill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574256" y="2347912"/>
                <a:ext cx="271462" cy="100012"/>
              </a:xfrm>
              <a:prstGeom prst="ellipse">
                <a:avLst/>
              </a:prstGeom>
              <a:solidFill>
                <a:schemeClr val="lt1"/>
              </a:solidFill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574256" y="2497931"/>
                <a:ext cx="271462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64294">
                    <a:moveTo>
                      <a:pt x="0" y="0"/>
                    </a:moveTo>
                    <a:cubicBezTo>
                      <a:pt x="0" y="64294"/>
                      <a:pt x="271462" y="64294"/>
                      <a:pt x="271462" y="0"/>
                    </a:cubicBez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3752850" y="2512219"/>
                <a:ext cx="157162" cy="157162"/>
              </a:xfrm>
              <a:prstGeom prst="ellipse">
                <a:avLst/>
              </a:prstGeom>
              <a:solidFill>
                <a:schemeClr val="lt2"/>
              </a:solidFill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888581" y="2647950"/>
                <a:ext cx="64294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71438">
                    <a:moveTo>
                      <a:pt x="0" y="0"/>
                    </a:moveTo>
                    <a:lnTo>
                      <a:pt x="64294" y="71438"/>
                    </a:lnTo>
                  </a:path>
                </a:pathLst>
              </a:custGeom>
              <a:solidFill>
                <a:schemeClr val="lt1"/>
              </a:solidFill>
              <a:ln w="28575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26" name="TextBox 26"/>
            <p:cNvSpPr txBox="1"/>
            <p:nvPr>
              <p:custDataLst>
                <p:tags r:id="rId6"/>
              </p:custDataLst>
            </p:nvPr>
          </p:nvSpPr>
          <p:spPr>
            <a:xfrm>
              <a:off x="3267701" y="2997200"/>
              <a:ext cx="922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529 維檢索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229100" y="2533650"/>
              <a:ext cx="1066800" cy="9525"/>
            </a:xfrm>
            <a:custGeom>
              <a:avLst/>
              <a:gdLst/>
              <a:ahLst/>
              <a:cxnLst/>
              <a:rect l="l" t="t" r="r" b="b"/>
              <a:pathLst>
                <a:path w="1066800" h="9525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28" name="Freeform 28"/>
            <p:cNvSpPr/>
            <p:nvPr/>
          </p:nvSpPr>
          <p:spPr>
            <a:xfrm>
              <a:off x="5219700" y="24765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29" name="Ellipse 29"/>
            <p:cNvSpPr/>
            <p:nvPr/>
          </p:nvSpPr>
          <p:spPr>
            <a:xfrm>
              <a:off x="5391150" y="2152650"/>
              <a:ext cx="762000" cy="76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629275" y="2340769"/>
              <a:ext cx="285750" cy="385762"/>
              <a:chOff x="5629275" y="2340769"/>
              <a:chExt cx="285750" cy="385762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629275" y="2340769"/>
                <a:ext cx="285750" cy="385762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7859">
                <a:solidFill>
                  <a:schemeClr val="accent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5693569" y="2433638"/>
                <a:ext cx="1643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306" h="9525">
                    <a:moveTo>
                      <a:pt x="0" y="0"/>
                    </a:moveTo>
                    <a:lnTo>
                      <a:pt x="164306" y="0"/>
                    </a:lnTo>
                  </a:path>
                </a:pathLst>
              </a:custGeom>
              <a:noFill/>
              <a:ln w="14288" cap="rnd">
                <a:solidFill>
                  <a:srgbClr val="9AAAC0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5693569" y="2512219"/>
                <a:ext cx="1643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306" h="9525">
                    <a:moveTo>
                      <a:pt x="0" y="0"/>
                    </a:moveTo>
                    <a:lnTo>
                      <a:pt x="164306" y="0"/>
                    </a:lnTo>
                  </a:path>
                </a:pathLst>
              </a:custGeom>
              <a:noFill/>
              <a:ln w="14288" cap="rnd">
                <a:solidFill>
                  <a:srgbClr val="9AAAC0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5693569" y="2590800"/>
                <a:ext cx="1643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306" h="9525">
                    <a:moveTo>
                      <a:pt x="0" y="0"/>
                    </a:moveTo>
                    <a:lnTo>
                      <a:pt x="164306" y="0"/>
                    </a:lnTo>
                  </a:path>
                </a:pathLst>
              </a:custGeom>
              <a:noFill/>
              <a:ln w="14288" cap="rnd">
                <a:solidFill>
                  <a:srgbClr val="9AAAC0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5693569" y="2669381"/>
                <a:ext cx="16430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306" h="9525">
                    <a:moveTo>
                      <a:pt x="0" y="0"/>
                    </a:moveTo>
                    <a:lnTo>
                      <a:pt x="164306" y="0"/>
                    </a:lnTo>
                  </a:path>
                </a:pathLst>
              </a:custGeom>
              <a:noFill/>
              <a:ln w="14288" cap="rnd">
                <a:solidFill>
                  <a:srgbClr val="9AAAC0"/>
                </a:solidFill>
              </a:ln>
            </p:spPr>
          </p:sp>
        </p:grpSp>
        <p:sp>
          <p:nvSpPr>
            <p:cNvPr id="36" name="TextBox 36"/>
            <p:cNvSpPr txBox="1"/>
            <p:nvPr>
              <p:custDataLst>
                <p:tags r:id="rId7"/>
              </p:custDataLst>
            </p:nvPr>
          </p:nvSpPr>
          <p:spPr>
            <a:xfrm>
              <a:off x="5435321" y="2997200"/>
              <a:ext cx="626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稽核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248400" y="2533650"/>
              <a:ext cx="1066800" cy="9525"/>
            </a:xfrm>
            <a:custGeom>
              <a:avLst/>
              <a:gdLst/>
              <a:ahLst/>
              <a:cxnLst/>
              <a:rect l="l" t="t" r="r" b="b"/>
              <a:pathLst>
                <a:path w="1066800" h="9525">
                  <a:moveTo>
                    <a:pt x="0" y="0"/>
                  </a:moveTo>
                  <a:lnTo>
                    <a:pt x="106680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38" name="Freeform 38"/>
            <p:cNvSpPr/>
            <p:nvPr/>
          </p:nvSpPr>
          <p:spPr>
            <a:xfrm>
              <a:off x="7239000" y="24765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39" name="Ellipse 39"/>
            <p:cNvSpPr/>
            <p:nvPr/>
          </p:nvSpPr>
          <p:spPr>
            <a:xfrm>
              <a:off x="7410450" y="2152650"/>
              <a:ext cx="762000" cy="76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641431" y="2340769"/>
              <a:ext cx="335757" cy="392906"/>
              <a:chOff x="7641431" y="2340769"/>
              <a:chExt cx="335757" cy="39290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641431" y="2340769"/>
                <a:ext cx="300038" cy="385762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385762">
                    <a:moveTo>
                      <a:pt x="150019" y="0"/>
                    </a:moveTo>
                    <a:lnTo>
                      <a:pt x="300038" y="64294"/>
                    </a:lnTo>
                    <a:lnTo>
                      <a:pt x="300038" y="178594"/>
                    </a:lnTo>
                    <a:cubicBezTo>
                      <a:pt x="300038" y="271462"/>
                      <a:pt x="228600" y="335756"/>
                      <a:pt x="150019" y="385762"/>
                    </a:cubicBezTo>
                    <a:cubicBezTo>
                      <a:pt x="71438" y="335756"/>
                      <a:pt x="0" y="271462"/>
                      <a:pt x="0" y="178594"/>
                    </a:cubicBezTo>
                    <a:lnTo>
                      <a:pt x="0" y="64294"/>
                    </a:lnTo>
                    <a:close/>
                  </a:path>
                </a:pathLst>
              </a:custGeom>
              <a:solidFill>
                <a:schemeClr val="lt1"/>
              </a:solidFill>
              <a:ln w="21431" cap="rnd">
                <a:solidFill>
                  <a:schemeClr val="accent1"/>
                </a:solidFill>
                <a:round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712869" y="2462212"/>
                <a:ext cx="164306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64306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64306" y="0"/>
                    </a:lnTo>
                  </a:path>
                </a:pathLst>
              </a:custGeom>
              <a:noFill/>
              <a:ln w="28575" cap="rnd">
                <a:solidFill>
                  <a:schemeClr val="accent1"/>
                </a:solidFill>
                <a:round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884319" y="2612231"/>
                <a:ext cx="92869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121444">
                    <a:moveTo>
                      <a:pt x="21431" y="0"/>
                    </a:moveTo>
                    <a:lnTo>
                      <a:pt x="92869" y="0"/>
                    </a:lnTo>
                    <a:lnTo>
                      <a:pt x="92869" y="85725"/>
                    </a:lnTo>
                    <a:lnTo>
                      <a:pt x="0" y="85725"/>
                    </a:lnTo>
                    <a:moveTo>
                      <a:pt x="35719" y="50006"/>
                    </a:moveTo>
                    <a:lnTo>
                      <a:pt x="0" y="85725"/>
                    </a:lnTo>
                    <a:lnTo>
                      <a:pt x="35719" y="121444"/>
                    </a:lnTo>
                  </a:path>
                </a:pathLst>
              </a:custGeom>
              <a:noFill/>
              <a:ln w="21431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44" name="TextBox 44"/>
            <p:cNvSpPr txBox="1"/>
            <p:nvPr>
              <p:custDataLst>
                <p:tags r:id="rId8"/>
              </p:custDataLst>
            </p:nvPr>
          </p:nvSpPr>
          <p:spPr>
            <a:xfrm>
              <a:off x="7306436" y="299720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策略與回復</a:t>
              </a:r>
            </a:p>
          </p:txBody>
        </p:sp>
        <p:sp>
          <p:nvSpPr>
            <p:cNvPr id="45" name="TextBox 45"/>
            <p:cNvSpPr txBox="1"/>
            <p:nvPr>
              <p:custDataLst>
                <p:tags r:id="rId9"/>
              </p:custDataLst>
            </p:nvPr>
          </p:nvSpPr>
          <p:spPr>
            <a:xfrm>
              <a:off x="832485" y="3403600"/>
              <a:ext cx="2973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正式分類保留 · 稽核證據可追溯 · 策略可回復</a:t>
              </a:r>
            </a:p>
          </p:txBody>
        </p:sp>
        <p:sp>
          <p:nvSpPr>
            <p:cNvPr id="46" name="TextBox 46"/>
            <p:cNvSpPr txBox="1"/>
            <p:nvPr>
              <p:custDataLst>
                <p:tags r:id="rId10"/>
              </p:custDataLst>
            </p:nvPr>
          </p:nvSpPr>
          <p:spPr>
            <a:xfrm>
              <a:off x="9588342" y="2178050"/>
              <a:ext cx="142906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4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529 維</a:t>
              </a:r>
            </a:p>
          </p:txBody>
        </p:sp>
        <p:sp>
          <p:nvSpPr>
            <p:cNvPr id="47" name="TextBox 47"/>
            <p:cNvSpPr txBox="1"/>
            <p:nvPr>
              <p:custDataLst>
                <p:tags r:id="rId11"/>
              </p:custDataLst>
            </p:nvPr>
          </p:nvSpPr>
          <p:spPr>
            <a:xfrm>
              <a:off x="9690291" y="28194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任務導向證據向量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09600" y="3867150"/>
              <a:ext cx="109728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144000" y="3867150"/>
              <a:ext cx="2438400" cy="2247900"/>
            </a:xfrm>
            <a:prstGeom prst="roundRect">
              <a:avLst>
                <a:gd name="adj" fmla="val 678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38200" y="4076700"/>
              <a:ext cx="514350" cy="2857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51" name="TextBox 51"/>
            <p:cNvSpPr txBox="1"/>
            <p:nvPr>
              <p:custDataLst>
                <p:tags r:id="rId12"/>
              </p:custDataLst>
            </p:nvPr>
          </p:nvSpPr>
          <p:spPr>
            <a:xfrm>
              <a:off x="954836" y="4124325"/>
              <a:ext cx="23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Q2</a:t>
              </a:r>
            </a:p>
          </p:txBody>
        </p:sp>
        <p:sp>
          <p:nvSpPr>
            <p:cNvPr id="52" name="TextBox 52"/>
            <p:cNvSpPr txBox="1"/>
            <p:nvPr>
              <p:custDataLst>
                <p:tags r:id="rId13"/>
              </p:custDataLst>
            </p:nvPr>
          </p:nvSpPr>
          <p:spPr>
            <a:xfrm>
              <a:off x="1496568" y="408305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如何證明前段判斷與後段處置已經串起來？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1606153" y="4606230"/>
              <a:ext cx="273844" cy="369690"/>
              <a:chOff x="1606153" y="4606230"/>
              <a:chExt cx="273844" cy="36969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1606153" y="4606230"/>
                <a:ext cx="273844" cy="369689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7115">
                <a:solidFill>
                  <a:schemeClr val="accent1"/>
                </a:solidFill>
              </a:ln>
            </p:spPr>
          </p:sp>
          <p:sp>
            <p:nvSpPr>
              <p:cNvPr id="54" name="Line 54"/>
              <p:cNvSpPr/>
              <p:nvPr/>
            </p:nvSpPr>
            <p:spPr>
              <a:xfrm>
                <a:off x="1667768" y="4695230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55" name="Line 55"/>
              <p:cNvSpPr/>
              <p:nvPr/>
            </p:nvSpPr>
            <p:spPr>
              <a:xfrm>
                <a:off x="1667768" y="4770537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56" name="Line 56"/>
              <p:cNvSpPr/>
              <p:nvPr/>
            </p:nvSpPr>
            <p:spPr>
              <a:xfrm>
                <a:off x="1667768" y="4845844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57" name="Line 57"/>
              <p:cNvSpPr/>
              <p:nvPr/>
            </p:nvSpPr>
            <p:spPr>
              <a:xfrm>
                <a:off x="1667768" y="4921151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</p:grpSp>
        <p:sp>
          <p:nvSpPr>
            <p:cNvPr id="59" name="TextBox 59"/>
            <p:cNvSpPr txBox="1"/>
            <p:nvPr>
              <p:custDataLst>
                <p:tags r:id="rId14"/>
              </p:custDataLst>
            </p:nvPr>
          </p:nvSpPr>
          <p:spPr>
            <a:xfrm>
              <a:off x="1339405" y="5073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正式類別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2057400" y="48006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61" name="Freeform 61"/>
            <p:cNvSpPr/>
            <p:nvPr/>
          </p:nvSpPr>
          <p:spPr>
            <a:xfrm>
              <a:off x="3314700" y="47434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3625453" y="4606230"/>
              <a:ext cx="273844" cy="369690"/>
              <a:chOff x="3625453" y="4606230"/>
              <a:chExt cx="273844" cy="36969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3625453" y="4606230"/>
                <a:ext cx="273844" cy="369689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7115">
                <a:solidFill>
                  <a:schemeClr val="accent1"/>
                </a:solidFill>
              </a:ln>
            </p:spPr>
          </p:sp>
          <p:sp>
            <p:nvSpPr>
              <p:cNvPr id="63" name="Line 63"/>
              <p:cNvSpPr/>
              <p:nvPr/>
            </p:nvSpPr>
            <p:spPr>
              <a:xfrm>
                <a:off x="3687068" y="4695230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3687068" y="4770537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65" name="Line 65"/>
              <p:cNvSpPr/>
              <p:nvPr/>
            </p:nvSpPr>
            <p:spPr>
              <a:xfrm>
                <a:off x="3687068" y="4845844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3687068" y="4921151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</p:grpSp>
        <p:sp>
          <p:nvSpPr>
            <p:cNvPr id="68" name="TextBox 68"/>
            <p:cNvSpPr txBox="1"/>
            <p:nvPr>
              <p:custDataLst>
                <p:tags r:id="rId15"/>
              </p:custDataLst>
            </p:nvPr>
          </p:nvSpPr>
          <p:spPr>
            <a:xfrm>
              <a:off x="3255963" y="5073650"/>
              <a:ext cx="946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Top-5 </a:t>
              </a:r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案例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4076700" y="48006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70" name="Freeform 70"/>
            <p:cNvSpPr/>
            <p:nvPr/>
          </p:nvSpPr>
          <p:spPr>
            <a:xfrm>
              <a:off x="5334000" y="47434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5644753" y="4606230"/>
              <a:ext cx="273844" cy="369690"/>
              <a:chOff x="5644753" y="4606230"/>
              <a:chExt cx="273844" cy="369690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5644753" y="4606230"/>
                <a:ext cx="273844" cy="369689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7115">
                <a:solidFill>
                  <a:schemeClr val="accent1"/>
                </a:solidFill>
              </a:ln>
            </p:spPr>
          </p:sp>
          <p:sp>
            <p:nvSpPr>
              <p:cNvPr id="72" name="Line 72"/>
              <p:cNvSpPr/>
              <p:nvPr/>
            </p:nvSpPr>
            <p:spPr>
              <a:xfrm>
                <a:off x="5706368" y="4695230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73" name="Line 73"/>
              <p:cNvSpPr/>
              <p:nvPr/>
            </p:nvSpPr>
            <p:spPr>
              <a:xfrm>
                <a:off x="5706368" y="4770537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74" name="Line 74"/>
              <p:cNvSpPr/>
              <p:nvPr/>
            </p:nvSpPr>
            <p:spPr>
              <a:xfrm>
                <a:off x="5706368" y="4845844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75" name="Line 75"/>
              <p:cNvSpPr/>
              <p:nvPr/>
            </p:nvSpPr>
            <p:spPr>
              <a:xfrm>
                <a:off x="5706368" y="4921151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</p:grpSp>
        <p:sp>
          <p:nvSpPr>
            <p:cNvPr id="77" name="TextBox 77"/>
            <p:cNvSpPr txBox="1"/>
            <p:nvPr>
              <p:custDataLst>
                <p:tags r:id="rId16"/>
              </p:custDataLst>
            </p:nvPr>
          </p:nvSpPr>
          <p:spPr>
            <a:xfrm>
              <a:off x="5378005" y="5073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稽核結論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6096000" y="48006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79" name="Freeform 79"/>
            <p:cNvSpPr/>
            <p:nvPr/>
          </p:nvSpPr>
          <p:spPr>
            <a:xfrm>
              <a:off x="7353300" y="47434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664053" y="4606230"/>
              <a:ext cx="273844" cy="369690"/>
              <a:chOff x="7664053" y="4606230"/>
              <a:chExt cx="273844" cy="369690"/>
            </a:xfrm>
          </p:grpSpPr>
          <p:sp>
            <p:nvSpPr>
              <p:cNvPr id="80" name="Rectangle 80"/>
              <p:cNvSpPr/>
              <p:nvPr/>
            </p:nvSpPr>
            <p:spPr>
              <a:xfrm>
                <a:off x="7664053" y="4606230"/>
                <a:ext cx="273844" cy="369689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7115">
                <a:solidFill>
                  <a:schemeClr val="accent1"/>
                </a:solidFill>
              </a:ln>
            </p:spPr>
          </p:sp>
          <p:sp>
            <p:nvSpPr>
              <p:cNvPr id="81" name="Line 81"/>
              <p:cNvSpPr/>
              <p:nvPr/>
            </p:nvSpPr>
            <p:spPr>
              <a:xfrm>
                <a:off x="7725668" y="4695230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82" name="Line 82"/>
              <p:cNvSpPr/>
              <p:nvPr/>
            </p:nvSpPr>
            <p:spPr>
              <a:xfrm>
                <a:off x="7725668" y="4770537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83" name="Line 83"/>
              <p:cNvSpPr/>
              <p:nvPr/>
            </p:nvSpPr>
            <p:spPr>
              <a:xfrm>
                <a:off x="7725668" y="4845844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  <p:sp>
            <p:nvSpPr>
              <p:cNvPr id="84" name="Line 84"/>
              <p:cNvSpPr/>
              <p:nvPr/>
            </p:nvSpPr>
            <p:spPr>
              <a:xfrm>
                <a:off x="7725668" y="4921151"/>
                <a:ext cx="15746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7460" h="9525">
                    <a:moveTo>
                      <a:pt x="0" y="0"/>
                    </a:moveTo>
                    <a:lnTo>
                      <a:pt x="157460" y="0"/>
                    </a:lnTo>
                  </a:path>
                </a:pathLst>
              </a:custGeom>
              <a:noFill/>
              <a:ln w="13692" cap="rnd">
                <a:solidFill>
                  <a:srgbClr val="9AAAC0"/>
                </a:solidFill>
              </a:ln>
            </p:spPr>
          </p:sp>
        </p:grpSp>
        <p:sp>
          <p:nvSpPr>
            <p:cNvPr id="86" name="TextBox 86"/>
            <p:cNvSpPr txBox="1"/>
            <p:nvPr>
              <p:custDataLst>
                <p:tags r:id="rId17"/>
              </p:custDataLst>
            </p:nvPr>
          </p:nvSpPr>
          <p:spPr>
            <a:xfrm>
              <a:off x="7397306" y="5073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處置回條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838200" y="5391150"/>
              <a:ext cx="7620000" cy="323850"/>
            </a:xfrm>
            <a:prstGeom prst="roundRect">
              <a:avLst>
                <a:gd name="adj" fmla="val 29412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88" name="TextBox 88"/>
            <p:cNvSpPr txBox="1"/>
            <p:nvPr>
              <p:custDataLst>
                <p:tags r:id="rId18"/>
              </p:custDataLst>
            </p:nvPr>
          </p:nvSpPr>
          <p:spPr>
            <a:xfrm>
              <a:off x="3166595" y="5445125"/>
              <a:ext cx="29155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同一</a:t>
              </a:r>
              <a:r>
                <a:rPr lang="en-US" sz="13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 event_id </a:t>
              </a:r>
              <a:r>
                <a:rPr lang="zh-TW" sz="13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＋ 同次</a:t>
              </a:r>
              <a:r>
                <a:rPr lang="en-US" sz="135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 execution_id</a:t>
              </a:r>
            </a:p>
          </p:txBody>
        </p:sp>
        <p:sp>
          <p:nvSpPr>
            <p:cNvPr id="89" name="TextBox 89"/>
            <p:cNvSpPr txBox="1"/>
            <p:nvPr>
              <p:custDataLst>
                <p:tags r:id="rId19"/>
              </p:custDataLst>
            </p:nvPr>
          </p:nvSpPr>
          <p:spPr>
            <a:xfrm>
              <a:off x="832485" y="5842000"/>
              <a:ext cx="3284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分類、</a:t>
              </a:r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Top-5</a:t>
              </a:r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、</a:t>
              </a:r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Judge</a:t>
              </a:r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、策略與回條綁定同一事件</a:t>
              </a:r>
            </a:p>
          </p:txBody>
        </p:sp>
        <p:sp>
          <p:nvSpPr>
            <p:cNvPr id="90" name="TextBox 90"/>
            <p:cNvSpPr txBox="1"/>
            <p:nvPr>
              <p:custDataLst>
                <p:tags r:id="rId20"/>
              </p:custDataLst>
            </p:nvPr>
          </p:nvSpPr>
          <p:spPr>
            <a:xfrm>
              <a:off x="9494551" y="4616450"/>
              <a:ext cx="161664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4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同一</a:t>
              </a:r>
              <a:r>
                <a:rPr lang="en-US" sz="34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 ID</a:t>
              </a:r>
            </a:p>
          </p:txBody>
        </p:sp>
        <p:sp>
          <p:nvSpPr>
            <p:cNvPr id="91" name="TextBox 91"/>
            <p:cNvSpPr txBox="1"/>
            <p:nvPr>
              <p:custDataLst>
                <p:tags r:id="rId21"/>
              </p:custDataLst>
            </p:nvPr>
          </p:nvSpPr>
          <p:spPr>
            <a:xfrm>
              <a:off x="9690291" y="52578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事件與執行可追溯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93" name="Line 9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94" name="TextBox 94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98" name="TextBox 98"/>
            <p:cNvSpPr txBox="1"/>
            <p:nvPr>
              <p:custDataLst>
                <p:tags r:id="rId2"/>
              </p:custDataLst>
            </p:nvPr>
          </p:nvSpPr>
          <p:spPr>
            <a:xfrm>
              <a:off x="10633646" y="6511925"/>
              <a:ext cx="9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答詢備用 1 / 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3865626" cy="855853"/>
            <a:chOff x="595122" y="431800"/>
            <a:chExt cx="3865626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21"/>
              </p:custDataLst>
            </p:nvPr>
          </p:nvSpPr>
          <p:spPr>
            <a:xfrm>
              <a:off x="794385" y="431800"/>
              <a:ext cx="1101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JUDGES · Q&amp;A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22"/>
              </p:custDataLst>
            </p:nvPr>
          </p:nvSpPr>
          <p:spPr>
            <a:xfrm>
              <a:off x="595122" y="730250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答詢圖解｜評估與誤判</a:t>
              </a:r>
            </a:p>
          </p:txBody>
        </p:sp>
      </p:grpSp>
      <p:grpSp>
        <p:nvGrpSpPr>
          <p:cNvPr id="62" name="page-content"/>
          <p:cNvGrpSpPr/>
          <p:nvPr/>
        </p:nvGrpSpPr>
        <p:grpSpPr>
          <a:xfrm>
            <a:off x="609600" y="1428750"/>
            <a:ext cx="10972800" cy="4686300"/>
            <a:chOff x="609600" y="1428750"/>
            <a:chExt cx="10972800" cy="46863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0" y="1428750"/>
              <a:ext cx="2438400" cy="2247900"/>
            </a:xfrm>
            <a:prstGeom prst="roundRect">
              <a:avLst>
                <a:gd name="adj" fmla="val 678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638300"/>
              <a:ext cx="514350" cy="2857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954836" y="1685925"/>
              <a:ext cx="23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Q3</a:t>
              </a: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496568" y="1644650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評估資料如何切分？案例庫是否洩漏測試答案？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749326" y="2234208"/>
              <a:ext cx="552152" cy="541734"/>
              <a:chOff x="1749326" y="2234208"/>
              <a:chExt cx="552152" cy="54173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749326" y="2307134"/>
                <a:ext cx="395883" cy="416719"/>
              </a:xfrm>
              <a:custGeom>
                <a:avLst/>
                <a:gdLst/>
                <a:ahLst/>
                <a:cxnLst/>
                <a:rect l="l" t="t" r="r" b="b"/>
                <a:pathLst>
                  <a:path w="395883" h="416719">
                    <a:moveTo>
                      <a:pt x="0" y="0"/>
                    </a:moveTo>
                    <a:lnTo>
                      <a:pt x="0" y="322957"/>
                    </a:lnTo>
                    <a:cubicBezTo>
                      <a:pt x="0" y="416719"/>
                      <a:pt x="395883" y="416719"/>
                      <a:pt x="395883" y="322957"/>
                    </a:cubicBezTo>
                    <a:lnTo>
                      <a:pt x="395883" y="0"/>
                    </a:lnTo>
                  </a:path>
                </a:pathLst>
              </a:custGeom>
              <a:solidFill>
                <a:schemeClr val="lt1"/>
              </a:solidFill>
              <a:ln w="31254" cap="rnd">
                <a:solidFill>
                  <a:schemeClr val="accent1"/>
                </a:solidFill>
                <a:round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749326" y="2234208"/>
                <a:ext cx="395883" cy="145852"/>
              </a:xfrm>
              <a:prstGeom prst="ellipse">
                <a:avLst/>
              </a:prstGeom>
              <a:solidFill>
                <a:schemeClr val="lt1"/>
              </a:solidFill>
              <a:ln w="31254" cap="rnd">
                <a:solidFill>
                  <a:schemeClr val="accent1"/>
                </a:solidFill>
                <a:round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749326" y="2452985"/>
                <a:ext cx="395883" cy="93762"/>
              </a:xfrm>
              <a:custGeom>
                <a:avLst/>
                <a:gdLst/>
                <a:ahLst/>
                <a:cxnLst/>
                <a:rect l="l" t="t" r="r" b="b"/>
                <a:pathLst>
                  <a:path w="395883" h="93762">
                    <a:moveTo>
                      <a:pt x="0" y="0"/>
                    </a:moveTo>
                    <a:cubicBezTo>
                      <a:pt x="0" y="93762"/>
                      <a:pt x="395883" y="93762"/>
                      <a:pt x="395883" y="0"/>
                    </a:cubicBezTo>
                  </a:path>
                </a:pathLst>
              </a:custGeom>
              <a:noFill/>
              <a:ln w="31254" cap="rnd">
                <a:solidFill>
                  <a:schemeClr val="accent1"/>
                </a:solidFill>
                <a:round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009775" y="2473821"/>
                <a:ext cx="229195" cy="229195"/>
              </a:xfrm>
              <a:prstGeom prst="ellipse">
                <a:avLst/>
              </a:prstGeom>
              <a:solidFill>
                <a:schemeClr val="lt2"/>
              </a:solidFill>
              <a:ln w="31254" cap="rnd">
                <a:solidFill>
                  <a:schemeClr val="accent1"/>
                </a:solidFill>
                <a:round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207716" y="2671762"/>
                <a:ext cx="93762" cy="104180"/>
              </a:xfrm>
              <a:custGeom>
                <a:avLst/>
                <a:gdLst/>
                <a:ahLst/>
                <a:cxnLst/>
                <a:rect l="l" t="t" r="r" b="b"/>
                <a:pathLst>
                  <a:path w="93762" h="104180">
                    <a:moveTo>
                      <a:pt x="0" y="0"/>
                    </a:moveTo>
                    <a:lnTo>
                      <a:pt x="93762" y="104180"/>
                    </a:lnTo>
                  </a:path>
                </a:pathLst>
              </a:custGeom>
              <a:solidFill>
                <a:schemeClr val="lt1"/>
              </a:solidFill>
              <a:ln w="41672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17" name="TextBox 17"/>
            <p:cNvSpPr txBox="1"/>
            <p:nvPr>
              <p:custDataLst>
                <p:tags r:id="rId5"/>
              </p:custDataLst>
            </p:nvPr>
          </p:nvSpPr>
          <p:spPr>
            <a:xfrm>
              <a:off x="1323425" y="2927350"/>
              <a:ext cx="13234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訓練案例 1,550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467225" y="2257425"/>
              <a:ext cx="485775" cy="485775"/>
              <a:chOff x="4467225" y="2257425"/>
              <a:chExt cx="485775" cy="485775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467225" y="2257425"/>
                <a:ext cx="361950" cy="361950"/>
              </a:xfrm>
              <a:prstGeom prst="ellipse">
                <a:avLst/>
              </a:prstGeom>
              <a:solidFill>
                <a:schemeClr val="lt1"/>
              </a:solidFill>
              <a:ln w="23812">
                <a:solidFill>
                  <a:schemeClr val="accent1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4781550" y="25717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0"/>
                    </a:moveTo>
                    <a:lnTo>
                      <a:pt x="171450" y="171450"/>
                    </a:lnTo>
                  </a:path>
                </a:pathLst>
              </a:custGeom>
              <a:noFill/>
              <a:ln w="47625" cap="rnd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>
              <p:custDataLst>
                <p:tags r:id="rId6"/>
              </p:custDataLst>
            </p:nvPr>
          </p:nvSpPr>
          <p:spPr>
            <a:xfrm>
              <a:off x="4183114" y="2927350"/>
              <a:ext cx="9952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42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Top-5 </a:t>
              </a:r>
              <a:r>
                <a:rPr lang="zh-TW" sz="142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檢索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7346156" y="2254448"/>
              <a:ext cx="357188" cy="482204"/>
              <a:chOff x="7346156" y="2254448"/>
              <a:chExt cx="357188" cy="482204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346156" y="2254448"/>
                <a:ext cx="357188" cy="482203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22324">
                <a:solidFill>
                  <a:schemeClr val="accent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7426523" y="2370534"/>
                <a:ext cx="20538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5383" h="9525">
                    <a:moveTo>
                      <a:pt x="0" y="0"/>
                    </a:moveTo>
                    <a:lnTo>
                      <a:pt x="205383" y="0"/>
                    </a:lnTo>
                  </a:path>
                </a:pathLst>
              </a:custGeom>
              <a:noFill/>
              <a:ln w="17859" cap="rnd">
                <a:solidFill>
                  <a:srgbClr val="9AAAC0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7426523" y="2468761"/>
                <a:ext cx="20538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5383" h="9525">
                    <a:moveTo>
                      <a:pt x="0" y="0"/>
                    </a:moveTo>
                    <a:lnTo>
                      <a:pt x="205383" y="0"/>
                    </a:lnTo>
                  </a:path>
                </a:pathLst>
              </a:custGeom>
              <a:noFill/>
              <a:ln w="17859" cap="rnd">
                <a:solidFill>
                  <a:srgbClr val="9AAAC0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7426523" y="2566988"/>
                <a:ext cx="20538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5383" h="9525">
                    <a:moveTo>
                      <a:pt x="0" y="0"/>
                    </a:moveTo>
                    <a:lnTo>
                      <a:pt x="205383" y="0"/>
                    </a:lnTo>
                  </a:path>
                </a:pathLst>
              </a:custGeom>
              <a:noFill/>
              <a:ln w="17859" cap="rnd">
                <a:solidFill>
                  <a:srgbClr val="9AAAC0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7426523" y="2665214"/>
                <a:ext cx="20538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5383" h="9525">
                    <a:moveTo>
                      <a:pt x="0" y="0"/>
                    </a:moveTo>
                    <a:lnTo>
                      <a:pt x="205383" y="0"/>
                    </a:lnTo>
                  </a:path>
                </a:pathLst>
              </a:custGeom>
              <a:noFill/>
              <a:ln w="17859" cap="rnd">
                <a:solidFill>
                  <a:srgbClr val="9AAAC0"/>
                </a:solidFill>
              </a:ln>
            </p:spPr>
          </p:sp>
        </p:grpSp>
        <p:sp>
          <p:nvSpPr>
            <p:cNvPr id="28" name="TextBox 28"/>
            <p:cNvSpPr txBox="1"/>
            <p:nvPr>
              <p:custDataLst>
                <p:tags r:id="rId7"/>
              </p:custDataLst>
            </p:nvPr>
          </p:nvSpPr>
          <p:spPr>
            <a:xfrm>
              <a:off x="6919280" y="2927350"/>
              <a:ext cx="11617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測試查詢 463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667000" y="25146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30" name="Freeform 30"/>
            <p:cNvSpPr/>
            <p:nvPr/>
          </p:nvSpPr>
          <p:spPr>
            <a:xfrm>
              <a:off x="4210050" y="24574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31" name="Freeform 31"/>
            <p:cNvSpPr/>
            <p:nvPr/>
          </p:nvSpPr>
          <p:spPr>
            <a:xfrm>
              <a:off x="5143500" y="2514600"/>
              <a:ext cx="1943100" cy="9525"/>
            </a:xfrm>
            <a:custGeom>
              <a:avLst/>
              <a:gdLst/>
              <a:ahLst/>
              <a:cxnLst/>
              <a:rect l="l" t="t" r="r" b="b"/>
              <a:pathLst>
                <a:path w="1943100" h="9525">
                  <a:moveTo>
                    <a:pt x="1943100" y="0"/>
                  </a:moveTo>
                  <a:lnTo>
                    <a:pt x="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32" name="Freeform 32"/>
            <p:cNvSpPr/>
            <p:nvPr/>
          </p:nvSpPr>
          <p:spPr>
            <a:xfrm>
              <a:off x="5143500" y="24574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0"/>
                  </a:moveTo>
                  <a:lnTo>
                    <a:pt x="0" y="57150"/>
                  </a:lnTo>
                  <a:lnTo>
                    <a:pt x="7620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33" name="TextBox 33"/>
            <p:cNvSpPr txBox="1"/>
            <p:nvPr>
              <p:custDataLst>
                <p:tags r:id="rId8"/>
              </p:custDataLst>
            </p:nvPr>
          </p:nvSpPr>
          <p:spPr>
            <a:xfrm>
              <a:off x="832485" y="3403600"/>
              <a:ext cx="28854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訓練庫只讀 · 查詢不重疊</a:t>
              </a:r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 · AI </a:t>
              </a:r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不看真實標籤</a:t>
              </a:r>
            </a:p>
          </p:txBody>
        </p:sp>
        <p:sp>
          <p:nvSpPr>
            <p:cNvPr id="34" name="TextBox 34"/>
            <p:cNvSpPr txBox="1"/>
            <p:nvPr>
              <p:custDataLst>
                <p:tags r:id="rId9"/>
              </p:custDataLst>
            </p:nvPr>
          </p:nvSpPr>
          <p:spPr>
            <a:xfrm>
              <a:off x="10151775" y="2178050"/>
              <a:ext cx="3021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4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</a:t>
              </a:r>
            </a:p>
          </p:txBody>
        </p:sp>
        <p:sp>
          <p:nvSpPr>
            <p:cNvPr id="35" name="TextBox 35"/>
            <p:cNvSpPr txBox="1"/>
            <p:nvPr>
              <p:custDataLst>
                <p:tags r:id="rId10"/>
              </p:custDataLst>
            </p:nvPr>
          </p:nvSpPr>
          <p:spPr>
            <a:xfrm>
              <a:off x="9771063" y="28194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訓練／查詢重疊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09600" y="3867150"/>
              <a:ext cx="109728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9144000" y="3867150"/>
              <a:ext cx="2438400" cy="2247900"/>
            </a:xfrm>
            <a:prstGeom prst="roundRect">
              <a:avLst>
                <a:gd name="adj" fmla="val 678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38200" y="4076700"/>
              <a:ext cx="514350" cy="2857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>
              <p:custDataLst>
                <p:tags r:id="rId11"/>
              </p:custDataLst>
            </p:nvPr>
          </p:nvSpPr>
          <p:spPr>
            <a:xfrm>
              <a:off x="954836" y="4124325"/>
              <a:ext cx="23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Q4</a:t>
              </a:r>
            </a:p>
          </p:txBody>
        </p:sp>
        <p:sp>
          <p:nvSpPr>
            <p:cNvPr id="40" name="TextBox 40"/>
            <p:cNvSpPr txBox="1"/>
            <p:nvPr>
              <p:custDataLst>
                <p:tags r:id="rId12"/>
              </p:custDataLst>
            </p:nvPr>
          </p:nvSpPr>
          <p:spPr>
            <a:xfrm>
              <a:off x="1496568" y="4083050"/>
              <a:ext cx="4096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若支持錯誤判斷，如何避免直接誤封？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38200" y="4933950"/>
              <a:ext cx="1428750" cy="438150"/>
            </a:xfrm>
            <a:prstGeom prst="roundRect">
              <a:avLst>
                <a:gd name="adj" fmla="val 21739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42" name="TextBox 42"/>
            <p:cNvSpPr txBox="1"/>
            <p:nvPr>
              <p:custDataLst>
                <p:tags r:id="rId13"/>
              </p:custDataLst>
            </p:nvPr>
          </p:nvSpPr>
          <p:spPr>
            <a:xfrm>
              <a:off x="1097663" y="5041900"/>
              <a:ext cx="860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30 筆誤判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2266950" y="4791075"/>
              <a:ext cx="647700" cy="361950"/>
            </a:xfrm>
            <a:custGeom>
              <a:avLst/>
              <a:gdLst/>
              <a:ahLst/>
              <a:cxnLst/>
              <a:rect l="l" t="t" r="r" b="b"/>
              <a:pathLst>
                <a:path w="647700" h="361950">
                  <a:moveTo>
                    <a:pt x="0" y="361950"/>
                  </a:moveTo>
                  <a:lnTo>
                    <a:pt x="323850" y="361950"/>
                  </a:lnTo>
                  <a:lnTo>
                    <a:pt x="323850" y="0"/>
                  </a:lnTo>
                  <a:lnTo>
                    <a:pt x="64770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44" name="Freeform 44"/>
            <p:cNvSpPr/>
            <p:nvPr/>
          </p:nvSpPr>
          <p:spPr>
            <a:xfrm>
              <a:off x="2838450" y="47339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2590800" y="5153025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lnTo>
                    <a:pt x="0" y="228600"/>
                  </a:lnTo>
                  <a:lnTo>
                    <a:pt x="323850" y="22860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46" name="Freeform 46"/>
            <p:cNvSpPr/>
            <p:nvPr/>
          </p:nvSpPr>
          <p:spPr>
            <a:xfrm>
              <a:off x="2838450" y="53244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47" name="Rectangle 47"/>
            <p:cNvSpPr/>
            <p:nvPr/>
          </p:nvSpPr>
          <p:spPr>
            <a:xfrm>
              <a:off x="2914650" y="4572000"/>
              <a:ext cx="2286000" cy="438150"/>
            </a:xfrm>
            <a:prstGeom prst="roundRect">
              <a:avLst>
                <a:gd name="adj" fmla="val 21739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48" name="TextBox 48"/>
            <p:cNvSpPr txBox="1"/>
            <p:nvPr>
              <p:custDataLst>
                <p:tags r:id="rId14"/>
              </p:custDataLst>
            </p:nvPr>
          </p:nvSpPr>
          <p:spPr>
            <a:xfrm>
              <a:off x="3315997" y="4679950"/>
              <a:ext cx="14340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18 複核／不確定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914650" y="5162550"/>
              <a:ext cx="2286000" cy="438150"/>
            </a:xfrm>
            <a:prstGeom prst="roundRect">
              <a:avLst>
                <a:gd name="adj" fmla="val 21739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50" name="TextBox 50"/>
            <p:cNvSpPr txBox="1"/>
            <p:nvPr>
              <p:custDataLst>
                <p:tags r:id="rId15"/>
              </p:custDataLst>
            </p:nvPr>
          </p:nvSpPr>
          <p:spPr>
            <a:xfrm>
              <a:off x="3602738" y="5270500"/>
              <a:ext cx="860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12 仍支持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5200650" y="4791075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52" name="Freeform 52"/>
            <p:cNvSpPr/>
            <p:nvPr/>
          </p:nvSpPr>
          <p:spPr>
            <a:xfrm>
              <a:off x="5638800" y="47339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53" name="Freeform 53"/>
            <p:cNvSpPr/>
            <p:nvPr/>
          </p:nvSpPr>
          <p:spPr>
            <a:xfrm>
              <a:off x="5200650" y="5381625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54" name="Freeform 54"/>
            <p:cNvSpPr/>
            <p:nvPr/>
          </p:nvSpPr>
          <p:spPr>
            <a:xfrm>
              <a:off x="5638800" y="532447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715000" y="4572000"/>
              <a:ext cx="2743200" cy="438150"/>
            </a:xfrm>
            <a:prstGeom prst="roundRect">
              <a:avLst>
                <a:gd name="adj" fmla="val 21739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56" name="TextBox 56"/>
            <p:cNvSpPr txBox="1"/>
            <p:nvPr>
              <p:custDataLst>
                <p:tags r:id="rId16"/>
              </p:custDataLst>
            </p:nvPr>
          </p:nvSpPr>
          <p:spPr>
            <a:xfrm>
              <a:off x="6576853" y="467995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監測／蒐證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715000" y="5162550"/>
              <a:ext cx="2743200" cy="438150"/>
            </a:xfrm>
            <a:prstGeom prst="roundRect">
              <a:avLst>
                <a:gd name="adj" fmla="val 21739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58" name="TextBox 58"/>
            <p:cNvSpPr txBox="1"/>
            <p:nvPr>
              <p:custDataLst>
                <p:tags r:id="rId17"/>
              </p:custDataLst>
            </p:nvPr>
          </p:nvSpPr>
          <p:spPr>
            <a:xfrm>
              <a:off x="6317233" y="5283200"/>
              <a:ext cx="14911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若觸發 → 策略檢查</a:t>
              </a:r>
            </a:p>
          </p:txBody>
        </p:sp>
        <p:sp>
          <p:nvSpPr>
            <p:cNvPr id="59" name="TextBox 59"/>
            <p:cNvSpPr txBox="1"/>
            <p:nvPr>
              <p:custDataLst>
                <p:tags r:id="rId18"/>
              </p:custDataLst>
            </p:nvPr>
          </p:nvSpPr>
          <p:spPr>
            <a:xfrm>
              <a:off x="832485" y="5842000"/>
              <a:ext cx="32419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12 筆為支持統計；處置與回復另以隔離情境驗證</a:t>
              </a:r>
            </a:p>
          </p:txBody>
        </p:sp>
        <p:sp>
          <p:nvSpPr>
            <p:cNvPr id="60" name="TextBox 60"/>
            <p:cNvSpPr txBox="1"/>
            <p:nvPr>
              <p:custDataLst>
                <p:tags r:id="rId19"/>
              </p:custDataLst>
            </p:nvPr>
          </p:nvSpPr>
          <p:spPr>
            <a:xfrm>
              <a:off x="9519953" y="4616450"/>
              <a:ext cx="156584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4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18 / 30</a:t>
              </a:r>
            </a:p>
          </p:txBody>
        </p:sp>
        <p:sp>
          <p:nvSpPr>
            <p:cNvPr id="61" name="TextBox 61"/>
            <p:cNvSpPr txBox="1"/>
            <p:nvPr>
              <p:custDataLst>
                <p:tags r:id="rId20"/>
              </p:custDataLst>
            </p:nvPr>
          </p:nvSpPr>
          <p:spPr>
            <a:xfrm>
              <a:off x="9851834" y="5257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偵測誤判分流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63" name="Line 63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64" name="TextBox 64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68" name="TextBox 68"/>
            <p:cNvSpPr txBox="1"/>
            <p:nvPr>
              <p:custDataLst>
                <p:tags r:id="rId2"/>
              </p:custDataLst>
            </p:nvPr>
          </p:nvSpPr>
          <p:spPr>
            <a:xfrm>
              <a:off x="10633646" y="6511925"/>
              <a:ext cx="9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答詢備用 2 / 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line"/>
          <p:cNvGrpSpPr/>
          <p:nvPr/>
        </p:nvGrpSpPr>
        <p:grpSpPr>
          <a:xfrm>
            <a:off x="595122" y="431800"/>
            <a:ext cx="3865626" cy="855853"/>
            <a:chOff x="595122" y="431800"/>
            <a:chExt cx="3865626" cy="855853"/>
          </a:xfrm>
        </p:grpSpPr>
        <p:sp>
          <p:nvSpPr>
            <p:cNvPr id="2" name="Rectangle 2"/>
            <p:cNvSpPr/>
            <p:nvPr/>
          </p:nvSpPr>
          <p:spPr>
            <a:xfrm>
              <a:off x="609600" y="476250"/>
              <a:ext cx="95250" cy="95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>
              <p:custDataLst>
                <p:tags r:id="rId22"/>
              </p:custDataLst>
            </p:nvPr>
          </p:nvSpPr>
          <p:spPr>
            <a:xfrm>
              <a:off x="794385" y="431800"/>
              <a:ext cx="11015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JUDGES · Q&amp;A</a:t>
              </a:r>
            </a:p>
          </p:txBody>
        </p:sp>
        <p:sp>
          <p:nvSpPr>
            <p:cNvPr id="4" name="TextBox 4"/>
            <p:cNvSpPr txBox="1"/>
            <p:nvPr>
              <p:custDataLst>
                <p:tags r:id="rId23"/>
              </p:custDataLst>
            </p:nvPr>
          </p:nvSpPr>
          <p:spPr>
            <a:xfrm>
              <a:off x="595122" y="730250"/>
              <a:ext cx="386562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850" b="1" dirty="0">
                  <a:solidFill>
                    <a:schemeClr val="accent6"/>
                  </a:solidFill>
                  <a:latin typeface="Segoe UI"/>
                  <a:ea typeface="Microsoft JhengHei"/>
                  <a:cs typeface="Segoe UI"/>
                </a:rPr>
                <a:t>答詢圖解｜效果與部署</a:t>
              </a:r>
            </a:p>
          </p:txBody>
        </p:sp>
      </p:grpSp>
      <p:grpSp>
        <p:nvGrpSpPr>
          <p:cNvPr id="100" name="page-content"/>
          <p:cNvGrpSpPr/>
          <p:nvPr/>
        </p:nvGrpSpPr>
        <p:grpSpPr>
          <a:xfrm>
            <a:off x="609600" y="1428750"/>
            <a:ext cx="10972800" cy="4686300"/>
            <a:chOff x="609600" y="1428750"/>
            <a:chExt cx="10972800" cy="4686300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109728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9144000" y="1428750"/>
              <a:ext cx="2438400" cy="2247900"/>
            </a:xfrm>
            <a:prstGeom prst="roundRect">
              <a:avLst>
                <a:gd name="adj" fmla="val 678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638300"/>
              <a:ext cx="514350" cy="2857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" name="TextBox 9"/>
            <p:cNvSpPr txBox="1"/>
            <p:nvPr>
              <p:custDataLst>
                <p:tags r:id="rId3"/>
              </p:custDataLst>
            </p:nvPr>
          </p:nvSpPr>
          <p:spPr>
            <a:xfrm>
              <a:off x="954836" y="1685925"/>
              <a:ext cx="23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Q5</a:t>
              </a:r>
            </a:p>
          </p:txBody>
        </p:sp>
        <p:sp>
          <p:nvSpPr>
            <p:cNvPr id="10" name="TextBox 10"/>
            <p:cNvSpPr txBox="1"/>
            <p:nvPr>
              <p:custDataLst>
                <p:tags r:id="rId4"/>
              </p:custDataLst>
            </p:nvPr>
          </p:nvSpPr>
          <p:spPr>
            <a:xfrm>
              <a:off x="1496568" y="1644650"/>
              <a:ext cx="42081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6/6 是否代表各種真實攻擊都能完全防住？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2114550"/>
              <a:ext cx="3143250" cy="1143000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1696688" y="2216150"/>
              <a:ext cx="13786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隔離</a:t>
              </a:r>
              <a:r>
                <a:rPr lang="en-US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 TCP </a:t>
              </a:r>
              <a:r>
                <a:rPr lang="zh-TW" sz="13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測試床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234678" y="2537222"/>
              <a:ext cx="273844" cy="297656"/>
              <a:chOff x="1234678" y="2537222"/>
              <a:chExt cx="273844" cy="297656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234678" y="2537222"/>
                <a:ext cx="273844" cy="83344"/>
              </a:xfrm>
              <a:prstGeom prst="roundRect">
                <a:avLst>
                  <a:gd name="adj" fmla="val 21429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448991" y="2566988"/>
                <a:ext cx="23812" cy="23812"/>
              </a:xfrm>
              <a:prstGeom prst="ellipse">
                <a:avLst/>
              </a:prstGeom>
              <a:solidFill>
                <a:schemeClr val="accent1"/>
              </a:solidFill>
              <a:ln w="5953">
                <a:solidFill>
                  <a:schemeClr val="accent1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270397" y="2578894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1234678" y="2644378"/>
                <a:ext cx="273844" cy="83344"/>
              </a:xfrm>
              <a:prstGeom prst="roundRect">
                <a:avLst>
                  <a:gd name="adj" fmla="val 21429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1448991" y="2674144"/>
                <a:ext cx="23812" cy="23812"/>
              </a:xfrm>
              <a:prstGeom prst="ellipse">
                <a:avLst/>
              </a:prstGeom>
              <a:solidFill>
                <a:schemeClr val="accent1"/>
              </a:solidFill>
              <a:ln w="5953">
                <a:solidFill>
                  <a:schemeClr val="accent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1270397" y="2686050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1234678" y="2751534"/>
                <a:ext cx="273844" cy="83344"/>
              </a:xfrm>
              <a:prstGeom prst="roundRect">
                <a:avLst>
                  <a:gd name="adj" fmla="val 21429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1448991" y="2781300"/>
                <a:ext cx="23812" cy="23812"/>
              </a:xfrm>
              <a:prstGeom prst="ellipse">
                <a:avLst/>
              </a:prstGeom>
              <a:solidFill>
                <a:schemeClr val="accent1"/>
              </a:solidFill>
              <a:ln w="5953">
                <a:solidFill>
                  <a:schemeClr val="accent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270397" y="2793206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2249091" y="2543175"/>
              <a:ext cx="321469" cy="285750"/>
              <a:chOff x="2249091" y="2543175"/>
              <a:chExt cx="321469" cy="2857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49091" y="2543175"/>
                <a:ext cx="321469" cy="285750"/>
              </a:xfrm>
              <a:prstGeom prst="roundRect">
                <a:avLst>
                  <a:gd name="adj" fmla="val 8333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2249091" y="2638425"/>
                <a:ext cx="321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1469" h="9525">
                    <a:moveTo>
                      <a:pt x="0" y="0"/>
                    </a:moveTo>
                    <a:lnTo>
                      <a:pt x="321469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2249091" y="2733675"/>
                <a:ext cx="321469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1469" h="9525">
                    <a:moveTo>
                      <a:pt x="0" y="0"/>
                    </a:moveTo>
                    <a:lnTo>
                      <a:pt x="321469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2356247" y="25431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2475309" y="25431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2308622" y="263842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2439591" y="263842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2356247" y="27336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2475309" y="27336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</p:grpSp>
        <p:grpSp>
          <p:nvGrpSpPr>
            <p:cNvPr id="42" name="Group 42"/>
            <p:cNvGrpSpPr/>
            <p:nvPr/>
          </p:nvGrpSpPr>
          <p:grpSpPr>
            <a:xfrm>
              <a:off x="3311128" y="2537222"/>
              <a:ext cx="273844" cy="297656"/>
              <a:chOff x="3311128" y="2537222"/>
              <a:chExt cx="273844" cy="297656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3311128" y="2537222"/>
                <a:ext cx="273844" cy="83344"/>
              </a:xfrm>
              <a:prstGeom prst="roundRect">
                <a:avLst>
                  <a:gd name="adj" fmla="val 21429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3525441" y="2566988"/>
                <a:ext cx="23812" cy="23812"/>
              </a:xfrm>
              <a:prstGeom prst="ellipse">
                <a:avLst/>
              </a:prstGeom>
              <a:solidFill>
                <a:schemeClr val="accent1"/>
              </a:solidFill>
              <a:ln w="5953">
                <a:solidFill>
                  <a:schemeClr val="accent1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3346847" y="2578894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311128" y="2644378"/>
                <a:ext cx="273844" cy="83344"/>
              </a:xfrm>
              <a:prstGeom prst="roundRect">
                <a:avLst>
                  <a:gd name="adj" fmla="val 21429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525441" y="2674144"/>
                <a:ext cx="23812" cy="23812"/>
              </a:xfrm>
              <a:prstGeom prst="ellipse">
                <a:avLst/>
              </a:prstGeom>
              <a:solidFill>
                <a:schemeClr val="accent1"/>
              </a:solidFill>
              <a:ln w="5953">
                <a:solidFill>
                  <a:schemeClr val="accent1"/>
                </a:solidFill>
              </a:ln>
            </p:spPr>
          </p:sp>
          <p:sp>
            <p:nvSpPr>
              <p:cNvPr id="38" name="Line 38"/>
              <p:cNvSpPr/>
              <p:nvPr/>
            </p:nvSpPr>
            <p:spPr>
              <a:xfrm>
                <a:off x="3346847" y="2686050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3311128" y="2751534"/>
                <a:ext cx="273844" cy="83344"/>
              </a:xfrm>
              <a:prstGeom prst="roundRect">
                <a:avLst>
                  <a:gd name="adj" fmla="val 21429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3525441" y="2781300"/>
                <a:ext cx="23812" cy="23812"/>
              </a:xfrm>
              <a:prstGeom prst="ellipse">
                <a:avLst/>
              </a:prstGeom>
              <a:solidFill>
                <a:schemeClr val="accent1"/>
              </a:solidFill>
              <a:ln w="5953">
                <a:solidFill>
                  <a:schemeClr val="accent1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3346847" y="2793206"/>
                <a:ext cx="1190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9525">
                    <a:moveTo>
                      <a:pt x="0" y="0"/>
                    </a:moveTo>
                    <a:lnTo>
                      <a:pt x="11906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</p:grpSp>
        <p:sp>
          <p:nvSpPr>
            <p:cNvPr id="43" name="Freeform 43"/>
            <p:cNvSpPr/>
            <p:nvPr/>
          </p:nvSpPr>
          <p:spPr>
            <a:xfrm>
              <a:off x="1581150" y="268605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44" name="Freeform 44"/>
            <p:cNvSpPr/>
            <p:nvPr/>
          </p:nvSpPr>
          <p:spPr>
            <a:xfrm>
              <a:off x="2124075" y="26289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45" name="Freeform 45"/>
            <p:cNvSpPr/>
            <p:nvPr/>
          </p:nvSpPr>
          <p:spPr>
            <a:xfrm>
              <a:off x="2619375" y="2686050"/>
              <a:ext cx="619125" cy="9525"/>
            </a:xfrm>
            <a:custGeom>
              <a:avLst/>
              <a:gdLst/>
              <a:ahLst/>
              <a:cxnLst/>
              <a:rect l="l" t="t" r="r" b="b"/>
              <a:pathLst>
                <a:path w="619125" h="9525">
                  <a:moveTo>
                    <a:pt x="0" y="0"/>
                  </a:move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chemeClr val="accent1"/>
              </a:solidFill>
              <a:round/>
            </a:ln>
          </p:spPr>
        </p:sp>
        <p:sp>
          <p:nvSpPr>
            <p:cNvPr id="46" name="Freeform 46"/>
            <p:cNvSpPr/>
            <p:nvPr/>
          </p:nvSpPr>
          <p:spPr>
            <a:xfrm>
              <a:off x="3162300" y="262890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47" name="TextBox 47"/>
            <p:cNvSpPr txBox="1"/>
            <p:nvPr>
              <p:custDataLst>
                <p:tags r:id="rId6"/>
              </p:custDataLst>
            </p:nvPr>
          </p:nvSpPr>
          <p:spPr>
            <a:xfrm>
              <a:off x="1841741" y="2971800"/>
              <a:ext cx="1094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4 規則＋2 監測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3981450" y="2390775"/>
              <a:ext cx="590550" cy="295275"/>
            </a:xfrm>
            <a:custGeom>
              <a:avLst/>
              <a:gdLst/>
              <a:ahLst/>
              <a:cxnLst/>
              <a:rect l="l" t="t" r="r" b="b"/>
              <a:pathLst>
                <a:path w="590550" h="295275">
                  <a:moveTo>
                    <a:pt x="0" y="295275"/>
                  </a:moveTo>
                  <a:lnTo>
                    <a:pt x="304800" y="295275"/>
                  </a:lnTo>
                  <a:lnTo>
                    <a:pt x="304800" y="0"/>
                  </a:lnTo>
                  <a:lnTo>
                    <a:pt x="590550" y="0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49" name="Freeform 49"/>
            <p:cNvSpPr/>
            <p:nvPr/>
          </p:nvSpPr>
          <p:spPr>
            <a:xfrm>
              <a:off x="4495800" y="23336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50" name="Freeform 50"/>
            <p:cNvSpPr/>
            <p:nvPr/>
          </p:nvSpPr>
          <p:spPr>
            <a:xfrm>
              <a:off x="4286250" y="2686050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0" y="0"/>
                  </a:moveTo>
                  <a:lnTo>
                    <a:pt x="0" y="276225"/>
                  </a:lnTo>
                  <a:lnTo>
                    <a:pt x="285750" y="276225"/>
                  </a:lnTo>
                </a:path>
              </a:pathLst>
            </a:custGeom>
            <a:noFill/>
            <a:ln w="23812">
              <a:solidFill>
                <a:srgbClr val="9AAAC0"/>
              </a:solidFill>
              <a:round/>
            </a:ln>
          </p:spPr>
        </p:sp>
        <p:sp>
          <p:nvSpPr>
            <p:cNvPr id="51" name="Freeform 51"/>
            <p:cNvSpPr/>
            <p:nvPr/>
          </p:nvSpPr>
          <p:spPr>
            <a:xfrm>
              <a:off x="4495800" y="29051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52" name="Rectangle 52"/>
            <p:cNvSpPr/>
            <p:nvPr/>
          </p:nvSpPr>
          <p:spPr>
            <a:xfrm>
              <a:off x="4572000" y="2171700"/>
              <a:ext cx="3886200" cy="438150"/>
            </a:xfrm>
            <a:prstGeom prst="roundRect">
              <a:avLst>
                <a:gd name="adj" fmla="val 21739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53" name="TextBox 53"/>
            <p:cNvSpPr txBox="1"/>
            <p:nvPr>
              <p:custDataLst>
                <p:tags r:id="rId7"/>
              </p:custDataLst>
            </p:nvPr>
          </p:nvSpPr>
          <p:spPr>
            <a:xfrm>
              <a:off x="5678326" y="2279650"/>
              <a:ext cx="16243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背景服務保留 6 / 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572000" y="2743200"/>
              <a:ext cx="3886200" cy="438150"/>
            </a:xfrm>
            <a:prstGeom prst="roundRect">
              <a:avLst>
                <a:gd name="adj" fmla="val 21739"/>
              </a:avLst>
            </a:prstGeom>
            <a:solidFill>
              <a:srgbClr val="EAF1FE"/>
            </a:solidFill>
            <a:ln>
              <a:noFill/>
            </a:ln>
          </p:spPr>
        </p:sp>
        <p:sp>
          <p:nvSpPr>
            <p:cNvPr id="55" name="TextBox 55"/>
            <p:cNvSpPr txBox="1"/>
            <p:nvPr>
              <p:custDataLst>
                <p:tags r:id="rId8"/>
              </p:custDataLst>
            </p:nvPr>
          </p:nvSpPr>
          <p:spPr>
            <a:xfrm>
              <a:off x="5773907" y="2851150"/>
              <a:ext cx="14331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42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回復完整性 6 / 6</a:t>
              </a:r>
            </a:p>
          </p:txBody>
        </p:sp>
        <p:sp>
          <p:nvSpPr>
            <p:cNvPr id="56" name="TextBox 56"/>
            <p:cNvSpPr txBox="1"/>
            <p:nvPr>
              <p:custDataLst>
                <p:tags r:id="rId9"/>
              </p:custDataLst>
            </p:nvPr>
          </p:nvSpPr>
          <p:spPr>
            <a:xfrm>
              <a:off x="832485" y="3403600"/>
              <a:ext cx="3308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6/6 驗證服務保留與回復；不等同真實攻擊防禦率</a:t>
              </a:r>
            </a:p>
          </p:txBody>
        </p:sp>
        <p:sp>
          <p:nvSpPr>
            <p:cNvPr id="57" name="TextBox 57"/>
            <p:cNvSpPr txBox="1"/>
            <p:nvPr>
              <p:custDataLst>
                <p:tags r:id="rId10"/>
              </p:custDataLst>
            </p:nvPr>
          </p:nvSpPr>
          <p:spPr>
            <a:xfrm>
              <a:off x="9787099" y="2178050"/>
              <a:ext cx="1031552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4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6 / 6</a:t>
              </a:r>
            </a:p>
          </p:txBody>
        </p:sp>
        <p:sp>
          <p:nvSpPr>
            <p:cNvPr id="58" name="TextBox 58"/>
            <p:cNvSpPr txBox="1"/>
            <p:nvPr>
              <p:custDataLst>
                <p:tags r:id="rId11"/>
              </p:custDataLst>
            </p:nvPr>
          </p:nvSpPr>
          <p:spPr>
            <a:xfrm>
              <a:off x="9771063" y="28194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背景保留與回復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09600" y="3867150"/>
              <a:ext cx="10972800" cy="2247900"/>
            </a:xfrm>
            <a:prstGeom prst="roundRect">
              <a:avLst>
                <a:gd name="adj" fmla="val 678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144000" y="3867150"/>
              <a:ext cx="2438400" cy="2247900"/>
            </a:xfrm>
            <a:prstGeom prst="roundRect">
              <a:avLst>
                <a:gd name="adj" fmla="val 6780"/>
              </a:avLst>
            </a:prstGeom>
            <a:solidFill>
              <a:srgbClr val="E2F3F0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38200" y="4076700"/>
              <a:ext cx="514350" cy="2857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2" name="TextBox 62"/>
            <p:cNvSpPr txBox="1"/>
            <p:nvPr>
              <p:custDataLst>
                <p:tags r:id="rId12"/>
              </p:custDataLst>
            </p:nvPr>
          </p:nvSpPr>
          <p:spPr>
            <a:xfrm>
              <a:off x="954836" y="4124325"/>
              <a:ext cx="2398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Segoe UI"/>
                  <a:ea typeface="Microsoft JhengHei"/>
                  <a:cs typeface="Segoe UI"/>
                </a:rPr>
                <a:t>Q6</a:t>
              </a:r>
            </a:p>
          </p:txBody>
        </p:sp>
        <p:sp>
          <p:nvSpPr>
            <p:cNvPr id="63" name="TextBox 63"/>
            <p:cNvSpPr txBox="1"/>
            <p:nvPr>
              <p:custDataLst>
                <p:tags r:id="rId13"/>
              </p:custDataLst>
            </p:nvPr>
          </p:nvSpPr>
          <p:spPr>
            <a:xfrm>
              <a:off x="1496568" y="4083050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65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如何部署、保護資料，並接到既有環境？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38200" y="4533900"/>
              <a:ext cx="7620000" cy="1123950"/>
            </a:xfrm>
            <a:prstGeom prst="roundRect">
              <a:avLst>
                <a:gd name="adj" fmla="val 10169"/>
              </a:avLst>
            </a:prstGeom>
            <a:solidFill>
              <a:schemeClr val="lt1"/>
            </a:solidFill>
            <a:ln w="9525">
              <a:solidFill>
                <a:srgbClr val="DCE3EC"/>
              </a:solidFill>
            </a:ln>
          </p:spPr>
        </p:sp>
        <p:sp>
          <p:nvSpPr>
            <p:cNvPr id="65" name="TextBox 65"/>
            <p:cNvSpPr txBox="1"/>
            <p:nvPr>
              <p:custDataLst>
                <p:tags r:id="rId14"/>
              </p:custDataLst>
            </p:nvPr>
          </p:nvSpPr>
          <p:spPr>
            <a:xfrm>
              <a:off x="1041273" y="4648200"/>
              <a:ext cx="248136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本機工作站</a:t>
              </a:r>
              <a:r>
                <a:rPr lang="en-US" sz="12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 · GPU </a:t>
              </a:r>
              <a:r>
                <a:rPr lang="zh-TW" sz="1280" b="1" dirty="0">
                  <a:solidFill>
                    <a:schemeClr val="accent1"/>
                  </a:solidFill>
                  <a:latin typeface="Segoe UI"/>
                  <a:ea typeface="Microsoft JhengHei"/>
                  <a:cs typeface="Segoe UI"/>
                </a:rPr>
                <a:t>模型與案例庫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990600" y="4972050"/>
              <a:ext cx="161925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1138238" y="5058966"/>
              <a:ext cx="238124" cy="321468"/>
              <a:chOff x="1138238" y="5058966"/>
              <a:chExt cx="238124" cy="321468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1138238" y="5058966"/>
                <a:ext cx="238125" cy="321469"/>
              </a:xfrm>
              <a:prstGeom prst="roundRect">
                <a:avLst>
                  <a:gd name="adj" fmla="val 10000"/>
                </a:avLst>
              </a:prstGeom>
              <a:solidFill>
                <a:schemeClr val="lt1"/>
              </a:solidFill>
              <a:ln w="14883">
                <a:solidFill>
                  <a:schemeClr val="accent1"/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1191816" y="5136356"/>
                <a:ext cx="1369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6922" h="9525">
                    <a:moveTo>
                      <a:pt x="0" y="0"/>
                    </a:moveTo>
                    <a:lnTo>
                      <a:pt x="13692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69" name="Line 69"/>
              <p:cNvSpPr/>
              <p:nvPr/>
            </p:nvSpPr>
            <p:spPr>
              <a:xfrm>
                <a:off x="1191816" y="5201841"/>
                <a:ext cx="1369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6922" h="9525">
                    <a:moveTo>
                      <a:pt x="0" y="0"/>
                    </a:moveTo>
                    <a:lnTo>
                      <a:pt x="13692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70" name="Line 70"/>
              <p:cNvSpPr/>
              <p:nvPr/>
            </p:nvSpPr>
            <p:spPr>
              <a:xfrm>
                <a:off x="1191816" y="5267325"/>
                <a:ext cx="1369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6922" h="9525">
                    <a:moveTo>
                      <a:pt x="0" y="0"/>
                    </a:moveTo>
                    <a:lnTo>
                      <a:pt x="13692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1191816" y="5332809"/>
                <a:ext cx="13692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6922" h="9525">
                    <a:moveTo>
                      <a:pt x="0" y="0"/>
                    </a:moveTo>
                    <a:lnTo>
                      <a:pt x="136922" y="0"/>
                    </a:lnTo>
                  </a:path>
                </a:pathLst>
              </a:custGeom>
              <a:noFill/>
              <a:ln w="11906" cap="rnd">
                <a:solidFill>
                  <a:srgbClr val="9AAAC0"/>
                </a:solidFill>
              </a:ln>
            </p:spPr>
          </p:sp>
        </p:grpSp>
        <p:sp>
          <p:nvSpPr>
            <p:cNvPr id="73" name="TextBox 73"/>
            <p:cNvSpPr txBox="1"/>
            <p:nvPr>
              <p:custDataLst>
                <p:tags r:id="rId15"/>
              </p:custDataLst>
            </p:nvPr>
          </p:nvSpPr>
          <p:spPr>
            <a:xfrm>
              <a:off x="1626921" y="51339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欄位遮罩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2695575" y="51435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857500" y="4972050"/>
              <a:ext cx="161925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2957512" y="5053012"/>
              <a:ext cx="333375" cy="333375"/>
              <a:chOff x="2957512" y="5053012"/>
              <a:chExt cx="333375" cy="333375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3005138" y="5100638"/>
                <a:ext cx="238125" cy="238125"/>
              </a:xfrm>
              <a:prstGeom prst="roundRect">
                <a:avLst>
                  <a:gd name="adj" fmla="val 12500"/>
                </a:avLst>
              </a:prstGeom>
              <a:solidFill>
                <a:schemeClr val="lt1"/>
              </a:solidFill>
              <a:ln w="17859" cap="rnd">
                <a:solidFill>
                  <a:schemeClr val="accent1"/>
                </a:solidFill>
                <a:round/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3070622" y="5166122"/>
                <a:ext cx="107156" cy="107156"/>
              </a:xfrm>
              <a:prstGeom prst="roundRect">
                <a:avLst>
                  <a:gd name="adj" fmla="val 16667"/>
                </a:avLst>
              </a:prstGeom>
              <a:solidFill>
                <a:schemeClr val="lt2"/>
              </a:solidFill>
              <a:ln w="17859" cap="rnd">
                <a:solidFill>
                  <a:schemeClr val="accent1"/>
                </a:solidFill>
                <a:round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957512" y="5053012"/>
                <a:ext cx="33337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333375">
                    <a:moveTo>
                      <a:pt x="101203" y="0"/>
                    </a:moveTo>
                    <a:lnTo>
                      <a:pt x="101203" y="47625"/>
                    </a:lnTo>
                    <a:moveTo>
                      <a:pt x="166688" y="0"/>
                    </a:moveTo>
                    <a:lnTo>
                      <a:pt x="166688" y="47625"/>
                    </a:lnTo>
                    <a:moveTo>
                      <a:pt x="232172" y="0"/>
                    </a:moveTo>
                    <a:lnTo>
                      <a:pt x="232172" y="47625"/>
                    </a:lnTo>
                    <a:moveTo>
                      <a:pt x="101203" y="285750"/>
                    </a:moveTo>
                    <a:lnTo>
                      <a:pt x="101203" y="333375"/>
                    </a:lnTo>
                    <a:moveTo>
                      <a:pt x="166688" y="285750"/>
                    </a:moveTo>
                    <a:lnTo>
                      <a:pt x="166688" y="333375"/>
                    </a:lnTo>
                    <a:moveTo>
                      <a:pt x="232172" y="285750"/>
                    </a:moveTo>
                    <a:lnTo>
                      <a:pt x="232172" y="333375"/>
                    </a:lnTo>
                    <a:moveTo>
                      <a:pt x="0" y="101203"/>
                    </a:moveTo>
                    <a:lnTo>
                      <a:pt x="47625" y="101203"/>
                    </a:lnTo>
                    <a:moveTo>
                      <a:pt x="0" y="166688"/>
                    </a:moveTo>
                    <a:lnTo>
                      <a:pt x="47625" y="166688"/>
                    </a:lnTo>
                    <a:moveTo>
                      <a:pt x="0" y="232172"/>
                    </a:moveTo>
                    <a:lnTo>
                      <a:pt x="47625" y="232172"/>
                    </a:lnTo>
                    <a:moveTo>
                      <a:pt x="285750" y="101203"/>
                    </a:moveTo>
                    <a:lnTo>
                      <a:pt x="333375" y="101203"/>
                    </a:lnTo>
                    <a:moveTo>
                      <a:pt x="285750" y="166688"/>
                    </a:moveTo>
                    <a:lnTo>
                      <a:pt x="333375" y="166688"/>
                    </a:lnTo>
                    <a:moveTo>
                      <a:pt x="285750" y="232172"/>
                    </a:moveTo>
                    <a:lnTo>
                      <a:pt x="333375" y="232172"/>
                    </a:lnTo>
                  </a:path>
                </a:pathLst>
              </a:custGeom>
              <a:noFill/>
              <a:ln w="17859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80" name="TextBox 80"/>
            <p:cNvSpPr txBox="1"/>
            <p:nvPr>
              <p:custDataLst>
                <p:tags r:id="rId16"/>
              </p:custDataLst>
            </p:nvPr>
          </p:nvSpPr>
          <p:spPr>
            <a:xfrm>
              <a:off x="3457092" y="5133975"/>
              <a:ext cx="77566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17 類推論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4562475" y="51435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82" name="Rectangle 82"/>
            <p:cNvSpPr/>
            <p:nvPr/>
          </p:nvSpPr>
          <p:spPr>
            <a:xfrm>
              <a:off x="4724400" y="4972050"/>
              <a:ext cx="161925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4842272" y="5064919"/>
              <a:ext cx="315515" cy="309562"/>
              <a:chOff x="4842272" y="5064919"/>
              <a:chExt cx="315515" cy="309562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4842272" y="5106591"/>
                <a:ext cx="226219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226219" h="238125">
                    <a:moveTo>
                      <a:pt x="0" y="0"/>
                    </a:moveTo>
                    <a:lnTo>
                      <a:pt x="0" y="184547"/>
                    </a:lnTo>
                    <a:cubicBezTo>
                      <a:pt x="0" y="238125"/>
                      <a:pt x="226219" y="238125"/>
                      <a:pt x="226219" y="184547"/>
                    </a:cubicBezTo>
                    <a:lnTo>
                      <a:pt x="226219" y="0"/>
                    </a:lnTo>
                  </a:path>
                </a:pathLst>
              </a:custGeom>
              <a:solidFill>
                <a:schemeClr val="lt1"/>
              </a:solidFill>
              <a:ln w="17859" cap="rnd">
                <a:solidFill>
                  <a:schemeClr val="accent1"/>
                </a:solidFill>
                <a:round/>
              </a:ln>
            </p:spPr>
          </p:sp>
          <p:sp>
            <p:nvSpPr>
              <p:cNvPr id="84" name="Ellipse 84"/>
              <p:cNvSpPr/>
              <p:nvPr/>
            </p:nvSpPr>
            <p:spPr>
              <a:xfrm>
                <a:off x="4842272" y="5064919"/>
                <a:ext cx="226219" cy="83344"/>
              </a:xfrm>
              <a:prstGeom prst="ellipse">
                <a:avLst/>
              </a:prstGeom>
              <a:solidFill>
                <a:schemeClr val="lt1"/>
              </a:solidFill>
              <a:ln w="17859" cap="rnd">
                <a:solidFill>
                  <a:schemeClr val="accent1"/>
                </a:solidFill>
                <a:round/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4842272" y="5189934"/>
                <a:ext cx="226219" cy="53578"/>
              </a:xfrm>
              <a:custGeom>
                <a:avLst/>
                <a:gdLst/>
                <a:ahLst/>
                <a:cxnLst/>
                <a:rect l="l" t="t" r="r" b="b"/>
                <a:pathLst>
                  <a:path w="226219" h="53578">
                    <a:moveTo>
                      <a:pt x="0" y="0"/>
                    </a:moveTo>
                    <a:cubicBezTo>
                      <a:pt x="0" y="53578"/>
                      <a:pt x="226219" y="53578"/>
                      <a:pt x="226219" y="0"/>
                    </a:cubicBezTo>
                  </a:path>
                </a:pathLst>
              </a:custGeom>
              <a:noFill/>
              <a:ln w="17859" cap="rnd">
                <a:solidFill>
                  <a:schemeClr val="accent1"/>
                </a:solidFill>
                <a:round/>
              </a:ln>
            </p:spPr>
          </p:sp>
          <p:sp>
            <p:nvSpPr>
              <p:cNvPr id="86" name="Ellipse 86"/>
              <p:cNvSpPr/>
              <p:nvPr/>
            </p:nvSpPr>
            <p:spPr>
              <a:xfrm>
                <a:off x="4991100" y="5201841"/>
                <a:ext cx="130969" cy="130969"/>
              </a:xfrm>
              <a:prstGeom prst="ellipse">
                <a:avLst/>
              </a:prstGeom>
              <a:solidFill>
                <a:schemeClr val="lt2"/>
              </a:solidFill>
              <a:ln w="17859" cap="rnd">
                <a:solidFill>
                  <a:schemeClr val="accent1"/>
                </a:solidFill>
                <a:round/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5104209" y="5314950"/>
                <a:ext cx="53578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3578" h="59531">
                    <a:moveTo>
                      <a:pt x="0" y="0"/>
                    </a:moveTo>
                    <a:lnTo>
                      <a:pt x="53578" y="59531"/>
                    </a:lnTo>
                  </a:path>
                </a:pathLst>
              </a:custGeom>
              <a:solidFill>
                <a:schemeClr val="lt1"/>
              </a:solidFill>
              <a:ln w="23812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89" name="TextBox 89"/>
            <p:cNvSpPr txBox="1"/>
            <p:nvPr>
              <p:custDataLst>
                <p:tags r:id="rId17"/>
              </p:custDataLst>
            </p:nvPr>
          </p:nvSpPr>
          <p:spPr>
            <a:xfrm>
              <a:off x="5354022" y="5133975"/>
              <a:ext cx="7156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檢索＋</a:t>
              </a:r>
              <a:r>
                <a:rPr lang="en-US" sz="12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AI</a:t>
              </a:r>
            </a:p>
          </p:txBody>
        </p:sp>
        <p:sp>
          <p:nvSpPr>
            <p:cNvPr id="90" name="Freeform 90"/>
            <p:cNvSpPr/>
            <p:nvPr/>
          </p:nvSpPr>
          <p:spPr>
            <a:xfrm>
              <a:off x="6429375" y="514350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</a:path>
              </a:pathLst>
            </a:custGeom>
            <a:noFill/>
            <a:ln w="23812" cap="rnd">
              <a:solidFill>
                <a:srgbClr val="9AAAC0"/>
              </a:solidFill>
              <a:round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591300" y="4972050"/>
              <a:ext cx="1619250" cy="495300"/>
            </a:xfrm>
            <a:prstGeom prst="roundRect">
              <a:avLst>
                <a:gd name="adj" fmla="val 19231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95" name="Group 95"/>
            <p:cNvGrpSpPr/>
            <p:nvPr/>
          </p:nvGrpSpPr>
          <p:grpSpPr>
            <a:xfrm>
              <a:off x="6732984" y="5058966"/>
              <a:ext cx="279798" cy="327421"/>
              <a:chOff x="6732984" y="5058966"/>
              <a:chExt cx="279798" cy="327421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6732984" y="5058966"/>
                <a:ext cx="250031" cy="321469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321469">
                    <a:moveTo>
                      <a:pt x="125016" y="0"/>
                    </a:moveTo>
                    <a:lnTo>
                      <a:pt x="250031" y="53578"/>
                    </a:lnTo>
                    <a:lnTo>
                      <a:pt x="250031" y="148828"/>
                    </a:lnTo>
                    <a:cubicBezTo>
                      <a:pt x="250031" y="226219"/>
                      <a:pt x="190500" y="279797"/>
                      <a:pt x="125016" y="321469"/>
                    </a:cubicBezTo>
                    <a:cubicBezTo>
                      <a:pt x="59531" y="279797"/>
                      <a:pt x="0" y="226219"/>
                      <a:pt x="0" y="148828"/>
                    </a:cubicBezTo>
                    <a:lnTo>
                      <a:pt x="0" y="53578"/>
                    </a:lnTo>
                    <a:close/>
                  </a:path>
                </a:pathLst>
              </a:custGeom>
              <a:solidFill>
                <a:schemeClr val="lt1"/>
              </a:solidFill>
              <a:ln w="17859" cap="rnd">
                <a:solidFill>
                  <a:schemeClr val="accent1"/>
                </a:solidFill>
                <a:round/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6792516" y="5160169"/>
                <a:ext cx="136922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36922" h="95250">
                    <a:moveTo>
                      <a:pt x="0" y="47625"/>
                    </a:moveTo>
                    <a:lnTo>
                      <a:pt x="47625" y="95250"/>
                    </a:lnTo>
                    <a:lnTo>
                      <a:pt x="136922" y="0"/>
                    </a:lnTo>
                  </a:path>
                </a:pathLst>
              </a:custGeom>
              <a:noFill/>
              <a:ln w="23812" cap="rnd">
                <a:solidFill>
                  <a:schemeClr val="accent1"/>
                </a:solidFill>
                <a:round/>
              </a:ln>
            </p:spPr>
          </p:sp>
          <p:sp>
            <p:nvSpPr>
              <p:cNvPr id="94" name="Freeform 94"/>
              <p:cNvSpPr/>
              <p:nvPr/>
            </p:nvSpPr>
            <p:spPr>
              <a:xfrm>
                <a:off x="6935391" y="5285184"/>
                <a:ext cx="77391" cy="101203"/>
              </a:xfrm>
              <a:custGeom>
                <a:avLst/>
                <a:gdLst/>
                <a:ahLst/>
                <a:cxnLst/>
                <a:rect l="l" t="t" r="r" b="b"/>
                <a:pathLst>
                  <a:path w="77391" h="101203">
                    <a:moveTo>
                      <a:pt x="17859" y="0"/>
                    </a:moveTo>
                    <a:lnTo>
                      <a:pt x="77391" y="0"/>
                    </a:lnTo>
                    <a:lnTo>
                      <a:pt x="77391" y="71438"/>
                    </a:lnTo>
                    <a:lnTo>
                      <a:pt x="0" y="71438"/>
                    </a:lnTo>
                    <a:moveTo>
                      <a:pt x="29766" y="41672"/>
                    </a:moveTo>
                    <a:lnTo>
                      <a:pt x="0" y="71438"/>
                    </a:lnTo>
                    <a:lnTo>
                      <a:pt x="29766" y="101203"/>
                    </a:lnTo>
                  </a:path>
                </a:pathLst>
              </a:custGeom>
              <a:noFill/>
              <a:ln w="17859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96" name="TextBox 96"/>
            <p:cNvSpPr txBox="1"/>
            <p:nvPr>
              <p:custDataLst>
                <p:tags r:id="rId18"/>
              </p:custDataLst>
            </p:nvPr>
          </p:nvSpPr>
          <p:spPr>
            <a:xfrm>
              <a:off x="7227621" y="5133975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80" b="1" dirty="0">
                  <a:solidFill>
                    <a:schemeClr val="dk1"/>
                  </a:solidFill>
                  <a:latin typeface="Segoe UI"/>
                  <a:ea typeface="Microsoft JhengHei"/>
                  <a:cs typeface="Segoe UI"/>
                </a:rPr>
                <a:t>策略回條</a:t>
              </a:r>
            </a:p>
          </p:txBody>
        </p:sp>
        <p:sp>
          <p:nvSpPr>
            <p:cNvPr id="97" name="TextBox 97"/>
            <p:cNvSpPr txBox="1"/>
            <p:nvPr>
              <p:custDataLst>
                <p:tags r:id="rId19"/>
              </p:custDataLst>
            </p:nvPr>
          </p:nvSpPr>
          <p:spPr>
            <a:xfrm>
              <a:off x="832485" y="5842000"/>
              <a:ext cx="32773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本機</a:t>
              </a:r>
              <a:r>
                <a:rPr lang="en-US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 AI </a:t>
              </a:r>
              <a:r>
                <a:rPr lang="zh-TW" sz="112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稽核；私有權重、輸入及逐筆回覆不公開</a:t>
              </a:r>
            </a:p>
          </p:txBody>
        </p:sp>
        <p:sp>
          <p:nvSpPr>
            <p:cNvPr id="98" name="TextBox 98"/>
            <p:cNvSpPr txBox="1"/>
            <p:nvPr>
              <p:custDataLst>
                <p:tags r:id="rId20"/>
              </p:custDataLst>
            </p:nvPr>
          </p:nvSpPr>
          <p:spPr>
            <a:xfrm>
              <a:off x="10151775" y="4616450"/>
              <a:ext cx="302197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450" b="1" dirty="0">
                  <a:solidFill>
                    <a:schemeClr val="accent3"/>
                  </a:solidFill>
                  <a:latin typeface="Segoe UI"/>
                  <a:ea typeface="Microsoft JhengHei"/>
                  <a:cs typeface="Segoe UI"/>
                </a:rPr>
                <a:t>0</a:t>
              </a:r>
            </a:p>
          </p:txBody>
        </p:sp>
        <p:sp>
          <p:nvSpPr>
            <p:cNvPr id="99" name="TextBox 99"/>
            <p:cNvSpPr txBox="1"/>
            <p:nvPr>
              <p:custDataLst>
                <p:tags r:id="rId21"/>
              </p:custDataLst>
            </p:nvPr>
          </p:nvSpPr>
          <p:spPr>
            <a:xfrm>
              <a:off x="9841068" y="5257800"/>
              <a:ext cx="10029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外部</a:t>
              </a:r>
              <a:r>
                <a:rPr lang="en-US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 API </a:t>
              </a:r>
              <a:r>
                <a:rPr lang="zh-TW" sz="120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呼叫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604266" y="6400800"/>
            <a:ext cx="10978134" cy="316484"/>
            <a:chOff x="604266" y="6400800"/>
            <a:chExt cx="10978134" cy="316484"/>
          </a:xfrm>
        </p:grpSpPr>
        <p:sp>
          <p:nvSpPr>
            <p:cNvPr id="101" name="Line 101"/>
            <p:cNvSpPr/>
            <p:nvPr/>
          </p:nvSpPr>
          <p:spPr>
            <a:xfrm>
              <a:off x="609600" y="640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 cap="rnd">
              <a:solidFill>
                <a:srgbClr val="DCE3EC"/>
              </a:solidFill>
            </a:ln>
          </p:spPr>
        </p:sp>
        <p:sp>
          <p:nvSpPr>
            <p:cNvPr id="102" name="TextBox 102"/>
            <p:cNvSpPr txBox="1"/>
            <p:nvPr>
              <p:custDataLst>
                <p:tags r:id="rId1"/>
              </p:custDataLst>
            </p:nvPr>
          </p:nvSpPr>
          <p:spPr>
            <a:xfrm>
              <a:off x="604266" y="6511925"/>
              <a:ext cx="18505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AI </a:t>
              </a:r>
              <a:r>
                <a:rPr lang="zh-TW" sz="1050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資安框架 · 資安技術組決賽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8724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89154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rgbClr val="DCE3EC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105900" y="6553200"/>
              <a:ext cx="133350" cy="381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6" name="TextBox 106"/>
            <p:cNvSpPr txBox="1"/>
            <p:nvPr>
              <p:custDataLst>
                <p:tags r:id="rId2"/>
              </p:custDataLst>
            </p:nvPr>
          </p:nvSpPr>
          <p:spPr>
            <a:xfrm>
              <a:off x="10633646" y="6511925"/>
              <a:ext cx="9183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050" b="1" dirty="0">
                  <a:solidFill>
                    <a:srgbClr val="52637A"/>
                  </a:solidFill>
                  <a:latin typeface="Segoe UI"/>
                  <a:ea typeface="Microsoft JhengHei"/>
                  <a:cs typeface="Segoe UI"/>
                </a:rPr>
                <a:t>答詢備用 3 / 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6800003051757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6800003051757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6800003051757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2799987792968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.49999809265136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31.000005722045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31.0000038146972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8.500005722045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8.4999732971191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45.9999752044677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46.0000228881835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9.61000061035156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9.1100006103515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9.37000274658203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10.109985351562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29.609985351562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09.869995117187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30.609985351562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50.109985351562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30.369995117187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51.109985351562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70.609985351562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50.869995117187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1.43000030517578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1.58000183105468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.58000183105468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7.75000286102294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49.2500019073486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10.7500028610229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1.43000030517578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1.58000183105468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1.9299926757812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2.07998657226563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1.9299926757812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2.0799865722656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1.9299926757812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2.07998657226563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1.9299926757812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2.0799865722656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12.4299926757812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12.5800170898437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12.4299926757812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22.0000350475311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44.5000350475311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67.0000350475311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89.50003504753113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12.0000350475311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9.609985351562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0.24998092651367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28.7499876022338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0.24998760223389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1.7500019073486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0.75000381469727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0.7500038146972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0.7500038146972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0.7500038146972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0.7499923706054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9.9999542236328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459999084472656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37000274658203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37000274658203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37000274658203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9.1600036621093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9.45999145507813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9.5499877929687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9.1600036621093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9.4599914550781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9.5499877929687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36.599975585937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36.869995117187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36.9600219726562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36.9600219726562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57.0499877929687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8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490001678466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279998779296875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49.8299865722656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49.5299987792968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2.0800170898437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1.78002929687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7.3700027465820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77.7499637603759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07.3700027465820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77.75004577636719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77.7499618530273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33.5899963378906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33.7099914550781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72.7499537467956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25.2499537467956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7.74995374679565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30.24995374679565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82.7499537467956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49.58999633789063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49.76998901367188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82.25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82.25002670288086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92.2500600814819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82.2500600814819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72.2499809265136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1.84002685546875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2.02001953125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3.4000015258789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519996643066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49.2499961853027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49.2499618530273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86.01998901367188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69.75000381469727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69.75001525878906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06.51998901367188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0.2500038146972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0.25003051757813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27.0200195312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0.75000381469727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0.75003051757813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71.42999267578125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220001220703125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45999908447265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49999237060547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68.5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69.5200195312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39.5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40.5200195312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45999908447265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8.9600219726562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8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8.96002197265625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9.02001953125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9.0200195312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8.4000015258789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49.99999237060547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82.50003719329834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14.999981880188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34000015258789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30.608032226562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34000015258789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88.05786132812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34000015258789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2.46417236328125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.0199966430664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9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9.93000030517578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9.23999786376953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9.959999084472656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70.05000305175781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43.50006103515625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8.9999656677246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9.0000295639038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43.50003242492676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43.50006008148193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28.00003242492676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27.99998092651367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74.45999145507813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8.279998779296875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31.42999267578125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19994354248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09999847412109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35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35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65.2499847412109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65.2499885559082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5.49998474121094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5.49999237060547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25.7499847412109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25.7500534057617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9.99996948242188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43000030517578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8999786376953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200210571289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6.250000953674316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17.83999633789063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36.4999961853027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5.50000381469727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4.50000381469727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13.49993515014648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550003051757813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5.999988555908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6.00001525878906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6.250000953674316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17.83999633789063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36.4999961853027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295.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4.49999618530273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13.50002670288086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65.99996185302734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550003051757813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5.99993515014648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6.00001525878906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200210571289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6.250000953674316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17.83999633789063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58.24996185302734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70.49999237060547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2.4999771118164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55000305175781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5.9999370574951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6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6.250000953674316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17.83999633789063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22.24996185302734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19.499988555908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19.49996948242188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57.999988555908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58.00004959106445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550003051757813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6.00002288818359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5.99998474121094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7.580001831054688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912.4200210571289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6.250000953674316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17.8399963378906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89.75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89.7499961853027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12.99996948242188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13.00004959106445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550003051757813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5.9999771118164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6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6.250000953674316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17.8399963378906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.989997863769531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157.50000381469727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304.5000057220459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51.49994468688965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598.4999885559082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5.550003051757813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5.99993705749512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815.99994659423828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62.549999237060547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LIGNMENT_TARGET_X" val="46.860000610351563"/>
</p:tagLst>
</file>

<file path=ppt/theme/theme1.xml><?xml version="1.0" encoding="utf-8"?>
<a:theme xmlns:a="http://schemas.openxmlformats.org/drawingml/2006/main" name="finals_editorial">
  <a:themeElements>
    <a:clrScheme name="AI Security White Navy Teal">
      <a:dk1>
        <a:srgbClr val="15233A"/>
      </a:dk1>
      <a:lt1>
        <a:srgbClr val="FFFFFF"/>
      </a:lt1>
      <a:dk2>
        <a:srgbClr val="0B1B2E"/>
      </a:dk2>
      <a:lt2>
        <a:srgbClr val="F3F6FA"/>
      </a:lt2>
      <a:accent1>
        <a:srgbClr val="1D4ED8"/>
      </a:accent1>
      <a:accent2>
        <a:srgbClr val="F59E0B"/>
      </a:accent2>
      <a:accent3>
        <a:srgbClr val="0F766E"/>
      </a:accent3>
      <a:accent4>
        <a:srgbClr val="1D4ED8"/>
      </a:accent4>
      <a:accent5>
        <a:srgbClr val="0B1B2E"/>
      </a:accent5>
      <a:accent6>
        <a:srgbClr val="52637A"/>
      </a:accent6>
      <a:hlink>
        <a:srgbClr val="1D4ED8"/>
      </a:hlink>
      <a:folHlink>
        <a:srgbClr val="0B1B2E"/>
      </a:folHlink>
    </a:clrScheme>
    <a:fontScheme name="finals_editorial">
      <a:majorFont>
        <a:latin typeface="Segoe UI"/>
        <a:ea typeface="Microsoft JhengHei"/>
        <a:cs typeface="Segoe UI"/>
        <a:font script="Jpan" typeface="Segoe UI"/>
        <a:font script="Hang" typeface="Segoe UI"/>
        <a:font script="Hans" typeface="Microsoft JhengHei"/>
        <a:font script="Hant" typeface="Microsoft JhengHe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</a:majorFont>
      <a:minorFont>
        <a:latin typeface="Segoe UI"/>
        <a:ea typeface="Microsoft JhengHei"/>
        <a:cs typeface="Segoe UI"/>
        <a:font script="Jpan" typeface="Segoe UI"/>
        <a:font script="Hang" typeface="Segoe UI"/>
        <a:font script="Hans" typeface="Microsoft JhengHei"/>
        <a:font script="Hant" typeface="Microsoft JhengHe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</a:minorFont>
    </a:fontScheme>
    <a:fmtScheme name="finals_edi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inals_editorial">
  <a:themeElements>
    <a:clrScheme name="AI Security White Navy Teal">
      <a:dk1>
        <a:srgbClr val="15233A"/>
      </a:dk1>
      <a:lt1>
        <a:srgbClr val="FFFFFF"/>
      </a:lt1>
      <a:dk2>
        <a:srgbClr val="0B1B2E"/>
      </a:dk2>
      <a:lt2>
        <a:srgbClr val="F3F6FA"/>
      </a:lt2>
      <a:accent1>
        <a:srgbClr val="1D4ED8"/>
      </a:accent1>
      <a:accent2>
        <a:srgbClr val="F59E0B"/>
      </a:accent2>
      <a:accent3>
        <a:srgbClr val="0F766E"/>
      </a:accent3>
      <a:accent4>
        <a:srgbClr val="1D4ED8"/>
      </a:accent4>
      <a:accent5>
        <a:srgbClr val="0B1B2E"/>
      </a:accent5>
      <a:accent6>
        <a:srgbClr val="52637A"/>
      </a:accent6>
      <a:hlink>
        <a:srgbClr val="1D4ED8"/>
      </a:hlink>
      <a:folHlink>
        <a:srgbClr val="0B1B2E"/>
      </a:folHlink>
    </a:clrScheme>
    <a:fontScheme name="finals_editorial">
      <a:majorFont>
        <a:latin typeface="Segoe UI"/>
        <a:ea typeface="Microsoft JhengHei"/>
        <a:cs typeface="Segoe UI"/>
        <a:font script="Jpan" typeface="Segoe UI"/>
        <a:font script="Hang" typeface="Segoe UI"/>
        <a:font script="Hans" typeface="Microsoft JhengHei"/>
        <a:font script="Hant" typeface="Microsoft JhengHe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</a:majorFont>
      <a:minorFont>
        <a:latin typeface="Segoe UI"/>
        <a:ea typeface="Microsoft JhengHei"/>
        <a:cs typeface="Segoe UI"/>
        <a:font script="Jpan" typeface="Segoe UI"/>
        <a:font script="Hang" typeface="Segoe UI"/>
        <a:font script="Hans" typeface="Microsoft JhengHei"/>
        <a:font script="Hant" typeface="Microsoft JhengHei"/>
        <a:font script="Arab" typeface="Segoe UI"/>
        <a:font script="Hebr" typeface="Segoe UI"/>
        <a:font script="Thai" typeface="Segoe UI"/>
        <a:font script="Ethi" typeface="Segoe UI"/>
        <a:font script="Beng" typeface="Segoe UI"/>
        <a:font script="Gujr" typeface="Segoe UI"/>
        <a:font script="Khmr" typeface="Segoe UI"/>
        <a:font script="Knda" typeface="Segoe UI"/>
        <a:font script="Guru" typeface="Segoe UI"/>
        <a:font script="Cans" typeface="Segoe UI"/>
        <a:font script="Cher" typeface="Segoe UI"/>
        <a:font script="Yiii" typeface="Segoe UI"/>
        <a:font script="Tibt" typeface="Segoe UI"/>
        <a:font script="Thaa" typeface="Segoe UI"/>
        <a:font script="Deva" typeface="Segoe UI"/>
        <a:font script="Telu" typeface="Segoe UI"/>
        <a:font script="Taml" typeface="Segoe UI"/>
        <a:font script="Syrc" typeface="Segoe UI"/>
        <a:font script="Orya" typeface="Segoe UI"/>
        <a:font script="Mlym" typeface="Segoe UI"/>
        <a:font script="Laoo" typeface="Segoe UI"/>
        <a:font script="Sinh" typeface="Segoe UI"/>
        <a:font script="Mong" typeface="Segoe UI"/>
        <a:font script="Viet" typeface="Segoe UI"/>
        <a:font script="Uigh" typeface="Segoe UI"/>
        <a:font script="Geor" typeface="Segoe UI"/>
      </a:minorFont>
    </a:fontScheme>
    <a:fmtScheme name="finals_edi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2275</Words>
  <Application>Microsoft Office PowerPoint</Application>
  <PresentationFormat>寬螢幕</PresentationFormat>
  <Paragraphs>309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4" baseType="lpstr">
      <vt:lpstr>Segoe UI</vt:lpstr>
      <vt:lpstr>finals_editorial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2</cp:revision>
  <dcterms:created xsi:type="dcterms:W3CDTF">2026-10-30T13:05:21Z</dcterms:created>
  <dcterms:modified xsi:type="dcterms:W3CDTF">2026-10-30T13:14:32Z</dcterms:modified>
  <cp:category/>
  <cp:contentStatus/>
  <dc:language>zh-TW</dc:language>
</cp:coreProperties>
</file>