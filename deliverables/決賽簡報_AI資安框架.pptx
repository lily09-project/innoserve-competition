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  <Relationship Id="rId15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TW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我們的作品將入侵偵測、案例檢索、AI稽核與受控處置，整合在同一條事件鏈。前段產生判定與模型表徵，後段依相似案例核對證據，最後留下可驗證、可回復的處置回條。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前段以兩種互補特徵平行判斷，並非先後串行。CTBM閱讀封包內容、時間差與方向；PBCNN補充短視窗位元組模式。校準後由OOF Gate依事件證據融合，輸出固定十七類，並保留信心與表徵交給後段。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後段不是只把類別名稱送進語言模型。我們結合五百一十二維流量表徵與十七維類別機率，建立任務向量，查詢只由訓練資料建立的案例庫。前五筆案例與類別共識交給本機AI核對，回傳支持、複核或不確定，連同正式分類留在同一事件紀錄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處置由政策閘門檢查範圍、白名單與有效期，通過後才套用並讀回規則，再於到期撤銷。六種隔離情境包含四種實際套用規則、兩種監測或蒐證；背景服務六種皆保留，回復完整性六種皆通過。這些結果量測隔離TCP交易與回條，不代表原始攻擊封包或正式場域的防禦率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我們以十七類真實前處理張量重跑整合鏈，並以六種隔離情境確認處置回條與回復行為。作品把偵測、證據與處置放在同一個框架，讓判斷有依據、稽核有證據、處置可回復。前面播放的三十秒動畫以兩倍速說明流程，並可搭配本機執行紀錄展示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43cf26b65394a5.pn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dc347da870737c4.png"/>
  <Relationship Id="rId3" Type="http://schemas.openxmlformats.org/officeDocument/2006/relationships/image" Target="../media/image_62ff4032e3a157d7.png"/>
  <Relationship Id="rId4" Type="http://schemas.openxmlformats.org/officeDocument/2006/relationships/image" Target="../media/image_e0bb307f87d4970c.png"/>
  <Relationship Id="rId5" Type="http://schemas.openxmlformats.org/officeDocument/2006/relationships/image" Target="../media/image_1143cf26b65394a5.png"/>
  <Relationship Id="rId6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dc347da870737c4.png"/>
  <Relationship Id="rId3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0bb307f87d4970c.pn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43cf26b65394a5.png"/>
  <Relationship Id="rId3" Type="http://schemas.openxmlformats.org/officeDocument/2006/relationships/notesSlide" Target="../notesSlides/notesSlide8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2742" y="463550"/>
            <a:ext cx="198238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b="1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2026 資安技術組 · 決賽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3217" y="1568450"/>
            <a:ext cx="6101436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融合新型內容相依時序方向模型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3217" y="2216150"/>
            <a:ext cx="6534912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入侵偵測與任務導向檢索增強稽核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3217" y="2863850"/>
            <a:ext cx="2864267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之 AI 資安框架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8932" y="4222750"/>
            <a:ext cx="426186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從流量判定，走到有證據的處置。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609600" y="4953000"/>
            <a:ext cx="253365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868591" y="5105400"/>
            <a:ext cx="2015669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TW" sz="128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 → 檢索 → 稽核 → 回復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3667125"/>
            <a:ext cx="2381250" cy="238125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0068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FRAMEWORK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4920234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一個框架，四個連續階段</a:t>
            </a:r>
          </a:p>
        </p:txBody>
      </p:sp>
      <p:sp>
        <p:nvSpPr>
          <p:cNvPr id="4" name="Rectangle 4"/>
          <p:cNvSpPr/>
          <p:nvPr/>
        </p:nvSpPr>
        <p:spPr>
          <a:xfrm>
            <a:off x="152400" y="1504950"/>
            <a:ext cx="2152650" cy="1952625"/>
          </a:xfrm>
          <a:prstGeom prst="roundRect">
            <a:avLst>
              <a:gd name="adj" fmla="val 3902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314706" y="1593850"/>
            <a:ext cx="120381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a 流量表徵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543050"/>
            <a:ext cx="323850" cy="32385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315849" y="2085975"/>
            <a:ext cx="1504899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8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真實前處理張量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5468" y="2501900"/>
            <a:ext cx="90525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封包內容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15468" y="2806700"/>
            <a:ext cx="134950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時間差・方向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6230" y="3105150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遮罩欄位・流量切窗</a:t>
            </a:r>
          </a:p>
        </p:txBody>
      </p:sp>
      <p:sp>
        <p:nvSpPr>
          <p:cNvPr id="11" name="Rectangle 11"/>
          <p:cNvSpPr/>
          <p:nvPr/>
        </p:nvSpPr>
        <p:spPr>
          <a:xfrm>
            <a:off x="2533650" y="1504950"/>
            <a:ext cx="9505950" cy="1952625"/>
          </a:xfrm>
          <a:prstGeom prst="roundRect">
            <a:avLst>
              <a:gd name="adj" fmla="val 3902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pic>
        <p:nvPicPr>
          <p:cNvPr id="12" name="Imag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050" y="1562100"/>
            <a:ext cx="342900" cy="3429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3115056" y="1593850"/>
            <a:ext cx="260561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b 互補模型與 17 類判定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781300" y="2019300"/>
            <a:ext cx="2857500" cy="571500"/>
          </a:xfrm>
          <a:prstGeom prst="roundRect">
            <a:avLst>
              <a:gd name="adj" fmla="val 13333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2943606" y="2051050"/>
            <a:ext cx="66348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CTBM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45130" y="2305050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內容・時間差・方向</a:t>
            </a:r>
          </a:p>
        </p:txBody>
      </p:sp>
      <p:sp>
        <p:nvSpPr>
          <p:cNvPr id="17" name="Rectangle 17"/>
          <p:cNvSpPr/>
          <p:nvPr/>
        </p:nvSpPr>
        <p:spPr>
          <a:xfrm>
            <a:off x="2781300" y="2762250"/>
            <a:ext cx="2857500" cy="571500"/>
          </a:xfrm>
          <a:prstGeom prst="roundRect">
            <a:avLst>
              <a:gd name="adj" fmla="val 13333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2943606" y="2794000"/>
            <a:ext cx="75758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PBCNN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945130" y="3048000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短窗位元組模式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286500" y="2209800"/>
            <a:ext cx="2647950" cy="857250"/>
          </a:xfrm>
          <a:prstGeom prst="roundRect">
            <a:avLst>
              <a:gd name="adj" fmla="val 8889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6486906" y="2308225"/>
            <a:ext cx="194034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校準＋OOF Gate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87668" y="2673350"/>
            <a:ext cx="157162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依事件證據融合</a:t>
            </a:r>
          </a:p>
        </p:txBody>
      </p:sp>
      <p:sp>
        <p:nvSpPr>
          <p:cNvPr id="23" name="Rectangle 23"/>
          <p:cNvSpPr/>
          <p:nvPr/>
        </p:nvSpPr>
        <p:spPr>
          <a:xfrm>
            <a:off x="9201150" y="2209800"/>
            <a:ext cx="2628900" cy="857250"/>
          </a:xfrm>
          <a:prstGeom prst="roundRect">
            <a:avLst>
              <a:gd name="adj" fmla="val 8889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9382506" y="2308225"/>
            <a:ext cx="1586073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17 類正式判定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84030" y="2686050"/>
            <a:ext cx="210521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512 維表徵＋17 維機率</a:t>
            </a:r>
          </a:p>
        </p:txBody>
      </p:sp>
      <p:sp>
        <p:nvSpPr>
          <p:cNvPr id="26" name="Freeform 26"/>
          <p:cNvSpPr/>
          <p:nvPr/>
        </p:nvSpPr>
        <p:spPr>
          <a:xfrm>
            <a:off x="2305050" y="2305050"/>
            <a:ext cx="476250" cy="171450"/>
          </a:xfrm>
          <a:custGeom>
            <a:avLst/>
            <a:gdLst/>
            <a:ahLst/>
            <a:cxnLst/>
            <a:rect l="l" t="t" r="r" b="b"/>
            <a:pathLst>
              <a:path w="476250" h="171450">
                <a:moveTo>
                  <a:pt x="0" y="171450"/>
                </a:moveTo>
                <a:lnTo>
                  <a:pt x="361950" y="171450"/>
                </a:lnTo>
                <a:lnTo>
                  <a:pt x="361950" y="0"/>
                </a:lnTo>
                <a:lnTo>
                  <a:pt x="47625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27" name="Freeform 27"/>
          <p:cNvSpPr/>
          <p:nvPr/>
        </p:nvSpPr>
        <p:spPr>
          <a:xfrm>
            <a:off x="2714625" y="2257425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28" name="Freeform 28"/>
          <p:cNvSpPr/>
          <p:nvPr/>
        </p:nvSpPr>
        <p:spPr>
          <a:xfrm>
            <a:off x="2667000" y="2476500"/>
            <a:ext cx="114300" cy="571500"/>
          </a:xfrm>
          <a:custGeom>
            <a:avLst/>
            <a:gdLst/>
            <a:ahLst/>
            <a:cxnLst/>
            <a:rect l="l" t="t" r="r" b="b"/>
            <a:pathLst>
              <a:path w="114300" h="571500">
                <a:moveTo>
                  <a:pt x="0" y="0"/>
                </a:moveTo>
                <a:lnTo>
                  <a:pt x="0" y="571500"/>
                </a:lnTo>
                <a:lnTo>
                  <a:pt x="114300" y="57150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29" name="Freeform 29"/>
          <p:cNvSpPr/>
          <p:nvPr/>
        </p:nvSpPr>
        <p:spPr>
          <a:xfrm>
            <a:off x="2714625" y="3000375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0" name="Freeform 30"/>
          <p:cNvSpPr/>
          <p:nvPr/>
        </p:nvSpPr>
        <p:spPr>
          <a:xfrm>
            <a:off x="5638800" y="2305050"/>
            <a:ext cx="647700" cy="333375"/>
          </a:xfrm>
          <a:custGeom>
            <a:avLst/>
            <a:gdLst/>
            <a:ahLst/>
            <a:cxnLst/>
            <a:rect l="l" t="t" r="r" b="b"/>
            <a:pathLst>
              <a:path w="647700" h="333375">
                <a:moveTo>
                  <a:pt x="0" y="0"/>
                </a:moveTo>
                <a:lnTo>
                  <a:pt x="314325" y="0"/>
                </a:lnTo>
                <a:lnTo>
                  <a:pt x="314325" y="333375"/>
                </a:lnTo>
                <a:lnTo>
                  <a:pt x="647700" y="333375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1" name="Freeform 31"/>
          <p:cNvSpPr/>
          <p:nvPr/>
        </p:nvSpPr>
        <p:spPr>
          <a:xfrm>
            <a:off x="6219825" y="259080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2" name="Freeform 32"/>
          <p:cNvSpPr/>
          <p:nvPr/>
        </p:nvSpPr>
        <p:spPr>
          <a:xfrm>
            <a:off x="5638800" y="2638425"/>
            <a:ext cx="647700" cy="409575"/>
          </a:xfrm>
          <a:custGeom>
            <a:avLst/>
            <a:gdLst/>
            <a:ahLst/>
            <a:cxnLst/>
            <a:rect l="l" t="t" r="r" b="b"/>
            <a:pathLst>
              <a:path w="647700" h="409575">
                <a:moveTo>
                  <a:pt x="0" y="409575"/>
                </a:moveTo>
                <a:lnTo>
                  <a:pt x="314325" y="409575"/>
                </a:lnTo>
                <a:lnTo>
                  <a:pt x="314325" y="0"/>
                </a:lnTo>
                <a:lnTo>
                  <a:pt x="64770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3" name="Freeform 33"/>
          <p:cNvSpPr/>
          <p:nvPr/>
        </p:nvSpPr>
        <p:spPr>
          <a:xfrm>
            <a:off x="6219825" y="259080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4" name="Freeform 34"/>
          <p:cNvSpPr/>
          <p:nvPr/>
        </p:nvSpPr>
        <p:spPr>
          <a:xfrm>
            <a:off x="8934450" y="2638425"/>
            <a:ext cx="266700" cy="9525"/>
          </a:xfrm>
          <a:custGeom>
            <a:avLst/>
            <a:gdLst/>
            <a:ahLst/>
            <a:cxnLst/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5" name="Freeform 35"/>
          <p:cNvSpPr/>
          <p:nvPr/>
        </p:nvSpPr>
        <p:spPr>
          <a:xfrm>
            <a:off x="9134475" y="259080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152400" y="4038600"/>
            <a:ext cx="8001000" cy="177165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pic>
        <p:nvPicPr>
          <p:cNvPr id="37" name="Imag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" y="4095750"/>
            <a:ext cx="342900" cy="342900"/>
          </a:xfrm>
          <a:prstGeom prst="rect">
            <a:avLst/>
          </a:prstGeom>
        </p:spPr>
      </p:pic>
      <p:sp>
        <p:nvSpPr>
          <p:cNvPr id="38" name="TextBox 38"/>
          <p:cNvSpPr txBox="1"/>
          <p:nvPr/>
        </p:nvSpPr>
        <p:spPr>
          <a:xfrm>
            <a:off x="752856" y="4127500"/>
            <a:ext cx="280520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c 任務導向檢索與 AI 稽核</a:t>
            </a:r>
          </a:p>
        </p:txBody>
      </p:sp>
      <p:sp>
        <p:nvSpPr>
          <p:cNvPr id="39" name="Rectangle 39"/>
          <p:cNvSpPr/>
          <p:nvPr/>
        </p:nvSpPr>
        <p:spPr>
          <a:xfrm>
            <a:off x="381000" y="4591050"/>
            <a:ext cx="1809750" cy="781050"/>
          </a:xfrm>
          <a:prstGeom prst="roundRect">
            <a:avLst>
              <a:gd name="adj" fmla="val 9756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505968" y="4711700"/>
            <a:ext cx="158217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529 維任務向量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06730" y="5019675"/>
            <a:ext cx="91973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L2 正規化</a:t>
            </a:r>
          </a:p>
        </p:txBody>
      </p:sp>
      <p:sp>
        <p:nvSpPr>
          <p:cNvPr id="42" name="Rectangle 42"/>
          <p:cNvSpPr/>
          <p:nvPr/>
        </p:nvSpPr>
        <p:spPr>
          <a:xfrm>
            <a:off x="2476500" y="4591050"/>
            <a:ext cx="2324100" cy="781050"/>
          </a:xfrm>
          <a:prstGeom prst="roundRect">
            <a:avLst>
              <a:gd name="adj" fmla="val 9756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2601468" y="4711700"/>
            <a:ext cx="163002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Top-5 相似案例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602230" y="5019675"/>
            <a:ext cx="163068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僅訓練資料案例庫</a:t>
            </a:r>
          </a:p>
        </p:txBody>
      </p:sp>
      <p:sp>
        <p:nvSpPr>
          <p:cNvPr id="45" name="Rectangle 45"/>
          <p:cNvSpPr/>
          <p:nvPr/>
        </p:nvSpPr>
        <p:spPr>
          <a:xfrm>
            <a:off x="5143500" y="4591050"/>
            <a:ext cx="2781300" cy="781050"/>
          </a:xfrm>
          <a:prstGeom prst="roundRect">
            <a:avLst>
              <a:gd name="adj" fmla="val 9756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5268468" y="4711700"/>
            <a:ext cx="12625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本機 AI 稽核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269230" y="5019675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支持／複核／不確定</a:t>
            </a:r>
          </a:p>
        </p:txBody>
      </p:sp>
      <p:sp>
        <p:nvSpPr>
          <p:cNvPr id="48" name="Freeform 48"/>
          <p:cNvSpPr/>
          <p:nvPr/>
        </p:nvSpPr>
        <p:spPr>
          <a:xfrm>
            <a:off x="47625" y="3067050"/>
            <a:ext cx="10467975" cy="1914525"/>
          </a:xfrm>
          <a:custGeom>
            <a:avLst/>
            <a:gdLst/>
            <a:ahLst/>
            <a:cxnLst/>
            <a:rect l="l" t="t" r="r" b="b"/>
            <a:pathLst>
              <a:path w="10467975" h="1914525">
                <a:moveTo>
                  <a:pt x="10467975" y="0"/>
                </a:moveTo>
                <a:lnTo>
                  <a:pt x="10467975" y="657225"/>
                </a:lnTo>
                <a:lnTo>
                  <a:pt x="0" y="657225"/>
                </a:lnTo>
                <a:lnTo>
                  <a:pt x="0" y="1914525"/>
                </a:lnTo>
                <a:lnTo>
                  <a:pt x="333375" y="1914525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49" name="Freeform 49"/>
          <p:cNvSpPr/>
          <p:nvPr/>
        </p:nvSpPr>
        <p:spPr>
          <a:xfrm>
            <a:off x="314325" y="493395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4564380" y="3435350"/>
            <a:ext cx="26822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ja-JP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正式類別・信心・模型表徵</a:t>
            </a:r>
          </a:p>
        </p:txBody>
      </p:sp>
      <p:sp>
        <p:nvSpPr>
          <p:cNvPr id="51" name="Freeform 51"/>
          <p:cNvSpPr/>
          <p:nvPr/>
        </p:nvSpPr>
        <p:spPr>
          <a:xfrm>
            <a:off x="2190750" y="498157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2" name="Freeform 52"/>
          <p:cNvSpPr/>
          <p:nvPr/>
        </p:nvSpPr>
        <p:spPr>
          <a:xfrm>
            <a:off x="2409825" y="493395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3" name="Freeform 53"/>
          <p:cNvSpPr/>
          <p:nvPr/>
        </p:nvSpPr>
        <p:spPr>
          <a:xfrm>
            <a:off x="4800600" y="49815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4" name="Freeform 54"/>
          <p:cNvSpPr/>
          <p:nvPr/>
        </p:nvSpPr>
        <p:spPr>
          <a:xfrm>
            <a:off x="5076825" y="493395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3107055" y="5486400"/>
            <a:ext cx="102489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TW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訓練案例庫</a:t>
            </a:r>
          </a:p>
        </p:txBody>
      </p:sp>
      <p:sp>
        <p:nvSpPr>
          <p:cNvPr id="56" name="Freeform 56"/>
          <p:cNvSpPr/>
          <p:nvPr/>
        </p:nvSpPr>
        <p:spPr>
          <a:xfrm>
            <a:off x="3619500" y="5372100"/>
            <a:ext cx="9525" cy="114300"/>
          </a:xfrm>
          <a:custGeom>
            <a:avLst/>
            <a:gdLst/>
            <a:ahLst/>
            <a:cxnLst/>
            <a:rect l="l" t="t" r="r" b="b"/>
            <a:pathLst>
              <a:path w="9525" h="114300">
                <a:moveTo>
                  <a:pt x="0" y="11430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6B6B6B"/>
            </a:solidFill>
            <a:custDash>
              <a:ds d="250000" sp="200000"/>
            </a:custDash>
          </a:ln>
        </p:spPr>
      </p:sp>
      <p:sp>
        <p:nvSpPr>
          <p:cNvPr id="57" name="Freeform 57"/>
          <p:cNvSpPr/>
          <p:nvPr/>
        </p:nvSpPr>
        <p:spPr>
          <a:xfrm>
            <a:off x="3571875" y="5372100"/>
            <a:ext cx="95250" cy="66675"/>
          </a:xfrm>
          <a:custGeom>
            <a:avLst/>
            <a:gdLst/>
            <a:ahLst/>
            <a:cxnLst/>
            <a:rect l="l" t="t" r="r" b="b"/>
            <a:pathLst>
              <a:path w="95250" h="66675">
                <a:moveTo>
                  <a:pt x="0" y="66675"/>
                </a:moveTo>
                <a:lnTo>
                  <a:pt x="47625" y="0"/>
                </a:lnTo>
                <a:lnTo>
                  <a:pt x="95250" y="66675"/>
                </a:lnTo>
              </a:path>
            </a:pathLst>
          </a:custGeom>
          <a:noFill/>
          <a:ln w="19050">
            <a:solidFill>
              <a:srgbClr val="6B6B6B"/>
            </a:solidFill>
          </a:ln>
        </p:spPr>
      </p:sp>
      <p:sp>
        <p:nvSpPr>
          <p:cNvPr id="58" name="TextBox 58"/>
          <p:cNvSpPr txBox="1"/>
          <p:nvPr/>
        </p:nvSpPr>
        <p:spPr>
          <a:xfrm>
            <a:off x="5269230" y="5486400"/>
            <a:ext cx="163068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稽核保留正式分類</a:t>
            </a:r>
          </a:p>
        </p:txBody>
      </p:sp>
      <p:sp>
        <p:nvSpPr>
          <p:cNvPr id="59" name="Rectangle 59"/>
          <p:cNvSpPr/>
          <p:nvPr/>
        </p:nvSpPr>
        <p:spPr>
          <a:xfrm>
            <a:off x="8382000" y="4038600"/>
            <a:ext cx="3657600" cy="177165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pic>
        <p:nvPicPr>
          <p:cNvPr id="60" name="Image 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3450" y="4086225"/>
            <a:ext cx="342900" cy="342900"/>
          </a:xfrm>
          <a:prstGeom prst="rect">
            <a:avLst/>
          </a:prstGeom>
        </p:spPr>
      </p:pic>
      <p:sp>
        <p:nvSpPr>
          <p:cNvPr id="61" name="TextBox 61"/>
          <p:cNvSpPr txBox="1"/>
          <p:nvPr/>
        </p:nvSpPr>
        <p:spPr>
          <a:xfrm>
            <a:off x="8982456" y="4127500"/>
            <a:ext cx="193076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d 受控處置與回復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601456" y="4603750"/>
            <a:ext cx="175084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策略檢查 → 套用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601456" y="4956175"/>
            <a:ext cx="175084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讀回 → 到期撤銷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8602980" y="5457825"/>
            <a:ext cx="18629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複核／不確定 → 蒐證</a:t>
            </a:r>
          </a:p>
        </p:txBody>
      </p:sp>
      <p:sp>
        <p:nvSpPr>
          <p:cNvPr id="65" name="Freeform 65"/>
          <p:cNvSpPr/>
          <p:nvPr/>
        </p:nvSpPr>
        <p:spPr>
          <a:xfrm>
            <a:off x="7924800" y="4981575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66" name="Freeform 66"/>
          <p:cNvSpPr/>
          <p:nvPr/>
        </p:nvSpPr>
        <p:spPr>
          <a:xfrm>
            <a:off x="8315325" y="493395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67" name="Rectangle 67"/>
          <p:cNvSpPr/>
          <p:nvPr/>
        </p:nvSpPr>
        <p:spPr>
          <a:xfrm>
            <a:off x="152400" y="5962650"/>
            <a:ext cx="11887200" cy="361950"/>
          </a:xfrm>
          <a:prstGeom prst="roundRect">
            <a:avLst>
              <a:gd name="adj" fmla="val 21053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2918174" y="6007100"/>
            <a:ext cx="635565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共用事件 ID：正式判定｜Top-5 證據｜AI 稽核｜處置與回復回條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02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89038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DETECTION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創新一：讓互補模型共同判斷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2095500"/>
            <a:ext cx="2000250" cy="2095500"/>
          </a:xfrm>
          <a:prstGeom prst="roundRect">
            <a:avLst>
              <a:gd name="adj" fmla="val 3810"/>
            </a:avLst>
          </a:prstGeom>
          <a:solidFill>
            <a:schemeClr val="accent3"/>
          </a:solidFill>
          <a:ln>
            <a:noFill/>
          </a:ln>
        </p:spPr>
      </p:sp>
      <p:pic>
        <p:nvPicPr>
          <p:cNvPr id="5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2257425"/>
            <a:ext cx="1047750" cy="104775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895731" y="3546475"/>
            <a:ext cx="147218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同一流量輸入</a:t>
            </a:r>
          </a:p>
        </p:txBody>
      </p:sp>
      <p:sp>
        <p:nvSpPr>
          <p:cNvPr id="7" name="Rectangle 7"/>
          <p:cNvSpPr/>
          <p:nvPr/>
        </p:nvSpPr>
        <p:spPr>
          <a:xfrm>
            <a:off x="3524250" y="1809750"/>
            <a:ext cx="3238500" cy="123825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779520" y="1958975"/>
            <a:ext cx="829361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25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CTBM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781806" y="2470150"/>
            <a:ext cx="219913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80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內容・時間差・方向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524250" y="3524250"/>
            <a:ext cx="3238500" cy="123825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779520" y="3673475"/>
            <a:ext cx="946976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25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PBCNN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81806" y="4184650"/>
            <a:ext cx="171450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短窗位元組模式</a:t>
            </a:r>
          </a:p>
        </p:txBody>
      </p:sp>
      <p:sp>
        <p:nvSpPr>
          <p:cNvPr id="13" name="Freeform 13"/>
          <p:cNvSpPr/>
          <p:nvPr/>
        </p:nvSpPr>
        <p:spPr>
          <a:xfrm>
            <a:off x="2609850" y="2428875"/>
            <a:ext cx="5676900" cy="1714500"/>
          </a:xfrm>
          <a:custGeom>
            <a:avLst/>
            <a:gdLst/>
            <a:ahLst/>
            <a:cxnLst/>
            <a:rect l="l" t="t" r="r" b="b"/>
            <a:pathLst>
              <a:path w="5676900" h="1714500">
                <a:moveTo>
                  <a:pt x="0" y="714375"/>
                </a:moveTo>
                <a:lnTo>
                  <a:pt x="457200" y="714375"/>
                </a:lnTo>
                <a:lnTo>
                  <a:pt x="457200" y="0"/>
                </a:lnTo>
                <a:lnTo>
                  <a:pt x="914400" y="0"/>
                </a:lnTo>
                <a:moveTo>
                  <a:pt x="457200" y="714375"/>
                </a:moveTo>
                <a:lnTo>
                  <a:pt x="457200" y="1714500"/>
                </a:lnTo>
                <a:lnTo>
                  <a:pt x="914400" y="1714500"/>
                </a:lnTo>
                <a:moveTo>
                  <a:pt x="4152900" y="0"/>
                </a:moveTo>
                <a:lnTo>
                  <a:pt x="4819650" y="0"/>
                </a:lnTo>
                <a:lnTo>
                  <a:pt x="4819650" y="857250"/>
                </a:lnTo>
                <a:lnTo>
                  <a:pt x="5676900" y="857250"/>
                </a:lnTo>
                <a:moveTo>
                  <a:pt x="4152900" y="1714500"/>
                </a:moveTo>
                <a:lnTo>
                  <a:pt x="4819650" y="1714500"/>
                </a:lnTo>
                <a:lnTo>
                  <a:pt x="4819650" y="857250"/>
                </a:lnTo>
              </a:path>
            </a:pathLst>
          </a:custGeom>
          <a:noFill/>
          <a:ln w="28575">
            <a:solidFill>
              <a:schemeClr val="accent2"/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3467100" y="2371725"/>
            <a:ext cx="4819650" cy="1828800"/>
          </a:xfrm>
          <a:custGeom>
            <a:avLst/>
            <a:gdLst/>
            <a:ahLst/>
            <a:cxnLst/>
            <a:rect l="l" t="t" r="r" b="b"/>
            <a:pathLst>
              <a:path w="4819650" h="1828800">
                <a:moveTo>
                  <a:pt x="0" y="0"/>
                </a:moveTo>
                <a:lnTo>
                  <a:pt x="57150" y="57150"/>
                </a:lnTo>
                <a:lnTo>
                  <a:pt x="0" y="114300"/>
                </a:lnTo>
                <a:moveTo>
                  <a:pt x="0" y="1714500"/>
                </a:moveTo>
                <a:lnTo>
                  <a:pt x="57150" y="1771650"/>
                </a:lnTo>
                <a:lnTo>
                  <a:pt x="0" y="1828800"/>
                </a:lnTo>
                <a:moveTo>
                  <a:pt x="4762500" y="857250"/>
                </a:moveTo>
                <a:lnTo>
                  <a:pt x="4819650" y="914400"/>
                </a:lnTo>
                <a:lnTo>
                  <a:pt x="4762500" y="971550"/>
                </a:lnTo>
              </a:path>
            </a:pathLst>
          </a:custGeom>
          <a:noFill/>
          <a:ln w="28575">
            <a:solidFill>
              <a:schemeClr val="accent2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8286750" y="2571750"/>
            <a:ext cx="3295650" cy="142875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522970" y="2787650"/>
            <a:ext cx="235429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2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校準＋OOF Gate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525256" y="3346450"/>
            <a:ext cx="171450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依事件證據融合</a:t>
            </a:r>
          </a:p>
        </p:txBody>
      </p:sp>
      <p:sp>
        <p:nvSpPr>
          <p:cNvPr id="18" name="Rectangle 18"/>
          <p:cNvSpPr/>
          <p:nvPr/>
        </p:nvSpPr>
        <p:spPr>
          <a:xfrm>
            <a:off x="609600" y="5238750"/>
            <a:ext cx="10972800" cy="53340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29056" y="5384800"/>
            <a:ext cx="576117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固定 17 類輸出，連同校準信心與模型表徵交給後端。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03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75596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EVIDENCE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創新二：用任務證據完成稽核</a:t>
            </a:r>
          </a:p>
        </p:txBody>
      </p:sp>
      <p:pic>
        <p:nvPicPr>
          <p:cNvPr id="4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33550"/>
            <a:ext cx="2381250" cy="2381250"/>
          </a:xfrm>
          <a:prstGeom prst="rect">
            <a:avLst/>
          </a:prstGeom>
        </p:spPr>
      </p:pic>
      <p:sp>
        <p:nvSpPr>
          <p:cNvPr id="5" name="Rectangle 5"/>
          <p:cNvSpPr/>
          <p:nvPr/>
        </p:nvSpPr>
        <p:spPr>
          <a:xfrm>
            <a:off x="3333750" y="1743075"/>
            <a:ext cx="8248650" cy="904875"/>
          </a:xfrm>
          <a:prstGeom prst="roundRect">
            <a:avLst>
              <a:gd name="adj" fmla="val 8421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3551682" y="1803400"/>
            <a:ext cx="2240547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512＋17 → 529 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53968" y="2216150"/>
            <a:ext cx="357073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流量表徵＋類別機率，建立任務向量</a:t>
            </a:r>
          </a:p>
        </p:txBody>
      </p:sp>
      <p:sp>
        <p:nvSpPr>
          <p:cNvPr id="8" name="Rectangle 8"/>
          <p:cNvSpPr/>
          <p:nvPr/>
        </p:nvSpPr>
        <p:spPr>
          <a:xfrm>
            <a:off x="3333750" y="2847975"/>
            <a:ext cx="8248650" cy="904875"/>
          </a:xfrm>
          <a:prstGeom prst="roundRect">
            <a:avLst>
              <a:gd name="adj" fmla="val 8421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551682" y="2908300"/>
            <a:ext cx="2030654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Top-5 訓練案例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53968" y="3321050"/>
            <a:ext cx="401497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只檢索訓練庫；保留相似案例與類別共識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33750" y="3952875"/>
            <a:ext cx="8248650" cy="904875"/>
          </a:xfrm>
          <a:prstGeom prst="roundRect">
            <a:avLst>
              <a:gd name="adj" fmla="val 8421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3551682" y="4013200"/>
            <a:ext cx="2150669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本機 AI 證據稽核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53968" y="4425950"/>
            <a:ext cx="357073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支持、複核、不確定；保留正式分類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9694" y="5664200"/>
            <a:ext cx="5532501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9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同一事件識別碼貫穿判定、案例、稽核與回條。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04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77388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CONTROL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625297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創新三：處置可驗證，也可回復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840105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35533" y="2946400"/>
            <a:ext cx="131673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政策閘門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9343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確認範圍、白名單與期限</a:t>
            </a:r>
          </a:p>
        </p:txBody>
      </p:sp>
      <p:sp>
        <p:nvSpPr>
          <p:cNvPr id="8" name="Rectangle 8"/>
          <p:cNvSpPr/>
          <p:nvPr/>
        </p:nvSpPr>
        <p:spPr>
          <a:xfrm>
            <a:off x="4371975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4602480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97908" y="294640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套用與讀回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601718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回條綁定同次事件與執行</a:t>
            </a:r>
          </a:p>
        </p:txBody>
      </p:sp>
      <p:sp>
        <p:nvSpPr>
          <p:cNvPr id="12" name="Rectangle 12"/>
          <p:cNvSpPr/>
          <p:nvPr/>
        </p:nvSpPr>
        <p:spPr>
          <a:xfrm>
            <a:off x="8134350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8364855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360283" y="294640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到期與回復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64093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撤銷規則，確認服務恢復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99313" y="5137150"/>
            <a:ext cx="4289913" cy="396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02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 種規則情境＋2 種監測或蒐證情境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1218" y="5607050"/>
            <a:ext cx="629027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隔離TCP交易驗證：背景服務 6/6 保留，回復完整性 6/6 通過。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05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5803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MEASURED RESULTS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互補融合，提升整體辨識效果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1218" y="1682750"/>
            <a:ext cx="243790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相同 18,998 筆封存測試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9694" y="2425700"/>
            <a:ext cx="782574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PBCNN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0550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79.75%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01980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62069" y="2425700"/>
            <a:ext cx="685495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CTBM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52925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92.10%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64355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24444" y="2425700"/>
            <a:ext cx="1314514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OOF Gate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15300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93.05%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126730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09600" y="4524375"/>
            <a:ext cx="10972800" cy="1238250"/>
          </a:xfrm>
          <a:prstGeom prst="roundRect">
            <a:avLst>
              <a:gd name="adj" fmla="val 6154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819912" y="4546600"/>
            <a:ext cx="1732788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600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98.08%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04082" y="4737100"/>
            <a:ext cx="2113331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17 類整體準確率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9056" y="5213350"/>
            <a:ext cx="53492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各模型使用相同測試集，呈現融合後的分類效果。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06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5803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MEASURED RESULTS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625297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從相似案例，走到可核對的結論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0550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97.62%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8932" y="2870200"/>
            <a:ext cx="1747952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Top-5 命中率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2361" y="3479800"/>
            <a:ext cx="2690724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463 筆查詢／1,550 筆訓練案例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352925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93.89%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61307" y="2870200"/>
            <a:ext cx="90251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1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MRR@5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64736" y="3479800"/>
            <a:ext cx="1926082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前五筆結果的排序品質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15300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97.11%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23682" y="2870200"/>
            <a:ext cx="143484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支持精確率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27111" y="3479800"/>
            <a:ext cx="2642934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415 支持／13 複核／35 不確定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09600" y="4533900"/>
            <a:ext cx="10972800" cy="123825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821055" y="4581525"/>
            <a:ext cx="1558592" cy="6610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8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18 / 30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704844" y="4759325"/>
            <a:ext cx="3432429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9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偵測誤判分流至複核或不確定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29437" y="5213350"/>
            <a:ext cx="539289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72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AI 依案例證據給出稽核結論；正式分類保持可追溯。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07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2742" y="711200"/>
            <a:ext cx="226183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AI SECURITY FRAMEWORK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0550" y="1622425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偵測有依據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0550" y="2432050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稽核有證據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0550" y="3241675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處置可回復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1666875"/>
            <a:ext cx="2619375" cy="2619375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98932" y="5175250"/>
            <a:ext cx="4940351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17 類真實張量重跑 · 6 種隔離情境驗證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1218" y="5702300"/>
            <a:ext cx="490347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方法動畫獨立交付，可搭配本機流程與回條展示。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000000"/>
      </a:lt2>
      <a:accent1>
        <a:srgbClr val="0070D1"/>
      </a:accent1>
      <a:accent2>
        <a:srgbClr val="53B1FF"/>
      </a:accent2>
      <a:accent3>
        <a:srgbClr val="181818"/>
      </a:accent3>
      <a:accent4>
        <a:srgbClr val="0070D1"/>
      </a:accent4>
      <a:accent5>
        <a:srgbClr val="6B6B6B"/>
      </a:accent5>
      <a:accent6>
        <a:srgbClr val="CCCCCC"/>
      </a:accent6>
      <a:hlink>
        <a:srgbClr val="53B1FF"/>
      </a:hlink>
      <a:folHlink>
        <a:srgbClr val="181818"/>
      </a:folHlink>
    </a:clrScheme>
    <a:fontScheme name="finals_editorial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000000"/>
      </a:lt2>
      <a:accent1>
        <a:srgbClr val="0070D1"/>
      </a:accent1>
      <a:accent2>
        <a:srgbClr val="53B1FF"/>
      </a:accent2>
      <a:accent3>
        <a:srgbClr val="181818"/>
      </a:accent3>
      <a:accent4>
        <a:srgbClr val="0070D1"/>
      </a:accent4>
      <a:accent5>
        <a:srgbClr val="6B6B6B"/>
      </a:accent5>
      <a:accent6>
        <a:srgbClr val="CCCCCC"/>
      </a:accent6>
      <a:hlink>
        <a:srgbClr val="53B1FF"/>
      </a:hlink>
      <a:folHlink>
        <a:srgbClr val="181818"/>
      </a:folHlink>
    </a:clrScheme>
    <a:fontScheme name="finals_editorial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/>
  <dc:subject/>
  <dc:creator/>
  <ns0:keywords/>
  <dc:description/>
  <dc:language>zh-TW</dc:language>
  <ns0:lastModifiedBy/>
  <ns0:revision>1</ns0:revision>
  <ns2:created xsi:type="dcterms:W3CDTF">2026-10-28T00:28:05Z</ns2:created>
  <ns2:modified xsi:type="dcterms:W3CDTF">2026-10-28T00:28:05Z</ns2:modified>
  <ns0:category/>
  <ns0:contentStatus/>
</ns0:coreProperties>
</file>