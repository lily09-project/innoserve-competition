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TW"/>
    </a:defPPr>
    <a:lvl1pPr marL="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TW" sz="1200">
        <a:latin typeface="Times New Roman"/>
        <a:ea typeface="DFKai-SB"/>
        <a:cs typeface="Times New Roman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我們的作品將入侵偵測、案例檢索、AI稽核與受控處置，整合在同一條事件鏈。前段產生判定與模型表徵，後段依相似案例核對證據，最後留下可驗證、可回復的處置回條。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本頁為三十秒、兩倍速內嵌方法動畫，進入頁面後播放一次，結束停留。先讓評審看見同一事件的完整流程，再接續架構說明；影片計入五分鐘流程。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架構分為上下兩層的四個區域。流量表徵保留內容、時間差與方向，同一輸入平行送入兩個偵測模型，再融合為固定十七類、校準信心與流量表徵；後段以五百二十九維任務向量取得前五筆訓練案例，由本機AI給出支持、複核或不確定。策略閘門檢查範圍與期限，完成套用、讀回和到期撤銷。所有產物透過同一事件識別碼連結，AI不改寫正式分類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前段以兩種互補特徵平行判斷，並非先後串行。CTBM閱讀封包內容、時間差與方向；PBCNN補充短視窗位元組模式。校準後由OOF Gate依事件證據融合，輸出固定十七類，並保留信心與表徵交給後段。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後段不是只把類別名稱送進語言模型。我們結合五百一十二維流量表徵與十七維類別機率，建立任務向量，查詢只由訓練資料建立的案例庫。前五筆案例與類別共識交給本機AI核對，回傳支持、複核或不確定，連同正式分類留在同一事件紀錄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處置由政策閘門檢查範圍、白名單與有效期，通過後才套用並讀回規則，再於到期撤銷。六種隔離情境包含四種實際套用規則、兩種監測或蒐證；背景服務六種皆保留，回復完整性六種皆通過。這些結果量測隔離TCP交易與回條，不代表原始攻擊封包或正式場域的防禦率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偵測效果在相同一萬八千九百九十八筆封存測試比較。PBCNN的Macro-F1為百分之七十九點七五，CTBM為九十二點一零，融合後為九十三點零五；整體準確率百分之九十八點零八。比較採同一個測試集，讓互補融合的效果可以直接核對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在一千五百五十筆真實訓練案例和四百六十三筆測試查詢中，前五筆命中率為百分之九十七點六二，MRR為九十三點八九。相同四百六十三筆事件的本機稽核中，四百一十五筆支持、十三筆複核、三十五筆不確定；支持精確率九十七點一一。三十筆偵測誤判中，十八筆分流到複核或不確定，其餘十二筆仍獲支持，所以處置另受策略閘門控制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我們以十七類真實前處理張量重跑整合鏈，並以六種隔離情境確認處置回條與回復行為。作品把偵測、證據與處置放在同一個框架，讓判斷有依據、稽核有證據、處置可回復。前面播放的三十秒動畫以兩倍速說明流程，並可搭配本機執行紀錄展示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Q1：創新在哪裡？與一般 IDS 加上 RAG 有何不同？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把流量表徵與類別機率組成任務向量，檢索相關證據。AI 保留正式分類，同一事件一路連到策略與回復回條。互補判定 → 案例檢索 → 證據稽核 → 受控處置。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Q2：如何證明前段判斷與後段處置已經串起來？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17 類本機推論與 AI 稽核已逐類執行，產物使用同一事件 ID。6 種隔離情境的回條綁定同次執行，過期執行 ID 會被拒絕。分類、Top-5、Judge、策略與回條綁定同一事件。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Q3：評估資料如何切分？案例庫是否洩漏測試答案？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偵測比較使用相同 18,998 筆測試；案例庫只由訓練資料建立。檢索使用 1,550 筆案例、463 筆查詢，訓練與查詢沒有重疊。偵測與檢索分開評估；AI 輸入不包含真實標籤。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Q4：AI 若支持錯誤判斷，如何避免直接誤封？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30 筆偵測誤判有 18 筆分流；其餘 12 筆仍獲 AI 支持。處置另經信心、政策、白名單與期限檢查，並可到期撤銷。AI 不改寫正式分類；複核／不確定走監測或蒐證。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Q5：6/6 是否代表各種真實攻擊都能完全防住？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6/6 指隔離 TCP 情境中的背景服務保留及回復完整性。4 種情境套用規則、2 種監測或蒐證；不等同真實攻擊防禦率。偵測 Accuracy 98.08%、Macro-F1 93.05% 另依測試集計算。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Q6：如何部署、保護資料，並接到既有環境？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本機 GPU 模型與本機案例庫處理事件，敏感欄位先遮罩。17 類已以前處理張量驗證；場域接入依資料介面配置。本機 AI 稽核；私有權重、輸入及逐筆回覆不公開。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nals_editori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altLang="zh-TW" smtClean="0"/>
              <a:t>10/28/2026</a:t>
            </a:fld>
            <a:endParaRPr lang="zh-TW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inals_editorial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altLang="zh-TW" smtClean="0">
                <a:latin typeface="Times New Roman"/>
                <a:ea typeface="DFKai-SB"/>
                <a:cs typeface="Times New Roman"/>
              </a:rPr>
              <a:t>10/28/2026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zh-TW" smtClean="0">
                <a:latin typeface="Times New Roman"/>
                <a:ea typeface="DFKai-SB"/>
                <a:cs typeface="Times New Roman"/>
              </a:rPr>
              <a:t>‹#›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TW" sz="33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lang="zh-TW"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lang="zh-TW" sz="17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lang="zh-TW" sz="16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lang="zh-TW" sz="145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lang="zh-TW" sz="135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lang="zh-TW" sz="125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lang="zh-TW" sz="11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lang="zh-TW" sz="1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lang="zh-TW" sz="9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zh-TW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lang="zh-TW"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lang="zh-TW" sz="17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lang="zh-TW" sz="16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lang="zh-TW" sz="145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lang="zh-TW" sz="135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lang="zh-TW" sz="125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lang="zh-TW" sz="11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lang="zh-TW" sz="1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lang="zh-TW" sz="9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609600" y="257175"/>
            <a:ext cx="1926476" cy="307467"/>
            <a:chOff x="609600" y="257175"/>
            <a:chExt cx="1926476" cy="307467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78055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2026 資安技術組 · 決賽</a:t>
              </a:r>
            </a:p>
          </p:txBody>
        </p:sp>
      </p:grpSp>
      <p:grpSp>
        <p:nvGrpSpPr>
          <p:cNvPr id="24" name="page-content"/>
          <p:cNvGrpSpPr/>
          <p:nvPr/>
        </p:nvGrpSpPr>
        <p:grpSpPr>
          <a:xfrm>
            <a:off x="593217" y="1558925"/>
            <a:ext cx="10817733" cy="4498975"/>
            <a:chOff x="593217" y="1558925"/>
            <a:chExt cx="10817733" cy="4498975"/>
          </a:xfrm>
        </p:grpSpPr>
        <p:sp>
          <p:nvSpPr>
            <p:cNvPr id="5" name="TextBox 5"/>
            <p:cNvSpPr txBox="1"/>
            <p:nvPr/>
          </p:nvSpPr>
          <p:spPr>
            <a:xfrm>
              <a:off x="593217" y="1558925"/>
              <a:ext cx="6101436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融合新型內容相依時序方向模型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3217" y="2178050"/>
              <a:ext cx="6534912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入侵偵測與任務導向檢索增強稽核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3217" y="2797175"/>
              <a:ext cx="3065086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之</a:t>
              </a:r>
              <a:r>
                <a:rPr lang="en-US" sz="322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322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8932" y="3841750"/>
              <a:ext cx="42618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從流量判定，走到有證據的處置。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6096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211580" y="4946650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偵測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24003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6574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27241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326130" y="4946650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451485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77202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8387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440680" y="4946650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66294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68865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9532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555230" y="4946650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回復</a:t>
              </a:r>
            </a:p>
          </p:txBody>
        </p:sp>
        <p:pic>
          <p:nvPicPr>
            <p:cNvPr id="23" name="Imag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96400" y="3943350"/>
              <a:ext cx="2114550" cy="2114550"/>
            </a:xfrm>
            <a:prstGeom prst="rect">
              <a:avLst/>
            </a:prstGeom>
          </p:spPr>
        </p:pic>
      </p:grpSp>
      <p:grpSp>
        <p:nvGrpSpPr>
          <p:cNvPr id="28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25" name="Line 25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01 / 09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peningFilm_30s_Embedded">
            <a:hlinkClick r:id="" action="ppaction://media"/>
            <a:extLst>
              <a:ext uri="{FF2B5EF4-FFF2-40B4-BE49-F238E27FC236}">
                <a16:creationId xmlns:a16="http://schemas.microsoft.com/office/drawing/2014/main" id="{BB9D957D-2567-4822-909B-A0B8F1BF621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696587" cy="1082802"/>
            <a:chOff x="593598" y="257175"/>
            <a:chExt cx="4696587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548100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FRAMEWORK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469658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一個框架，四個連續階段</a:t>
              </a:r>
            </a:p>
          </p:txBody>
        </p:sp>
      </p:grpSp>
      <p:grpSp>
        <p:nvGrpSpPr>
          <p:cNvPr id="71" name="page-content"/>
          <p:cNvGrpSpPr/>
          <p:nvPr/>
        </p:nvGrpSpPr>
        <p:grpSpPr>
          <a:xfrm>
            <a:off x="47625" y="1504950"/>
            <a:ext cx="11991975" cy="4824857"/>
            <a:chOff x="47625" y="1504950"/>
            <a:chExt cx="11991975" cy="4824857"/>
          </a:xfrm>
        </p:grpSpPr>
        <p:sp>
          <p:nvSpPr>
            <p:cNvPr id="6" name="Rectangle 6"/>
            <p:cNvSpPr/>
            <p:nvPr/>
          </p:nvSpPr>
          <p:spPr>
            <a:xfrm>
              <a:off x="152400" y="1504950"/>
              <a:ext cx="2152650" cy="1952625"/>
            </a:xfrm>
            <a:prstGeom prst="roundRect">
              <a:avLst>
                <a:gd name="adj" fmla="val 3902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314706" y="1593850"/>
              <a:ext cx="1179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a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流量表徵</a:t>
              </a:r>
            </a:p>
          </p:txBody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9750" y="1543050"/>
              <a:ext cx="323850" cy="32385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315849" y="20859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真實前處理張量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5468" y="25019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15468" y="280670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時間差・方向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16230" y="31178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遮罩欄位・流量切窗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2533650" y="1504950"/>
              <a:ext cx="9505950" cy="1952625"/>
            </a:xfrm>
            <a:prstGeom prst="roundRect">
              <a:avLst>
                <a:gd name="adj" fmla="val 3902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pic>
          <p:nvPicPr>
            <p:cNvPr id="14" name="Image 1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86050" y="1562100"/>
              <a:ext cx="342900" cy="342900"/>
            </a:xfrm>
            <a:prstGeom prst="rect">
              <a:avLst/>
            </a:prstGeom>
          </p:spPr>
        </p:pic>
        <p:sp>
          <p:nvSpPr>
            <p:cNvPr id="15" name="TextBox 15"/>
            <p:cNvSpPr txBox="1"/>
            <p:nvPr/>
          </p:nvSpPr>
          <p:spPr>
            <a:xfrm>
              <a:off x="3115056" y="1593850"/>
              <a:ext cx="25472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b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互補模型與 17 類判定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781300" y="201930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943606" y="2051050"/>
              <a:ext cx="9509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945130" y="23177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內容・時間差・方向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2781300" y="276225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943606" y="2794000"/>
              <a:ext cx="10891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945130" y="306070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短窗位元組模式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09800"/>
              <a:ext cx="2647950" cy="857250"/>
            </a:xfrm>
            <a:prstGeom prst="roundRect">
              <a:avLst>
                <a:gd name="adj" fmla="val 8889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86906" y="2308225"/>
              <a:ext cx="20301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7668" y="26733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9201150" y="2209800"/>
              <a:ext cx="2628900" cy="857250"/>
            </a:xfrm>
            <a:prstGeom prst="roundRect">
              <a:avLst>
                <a:gd name="adj" fmla="val 8889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382506" y="2308225"/>
              <a:ext cx="15499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類正式判定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84030" y="2698750"/>
              <a:ext cx="2068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512 維表徵＋17 維機率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2305050" y="2305050"/>
              <a:ext cx="476250" cy="171450"/>
            </a:xfrm>
            <a:custGeom>
              <a:avLst/>
              <a:gdLst/>
              <a:ahLst/>
              <a:cxnLst/>
              <a:rect l="l" t="t" r="r" b="b"/>
              <a:pathLst>
                <a:path w="476250" h="171450">
                  <a:moveTo>
                    <a:pt x="0" y="171450"/>
                  </a:moveTo>
                  <a:lnTo>
                    <a:pt x="361950" y="171450"/>
                  </a:lnTo>
                  <a:lnTo>
                    <a:pt x="361950" y="0"/>
                  </a:lnTo>
                  <a:lnTo>
                    <a:pt x="47625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2714625" y="2257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2667000" y="2476500"/>
              <a:ext cx="114300" cy="571500"/>
            </a:xfrm>
            <a:custGeom>
              <a:avLst/>
              <a:gdLst/>
              <a:ahLst/>
              <a:cxnLst/>
              <a:rect l="l" t="t" r="r" b="b"/>
              <a:pathLst>
                <a:path w="114300" h="571500">
                  <a:moveTo>
                    <a:pt x="0" y="0"/>
                  </a:moveTo>
                  <a:lnTo>
                    <a:pt x="0" y="571500"/>
                  </a:lnTo>
                  <a:lnTo>
                    <a:pt x="114300" y="5715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2714625" y="30003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5638800" y="2305050"/>
              <a:ext cx="647700" cy="333375"/>
            </a:xfrm>
            <a:custGeom>
              <a:avLst/>
              <a:gdLst/>
              <a:ahLst/>
              <a:cxnLst/>
              <a:rect l="l" t="t" r="r" b="b"/>
              <a:pathLst>
                <a:path w="647700" h="333375">
                  <a:moveTo>
                    <a:pt x="0" y="0"/>
                  </a:moveTo>
                  <a:lnTo>
                    <a:pt x="314325" y="0"/>
                  </a:lnTo>
                  <a:lnTo>
                    <a:pt x="314325" y="333375"/>
                  </a:lnTo>
                  <a:lnTo>
                    <a:pt x="647700" y="333375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5638800" y="2638425"/>
              <a:ext cx="647700" cy="409575"/>
            </a:xfrm>
            <a:custGeom>
              <a:avLst/>
              <a:gdLst/>
              <a:ahLst/>
              <a:cxnLst/>
              <a:rect l="l" t="t" r="r" b="b"/>
              <a:pathLst>
                <a:path w="647700" h="409575">
                  <a:moveTo>
                    <a:pt x="0" y="409575"/>
                  </a:moveTo>
                  <a:lnTo>
                    <a:pt x="314325" y="409575"/>
                  </a:lnTo>
                  <a:lnTo>
                    <a:pt x="314325" y="0"/>
                  </a:lnTo>
                  <a:lnTo>
                    <a:pt x="6477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8934450" y="2638425"/>
              <a:ext cx="266700" cy="9525"/>
            </a:xfrm>
            <a:custGeom>
              <a:avLst/>
              <a:gdLst/>
              <a:ahLst/>
              <a:cxnLst/>
              <a:rect l="l" t="t" r="r" b="b"/>
              <a:pathLst>
                <a:path w="266700" h="9525">
                  <a:moveTo>
                    <a:pt x="0" y="0"/>
                  </a:moveTo>
                  <a:lnTo>
                    <a:pt x="2667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913447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52400" y="4038600"/>
              <a:ext cx="8001000" cy="1771650"/>
            </a:xfrm>
            <a:prstGeom prst="roundRect">
              <a:avLst>
                <a:gd name="adj" fmla="val 4301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pic>
          <p:nvPicPr>
            <p:cNvPr id="39" name="Image 3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3850" y="4095750"/>
              <a:ext cx="342900" cy="342900"/>
            </a:xfrm>
            <a:prstGeom prst="rect">
              <a:avLst/>
            </a:prstGeom>
          </p:spPr>
        </p:pic>
        <p:sp>
          <p:nvSpPr>
            <p:cNvPr id="40" name="TextBox 40"/>
            <p:cNvSpPr txBox="1"/>
            <p:nvPr/>
          </p:nvSpPr>
          <p:spPr>
            <a:xfrm>
              <a:off x="752856" y="4127500"/>
              <a:ext cx="28777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任務導向檢索與</a:t>
              </a:r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381000" y="4591050"/>
              <a:ext cx="180975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05968" y="4711700"/>
              <a:ext cx="15380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529 維任務向量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06730" y="5032375"/>
              <a:ext cx="9735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L2 </a:t>
              </a:r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2476500" y="4591050"/>
              <a:ext cx="232410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2601468" y="4711700"/>
              <a:ext cx="16109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602230" y="50323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僅訓練資料案例庫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143500" y="4591050"/>
              <a:ext cx="278130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268468" y="4711700"/>
              <a:ext cx="1364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269230" y="50323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50" name="Freeform 50"/>
            <p:cNvSpPr/>
            <p:nvPr/>
          </p:nvSpPr>
          <p:spPr>
            <a:xfrm>
              <a:off x="47625" y="3067050"/>
              <a:ext cx="10467975" cy="1914525"/>
            </a:xfrm>
            <a:custGeom>
              <a:avLst/>
              <a:gdLst/>
              <a:ahLst/>
              <a:cxnLst/>
              <a:rect l="l" t="t" r="r" b="b"/>
              <a:pathLst>
                <a:path w="10467975" h="1914525">
                  <a:moveTo>
                    <a:pt x="10467975" y="0"/>
                  </a:moveTo>
                  <a:lnTo>
                    <a:pt x="10467975" y="657225"/>
                  </a:lnTo>
                  <a:lnTo>
                    <a:pt x="0" y="657225"/>
                  </a:lnTo>
                  <a:lnTo>
                    <a:pt x="0" y="1914525"/>
                  </a:lnTo>
                  <a:lnTo>
                    <a:pt x="333375" y="1914525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314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4564380" y="3435350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ja-JP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正式類別・信心・模型表徵</a:t>
              </a:r>
            </a:p>
          </p:txBody>
        </p:sp>
        <p:sp>
          <p:nvSpPr>
            <p:cNvPr id="53" name="Freeform 53"/>
            <p:cNvSpPr/>
            <p:nvPr/>
          </p:nvSpPr>
          <p:spPr>
            <a:xfrm>
              <a:off x="2190750" y="49815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2409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4800600" y="49815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5076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3107055" y="549910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58" name="Freeform 58"/>
            <p:cNvSpPr/>
            <p:nvPr/>
          </p:nvSpPr>
          <p:spPr>
            <a:xfrm>
              <a:off x="3619500" y="5372100"/>
              <a:ext cx="9525" cy="114300"/>
            </a:xfrm>
            <a:custGeom>
              <a:avLst/>
              <a:gdLst/>
              <a:ahLst/>
              <a:cxnLst/>
              <a:rect l="l" t="t" r="r" b="b"/>
              <a:pathLst>
                <a:path w="9525" h="114300">
                  <a:moveTo>
                    <a:pt x="0" y="1143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6B6B6B"/>
              </a:solidFill>
              <a:custDash>
                <a:ds d="250000" sp="200000"/>
              </a:custDash>
            </a:ln>
          </p:spPr>
        </p:sp>
        <p:sp>
          <p:nvSpPr>
            <p:cNvPr id="59" name="Freeform 59"/>
            <p:cNvSpPr/>
            <p:nvPr/>
          </p:nvSpPr>
          <p:spPr>
            <a:xfrm>
              <a:off x="3571875" y="537210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19050">
              <a:solidFill>
                <a:srgbClr val="6B6B6B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269230" y="549910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稽核保留正式分類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382000" y="4038600"/>
              <a:ext cx="3657600" cy="1771650"/>
            </a:xfrm>
            <a:prstGeom prst="roundRect">
              <a:avLst>
                <a:gd name="adj" fmla="val 4301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pic>
          <p:nvPicPr>
            <p:cNvPr id="62" name="Image 6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53450" y="4086225"/>
              <a:ext cx="342900" cy="342900"/>
            </a:xfrm>
            <a:prstGeom prst="rect">
              <a:avLst/>
            </a:prstGeom>
          </p:spPr>
        </p:pic>
        <p:sp>
          <p:nvSpPr>
            <p:cNvPr id="63" name="TextBox 63"/>
            <p:cNvSpPr txBox="1"/>
            <p:nvPr/>
          </p:nvSpPr>
          <p:spPr>
            <a:xfrm>
              <a:off x="8982456" y="4127500"/>
              <a:ext cx="192091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d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受控處置與回復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601456" y="4603750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策略檢查 → 套用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601456" y="4956175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讀回 → 到期撤銷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602980" y="5470525"/>
              <a:ext cx="1950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複核／不確定 → 蒐證</a:t>
              </a:r>
            </a:p>
          </p:txBody>
        </p:sp>
        <p:sp>
          <p:nvSpPr>
            <p:cNvPr id="67" name="Freeform 67"/>
            <p:cNvSpPr/>
            <p:nvPr/>
          </p:nvSpPr>
          <p:spPr>
            <a:xfrm>
              <a:off x="7924800" y="4981575"/>
              <a:ext cx="457200" cy="9525"/>
            </a:xfrm>
            <a:custGeom>
              <a:avLst/>
              <a:gdLst/>
              <a:ahLst/>
              <a:cxnLst/>
              <a:rect l="l" t="t" r="r" b="b"/>
              <a:pathLst>
                <a:path w="457200" h="9525">
                  <a:moveTo>
                    <a:pt x="0" y="0"/>
                  </a:moveTo>
                  <a:lnTo>
                    <a:pt x="4572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8315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152400" y="5962650"/>
              <a:ext cx="11887200" cy="361950"/>
            </a:xfrm>
            <a:prstGeom prst="roundRect">
              <a:avLst>
                <a:gd name="adj" fmla="val 21053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2822546" y="6007100"/>
              <a:ext cx="65469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共用事件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：正式判定｜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證據｜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稽核｜處置與回復回條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72" name="Line 72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03 / 09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120640" cy="1082802"/>
            <a:chOff x="593598" y="257175"/>
            <a:chExt cx="5120640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33979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DETECTION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1206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互補模型，形成同一次判定</a:t>
              </a:r>
            </a:p>
          </p:txBody>
        </p:sp>
      </p:grpSp>
      <p:grpSp>
        <p:nvGrpSpPr>
          <p:cNvPr id="50" name="page-content"/>
          <p:cNvGrpSpPr/>
          <p:nvPr/>
        </p:nvGrpSpPr>
        <p:grpSpPr>
          <a:xfrm>
            <a:off x="609600" y="1809750"/>
            <a:ext cx="10972800" cy="4181475"/>
            <a:chOff x="609600" y="1809750"/>
            <a:chExt cx="10972800" cy="4181475"/>
          </a:xfrm>
        </p:grpSpPr>
        <p:sp>
          <p:nvSpPr>
            <p:cNvPr id="6" name="Rectangle 6"/>
            <p:cNvSpPr/>
            <p:nvPr/>
          </p:nvSpPr>
          <p:spPr>
            <a:xfrm>
              <a:off x="609600" y="1809750"/>
              <a:ext cx="2095500" cy="333375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09244" y="1968500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同一流量輸入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10006" y="25654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1866900" y="25527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192405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204787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17170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29552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10006" y="334645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時間差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866900" y="333375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1924050" y="3390900"/>
              <a:ext cx="66675" cy="762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2047875" y="3390900"/>
              <a:ext cx="66675" cy="104775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171700" y="3390900"/>
              <a:ext cx="66675" cy="1333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2295525" y="3390900"/>
              <a:ext cx="66675" cy="161925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10006" y="41275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方向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866900" y="41148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192405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204787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17170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229552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2705100" y="2571750"/>
              <a:ext cx="819150" cy="904875"/>
            </a:xfrm>
            <a:custGeom>
              <a:avLst/>
              <a:gdLst/>
              <a:ahLst/>
              <a:cxnLst/>
              <a:rect l="l" t="t" r="r" b="b"/>
              <a:pathLst>
                <a:path w="819150" h="904875">
                  <a:moveTo>
                    <a:pt x="0" y="904875"/>
                  </a:moveTo>
                  <a:lnTo>
                    <a:pt x="419100" y="904875"/>
                  </a:lnTo>
                  <a:lnTo>
                    <a:pt x="419100" y="0"/>
                  </a:lnTo>
                  <a:lnTo>
                    <a:pt x="8191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3457575" y="25241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3124200" y="3476625"/>
              <a:ext cx="400050" cy="857250"/>
            </a:xfrm>
            <a:custGeom>
              <a:avLst/>
              <a:gdLst/>
              <a:ahLst/>
              <a:cxnLst/>
              <a:rect l="l" t="t" r="r" b="b"/>
              <a:pathLst>
                <a:path w="400050" h="857250">
                  <a:moveTo>
                    <a:pt x="0" y="0"/>
                  </a:moveTo>
                  <a:lnTo>
                    <a:pt x="0" y="857250"/>
                  </a:lnTo>
                  <a:lnTo>
                    <a:pt x="400050" y="857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3457575" y="42862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3524250" y="1866900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740658" y="1993900"/>
              <a:ext cx="126796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743706" y="2508250"/>
              <a:ext cx="22593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內容 × 時間差 × 方向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44849" y="28479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讀取流量的時序關係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3524250" y="3629025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740658" y="3756025"/>
              <a:ext cx="145218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743706" y="4270375"/>
              <a:ext cx="1956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短視窗位元組模式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744849" y="46101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補充局部內容特徵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6762750" y="2571750"/>
              <a:ext cx="952500" cy="904875"/>
            </a:xfrm>
            <a:custGeom>
              <a:avLst/>
              <a:gdLst/>
              <a:ahLst/>
              <a:cxnLst/>
              <a:rect l="l" t="t" r="r" b="b"/>
              <a:pathLst>
                <a:path w="952500" h="904875">
                  <a:moveTo>
                    <a:pt x="0" y="0"/>
                  </a:moveTo>
                  <a:lnTo>
                    <a:pt x="476250" y="0"/>
                  </a:lnTo>
                  <a:lnTo>
                    <a:pt x="476250" y="904875"/>
                  </a:lnTo>
                  <a:lnTo>
                    <a:pt x="952500" y="9048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7648575" y="34290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6762750" y="3476625"/>
              <a:ext cx="476250" cy="857250"/>
            </a:xfrm>
            <a:custGeom>
              <a:avLst/>
              <a:gdLst/>
              <a:ahLst/>
              <a:cxnLst/>
              <a:rect l="l" t="t" r="r" b="b"/>
              <a:pathLst>
                <a:path w="476250" h="857250">
                  <a:moveTo>
                    <a:pt x="0" y="857250"/>
                  </a:moveTo>
                  <a:lnTo>
                    <a:pt x="476250" y="857250"/>
                  </a:lnTo>
                  <a:lnTo>
                    <a:pt x="476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7191375" y="34766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7715250" y="2600325"/>
              <a:ext cx="3867150" cy="1714500"/>
            </a:xfrm>
            <a:prstGeom prst="roundRect">
              <a:avLst>
                <a:gd name="adj" fmla="val 4444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941945" y="2768600"/>
              <a:ext cx="253765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943850" y="3248025"/>
              <a:ext cx="1790649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944612" y="37084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形成同一次正式判定</a:t>
              </a:r>
            </a:p>
          </p:txBody>
        </p:sp>
        <p:sp>
          <p:nvSpPr>
            <p:cNvPr id="46" name="Freeform 46"/>
            <p:cNvSpPr/>
            <p:nvPr/>
          </p:nvSpPr>
          <p:spPr>
            <a:xfrm>
              <a:off x="9648825" y="4314825"/>
              <a:ext cx="9525" cy="1066800"/>
            </a:xfrm>
            <a:custGeom>
              <a:avLst/>
              <a:gdLst/>
              <a:ahLst/>
              <a:cxnLst/>
              <a:rect l="l" t="t" r="r" b="b"/>
              <a:pathLst>
                <a:path w="9525" h="1066800">
                  <a:moveTo>
                    <a:pt x="0" y="0"/>
                  </a:moveTo>
                  <a:lnTo>
                    <a:pt x="0" y="10668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9601200" y="531495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09600" y="5381625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28675" y="5534025"/>
              <a:ext cx="608355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類判定 ＋ 校準信心 ＋ 模型表徵 → 後段檢索與稽核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51" name="Line 51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04 / 09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968746" cy="1082802"/>
            <a:chOff x="593598" y="257175"/>
            <a:chExt cx="5968746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18004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EVIDENCE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把偵測表徵，變成可核對的證據</a:t>
              </a:r>
            </a:p>
          </p:txBody>
        </p:sp>
      </p:grpSp>
      <p:grpSp>
        <p:nvGrpSpPr>
          <p:cNvPr id="58" name="page-content"/>
          <p:cNvGrpSpPr/>
          <p:nvPr/>
        </p:nvGrpSpPr>
        <p:grpSpPr>
          <a:xfrm>
            <a:off x="600456" y="1612900"/>
            <a:ext cx="10981944" cy="4504944"/>
            <a:chOff x="600456" y="1612900"/>
            <a:chExt cx="10981944" cy="4504944"/>
          </a:xfrm>
        </p:grpSpPr>
        <p:sp>
          <p:nvSpPr>
            <p:cNvPr id="6" name="TextBox 6"/>
            <p:cNvSpPr txBox="1"/>
            <p:nvPr/>
          </p:nvSpPr>
          <p:spPr>
            <a:xfrm>
              <a:off x="600837" y="1612900"/>
              <a:ext cx="17126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01 組合任務向量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09600" y="2152650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08888" y="2374900"/>
              <a:ext cx="16779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512 維流量表徵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684972" y="2911475"/>
              <a:ext cx="3257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09600" y="3400425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2896" y="3622675"/>
              <a:ext cx="15499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維類別機率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7850" y="2514600"/>
              <a:ext cx="1485900" cy="2038350"/>
            </a:xfrm>
            <a:custGeom>
              <a:avLst/>
              <a:gdLst/>
              <a:ahLst/>
              <a:cxnLst/>
              <a:rect l="l" t="t" r="r" b="b"/>
              <a:pathLst>
                <a:path w="1485900" h="2038350">
                  <a:moveTo>
                    <a:pt x="1238250" y="0"/>
                  </a:moveTo>
                  <a:lnTo>
                    <a:pt x="1485900" y="0"/>
                  </a:lnTo>
                  <a:lnTo>
                    <a:pt x="1485900" y="1866900"/>
                  </a:lnTo>
                  <a:lnTo>
                    <a:pt x="0" y="1866900"/>
                  </a:lnTo>
                  <a:lnTo>
                    <a:pt x="0" y="20383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847850" y="4114800"/>
              <a:ext cx="9525" cy="438150"/>
            </a:xfrm>
            <a:custGeom>
              <a:avLst/>
              <a:gdLst/>
              <a:ahLst/>
              <a:cxnLst/>
              <a:rect l="l" t="t" r="r" b="b"/>
              <a:pathLst>
                <a:path w="9525" h="438150">
                  <a:moveTo>
                    <a:pt x="0" y="0"/>
                  </a:moveTo>
                  <a:lnTo>
                    <a:pt x="0" y="4381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09600" y="4552950"/>
              <a:ext cx="2476500" cy="933450"/>
            </a:xfrm>
            <a:prstGeom prst="roundRect">
              <a:avLst>
                <a:gd name="adj" fmla="val 8163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8974" y="4721225"/>
              <a:ext cx="18177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529 維任務向量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35120" y="5105400"/>
              <a:ext cx="10254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L2 </a:t>
              </a:r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3086100" y="3076575"/>
              <a:ext cx="1009650" cy="1943100"/>
            </a:xfrm>
            <a:custGeom>
              <a:avLst/>
              <a:gdLst/>
              <a:ahLst/>
              <a:cxnLst/>
              <a:rect l="l" t="t" r="r" b="b"/>
              <a:pathLst>
                <a:path w="1009650" h="1943100">
                  <a:moveTo>
                    <a:pt x="0" y="1943100"/>
                  </a:moveTo>
                  <a:lnTo>
                    <a:pt x="628650" y="1943100"/>
                  </a:lnTo>
                  <a:lnTo>
                    <a:pt x="628650" y="0"/>
                  </a:lnTo>
                  <a:lnTo>
                    <a:pt x="10096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40290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086987" y="1612900"/>
              <a:ext cx="17126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02 找出相似案例</a:t>
              </a:r>
            </a:p>
          </p:txBody>
        </p:sp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29100" y="2028825"/>
              <a:ext cx="1285875" cy="1285875"/>
            </a:xfrm>
            <a:prstGeom prst="rect">
              <a:avLst/>
            </a:prstGeom>
          </p:spPr>
        </p:pic>
        <p:sp>
          <p:nvSpPr>
            <p:cNvPr id="23" name="TextBox 23"/>
            <p:cNvSpPr txBox="1"/>
            <p:nvPr/>
          </p:nvSpPr>
          <p:spPr>
            <a:xfrm>
              <a:off x="5762625" y="2143125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763768" y="2520950"/>
              <a:ext cx="12698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1,550 筆案例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0957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28929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7244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91794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530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54659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3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9817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17524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6103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0389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086225" y="4724400"/>
              <a:ext cx="180319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087749" y="511492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只檢索訓練資料</a:t>
              </a:r>
            </a:p>
          </p:txBody>
        </p:sp>
        <p:sp>
          <p:nvSpPr>
            <p:cNvPr id="37" name="Freeform 37"/>
            <p:cNvSpPr/>
            <p:nvPr/>
          </p:nvSpPr>
          <p:spPr>
            <a:xfrm>
              <a:off x="7200900" y="2819400"/>
              <a:ext cx="895350" cy="1323975"/>
            </a:xfrm>
            <a:custGeom>
              <a:avLst/>
              <a:gdLst/>
              <a:ahLst/>
              <a:cxnLst/>
              <a:rect l="l" t="t" r="r" b="b"/>
              <a:pathLst>
                <a:path w="895350" h="1323975">
                  <a:moveTo>
                    <a:pt x="0" y="1323975"/>
                  </a:moveTo>
                  <a:lnTo>
                    <a:pt x="419100" y="1323975"/>
                  </a:lnTo>
                  <a:lnTo>
                    <a:pt x="419100" y="0"/>
                  </a:lnTo>
                  <a:lnTo>
                    <a:pt x="8953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8029575" y="2771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087487" y="1612900"/>
              <a:ext cx="172824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03 本機</a:t>
              </a:r>
              <a:r>
                <a:rPr lang="en-US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096250" y="2286000"/>
              <a:ext cx="3486150" cy="106680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910638" y="2501900"/>
              <a:ext cx="185737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判定＋案例證據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164574" y="28924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核對同一事件</a:t>
              </a:r>
            </a:p>
          </p:txBody>
        </p:sp>
        <p:sp>
          <p:nvSpPr>
            <p:cNvPr id="43" name="Freeform 43"/>
            <p:cNvSpPr/>
            <p:nvPr/>
          </p:nvSpPr>
          <p:spPr>
            <a:xfrm>
              <a:off x="8658225" y="3352800"/>
              <a:ext cx="1181100" cy="361950"/>
            </a:xfrm>
            <a:custGeom>
              <a:avLst/>
              <a:gdLst/>
              <a:ahLst/>
              <a:cxnLst/>
              <a:rect l="l" t="t" r="r" b="b"/>
              <a:pathLst>
                <a:path w="1181100" h="361950">
                  <a:moveTo>
                    <a:pt x="1181100" y="0"/>
                  </a:moveTo>
                  <a:lnTo>
                    <a:pt x="1181100" y="180975"/>
                  </a:lnTo>
                  <a:lnTo>
                    <a:pt x="0" y="180975"/>
                  </a:ln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86106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9839325" y="3533775"/>
              <a:ext cx="9525" cy="180975"/>
            </a:xfrm>
            <a:custGeom>
              <a:avLst/>
              <a:gdLst/>
              <a:ahLst/>
              <a:cxnLst/>
              <a:rect l="l" t="t" r="r" b="b"/>
              <a:pathLst>
                <a:path w="9525" h="180975">
                  <a:moveTo>
                    <a:pt x="0" y="0"/>
                  </a:moveTo>
                  <a:lnTo>
                    <a:pt x="0" y="1809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97917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9839325" y="3533775"/>
              <a:ext cx="1181100" cy="180975"/>
            </a:xfrm>
            <a:custGeom>
              <a:avLst/>
              <a:gdLst/>
              <a:ahLst/>
              <a:cxnLst/>
              <a:rect l="l" t="t" r="r" b="b"/>
              <a:pathLst>
                <a:path w="1181100" h="180975">
                  <a:moveTo>
                    <a:pt x="0" y="0"/>
                  </a:moveTo>
                  <a:lnTo>
                    <a:pt x="1181100" y="0"/>
                  </a:lnTo>
                  <a:lnTo>
                    <a:pt x="1181100" y="1809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109728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80962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406765" y="38989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92773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587865" y="38989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104584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0647807" y="38989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086725" y="4724400"/>
              <a:ext cx="153756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保留正式分類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88249" y="511492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稽核結論附回事件紀錄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00456" y="5765800"/>
              <a:ext cx="52703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：分類結果與檢索證據一路可追溯。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59" name="Line 59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05 / 09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6392799" cy="1082802"/>
            <a:chOff x="593598" y="257175"/>
            <a:chExt cx="6392799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13078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CONTROL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639279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受控執行，留下可回復的處置紀錄</a:t>
              </a:r>
            </a:p>
          </p:txBody>
        </p:sp>
      </p:grpSp>
      <p:grpSp>
        <p:nvGrpSpPr>
          <p:cNvPr id="34" name="page-content"/>
          <p:cNvGrpSpPr/>
          <p:nvPr/>
        </p:nvGrpSpPr>
        <p:grpSpPr>
          <a:xfrm>
            <a:off x="609600" y="2190750"/>
            <a:ext cx="10972800" cy="3905250"/>
            <a:chOff x="609600" y="2190750"/>
            <a:chExt cx="10972800" cy="3905250"/>
          </a:xfrm>
        </p:grpSpPr>
        <p:sp>
          <p:nvSpPr>
            <p:cNvPr id="6" name="Rectangle 6"/>
            <p:cNvSpPr/>
            <p:nvPr/>
          </p:nvSpPr>
          <p:spPr>
            <a:xfrm>
              <a:off x="609600" y="2190750"/>
              <a:ext cx="2571750" cy="1905000"/>
            </a:xfrm>
            <a:prstGeom prst="roundRect">
              <a:avLst>
                <a:gd name="adj" fmla="val 4000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30580" y="2384425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26770" y="28733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政策檢查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0199" y="34575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範圍・白名單・期限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3181350" y="3143250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343275" y="30956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3409950" y="2190750"/>
              <a:ext cx="2571750" cy="1905000"/>
            </a:xfrm>
            <a:prstGeom prst="roundRect">
              <a:avLst>
                <a:gd name="adj" fmla="val 4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630930" y="2384425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27120" y="28733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套用規則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630549" y="3457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受允許策略才執行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5981700" y="3143250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6143625" y="30956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210300" y="2190750"/>
              <a:ext cx="2571750" cy="1905000"/>
            </a:xfrm>
            <a:prstGeom prst="roundRect">
              <a:avLst>
                <a:gd name="adj" fmla="val 4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31280" y="2384425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27470" y="28733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讀回驗證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430899" y="34575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確認規則及事件回條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8782050" y="3143250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8943975" y="30956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9010650" y="2190750"/>
              <a:ext cx="2571750" cy="1905000"/>
            </a:xfrm>
            <a:prstGeom prst="roundRect">
              <a:avLst>
                <a:gd name="adj" fmla="val 4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31630" y="2384425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227820" y="28733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到期回復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231249" y="34575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撤銷並確認服務恢復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1895475" y="4095750"/>
              <a:ext cx="2143125" cy="714375"/>
            </a:xfrm>
            <a:custGeom>
              <a:avLst/>
              <a:gdLst/>
              <a:ahLst/>
              <a:cxnLst/>
              <a:rect l="l" t="t" r="r" b="b"/>
              <a:pathLst>
                <a:path w="2143125" h="714375">
                  <a:moveTo>
                    <a:pt x="0" y="0"/>
                  </a:moveTo>
                  <a:lnTo>
                    <a:pt x="0" y="714375"/>
                  </a:lnTo>
                  <a:lnTo>
                    <a:pt x="2143125" y="714375"/>
                  </a:lnTo>
                </a:path>
              </a:pathLst>
            </a:custGeom>
            <a:noFill/>
            <a:ln w="23812">
              <a:solidFill>
                <a:srgbClr val="6B6B6B"/>
              </a:solidFill>
              <a:custDash>
                <a:ds d="240000" sp="200000"/>
              </a:custDash>
            </a:ln>
          </p:spPr>
        </p:sp>
        <p:sp>
          <p:nvSpPr>
            <p:cNvPr id="29" name="Freeform 29"/>
            <p:cNvSpPr/>
            <p:nvPr/>
          </p:nvSpPr>
          <p:spPr>
            <a:xfrm>
              <a:off x="39719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6B6B6B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038600" y="4505325"/>
              <a:ext cx="7543800" cy="647700"/>
            </a:xfrm>
            <a:prstGeom prst="roundRect">
              <a:avLst>
                <a:gd name="adj" fmla="val 11765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4257675" y="4686300"/>
              <a:ext cx="497570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複核／不確定 → 監測或蒐證，保留事件紀錄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09600" y="5467350"/>
              <a:ext cx="10972800" cy="628650"/>
            </a:xfrm>
            <a:prstGeom prst="roundRect">
              <a:avLst>
                <a:gd name="adj" fmla="val 12121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29818" y="5654675"/>
              <a:ext cx="77880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6 種隔離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情境：4 種套用規則、2 種監測或蒐證；背景保留與回復皆 6/6。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35" name="Line 35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06 / 09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544693" cy="1082802"/>
            <a:chOff x="593598" y="257175"/>
            <a:chExt cx="5544693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23410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544693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互補融合，提升整體辨識效果</a:t>
              </a:r>
            </a:p>
          </p:txBody>
        </p:sp>
      </p:grpSp>
      <p:grpSp>
        <p:nvGrpSpPr>
          <p:cNvPr id="29" name="page-content"/>
          <p:cNvGrpSpPr/>
          <p:nvPr/>
        </p:nvGrpSpPr>
        <p:grpSpPr>
          <a:xfrm>
            <a:off x="600456" y="1498600"/>
            <a:ext cx="10981944" cy="4642676"/>
            <a:chOff x="600456" y="1498600"/>
            <a:chExt cx="10981944" cy="4642676"/>
          </a:xfrm>
        </p:grpSpPr>
        <p:sp>
          <p:nvSpPr>
            <p:cNvPr id="6" name="TextBox 6"/>
            <p:cNvSpPr txBox="1"/>
            <p:nvPr/>
          </p:nvSpPr>
          <p:spPr>
            <a:xfrm>
              <a:off x="600456" y="1498600"/>
              <a:ext cx="387211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相同 18,998 筆封存測試</a:t>
              </a:r>
              <a:r>
                <a:rPr lang="en-US" sz="18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 · Macro-F1</a:t>
              </a:r>
            </a:p>
          </p:txBody>
        </p:sp>
        <p:grpSp>
          <p:nvGrpSpPr>
            <p:cNvPr id="22" name="detector-comparison-chartArea"/>
            <p:cNvGrpSpPr/>
            <p:nvPr/>
          </p:nvGrpSpPr>
          <p:grpSpPr>
            <a:xfrm>
              <a:off x="600837" y="2095500"/>
              <a:ext cx="7983329" cy="3592195"/>
              <a:chOff x="600837" y="2095500"/>
              <a:chExt cx="7983329" cy="3592195"/>
            </a:xfrm>
          </p:grpSpPr>
          <p:sp>
            <p:nvSpPr>
              <p:cNvPr id="7" name="Line 7"/>
              <p:cNvSpPr/>
              <p:nvPr/>
            </p:nvSpPr>
            <p:spPr>
              <a:xfrm>
                <a:off x="190500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DE5ED"/>
                </a:solidFill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1755176" y="5394325"/>
                <a:ext cx="29964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5"/>
                    </a:solidFill>
                    <a:latin typeface="Times New Roman"/>
                    <a:ea typeface="DFKai-SB"/>
                    <a:cs typeface="Times New Roman"/>
                  </a:rPr>
                  <a:t>0%</a:t>
                </a:r>
              </a:p>
            </p:txBody>
          </p:sp>
          <p:sp>
            <p:nvSpPr>
              <p:cNvPr id="9" name="Line 9"/>
              <p:cNvSpPr/>
              <p:nvPr/>
            </p:nvSpPr>
            <p:spPr>
              <a:xfrm>
                <a:off x="5000625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DE5ED"/>
                </a:solidFill>
              </a:ln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4797461" y="5394325"/>
                <a:ext cx="40632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5"/>
                    </a:solidFill>
                    <a:latin typeface="Times New Roman"/>
                    <a:ea typeface="DFKai-SB"/>
                    <a:cs typeface="Times New Roman"/>
                  </a:rPr>
                  <a:t>50%</a:t>
                </a:r>
              </a:p>
            </p:txBody>
          </p:sp>
          <p:sp>
            <p:nvSpPr>
              <p:cNvPr id="11" name="Line 11"/>
              <p:cNvSpPr/>
              <p:nvPr/>
            </p:nvSpPr>
            <p:spPr>
              <a:xfrm>
                <a:off x="809625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DE5ED"/>
                </a:solidFill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7839746" y="5394325"/>
                <a:ext cx="5130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5"/>
                    </a:solidFill>
                    <a:latin typeface="Times New Roman"/>
                    <a:ea typeface="DFKai-SB"/>
                    <a:cs typeface="Times New Roman"/>
                  </a:rPr>
                  <a:t>100%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600837" y="2479675"/>
                <a:ext cx="1008164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dirty="0">
                    <a:solidFill>
                      <a:srgbClr val="121314"/>
                    </a:solidFill>
                    <a:latin typeface="Times New Roman"/>
                    <a:ea typeface="DFKai-SB"/>
                    <a:cs typeface="Times New Roman"/>
                  </a:rPr>
                  <a:t>PBCNN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1905000" y="2419350"/>
                <a:ext cx="4937396" cy="400050"/>
              </a:xfrm>
              <a:prstGeom prst="rect">
                <a:avLst/>
              </a:prstGeom>
              <a:solidFill>
                <a:srgbClr val="9ABDE0"/>
              </a:solidFill>
              <a:ln>
                <a:noFill/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6947933" y="247967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rgbClr val="121314"/>
                    </a:solidFill>
                    <a:latin typeface="Times New Roman"/>
                    <a:ea typeface="DFKai-SB"/>
                    <a:cs typeface="Times New Roman"/>
                  </a:rPr>
                  <a:t>79.75%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00837" y="3527425"/>
                <a:ext cx="859446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dirty="0">
                    <a:solidFill>
                      <a:srgbClr val="121314"/>
                    </a:solidFill>
                    <a:latin typeface="Times New Roman"/>
                    <a:ea typeface="DFKai-SB"/>
                    <a:cs typeface="Times New Roman"/>
                  </a:rPr>
                  <a:t>CTBM</a:t>
                </a:r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1905000" y="3467100"/>
                <a:ext cx="5702313" cy="400050"/>
              </a:xfrm>
              <a:prstGeom prst="rect">
                <a:avLst/>
              </a:prstGeom>
              <a:solidFill>
                <a:srgbClr val="9ABDE0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7712850" y="352742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rgbClr val="121314"/>
                    </a:solidFill>
                    <a:latin typeface="Times New Roman"/>
                    <a:ea typeface="DFKai-SB"/>
                    <a:cs typeface="Times New Roman"/>
                  </a:rPr>
                  <a:t>92.10%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600837" y="4575175"/>
                <a:ext cx="1245309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b="1" dirty="0">
                    <a:solidFill>
                      <a:schemeClr val="accent1"/>
                    </a:solidFill>
                    <a:latin typeface="Times New Roman"/>
                    <a:ea typeface="DFKai-SB"/>
                    <a:cs typeface="Times New Roman"/>
                  </a:rPr>
                  <a:t>OOF Gate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1905000" y="4514850"/>
                <a:ext cx="5760981" cy="40005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7771518" y="457517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chemeClr val="accent1"/>
                    </a:solidFill>
                    <a:latin typeface="Times New Roman"/>
                    <a:ea typeface="DFKai-SB"/>
                    <a:cs typeface="Times New Roman"/>
                  </a:rPr>
                  <a:t>93.05%</a:t>
                </a:r>
              </a:p>
            </p:txBody>
          </p:sp>
        </p:grpSp>
        <p:sp>
          <p:nvSpPr>
            <p:cNvPr id="23" name="Rectangle 23"/>
            <p:cNvSpPr/>
            <p:nvPr/>
          </p:nvSpPr>
          <p:spPr>
            <a:xfrm>
              <a:off x="9077325" y="2105025"/>
              <a:ext cx="2505075" cy="3133725"/>
            </a:xfrm>
            <a:prstGeom prst="roundRect">
              <a:avLst>
                <a:gd name="adj" fmla="val 3042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305544" y="2387600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整體準確率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297162" y="3041650"/>
              <a:ext cx="161526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98.08%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305925" y="3819525"/>
              <a:ext cx="111257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類分類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7449" y="43719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同一封存測試集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0837" y="5803900"/>
              <a:ext cx="800135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融合相較</a:t>
              </a:r>
              <a:r>
                <a:rPr lang="en-US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PBCNN 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提升 13.30 個百分點；相較</a:t>
              </a:r>
              <a:r>
                <a:rPr lang="en-US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CTBM 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提升 0.95 個百分點。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30" name="Line 3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07 / 09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270688" cy="1082802"/>
            <a:chOff x="593598" y="257175"/>
            <a:chExt cx="5270688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23410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27068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案例提供證據，</a:t>
              </a:r>
              <a:r>
                <a:rPr lang="en-US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完成分流</a:t>
              </a:r>
            </a:p>
          </p:txBody>
        </p:sp>
      </p:grpSp>
      <p:grpSp>
        <p:nvGrpSpPr>
          <p:cNvPr id="33" name="page-content"/>
          <p:cNvGrpSpPr/>
          <p:nvPr/>
        </p:nvGrpSpPr>
        <p:grpSpPr>
          <a:xfrm>
            <a:off x="609600" y="1809750"/>
            <a:ext cx="10972800" cy="4333875"/>
            <a:chOff x="609600" y="1809750"/>
            <a:chExt cx="10972800" cy="4333875"/>
          </a:xfrm>
        </p:grpSpPr>
        <p:sp>
          <p:nvSpPr>
            <p:cNvPr id="6" name="Rectangle 6"/>
            <p:cNvSpPr/>
            <p:nvPr/>
          </p:nvSpPr>
          <p:spPr>
            <a:xfrm>
              <a:off x="609600" y="1809750"/>
              <a:ext cx="3448050" cy="3514725"/>
            </a:xfrm>
            <a:prstGeom prst="roundRect">
              <a:avLst>
                <a:gd name="adj" fmla="val 221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28675" y="1981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檢索效果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19912" y="2498725"/>
              <a:ext cx="161526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97.62%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29056" y="3089275"/>
              <a:ext cx="14841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命中率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21436" y="3651250"/>
              <a:ext cx="14806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93.89%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29056" y="4194175"/>
              <a:ext cx="21982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MRR@5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排序品質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0199" y="4829175"/>
              <a:ext cx="203464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1,550 案例／463 查詢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905375" y="1809750"/>
              <a:ext cx="5867400" cy="666750"/>
            </a:xfrm>
            <a:prstGeom prst="roundRect">
              <a:avLst>
                <a:gd name="adj" fmla="val 11429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129018" y="1987550"/>
              <a:ext cx="342011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463 筆事件 → 本機</a:t>
              </a:r>
              <a:r>
                <a:rPr lang="en-US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5486400" y="2476500"/>
              <a:ext cx="2352675" cy="723900"/>
            </a:xfrm>
            <a:custGeom>
              <a:avLst/>
              <a:gdLst/>
              <a:ahLst/>
              <a:cxnLst/>
              <a:rect l="l" t="t" r="r" b="b"/>
              <a:pathLst>
                <a:path w="2352675" h="723900">
                  <a:moveTo>
                    <a:pt x="2352675" y="0"/>
                  </a:moveTo>
                  <a:lnTo>
                    <a:pt x="2352675" y="361950"/>
                  </a:lnTo>
                  <a:lnTo>
                    <a:pt x="0" y="361950"/>
                  </a:lnTo>
                  <a:lnTo>
                    <a:pt x="0" y="7239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543877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7839075" y="2838450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7791450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7839075" y="2838450"/>
              <a:ext cx="2352675" cy="361950"/>
            </a:xfrm>
            <a:custGeom>
              <a:avLst/>
              <a:gdLst/>
              <a:ahLst/>
              <a:cxnLst/>
              <a:rect l="l" t="t" r="r" b="b"/>
              <a:pathLst>
                <a:path w="2352675" h="361950">
                  <a:moveTo>
                    <a:pt x="0" y="0"/>
                  </a:moveTo>
                  <a:lnTo>
                    <a:pt x="2352675" y="0"/>
                  </a:lnTo>
                  <a:lnTo>
                    <a:pt x="2352675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1014412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47675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134356" y="3381375"/>
              <a:ext cx="70408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1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415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223789" y="4029075"/>
              <a:ext cx="52522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829425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99045" y="3381375"/>
              <a:ext cx="48006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1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76464" y="4029075"/>
              <a:ext cx="52522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918210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951720" y="3381375"/>
              <a:ext cx="48006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1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35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02597" y="4029075"/>
              <a:ext cx="77830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467987" y="4908550"/>
              <a:ext cx="427839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支持精確率 97.11% · 正式分類保持可追溯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" y="5562600"/>
              <a:ext cx="10972800" cy="581025"/>
            </a:xfrm>
            <a:prstGeom prst="roundRect">
              <a:avLst>
                <a:gd name="adj" fmla="val 13115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28675" y="5715000"/>
              <a:ext cx="679771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18 / 30 偵測誤判分流至複核或不確定；其餘 12 筆仍獲支持。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34" name="Line 34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08 / 09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968746" cy="1082802"/>
            <a:chOff x="593598" y="257175"/>
            <a:chExt cx="5968746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304694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AI SECURITY FRAMEWORK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一套可展示、可查核的資安框架</a:t>
              </a:r>
            </a:p>
          </p:txBody>
        </p:sp>
      </p:grpSp>
      <p:grpSp>
        <p:nvGrpSpPr>
          <p:cNvPr id="29" name="page-content"/>
          <p:cNvGrpSpPr/>
          <p:nvPr/>
        </p:nvGrpSpPr>
        <p:grpSpPr>
          <a:xfrm>
            <a:off x="595884" y="1527175"/>
            <a:ext cx="10986516" cy="4752594"/>
            <a:chOff x="595884" y="1527175"/>
            <a:chExt cx="10986516" cy="4752594"/>
          </a:xfrm>
        </p:grpSpPr>
        <p:sp>
          <p:nvSpPr>
            <p:cNvPr id="6" name="TextBox 6"/>
            <p:cNvSpPr txBox="1"/>
            <p:nvPr/>
          </p:nvSpPr>
          <p:spPr>
            <a:xfrm>
              <a:off x="595884" y="1527175"/>
              <a:ext cx="656996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0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偵測有依據，稽核有證據，處置可回復。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096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6770" y="30257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正式判定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0199" y="3705225"/>
              <a:ext cx="114772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17 類＋信心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3181350" y="36099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343275" y="35623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34099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627120" y="30257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檢索證據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30549" y="3705225"/>
              <a:ext cx="15154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訓練案例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5981700" y="36099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6143625" y="35623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103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27470" y="30257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30899" y="37052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8782050" y="36099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8943975" y="35623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90106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227820" y="30257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231249" y="370522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讀回＋到期回復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" y="4781550"/>
              <a:ext cx="10972800" cy="533400"/>
            </a:xfrm>
            <a:prstGeom prst="roundRect">
              <a:avLst>
                <a:gd name="adj" fmla="val 14286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109951" y="4902200"/>
              <a:ext cx="597209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，串起分類、證據、判斷與回復紀錄。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99694" y="5511800"/>
              <a:ext cx="526682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類真實張量重跑 · 6 種隔離</a:t>
              </a:r>
              <a:r>
                <a:rPr lang="en-US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情境驗證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0456" y="5927725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感謝聆聽，敬請指教。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30" name="Line 3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09 / 09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272534" cy="1082802"/>
            <a:chOff x="593598" y="257175"/>
            <a:chExt cx="4272534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5852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答詢圖解｜創新與整合</a:t>
              </a:r>
            </a:p>
          </p:txBody>
        </p:sp>
      </p:grpSp>
      <p:grpSp>
        <p:nvGrpSpPr>
          <p:cNvPr id="50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6" name="Rectangle 6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9056" y="17367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61694" y="1711325"/>
              <a:ext cx="58668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創新在哪裡？與一般</a:t>
              </a:r>
              <a:r>
                <a:rPr lang="en-US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 IDS </a:t>
              </a:r>
              <a:r>
                <a:rPr lang="zh-TW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加上</a:t>
              </a:r>
              <a:r>
                <a:rPr lang="en-US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 RAG </a:t>
              </a:r>
              <a:r>
                <a:rPr lang="zh-TW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有何不同？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838200" y="2381250"/>
              <a:ext cx="17907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280922" y="248285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互補判定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2628900" y="2609850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2771775" y="25622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2838450" y="2381250"/>
              <a:ext cx="17907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186874" y="2482850"/>
              <a:ext cx="10938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529 維檢索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4629150" y="2609850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4772025" y="25622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838700" y="2381250"/>
              <a:ext cx="17907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317562" y="2482850"/>
              <a:ext cx="8329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6629400" y="2609850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6772275" y="25622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838950" y="2381250"/>
              <a:ext cx="17907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170611" y="248285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策略與回復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580" y="3336925"/>
              <a:ext cx="42062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互補判定 → 案例檢索 → 證據稽核 → 受控處置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868852" y="2152650"/>
              <a:ext cx="112204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529 維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571076" y="27813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任務導向證據向量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29056" y="40608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361694" y="4035425"/>
              <a:ext cx="500748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如何證明前段判斷與後段處置已經串起來？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38200" y="4610100"/>
              <a:ext cx="17907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280922" y="47117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正式類別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2628900" y="4838700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2771775" y="47910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2838450" y="4610100"/>
              <a:ext cx="17907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164604" y="4711700"/>
              <a:ext cx="11383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案例</a:t>
              </a:r>
            </a:p>
          </p:txBody>
        </p:sp>
        <p:sp>
          <p:nvSpPr>
            <p:cNvPr id="37" name="Freeform 37"/>
            <p:cNvSpPr/>
            <p:nvPr/>
          </p:nvSpPr>
          <p:spPr>
            <a:xfrm>
              <a:off x="4629150" y="4838700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4772025" y="47910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4838700" y="4610100"/>
              <a:ext cx="17907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281422" y="47117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6629400" y="4838700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6772275" y="47910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838950" y="4610100"/>
              <a:ext cx="17907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281672" y="47117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838200" y="5200650"/>
              <a:ext cx="7791450" cy="361950"/>
            </a:xfrm>
            <a:prstGeom prst="roundRect">
              <a:avLst>
                <a:gd name="adj" fmla="val 15789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3042756" y="5254625"/>
              <a:ext cx="33823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</a:t>
              </a:r>
              <a:r>
                <a:rPr lang="en-US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event_id </a:t>
              </a:r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＋ 同次</a:t>
              </a:r>
              <a:r>
                <a:rPr lang="en-US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execution_id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30580" y="5661025"/>
              <a:ext cx="43238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分類、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Top-5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、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、策略與回條綁定同一事件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710486" y="4476750"/>
              <a:ext cx="143877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</a:t>
              </a:r>
              <a:r>
                <a:rPr lang="en-US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571076" y="51054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事件與執行可追溯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51" name="Line 51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650541" y="6451600"/>
              <a:ext cx="937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答詢備用 1 / 3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272534" cy="1082802"/>
            <a:chOff x="593598" y="257175"/>
            <a:chExt cx="4272534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5852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答詢圖解｜評估與誤判</a:t>
              </a:r>
            </a:p>
          </p:txBody>
        </p:sp>
      </p:grpSp>
      <p:grpSp>
        <p:nvGrpSpPr>
          <p:cNvPr id="49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6" name="Rectangle 6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9056" y="17367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Q3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61694" y="1711325"/>
              <a:ext cx="553250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評估資料如何切分？案例庫是否洩漏測試答案？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838200" y="2390775"/>
              <a:ext cx="23050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244727" y="2492375"/>
              <a:ext cx="149199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訓練案例 1,550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390775"/>
              <a:ext cx="2019300" cy="457200"/>
            </a:xfrm>
            <a:prstGeom prst="roundRect">
              <a:avLst>
                <a:gd name="adj" fmla="val 12500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250454" y="2492375"/>
              <a:ext cx="11383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572250" y="2390775"/>
              <a:ext cx="23050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066788" y="2492375"/>
              <a:ext cx="13159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測試查詢 463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3143250" y="2619375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3743325" y="25717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5829300" y="2619375"/>
              <a:ext cx="742950" cy="9525"/>
            </a:xfrm>
            <a:custGeom>
              <a:avLst/>
              <a:gdLst/>
              <a:ahLst/>
              <a:cxnLst/>
              <a:rect l="l" t="t" r="r" b="b"/>
              <a:pathLst>
                <a:path w="742950" h="9525">
                  <a:moveTo>
                    <a:pt x="742950" y="0"/>
                  </a:moveTo>
                  <a:lnTo>
                    <a:pt x="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5829300" y="25717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66675" y="0"/>
                  </a:moveTo>
                  <a:lnTo>
                    <a:pt x="0" y="47625"/>
                  </a:lnTo>
                  <a:lnTo>
                    <a:pt x="66675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435484" y="2908300"/>
              <a:ext cx="276833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訓練庫只讀 · 兩集合不重疊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0580" y="3336925"/>
              <a:ext cx="41900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偵測與檢索分開評估；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輸入不包含真實標籤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314051" y="2139950"/>
              <a:ext cx="231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77425" y="2781300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訓練／查詢重疊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29056" y="40608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61694" y="4035425"/>
              <a:ext cx="494099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若支持錯誤判斷，如何避免直接誤封？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38200" y="4914900"/>
              <a:ext cx="14287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64324" y="5016500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30 筆誤判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2266950" y="4762500"/>
              <a:ext cx="704850" cy="381000"/>
            </a:xfrm>
            <a:custGeom>
              <a:avLst/>
              <a:gdLst/>
              <a:ahLst/>
              <a:cxnLst/>
              <a:rect l="l" t="t" r="r" b="b"/>
              <a:pathLst>
                <a:path w="704850" h="381000">
                  <a:moveTo>
                    <a:pt x="0" y="381000"/>
                  </a:moveTo>
                  <a:lnTo>
                    <a:pt x="342900" y="381000"/>
                  </a:lnTo>
                  <a:lnTo>
                    <a:pt x="342900" y="0"/>
                  </a:lnTo>
                  <a:lnTo>
                    <a:pt x="704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2905125" y="47148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2609850" y="5143500"/>
              <a:ext cx="361950" cy="209550"/>
            </a:xfrm>
            <a:custGeom>
              <a:avLst/>
              <a:gdLst/>
              <a:ahLst/>
              <a:cxnLst/>
              <a:rect l="l" t="t" r="r" b="b"/>
              <a:pathLst>
                <a:path w="361950" h="209550">
                  <a:moveTo>
                    <a:pt x="0" y="0"/>
                  </a:moveTo>
                  <a:lnTo>
                    <a:pt x="0" y="209550"/>
                  </a:lnTo>
                  <a:lnTo>
                    <a:pt x="361950" y="2095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2905125" y="5305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2971800" y="4533900"/>
              <a:ext cx="22860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293364" y="4635500"/>
              <a:ext cx="16428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18 複核／不確定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2971800" y="5124450"/>
              <a:ext cx="22860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626548" y="5226050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12 仍支持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5257800" y="47625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5762625" y="47148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5257800" y="535305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5762625" y="5305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5829300" y="4533900"/>
              <a:ext cx="2819400" cy="457200"/>
            </a:xfrm>
            <a:prstGeom prst="roundRect">
              <a:avLst>
                <a:gd name="adj" fmla="val 12500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75311" y="463550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監測／蒐證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829300" y="5124450"/>
              <a:ext cx="2819400" cy="457200"/>
            </a:xfrm>
            <a:prstGeom prst="roundRect">
              <a:avLst>
                <a:gd name="adj" fmla="val 12500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317996" y="5238750"/>
              <a:ext cx="184200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若觸發 → 策略檢查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0580" y="5661025"/>
              <a:ext cx="4320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12 筆為支持統計；處置與回復另以隔離情境驗證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852359" y="4464050"/>
              <a:ext cx="115503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18 / 30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783775" y="5105400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偵測誤判分流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50" name="Line 5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650541" y="6451600"/>
              <a:ext cx="937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答詢備用 2 / 3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272534" cy="1082802"/>
            <a:chOff x="593598" y="257175"/>
            <a:chExt cx="4272534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5852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答詢圖解｜效果與部署</a:t>
              </a:r>
            </a:p>
          </p:txBody>
        </p:sp>
      </p:grpSp>
      <p:grpSp>
        <p:nvGrpSpPr>
          <p:cNvPr id="47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6" name="Rectangle 6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9056" y="17367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Q5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61694" y="1711325"/>
              <a:ext cx="490622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6/6 是否代表各種真實攻擊都能完全防住？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838200" y="2295525"/>
              <a:ext cx="3143250" cy="952500"/>
            </a:xfrm>
            <a:prstGeom prst="roundRect">
              <a:avLst>
                <a:gd name="adj" fmla="val 60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432075" y="2403475"/>
              <a:ext cx="19554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隔離</a:t>
              </a:r>
              <a:r>
                <a:rPr lang="en-US" sz="180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80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測試床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38706" y="2794000"/>
              <a:ext cx="154223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 規則＋2 監測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3981450" y="2486025"/>
              <a:ext cx="590550" cy="285750"/>
            </a:xfrm>
            <a:custGeom>
              <a:avLst/>
              <a:gdLst/>
              <a:ahLst/>
              <a:cxnLst/>
              <a:rect l="l" t="t" r="r" b="b"/>
              <a:pathLst>
                <a:path w="590550" h="285750">
                  <a:moveTo>
                    <a:pt x="0" y="285750"/>
                  </a:moveTo>
                  <a:lnTo>
                    <a:pt x="304800" y="285750"/>
                  </a:lnTo>
                  <a:lnTo>
                    <a:pt x="304800" y="0"/>
                  </a:lnTo>
                  <a:lnTo>
                    <a:pt x="5905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505325" y="2438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4286250" y="2771775"/>
              <a:ext cx="285750" cy="247650"/>
            </a:xfrm>
            <a:custGeom>
              <a:avLst/>
              <a:gdLst/>
              <a:ahLst/>
              <a:cxnLst/>
              <a:rect l="l" t="t" r="r" b="b"/>
              <a:pathLst>
                <a:path w="285750" h="247650">
                  <a:moveTo>
                    <a:pt x="0" y="0"/>
                  </a:moveTo>
                  <a:lnTo>
                    <a:pt x="0" y="247650"/>
                  </a:lnTo>
                  <a:lnTo>
                    <a:pt x="285750" y="2476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505325" y="2971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572000" y="2257425"/>
              <a:ext cx="4076700" cy="457200"/>
            </a:xfrm>
            <a:prstGeom prst="roundRect">
              <a:avLst>
                <a:gd name="adj" fmla="val 12500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697641" y="2359025"/>
              <a:ext cx="182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背景服務保留 6 / 6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72000" y="2790825"/>
              <a:ext cx="4076700" cy="457200"/>
            </a:xfrm>
            <a:prstGeom prst="roundRect">
              <a:avLst>
                <a:gd name="adj" fmla="val 12500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808702" y="2892425"/>
              <a:ext cx="160329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回復完整性 6 / 6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0580" y="3336925"/>
              <a:ext cx="43798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6/6 驗證服務保留與回復；不等同真實攻擊防禦率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051" y="2139950"/>
              <a:ext cx="749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6 / 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77425" y="2781300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背景保留與回復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29056" y="40608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Q6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61694" y="4035425"/>
              <a:ext cx="47449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如何部署、保護資料，並接到既有環境？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38200" y="4600575"/>
              <a:ext cx="7810500" cy="981075"/>
            </a:xfrm>
            <a:prstGeom prst="roundRect">
              <a:avLst>
                <a:gd name="adj" fmla="val 6796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39368" y="4635500"/>
              <a:ext cx="33389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本機工作站</a:t>
              </a:r>
              <a:r>
                <a:rPr lang="en-US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· GPU </a:t>
              </a:r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模型與案例庫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90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347597" y="50831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欄位遮罩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2609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2828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2895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216974" y="5083175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17 類推論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4514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4733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4800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118299" y="5083175"/>
              <a:ext cx="9838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檢索＋</a:t>
              </a:r>
              <a:r>
                <a:rPr lang="en-US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6419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6638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6705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062597" y="50831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策略回條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580" y="5661025"/>
              <a:ext cx="44567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稽核；私有權重、輸入及逐筆回覆不公開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314051" y="4464050"/>
              <a:ext cx="231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708377" y="5105400"/>
              <a:ext cx="144299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外部</a:t>
              </a:r>
              <a:r>
                <a:rPr lang="en-US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 API </a:t>
              </a:r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呼叫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48" name="Line 48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650541" y="6451600"/>
              <a:ext cx="937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答詢備用 3 / 3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finals_editorial">
  <a:themeElements>
    <a:clrScheme name="finals_editorial">
      <a:dk1>
        <a:srgbClr val="000000"/>
      </a:dk1>
      <a:lt1>
        <a:srgbClr val="FFFFFF"/>
      </a:lt1>
      <a:dk2>
        <a:srgbClr val="1F497D"/>
      </a:dk2>
      <a:lt2>
        <a:srgbClr val="F2F7FC"/>
      </a:lt2>
      <a:accent1>
        <a:srgbClr val="0070D1"/>
      </a:accent1>
      <a:accent2>
        <a:srgbClr val="0070D1"/>
      </a:accent2>
      <a:accent3>
        <a:srgbClr val="F5F7FA"/>
      </a:accent3>
      <a:accent4>
        <a:srgbClr val="0070D1"/>
      </a:accent4>
      <a:accent5>
        <a:srgbClr val="6B6B6B"/>
      </a:accent5>
      <a:accent6>
        <a:srgbClr val="CCCCCC"/>
      </a:accent6>
      <a:hlink>
        <a:srgbClr val="0070D1"/>
      </a:hlink>
      <a:folHlink>
        <a:srgbClr val="F5F7FA"/>
      </a:folHlink>
    </a:clrScheme>
    <a:fontScheme name="finals_editorial">
      <a:maj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finals_editorial">
  <a:themeElements>
    <a:clrScheme name="finals_editorial">
      <a:dk1>
        <a:srgbClr val="000000"/>
      </a:dk1>
      <a:lt1>
        <a:srgbClr val="FFFFFF"/>
      </a:lt1>
      <a:dk2>
        <a:srgbClr val="1F497D"/>
      </a:dk2>
      <a:lt2>
        <a:srgbClr val="F2F7FC"/>
      </a:lt2>
      <a:accent1>
        <a:srgbClr val="0070D1"/>
      </a:accent1>
      <a:accent2>
        <a:srgbClr val="0070D1"/>
      </a:accent2>
      <a:accent3>
        <a:srgbClr val="F5F7FA"/>
      </a:accent3>
      <a:accent4>
        <a:srgbClr val="0070D1"/>
      </a:accent4>
      <a:accent5>
        <a:srgbClr val="6B6B6B"/>
      </a:accent5>
      <a:accent6>
        <a:srgbClr val="CCCCCC"/>
      </a:accent6>
      <a:hlink>
        <a:srgbClr val="0070D1"/>
      </a:hlink>
      <a:folHlink>
        <a:srgbClr val="F5F7FA"/>
      </a:folHlink>
    </a:clrScheme>
    <a:fontScheme name="finals_editorial">
      <a:maj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2219</Words>
  <Application>Microsoft Office PowerPoint</Application>
  <PresentationFormat>寬螢幕</PresentationFormat>
  <Paragraphs>268</Paragraphs>
  <Slides>12</Slides>
  <Notes>12</Notes>
  <HiddenSlides>0</HiddenSlides>
  <MMClips>1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5" baseType="lpstr">
      <vt:lpstr>Arial</vt:lpstr>
      <vt:lpstr>Times New Roman</vt:lpstr>
      <vt:lpstr>finals_editorial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/>
  <cp:lastModifiedBy/>
  <cp:revision>2</cp:revision>
  <dcterms:created xsi:type="dcterms:W3CDTF">2026-10-28T06:54:16Z</dcterms:created>
  <dcterms:modified xsi:type="dcterms:W3CDTF">2026-10-28T06:54:38Z</dcterms:modified>
  <cp:category/>
  <cp:contentStatus/>
  <dc:language>zh-TW</dc:language>
</cp:coreProperties>
</file>