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Macro-F1</c:v>
                </c:pt>
              </c:strCache>
            </c:strRef>
          </c:tx>
          <c:spPr>
            <a:solidFill>
              <a:srgbClr val="93C5FD"/>
            </a:solidFill>
          </c:spPr>
          <c:cat>
            <c:strRef>
              <c:f>Sheet1!$A$2:$A$4</c:f>
              <c:strCache>
                <c:ptCount val="3"/>
                <c:pt idx="0">
                  <c:v>OOF Gate（本作）</c:v>
                </c:pt>
                <c:pt idx="1">
                  <c:v>SPIN-IDS-15</c:v>
                </c:pt>
                <c:pt idx="2">
                  <c:v>PBCNN-20</c:v>
                </c:pt>
              </c:strCache>
            </c:strRef>
          </c:cat>
          <c:val>
            <c:numRef>
              <c:f>Sheet1!$B$2:$B$4</c:f>
              <c:numCache>
                <c:formatCode>General</c:formatCode>
                <c:ptCount val="3"/>
                <c:pt idx="0">
                  <c:v>93.03</c:v>
                </c:pt>
                <c:pt idx="1">
                  <c:v>91.69</c:v>
                </c:pt>
                <c:pt idx="2">
                  <c:v>87.91</c:v>
                </c:pt>
              </c:numCache>
            </c:numRef>
          </c:val>
        </c:ser>
        <c:ser>
          <c:idx val="1"/>
          <c:order val="1"/>
          <c:tx>
            <c:strRef>
              <c:f>Sheet1!$C$1</c:f>
              <c:strCache>
                <c:ptCount val="1"/>
                <c:pt idx="0">
                  <c:v>Accuracy</c:v>
                </c:pt>
              </c:strCache>
            </c:strRef>
          </c:tx>
          <c:spPr>
            <a:solidFill>
              <a:srgbClr val="1D4ED8"/>
            </a:solidFill>
          </c:spPr>
          <c:cat>
            <c:strRef>
              <c:f>Sheet1!$A$2:$A$4</c:f>
              <c:strCache>
                <c:ptCount val="3"/>
                <c:pt idx="0">
                  <c:v>OOF Gate（本作）</c:v>
                </c:pt>
                <c:pt idx="1">
                  <c:v>SPIN-IDS-15</c:v>
                </c:pt>
                <c:pt idx="2">
                  <c:v>PBCNN-20</c:v>
                </c:pt>
              </c:strCache>
            </c:strRef>
          </c:cat>
          <c:val>
            <c:numRef>
              <c:f>Sheet1!$C$2:$C$4</c:f>
              <c:numCache>
                <c:formatCode>General</c:formatCode>
                <c:ptCount val="3"/>
                <c:pt idx="0">
                  <c:v>97.89</c:v>
                </c:pt>
                <c:pt idx="1">
                  <c:v>96.0</c:v>
                </c:pt>
                <c:pt idx="2">
                  <c:v>90.06</c:v>
                </c:pt>
              </c:numCache>
            </c:numRef>
          </c:val>
        </c:ser>
        <c:dLbls>
          <c:numFmt formatCode="0.00" sourceLinked="0"/>
          <c:txPr>
            <a:bodyPr/>
            <a:lstStyle/>
            <a:p>
              <a:pPr>
                <a:defRPr sz="1200" b="1">
                  <a:solidFill>
                    <a:srgbClr val="0B1B33"/>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l"/>
        <c:majorTickMark val="out"/>
        <c:minorTickMark val="none"/>
        <c:tickLblPos val="nextTo"/>
        <c:spPr>
          <a:ln>
            <a:solidFill>
              <a:srgbClr val="DCE3EE"/>
            </a:solidFill>
          </a:ln>
        </c:spPr>
        <c:txPr>
          <a:bodyPr/>
          <a:lstStyle/>
          <a:p>
            <a:pPr>
              <a:defRPr sz="1400">
                <a:solidFill>
                  <a:srgbClr val="0B1B33"/>
                </a:solidFill>
                <a:latin typeface="Microsoft JhengHei"/>
              </a:defRPr>
            </a:pPr>
          </a:p>
        </c:txPr>
        <c:crossAx val="-2113994440"/>
        <c:crosses val="autoZero"/>
        <c:auto val="1"/>
        <c:lblAlgn val="ctr"/>
        <c:lblOffset val="100"/>
        <c:noMultiLvlLbl val="0"/>
      </c:catAx>
      <c:valAx>
        <c:axId val="-2113994440"/>
        <c:scaling>
          <c:max val="100.0"/>
          <c:min val="80.0"/>
        </c:scaling>
        <c:delete val="0"/>
        <c:axPos val="b"/>
        <c:majorGridlines>
          <c:spPr>
            <a:ln>
              <a:solidFill>
                <a:srgbClr val="E3E8F0"/>
              </a:solidFill>
            </a:ln>
          </c:spPr>
        </c:majorGridlines>
        <c:majorTickMark val="out"/>
        <c:minorTickMark val="none"/>
        <c:tickLblPos val="nextTo"/>
        <c:spPr>
          <a:ln>
            <a:noFill/>
          </a:ln>
        </c:spPr>
        <c:txPr>
          <a:bodyPr/>
          <a:lstStyle/>
          <a:p>
            <a:pPr>
              <a:defRPr sz="1100">
                <a:solidFill>
                  <a:srgbClr val="5B6B82"/>
                </a:solidFill>
              </a:defRPr>
            </a:pPr>
          </a:p>
        </c:txPr>
        <c:crossAx val="-2068027336"/>
        <c:crosses val="autoZero"/>
      </c:valAx>
    </c:plotArea>
    <c:legend>
      <c:legendPos val="t"/>
      <c:overlay val="0"/>
      <c:txPr>
        <a:bodyPr/>
        <a:lstStyle/>
        <a:p>
          <a:pPr>
            <a:defRPr sz="1200">
              <a:solidFill>
                <a:srgbClr val="5B6B82"/>
              </a:solidFill>
              <a:latin typeface="Microsoft JhengHei"/>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錯誤攔截率</c:v>
                </c:pt>
              </c:strCache>
            </c:strRef>
          </c:tx>
          <c:spPr>
            <a:solidFill>
              <a:srgbClr val="F59E0B"/>
            </a:solidFill>
          </c:spPr>
          <c:cat>
            <c:strRef>
              <c:f>Sheet1!$A$2:$A$4</c:f>
              <c:strCache>
                <c:ptCount val="3"/>
                <c:pt idx="0">
                  <c:v>改良 RAG（本作）</c:v>
                </c:pt>
                <c:pt idx="1">
                  <c:v>原始 RAG</c:v>
                </c:pt>
                <c:pt idx="2">
                  <c:v>No-RAG</c:v>
                </c:pt>
              </c:strCache>
            </c:strRef>
          </c:cat>
          <c:val>
            <c:numRef>
              <c:f>Sheet1!$B$2:$B$4</c:f>
              <c:numCache>
                <c:formatCode>General</c:formatCode>
                <c:ptCount val="3"/>
                <c:pt idx="0">
                  <c:v>95.83</c:v>
                </c:pt>
                <c:pt idx="1">
                  <c:v>52.31</c:v>
                </c:pt>
                <c:pt idx="2">
                  <c:v>48.15</c:v>
                </c:pt>
              </c:numCache>
            </c:numRef>
          </c:val>
        </c:ser>
        <c:ser>
          <c:idx val="1"/>
          <c:order val="1"/>
          <c:tx>
            <c:strRef>
              <c:f>Sheet1!$C$1</c:f>
              <c:strCache>
                <c:ptCount val="1"/>
                <c:pt idx="0">
                  <c:v>Judge 準確率</c:v>
                </c:pt>
              </c:strCache>
            </c:strRef>
          </c:tx>
          <c:spPr>
            <a:solidFill>
              <a:srgbClr val="6D28D9"/>
            </a:solidFill>
          </c:spPr>
          <c:cat>
            <c:strRef>
              <c:f>Sheet1!$A$2:$A$4</c:f>
              <c:strCache>
                <c:ptCount val="3"/>
                <c:pt idx="0">
                  <c:v>改良 RAG（本作）</c:v>
                </c:pt>
                <c:pt idx="1">
                  <c:v>原始 RAG</c:v>
                </c:pt>
                <c:pt idx="2">
                  <c:v>No-RAG</c:v>
                </c:pt>
              </c:strCache>
            </c:strRef>
          </c:cat>
          <c:val>
            <c:numRef>
              <c:f>Sheet1!$C$2:$C$4</c:f>
              <c:numCache>
                <c:formatCode>General</c:formatCode>
                <c:ptCount val="3"/>
                <c:pt idx="0">
                  <c:v>98.85</c:v>
                </c:pt>
                <c:pt idx="1">
                  <c:v>93.72</c:v>
                </c:pt>
                <c:pt idx="2">
                  <c:v>93.44</c:v>
                </c:pt>
              </c:numCache>
            </c:numRef>
          </c:val>
        </c:ser>
        <c:dLbls>
          <c:numFmt formatCode="0.00" sourceLinked="0"/>
          <c:txPr>
            <a:bodyPr/>
            <a:lstStyle/>
            <a:p>
              <a:pPr>
                <a:defRPr sz="1200" b="1">
                  <a:solidFill>
                    <a:srgbClr val="0B1B33"/>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l"/>
        <c:majorTickMark val="out"/>
        <c:minorTickMark val="none"/>
        <c:tickLblPos val="nextTo"/>
        <c:spPr>
          <a:ln>
            <a:solidFill>
              <a:srgbClr val="DCE3EE"/>
            </a:solidFill>
          </a:ln>
        </c:spPr>
        <c:txPr>
          <a:bodyPr/>
          <a:lstStyle/>
          <a:p>
            <a:pPr>
              <a:defRPr sz="1400">
                <a:solidFill>
                  <a:srgbClr val="0B1B33"/>
                </a:solidFill>
                <a:latin typeface="Microsoft JhengHei"/>
              </a:defRPr>
            </a:pPr>
          </a:p>
        </c:txPr>
        <c:crossAx val="-2113994440"/>
        <c:crosses val="autoZero"/>
        <c:auto val="1"/>
        <c:lblAlgn val="ctr"/>
        <c:lblOffset val="100"/>
        <c:noMultiLvlLbl val="0"/>
      </c:catAx>
      <c:valAx>
        <c:axId val="-2113994440"/>
        <c:scaling>
          <c:max val="110.0"/>
          <c:min val="0.0"/>
        </c:scaling>
        <c:delete val="0"/>
        <c:axPos val="b"/>
        <c:majorGridlines>
          <c:spPr>
            <a:ln>
              <a:solidFill>
                <a:srgbClr val="E3E8F0"/>
              </a:solidFill>
            </a:ln>
          </c:spPr>
        </c:majorGridlines>
        <c:majorTickMark val="out"/>
        <c:minorTickMark val="none"/>
        <c:tickLblPos val="nextTo"/>
        <c:spPr>
          <a:ln>
            <a:noFill/>
          </a:ln>
        </c:spPr>
        <c:txPr>
          <a:bodyPr/>
          <a:lstStyle/>
          <a:p>
            <a:pPr>
              <a:defRPr sz="1100">
                <a:solidFill>
                  <a:srgbClr val="5B6B82"/>
                </a:solidFill>
              </a:defRPr>
            </a:pPr>
          </a:p>
        </c:txPr>
        <c:crossAx val="-2068027336"/>
        <c:crosses val="autoZero"/>
      </c:valAx>
    </c:plotArea>
    <c:legend>
      <c:legendPos val="t"/>
      <c:overlay val="0"/>
      <c:txPr>
        <a:bodyPr/>
        <a:lstStyle/>
        <a:p>
          <a:pPr>
            <a:defRPr sz="1200">
              <a:solidFill>
                <a:srgbClr val="5B6B82"/>
              </a:solidFill>
              <a:latin typeface="Microsoft JhengHe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【0:00–0:10】各位評審好，我們的作品是「融合新型內容相依時序方向模型入侵偵測與任務導向檢索增強稽核之 AI 資安框架」。一句話：把只有標籤的告警，變成可查證、可稽核、可回復的事件鏈。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【0:10–0:35】校園與企業每天有大量告警，一般 IDS 只輸出攻擊類別，後面的查證、處置與確認恢復都靠人工，告警一多就慢，也容易誤阻斷。我們把這四段人工接力，換成四個有依據、可回溯的自動化步驟。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【0:35–1:20】這是完整架構。① 原始流量組成雙向 Flow、去識別化，轉成內容位元組、時間差與方向三種輸入。② CTBM 讀內容、時序與方向，PBCNN 補短窗位元組，經溫度校準與 OOF Gate 輸出固定 17 類。③ 512 維表徵加 17 維機率組成 529 維任務向量，從訓練案例庫取回 Top-5，再由本機大語言模型三態稽核。④ Policy Guard 檢查白名單與門檻後才套用規則，讀回驗證並 30 秒到期自動回復。下方是貫穿全程的同一事件識別碼。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【1:20–2:00】三項創新各解決一個瓶頸：第一，內容相依時序方向偵測，17 類 Macro-F1 93.05%；第二，任務導向檢索，讓每個判定都有 Top-5 案例可回查，命中率 96.76%；第三，AI 只做證據稽核、不覆寫分類，處置交給 Policy Guard 並且一定可回復，錯誤攔截率 95.83%。接著用影片看一筆事件的實際輸入與輸出。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【2:00–3:05】點擊播放影片（60 秒，Packet Tracer 模擬模式）。旁白重點：輸入是原始流量，處理是雙分支偵測、任務檢索、AI 稽核與受控處置，輸出是 17 類機率、Top-5 證據、結構化 JSON 稽核與網路處置回條。Bot 事件實測：攻擊型測試交易成功率 100% 降到 0%，背景服務 100% 保留，30.12 秒到期撤銷後完整回復。影片同時是網路不穩時的備案。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【3:05–3:45】成果：17 類偵測 Accuracy 98.08%、Macro-F1 93.05%；任務檢索 Top-5 96.76%、MRR@5 94.25%。相同設定下 OOF Gate 比 PBCNN-20 的 Macro-F1 高 5.12 個百分點；加入改良 RAG 後，錯誤攔截率從 48.15% 提升到 95.83%，約兩倍。</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【3:45–4:35】落地可行性對應四個面向：穩定性，AI 從不改寫分類、輸出格式 100% 有效；成熟度，17 類即時重跑、6 種隔離情境全部完整回復；完整性，一個事件 ID 串起所有紀錄；擴充性，直接吃封存檔或鏡像流量，模型、案例庫、白名單都能獨立更新，而且全程本機推論。</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【4:35–5:00】總結：偵測有依據、稽核有證據、處置可回復。感謝評審聆聽，敬請指教。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955279" y="91440"/>
            <a:ext cx="4236415" cy="6766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694944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2026 第 31 屆大專校院資訊應用服務創新競賽　·　資安技術組　·　決賽</a:t>
            </a:r>
          </a:p>
        </p:txBody>
      </p:sp>
      <p:sp>
        <p:nvSpPr>
          <p:cNvPr id="6" name="TextBox 5"/>
          <p:cNvSpPr txBox="1"/>
          <p:nvPr/>
        </p:nvSpPr>
        <p:spPr>
          <a:xfrm>
            <a:off x="731520" y="1417320"/>
            <a:ext cx="7040880" cy="2468880"/>
          </a:xfrm>
          <a:prstGeom prst="rect">
            <a:avLst/>
          </a:prstGeom>
          <a:noFill/>
        </p:spPr>
        <p:txBody>
          <a:bodyPr wrap="square" anchor="t" lIns="0" rIns="0" tIns="0" bIns="0">
            <a:spAutoFit/>
          </a:bodyPr>
          <a:lstStyle/>
          <a:p>
            <a:pPr algn="l">
              <a:lnSpc>
                <a:spcPct val="130000"/>
              </a:lnSpc>
            </a:pPr>
            <a:r>
              <a:rPr sz="3400" b="1" lang="zh-TW">
                <a:solidFill>
                  <a:srgbClr val="0B1B33"/>
                </a:solidFill>
                <a:latin typeface="Microsoft JhengHei"/>
                <a:ea typeface="Microsoft JhengHei"/>
              </a:rPr>
              <a:t>融合新型</a:t>
            </a:r>
            <a:r>
              <a:rPr sz="3400" b="1" lang="zh-TW">
                <a:solidFill>
                  <a:srgbClr val="1D4ED8"/>
                </a:solidFill>
                <a:latin typeface="Microsoft JhengHei"/>
                <a:ea typeface="Microsoft JhengHei"/>
              </a:rPr>
              <a:t>內容相依時序方向模型</a:t>
            </a:r>
          </a:p>
          <a:p>
            <a:pPr algn="l">
              <a:lnSpc>
                <a:spcPct val="130000"/>
              </a:lnSpc>
            </a:pPr>
            <a:r>
              <a:rPr sz="3400" b="1" lang="zh-TW">
                <a:solidFill>
                  <a:srgbClr val="0B1B33"/>
                </a:solidFill>
                <a:latin typeface="Microsoft JhengHei"/>
                <a:ea typeface="Microsoft JhengHei"/>
              </a:rPr>
              <a:t>入侵偵測與</a:t>
            </a:r>
            <a:r>
              <a:rPr sz="3400" b="1" lang="zh-TW">
                <a:solidFill>
                  <a:srgbClr val="1D4ED8"/>
                </a:solidFill>
                <a:latin typeface="Microsoft JhengHei"/>
                <a:ea typeface="Microsoft JhengHei"/>
              </a:rPr>
              <a:t>任務導向檢索增強稽核</a:t>
            </a:r>
          </a:p>
          <a:p>
            <a:pPr algn="l">
              <a:lnSpc>
                <a:spcPct val="130000"/>
              </a:lnSpc>
            </a:pPr>
            <a:r>
              <a:rPr sz="3400" b="1" lang="zh-TW">
                <a:solidFill>
                  <a:srgbClr val="0B1B33"/>
                </a:solidFill>
                <a:latin typeface="Microsoft JhengHei"/>
                <a:ea typeface="Microsoft JhengHei"/>
              </a:rPr>
              <a:t>之 AI 資安框架</a:t>
            </a:r>
          </a:p>
        </p:txBody>
      </p:sp>
      <p:sp>
        <p:nvSpPr>
          <p:cNvPr id="7" name="Rectangle 6"/>
          <p:cNvSpPr/>
          <p:nvPr/>
        </p:nvSpPr>
        <p:spPr>
          <a:xfrm>
            <a:off x="749808" y="4069080"/>
            <a:ext cx="1188720" cy="5486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297680"/>
            <a:ext cx="6949440" cy="731520"/>
          </a:xfrm>
          <a:prstGeom prst="rect">
            <a:avLst/>
          </a:prstGeom>
          <a:noFill/>
        </p:spPr>
        <p:txBody>
          <a:bodyPr wrap="square" anchor="t" lIns="0" rIns="0" tIns="0" bIns="0">
            <a:spAutoFit/>
          </a:bodyPr>
          <a:lstStyle/>
          <a:p>
            <a:pPr algn="l">
              <a:lnSpc>
                <a:spcPct val="130000"/>
              </a:lnSpc>
            </a:pPr>
            <a:r>
              <a:rPr sz="1300" b="0" lang="zh-TW">
                <a:solidFill>
                  <a:srgbClr val="5B6B82"/>
                </a:solidFill>
                <a:latin typeface="Segoe UI"/>
                <a:ea typeface="Segoe UI"/>
              </a:rPr>
              <a:t>An AI Security Framework Integrating Novel Content Dependent Temporal Directional Intrusion Detection and Task Oriented Retrieval Augmented</a:t>
            </a:r>
          </a:p>
        </p:txBody>
      </p:sp>
      <p:cxnSp>
        <p:nvCxnSpPr>
          <p:cNvPr id="9" name="Connector 8"/>
          <p:cNvCxnSpPr/>
          <p:nvPr/>
        </p:nvCxnSpPr>
        <p:spPr>
          <a:xfrm>
            <a:off x="731520" y="5394960"/>
            <a:ext cx="2057400" cy="0"/>
          </a:xfrm>
          <a:prstGeom prst="line">
            <a:avLst/>
          </a:prstGeom>
          <a:ln w="15875">
            <a:solidFill>
              <a:srgbClr val="DCE3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31520" y="5486400"/>
            <a:ext cx="2194560" cy="457200"/>
          </a:xfrm>
          <a:prstGeom prst="rect">
            <a:avLst/>
          </a:prstGeom>
          <a:noFill/>
        </p:spPr>
        <p:txBody>
          <a:bodyPr wrap="square" anchor="t" lIns="0" rIns="0" tIns="0" bIns="0">
            <a:spAutoFit/>
          </a:bodyPr>
          <a:lstStyle/>
          <a:p>
            <a:pPr algn="l">
              <a:lnSpc>
                <a:spcPct val="100000"/>
              </a:lnSpc>
            </a:pPr>
            <a:r>
              <a:rPr sz="2400" b="1" lang="zh-TW">
                <a:solidFill>
                  <a:srgbClr val="1D4ED8"/>
                </a:solidFill>
                <a:latin typeface="Segoe UI"/>
                <a:ea typeface="Segoe UI"/>
              </a:rPr>
              <a:t>98.08%</a:t>
            </a:r>
          </a:p>
        </p:txBody>
      </p:sp>
      <p:sp>
        <p:nvSpPr>
          <p:cNvPr id="11" name="TextBox 10"/>
          <p:cNvSpPr txBox="1"/>
          <p:nvPr/>
        </p:nvSpPr>
        <p:spPr>
          <a:xfrm>
            <a:off x="731520" y="5943600"/>
            <a:ext cx="219456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17 類偵測 Accuracy</a:t>
            </a:r>
          </a:p>
        </p:txBody>
      </p:sp>
      <p:cxnSp>
        <p:nvCxnSpPr>
          <p:cNvPr id="12" name="Connector 11"/>
          <p:cNvCxnSpPr/>
          <p:nvPr/>
        </p:nvCxnSpPr>
        <p:spPr>
          <a:xfrm>
            <a:off x="3063239" y="5394960"/>
            <a:ext cx="2057401" cy="0"/>
          </a:xfrm>
          <a:prstGeom prst="line">
            <a:avLst/>
          </a:prstGeom>
          <a:ln w="15875">
            <a:solidFill>
              <a:srgbClr val="DCE3E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063239" y="5486400"/>
            <a:ext cx="2194560" cy="457200"/>
          </a:xfrm>
          <a:prstGeom prst="rect">
            <a:avLst/>
          </a:prstGeom>
          <a:noFill/>
        </p:spPr>
        <p:txBody>
          <a:bodyPr wrap="square" anchor="t" lIns="0" rIns="0" tIns="0" bIns="0">
            <a:spAutoFit/>
          </a:bodyPr>
          <a:lstStyle/>
          <a:p>
            <a:pPr algn="l">
              <a:lnSpc>
                <a:spcPct val="100000"/>
              </a:lnSpc>
            </a:pPr>
            <a:r>
              <a:rPr sz="2400" b="1" lang="zh-TW">
                <a:solidFill>
                  <a:srgbClr val="6D28D9"/>
                </a:solidFill>
                <a:latin typeface="Segoe UI"/>
                <a:ea typeface="Segoe UI"/>
              </a:rPr>
              <a:t>96.76%</a:t>
            </a:r>
          </a:p>
        </p:txBody>
      </p:sp>
      <p:sp>
        <p:nvSpPr>
          <p:cNvPr id="14" name="TextBox 13"/>
          <p:cNvSpPr txBox="1"/>
          <p:nvPr/>
        </p:nvSpPr>
        <p:spPr>
          <a:xfrm>
            <a:off x="3063239" y="5943600"/>
            <a:ext cx="219456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任務檢索 Top-5</a:t>
            </a:r>
          </a:p>
        </p:txBody>
      </p:sp>
      <p:cxnSp>
        <p:nvCxnSpPr>
          <p:cNvPr id="15" name="Connector 14"/>
          <p:cNvCxnSpPr/>
          <p:nvPr/>
        </p:nvCxnSpPr>
        <p:spPr>
          <a:xfrm>
            <a:off x="5394959" y="5394960"/>
            <a:ext cx="2057400" cy="0"/>
          </a:xfrm>
          <a:prstGeom prst="line">
            <a:avLst/>
          </a:prstGeom>
          <a:ln w="15875">
            <a:solidFill>
              <a:srgbClr val="DCE3E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394959" y="5486400"/>
            <a:ext cx="2194560" cy="457200"/>
          </a:xfrm>
          <a:prstGeom prst="rect">
            <a:avLst/>
          </a:prstGeom>
          <a:noFill/>
        </p:spPr>
        <p:txBody>
          <a:bodyPr wrap="square" anchor="t" lIns="0" rIns="0" tIns="0" bIns="0">
            <a:spAutoFit/>
          </a:bodyPr>
          <a:lstStyle/>
          <a:p>
            <a:pPr algn="l">
              <a:lnSpc>
                <a:spcPct val="100000"/>
              </a:lnSpc>
            </a:pPr>
            <a:r>
              <a:rPr sz="2400" b="1" lang="zh-TW">
                <a:solidFill>
                  <a:srgbClr val="0F766E"/>
                </a:solidFill>
                <a:latin typeface="Segoe UI"/>
                <a:ea typeface="Segoe UI"/>
              </a:rPr>
              <a:t>6 / 6</a:t>
            </a:r>
          </a:p>
        </p:txBody>
      </p:sp>
      <p:sp>
        <p:nvSpPr>
          <p:cNvPr id="17" name="TextBox 16"/>
          <p:cNvSpPr txBox="1"/>
          <p:nvPr/>
        </p:nvSpPr>
        <p:spPr>
          <a:xfrm>
            <a:off x="5394959" y="5943600"/>
            <a:ext cx="219456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隔離情境完整回復</a:t>
            </a:r>
          </a:p>
        </p:txBody>
      </p:sp>
      <p:sp>
        <p:nvSpPr>
          <p:cNvPr id="18" name="TextBox 17"/>
          <p:cNvSpPr txBox="1"/>
          <p:nvPr/>
        </p:nvSpPr>
        <p:spPr>
          <a:xfrm>
            <a:off x="8412480" y="822960"/>
            <a:ext cx="3291840" cy="274320"/>
          </a:xfrm>
          <a:prstGeom prst="rect">
            <a:avLst/>
          </a:prstGeom>
          <a:noFill/>
        </p:spPr>
        <p:txBody>
          <a:bodyPr wrap="square" anchor="t" lIns="0" rIns="0" tIns="0" bIns="0">
            <a:spAutoFit/>
          </a:bodyPr>
          <a:lstStyle/>
          <a:p>
            <a:pPr algn="l">
              <a:lnSpc>
                <a:spcPct val="100000"/>
              </a:lnSpc>
            </a:pPr>
            <a:r>
              <a:rPr sz="1400" b="1" lang="zh-TW">
                <a:solidFill>
                  <a:srgbClr val="5B6B82"/>
                </a:solidFill>
                <a:latin typeface="Microsoft JhengHei"/>
                <a:ea typeface="Microsoft JhengHei"/>
              </a:rPr>
              <a:t>端到端事件鏈</a:t>
            </a:r>
          </a:p>
        </p:txBody>
      </p:sp>
      <p:cxnSp>
        <p:nvCxnSpPr>
          <p:cNvPr id="19" name="Connector 18"/>
          <p:cNvCxnSpPr/>
          <p:nvPr/>
        </p:nvCxnSpPr>
        <p:spPr>
          <a:xfrm>
            <a:off x="8668512" y="1856231"/>
            <a:ext cx="0" cy="448057"/>
          </a:xfrm>
          <a:prstGeom prst="line">
            <a:avLst/>
          </a:prstGeom>
          <a:ln w="25400">
            <a:solidFill>
              <a:srgbClr val="C9D3E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467344" y="1453895"/>
            <a:ext cx="402336" cy="402336"/>
          </a:xfrm>
          <a:prstGeom prst="ellipse">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67344" y="1527048"/>
            <a:ext cx="402336" cy="274320"/>
          </a:xfrm>
          <a:prstGeom prst="rect">
            <a:avLst/>
          </a:prstGeom>
          <a:noFill/>
        </p:spPr>
        <p:txBody>
          <a:bodyPr wrap="square" anchor="t" lIns="0" rIns="0" tIns="0" bIns="0">
            <a:spAutoFit/>
          </a:bodyPr>
          <a:lstStyle/>
          <a:p>
            <a:pPr algn="ctr">
              <a:lnSpc>
                <a:spcPct val="100000"/>
              </a:lnSpc>
            </a:pPr>
            <a:r>
              <a:rPr sz="1200" b="1" lang="zh-TW">
                <a:solidFill>
                  <a:srgbClr val="1D4ED8"/>
                </a:solidFill>
                <a:latin typeface="Segoe UI"/>
                <a:ea typeface="Segoe UI"/>
              </a:rPr>
              <a:t>1</a:t>
            </a:r>
          </a:p>
        </p:txBody>
      </p:sp>
      <p:sp>
        <p:nvSpPr>
          <p:cNvPr id="22" name="TextBox 21"/>
          <p:cNvSpPr txBox="1"/>
          <p:nvPr/>
        </p:nvSpPr>
        <p:spPr>
          <a:xfrm>
            <a:off x="9098280" y="1399032"/>
            <a:ext cx="27432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資料輸入</a:t>
            </a:r>
          </a:p>
        </p:txBody>
      </p:sp>
      <p:sp>
        <p:nvSpPr>
          <p:cNvPr id="23" name="TextBox 22"/>
          <p:cNvSpPr txBox="1"/>
          <p:nvPr/>
        </p:nvSpPr>
        <p:spPr>
          <a:xfrm>
            <a:off x="9098280" y="1719072"/>
            <a:ext cx="274320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PCAP・鏡像流量</a:t>
            </a:r>
          </a:p>
        </p:txBody>
      </p:sp>
      <p:cxnSp>
        <p:nvCxnSpPr>
          <p:cNvPr id="24" name="Connector 23"/>
          <p:cNvCxnSpPr/>
          <p:nvPr/>
        </p:nvCxnSpPr>
        <p:spPr>
          <a:xfrm>
            <a:off x="8668512" y="2706624"/>
            <a:ext cx="0" cy="448056"/>
          </a:xfrm>
          <a:prstGeom prst="line">
            <a:avLst/>
          </a:prstGeom>
          <a:ln w="25400">
            <a:solidFill>
              <a:srgbClr val="C9D3E3"/>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467344" y="2304288"/>
            <a:ext cx="402336" cy="402336"/>
          </a:xfrm>
          <a:prstGeom prst="ellipse">
            <a:avLst/>
          </a:prstGeom>
          <a:solidFill>
            <a:srgbClr val="FFFFFF"/>
          </a:solidFill>
          <a:ln w="254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67344" y="2377440"/>
            <a:ext cx="402336" cy="274320"/>
          </a:xfrm>
          <a:prstGeom prst="rect">
            <a:avLst/>
          </a:prstGeom>
          <a:noFill/>
        </p:spPr>
        <p:txBody>
          <a:bodyPr wrap="square" anchor="t" lIns="0" rIns="0" tIns="0" bIns="0">
            <a:spAutoFit/>
          </a:bodyPr>
          <a:lstStyle/>
          <a:p>
            <a:pPr algn="ctr">
              <a:lnSpc>
                <a:spcPct val="100000"/>
              </a:lnSpc>
            </a:pPr>
            <a:r>
              <a:rPr sz="1200" b="1" lang="zh-TW">
                <a:solidFill>
                  <a:srgbClr val="0F766E"/>
                </a:solidFill>
                <a:latin typeface="Segoe UI"/>
                <a:ea typeface="Segoe UI"/>
              </a:rPr>
              <a:t>2</a:t>
            </a:r>
          </a:p>
        </p:txBody>
      </p:sp>
      <p:sp>
        <p:nvSpPr>
          <p:cNvPr id="27" name="TextBox 26"/>
          <p:cNvSpPr txBox="1"/>
          <p:nvPr/>
        </p:nvSpPr>
        <p:spPr>
          <a:xfrm>
            <a:off x="9098280" y="2249424"/>
            <a:ext cx="27432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17 類偵測</a:t>
            </a:r>
          </a:p>
        </p:txBody>
      </p:sp>
      <p:sp>
        <p:nvSpPr>
          <p:cNvPr id="28" name="TextBox 27"/>
          <p:cNvSpPr txBox="1"/>
          <p:nvPr/>
        </p:nvSpPr>
        <p:spPr>
          <a:xfrm>
            <a:off x="9098280" y="2569464"/>
            <a:ext cx="274320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CTBM ＋ PBCNN</a:t>
            </a:r>
          </a:p>
        </p:txBody>
      </p:sp>
      <p:cxnSp>
        <p:nvCxnSpPr>
          <p:cNvPr id="29" name="Connector 28"/>
          <p:cNvCxnSpPr/>
          <p:nvPr/>
        </p:nvCxnSpPr>
        <p:spPr>
          <a:xfrm>
            <a:off x="8668512" y="3557016"/>
            <a:ext cx="0" cy="448056"/>
          </a:xfrm>
          <a:prstGeom prst="line">
            <a:avLst/>
          </a:prstGeom>
          <a:ln w="25400">
            <a:solidFill>
              <a:srgbClr val="C9D3E3"/>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8467344" y="3154680"/>
            <a:ext cx="402336" cy="402336"/>
          </a:xfrm>
          <a:prstGeom prst="ellipse">
            <a:avLst/>
          </a:prstGeom>
          <a:solidFill>
            <a:srgbClr val="FFFFFF"/>
          </a:solidFill>
          <a:ln w="254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67344" y="3227832"/>
            <a:ext cx="402336" cy="274320"/>
          </a:xfrm>
          <a:prstGeom prst="rect">
            <a:avLst/>
          </a:prstGeom>
          <a:noFill/>
        </p:spPr>
        <p:txBody>
          <a:bodyPr wrap="square" anchor="t" lIns="0" rIns="0" tIns="0" bIns="0">
            <a:spAutoFit/>
          </a:bodyPr>
          <a:lstStyle/>
          <a:p>
            <a:pPr algn="ctr">
              <a:lnSpc>
                <a:spcPct val="100000"/>
              </a:lnSpc>
            </a:pPr>
            <a:r>
              <a:rPr sz="1200" b="1" lang="zh-TW">
                <a:solidFill>
                  <a:srgbClr val="6D28D9"/>
                </a:solidFill>
                <a:latin typeface="Segoe UI"/>
                <a:ea typeface="Segoe UI"/>
              </a:rPr>
              <a:t>3</a:t>
            </a:r>
          </a:p>
        </p:txBody>
      </p:sp>
      <p:sp>
        <p:nvSpPr>
          <p:cNvPr id="32" name="TextBox 31"/>
          <p:cNvSpPr txBox="1"/>
          <p:nvPr/>
        </p:nvSpPr>
        <p:spPr>
          <a:xfrm>
            <a:off x="9098280" y="3099816"/>
            <a:ext cx="27432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Top-5 檢索</a:t>
            </a:r>
          </a:p>
        </p:txBody>
      </p:sp>
      <p:sp>
        <p:nvSpPr>
          <p:cNvPr id="33" name="TextBox 32"/>
          <p:cNvSpPr txBox="1"/>
          <p:nvPr/>
        </p:nvSpPr>
        <p:spPr>
          <a:xfrm>
            <a:off x="9098280" y="3419856"/>
            <a:ext cx="274320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529 維任務向量</a:t>
            </a:r>
          </a:p>
        </p:txBody>
      </p:sp>
      <p:cxnSp>
        <p:nvCxnSpPr>
          <p:cNvPr id="34" name="Connector 33"/>
          <p:cNvCxnSpPr/>
          <p:nvPr/>
        </p:nvCxnSpPr>
        <p:spPr>
          <a:xfrm>
            <a:off x="8668512" y="4407408"/>
            <a:ext cx="0" cy="448056"/>
          </a:xfrm>
          <a:prstGeom prst="line">
            <a:avLst/>
          </a:prstGeom>
          <a:ln w="25400">
            <a:solidFill>
              <a:srgbClr val="C9D3E3"/>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467344" y="4005072"/>
            <a:ext cx="402336" cy="402336"/>
          </a:xfrm>
          <a:prstGeom prst="ellipse">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67344" y="4078224"/>
            <a:ext cx="402336" cy="274320"/>
          </a:xfrm>
          <a:prstGeom prst="rect">
            <a:avLst/>
          </a:prstGeom>
          <a:noFill/>
        </p:spPr>
        <p:txBody>
          <a:bodyPr wrap="square" anchor="t" lIns="0" rIns="0" tIns="0" bIns="0">
            <a:spAutoFit/>
          </a:bodyPr>
          <a:lstStyle/>
          <a:p>
            <a:pPr algn="ctr">
              <a:lnSpc>
                <a:spcPct val="100000"/>
              </a:lnSpc>
            </a:pPr>
            <a:r>
              <a:rPr sz="1200" b="1" lang="zh-TW">
                <a:solidFill>
                  <a:srgbClr val="B45309"/>
                </a:solidFill>
                <a:latin typeface="Segoe UI"/>
                <a:ea typeface="Segoe UI"/>
              </a:rPr>
              <a:t>4</a:t>
            </a:r>
          </a:p>
        </p:txBody>
      </p:sp>
      <p:sp>
        <p:nvSpPr>
          <p:cNvPr id="37" name="TextBox 36"/>
          <p:cNvSpPr txBox="1"/>
          <p:nvPr/>
        </p:nvSpPr>
        <p:spPr>
          <a:xfrm>
            <a:off x="9098280" y="3950208"/>
            <a:ext cx="27432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AI 稽核</a:t>
            </a:r>
          </a:p>
        </p:txBody>
      </p:sp>
      <p:sp>
        <p:nvSpPr>
          <p:cNvPr id="38" name="TextBox 37"/>
          <p:cNvSpPr txBox="1"/>
          <p:nvPr/>
        </p:nvSpPr>
        <p:spPr>
          <a:xfrm>
            <a:off x="9098280" y="4270248"/>
            <a:ext cx="274320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支持・複核・不確定</a:t>
            </a:r>
          </a:p>
        </p:txBody>
      </p:sp>
      <p:cxnSp>
        <p:nvCxnSpPr>
          <p:cNvPr id="39" name="Connector 38"/>
          <p:cNvCxnSpPr/>
          <p:nvPr/>
        </p:nvCxnSpPr>
        <p:spPr>
          <a:xfrm>
            <a:off x="8668512" y="5257800"/>
            <a:ext cx="0" cy="448056"/>
          </a:xfrm>
          <a:prstGeom prst="line">
            <a:avLst/>
          </a:prstGeom>
          <a:ln w="25400">
            <a:solidFill>
              <a:srgbClr val="C9D3E3"/>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8467344" y="4855464"/>
            <a:ext cx="402336" cy="402336"/>
          </a:xfrm>
          <a:prstGeom prst="ellipse">
            <a:avLst/>
          </a:prstGeom>
          <a:solidFill>
            <a:srgbClr val="FFFFFF"/>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67344" y="4928616"/>
            <a:ext cx="402336" cy="274320"/>
          </a:xfrm>
          <a:prstGeom prst="rect">
            <a:avLst/>
          </a:prstGeom>
          <a:noFill/>
        </p:spPr>
        <p:txBody>
          <a:bodyPr wrap="square" anchor="t" lIns="0" rIns="0" tIns="0" bIns="0">
            <a:spAutoFit/>
          </a:bodyPr>
          <a:lstStyle/>
          <a:p>
            <a:pPr algn="ctr">
              <a:lnSpc>
                <a:spcPct val="100000"/>
              </a:lnSpc>
            </a:pPr>
            <a:r>
              <a:rPr sz="1200" b="1" lang="zh-TW">
                <a:solidFill>
                  <a:srgbClr val="C2410C"/>
                </a:solidFill>
                <a:latin typeface="Segoe UI"/>
                <a:ea typeface="Segoe UI"/>
              </a:rPr>
              <a:t>5</a:t>
            </a:r>
          </a:p>
        </p:txBody>
      </p:sp>
      <p:sp>
        <p:nvSpPr>
          <p:cNvPr id="42" name="TextBox 41"/>
          <p:cNvSpPr txBox="1"/>
          <p:nvPr/>
        </p:nvSpPr>
        <p:spPr>
          <a:xfrm>
            <a:off x="9098280" y="4800600"/>
            <a:ext cx="27432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受控處置</a:t>
            </a:r>
          </a:p>
        </p:txBody>
      </p:sp>
      <p:sp>
        <p:nvSpPr>
          <p:cNvPr id="43" name="TextBox 42"/>
          <p:cNvSpPr txBox="1"/>
          <p:nvPr/>
        </p:nvSpPr>
        <p:spPr>
          <a:xfrm>
            <a:off x="9098280" y="5120640"/>
            <a:ext cx="274320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Policy Guard・TTL</a:t>
            </a:r>
          </a:p>
        </p:txBody>
      </p:sp>
      <p:sp>
        <p:nvSpPr>
          <p:cNvPr id="44" name="Oval 43"/>
          <p:cNvSpPr/>
          <p:nvPr/>
        </p:nvSpPr>
        <p:spPr>
          <a:xfrm>
            <a:off x="8467344" y="5705856"/>
            <a:ext cx="402336" cy="402336"/>
          </a:xfrm>
          <a:prstGeom prst="ellipse">
            <a:avLst/>
          </a:prstGeom>
          <a:solidFill>
            <a:srgbClr val="FFFFFF"/>
          </a:solidFill>
          <a:ln w="25400">
            <a:solidFill>
              <a:srgbClr val="0B1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67344" y="5779008"/>
            <a:ext cx="402336" cy="274320"/>
          </a:xfrm>
          <a:prstGeom prst="rect">
            <a:avLst/>
          </a:prstGeom>
          <a:noFill/>
        </p:spPr>
        <p:txBody>
          <a:bodyPr wrap="square" anchor="t" lIns="0" rIns="0" tIns="0" bIns="0">
            <a:spAutoFit/>
          </a:bodyPr>
          <a:lstStyle/>
          <a:p>
            <a:pPr algn="ctr">
              <a:lnSpc>
                <a:spcPct val="100000"/>
              </a:lnSpc>
            </a:pPr>
            <a:r>
              <a:rPr sz="1200" b="1" lang="zh-TW">
                <a:solidFill>
                  <a:srgbClr val="0B1B33"/>
                </a:solidFill>
                <a:latin typeface="Segoe UI"/>
                <a:ea typeface="Segoe UI"/>
              </a:rPr>
              <a:t>6</a:t>
            </a:r>
          </a:p>
        </p:txBody>
      </p:sp>
      <p:sp>
        <p:nvSpPr>
          <p:cNvPr id="46" name="TextBox 45"/>
          <p:cNvSpPr txBox="1"/>
          <p:nvPr/>
        </p:nvSpPr>
        <p:spPr>
          <a:xfrm>
            <a:off x="9098280" y="5650992"/>
            <a:ext cx="27432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事件輸出</a:t>
            </a:r>
          </a:p>
        </p:txBody>
      </p:sp>
      <p:sp>
        <p:nvSpPr>
          <p:cNvPr id="47" name="TextBox 46"/>
          <p:cNvSpPr txBox="1"/>
          <p:nvPr/>
        </p:nvSpPr>
        <p:spPr>
          <a:xfrm>
            <a:off x="9098280" y="5971032"/>
            <a:ext cx="274320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雜湊鏈回條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731520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01　問題與解方</a:t>
            </a:r>
          </a:p>
        </p:txBody>
      </p:sp>
      <p:sp>
        <p:nvSpPr>
          <p:cNvPr id="5" name="TextBox 4"/>
          <p:cNvSpPr txBox="1"/>
          <p:nvPr/>
        </p:nvSpPr>
        <p:spPr>
          <a:xfrm>
            <a:off x="548640" y="603504"/>
            <a:ext cx="10515600" cy="548640"/>
          </a:xfrm>
          <a:prstGeom prst="rect">
            <a:avLst/>
          </a:prstGeom>
          <a:noFill/>
        </p:spPr>
        <p:txBody>
          <a:bodyPr wrap="square" anchor="t" lIns="0" rIns="0" tIns="0" bIns="0">
            <a:spAutoFit/>
          </a:bodyPr>
          <a:lstStyle/>
          <a:p>
            <a:pPr algn="l">
              <a:lnSpc>
                <a:spcPct val="110000"/>
              </a:lnSpc>
            </a:pPr>
            <a:r>
              <a:rPr sz="3200" b="1" lang="zh-TW">
                <a:solidFill>
                  <a:srgbClr val="0B1B33"/>
                </a:solidFill>
                <a:latin typeface="Microsoft JhengHei"/>
                <a:ea typeface="Microsoft JhengHei"/>
              </a:rPr>
              <a:t>告警只有標籤，查證與處置全靠人工</a:t>
            </a:r>
          </a:p>
        </p:txBody>
      </p:sp>
      <p:sp>
        <p:nvSpPr>
          <p:cNvPr id="6" name="TextBox 5"/>
          <p:cNvSpPr txBox="1"/>
          <p:nvPr/>
        </p:nvSpPr>
        <p:spPr>
          <a:xfrm>
            <a:off x="548640" y="6473952"/>
            <a:ext cx="8229600" cy="228600"/>
          </a:xfrm>
          <a:prstGeom prst="rect">
            <a:avLst/>
          </a:prstGeom>
          <a:noFill/>
        </p:spPr>
        <p:txBody>
          <a:bodyPr wrap="square" anchor="t" lIns="0" rIns="0" tIns="0" bIns="0">
            <a:spAutoFit/>
          </a:bodyPr>
          <a:lstStyle/>
          <a:p>
            <a:pPr algn="l">
              <a:lnSpc>
                <a:spcPct val="100000"/>
              </a:lnSpc>
            </a:pPr>
            <a:r>
              <a:rPr sz="1000" b="0" lang="zh-TW">
                <a:solidFill>
                  <a:srgbClr val="8A97AB"/>
                </a:solidFill>
                <a:latin typeface="Microsoft JhengHei"/>
                <a:ea typeface="Microsoft JhengHei"/>
              </a:rPr>
              <a:t>融合新型內容相依時序方向模型入侵偵測與任務導向檢索增強稽核之 AI 資安框架</a:t>
            </a:r>
          </a:p>
        </p:txBody>
      </p:sp>
      <p:sp>
        <p:nvSpPr>
          <p:cNvPr id="7" name="TextBox 6"/>
          <p:cNvSpPr txBox="1"/>
          <p:nvPr/>
        </p:nvSpPr>
        <p:spPr>
          <a:xfrm>
            <a:off x="10728655" y="6473952"/>
            <a:ext cx="914400" cy="228600"/>
          </a:xfrm>
          <a:prstGeom prst="rect">
            <a:avLst/>
          </a:prstGeom>
          <a:noFill/>
        </p:spPr>
        <p:txBody>
          <a:bodyPr wrap="square" anchor="t" lIns="0" rIns="0" tIns="0" bIns="0">
            <a:spAutoFit/>
          </a:bodyPr>
          <a:lstStyle/>
          <a:p>
            <a:pPr algn="r">
              <a:lnSpc>
                <a:spcPct val="100000"/>
              </a:lnSpc>
            </a:pPr>
            <a:r>
              <a:rPr sz="1000" b="0" lang="zh-TW">
                <a:solidFill>
                  <a:srgbClr val="8A97AB"/>
                </a:solidFill>
                <a:latin typeface="Segoe UI"/>
                <a:ea typeface="Segoe UI"/>
              </a:rPr>
              <a:t>02 / 08</a:t>
            </a:r>
          </a:p>
        </p:txBody>
      </p:sp>
      <p:sp>
        <p:nvSpPr>
          <p:cNvPr id="8" name="Rounded Rectangle 7"/>
          <p:cNvSpPr/>
          <p:nvPr/>
        </p:nvSpPr>
        <p:spPr>
          <a:xfrm>
            <a:off x="548640" y="1417320"/>
            <a:ext cx="3547872" cy="86868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417320"/>
            <a:ext cx="73152" cy="868680"/>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1517904"/>
            <a:ext cx="3200400" cy="365760"/>
          </a:xfrm>
          <a:prstGeom prst="rect">
            <a:avLst/>
          </a:prstGeom>
          <a:noFill/>
        </p:spPr>
        <p:txBody>
          <a:bodyPr wrap="square" anchor="t" lIns="0" rIns="0" tIns="0" bIns="0">
            <a:spAutoFit/>
          </a:bodyPr>
          <a:lstStyle/>
          <a:p>
            <a:pPr algn="l">
              <a:lnSpc>
                <a:spcPct val="100000"/>
              </a:lnSpc>
            </a:pPr>
            <a:r>
              <a:rPr sz="2000" b="1" lang="zh-TW">
                <a:solidFill>
                  <a:srgbClr val="B42318"/>
                </a:solidFill>
                <a:latin typeface="Microsoft JhengHei"/>
                <a:ea typeface="Microsoft JhengHei"/>
              </a:rPr>
              <a:t>缺乏佐證</a:t>
            </a:r>
          </a:p>
        </p:txBody>
      </p:sp>
      <p:sp>
        <p:nvSpPr>
          <p:cNvPr id="11" name="TextBox 10"/>
          <p:cNvSpPr txBox="1"/>
          <p:nvPr/>
        </p:nvSpPr>
        <p:spPr>
          <a:xfrm>
            <a:off x="822959" y="1901952"/>
            <a:ext cx="320040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告警只給類別與分數</a:t>
            </a:r>
          </a:p>
        </p:txBody>
      </p:sp>
      <p:sp>
        <p:nvSpPr>
          <p:cNvPr id="12" name="Rounded Rectangle 11"/>
          <p:cNvSpPr/>
          <p:nvPr/>
        </p:nvSpPr>
        <p:spPr>
          <a:xfrm>
            <a:off x="4279392" y="1417320"/>
            <a:ext cx="3547872" cy="86868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1417320"/>
            <a:ext cx="73152" cy="8686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517904"/>
            <a:ext cx="3200400" cy="365760"/>
          </a:xfrm>
          <a:prstGeom prst="rect">
            <a:avLst/>
          </a:prstGeom>
          <a:noFill/>
        </p:spPr>
        <p:txBody>
          <a:bodyPr wrap="square" anchor="t" lIns="0" rIns="0" tIns="0" bIns="0">
            <a:spAutoFit/>
          </a:bodyPr>
          <a:lstStyle/>
          <a:p>
            <a:pPr algn="l">
              <a:lnSpc>
                <a:spcPct val="100000"/>
              </a:lnSpc>
            </a:pPr>
            <a:r>
              <a:rPr sz="2000" b="1" lang="zh-TW">
                <a:solidFill>
                  <a:srgbClr val="B45309"/>
                </a:solidFill>
                <a:latin typeface="Microsoft JhengHei"/>
                <a:ea typeface="Microsoft JhengHei"/>
              </a:rPr>
              <a:t>查證耗時</a:t>
            </a:r>
          </a:p>
        </p:txBody>
      </p:sp>
      <p:sp>
        <p:nvSpPr>
          <p:cNvPr id="15" name="TextBox 14"/>
          <p:cNvSpPr txBox="1"/>
          <p:nvPr/>
        </p:nvSpPr>
        <p:spPr>
          <a:xfrm>
            <a:off x="4553712" y="1901952"/>
            <a:ext cx="320040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人工調閱日誌比對</a:t>
            </a:r>
          </a:p>
        </p:txBody>
      </p:sp>
      <p:sp>
        <p:nvSpPr>
          <p:cNvPr id="16" name="Rounded Rectangle 15"/>
          <p:cNvSpPr/>
          <p:nvPr/>
        </p:nvSpPr>
        <p:spPr>
          <a:xfrm>
            <a:off x="8010144" y="1417320"/>
            <a:ext cx="3547872" cy="86868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10144" y="1417320"/>
            <a:ext cx="73152" cy="8686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1517904"/>
            <a:ext cx="3200400" cy="365760"/>
          </a:xfrm>
          <a:prstGeom prst="rect">
            <a:avLst/>
          </a:prstGeom>
          <a:noFill/>
        </p:spPr>
        <p:txBody>
          <a:bodyPr wrap="square" anchor="t" lIns="0" rIns="0" tIns="0" bIns="0">
            <a:spAutoFit/>
          </a:bodyPr>
          <a:lstStyle/>
          <a:p>
            <a:pPr algn="l">
              <a:lnSpc>
                <a:spcPct val="100000"/>
              </a:lnSpc>
            </a:pPr>
            <a:r>
              <a:rPr sz="2000" b="1" lang="zh-TW">
                <a:solidFill>
                  <a:srgbClr val="C2410C"/>
                </a:solidFill>
                <a:latin typeface="Microsoft JhengHei"/>
                <a:ea typeface="Microsoft JhengHei"/>
              </a:rPr>
              <a:t>誤阻斷風險</a:t>
            </a:r>
          </a:p>
        </p:txBody>
      </p:sp>
      <p:sp>
        <p:nvSpPr>
          <p:cNvPr id="19" name="TextBox 18"/>
          <p:cNvSpPr txBox="1"/>
          <p:nvPr/>
        </p:nvSpPr>
        <p:spPr>
          <a:xfrm>
            <a:off x="8284464" y="1901952"/>
            <a:ext cx="320040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手動下規則、撤銷易遺漏</a:t>
            </a:r>
          </a:p>
        </p:txBody>
      </p:sp>
      <p:pic>
        <p:nvPicPr>
          <p:cNvPr id="20" name="Picture 19" descr="fig_problem.png"/>
          <p:cNvPicPr>
            <a:picLocks noChangeAspect="1"/>
          </p:cNvPicPr>
          <p:nvPr/>
        </p:nvPicPr>
        <p:blipFill>
          <a:blip r:embed="rId2"/>
          <a:stretch>
            <a:fillRect/>
          </a:stretch>
        </p:blipFill>
        <p:spPr>
          <a:xfrm>
            <a:off x="548640" y="2468880"/>
            <a:ext cx="11091672" cy="3882085"/>
          </a:xfrm>
          <a:prstGeom prst="rect">
            <a:avLst/>
          </a:prstGeom>
        </p:spPr>
      </p:pic>
      <p:sp>
        <p:nvSpPr>
          <p:cNvPr id="21" name="TextBox 20"/>
          <p:cNvSpPr txBox="1"/>
          <p:nvPr/>
        </p:nvSpPr>
        <p:spPr>
          <a:xfrm>
            <a:off x="548640" y="6199632"/>
            <a:ext cx="1106424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本框架以同一事件識別碼串接偵測、證據、稽核與處置，任何一段未通過檢核即降級為人工複核。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731520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02　系統架構</a:t>
            </a:r>
          </a:p>
        </p:txBody>
      </p:sp>
      <p:sp>
        <p:nvSpPr>
          <p:cNvPr id="5" name="TextBox 4"/>
          <p:cNvSpPr txBox="1"/>
          <p:nvPr/>
        </p:nvSpPr>
        <p:spPr>
          <a:xfrm>
            <a:off x="548640" y="603504"/>
            <a:ext cx="10515600" cy="548640"/>
          </a:xfrm>
          <a:prstGeom prst="rect">
            <a:avLst/>
          </a:prstGeom>
          <a:noFill/>
        </p:spPr>
        <p:txBody>
          <a:bodyPr wrap="square" anchor="t" lIns="0" rIns="0" tIns="0" bIns="0">
            <a:spAutoFit/>
          </a:bodyPr>
          <a:lstStyle/>
          <a:p>
            <a:pPr algn="l">
              <a:lnSpc>
                <a:spcPct val="110000"/>
              </a:lnSpc>
            </a:pPr>
            <a:r>
              <a:rPr sz="3200" b="1" lang="zh-TW">
                <a:solidFill>
                  <a:srgbClr val="0B1B33"/>
                </a:solidFill>
                <a:latin typeface="Microsoft JhengHei"/>
                <a:ea typeface="Microsoft JhengHei"/>
              </a:rPr>
              <a:t>四階段端到端架構：從原始流量到可回復處置</a:t>
            </a:r>
          </a:p>
        </p:txBody>
      </p:sp>
      <p:sp>
        <p:nvSpPr>
          <p:cNvPr id="6" name="TextBox 5"/>
          <p:cNvSpPr txBox="1"/>
          <p:nvPr/>
        </p:nvSpPr>
        <p:spPr>
          <a:xfrm>
            <a:off x="548640" y="6473952"/>
            <a:ext cx="8229600" cy="228600"/>
          </a:xfrm>
          <a:prstGeom prst="rect">
            <a:avLst/>
          </a:prstGeom>
          <a:noFill/>
        </p:spPr>
        <p:txBody>
          <a:bodyPr wrap="square" anchor="t" lIns="0" rIns="0" tIns="0" bIns="0">
            <a:spAutoFit/>
          </a:bodyPr>
          <a:lstStyle/>
          <a:p>
            <a:pPr algn="l">
              <a:lnSpc>
                <a:spcPct val="100000"/>
              </a:lnSpc>
            </a:pPr>
            <a:r>
              <a:rPr sz="1000" b="0" lang="zh-TW">
                <a:solidFill>
                  <a:srgbClr val="8A97AB"/>
                </a:solidFill>
                <a:latin typeface="Microsoft JhengHei"/>
                <a:ea typeface="Microsoft JhengHei"/>
              </a:rPr>
              <a:t>融合新型內容相依時序方向模型入侵偵測與任務導向檢索增強稽核之 AI 資安框架</a:t>
            </a:r>
          </a:p>
        </p:txBody>
      </p:sp>
      <p:sp>
        <p:nvSpPr>
          <p:cNvPr id="7" name="TextBox 6"/>
          <p:cNvSpPr txBox="1"/>
          <p:nvPr/>
        </p:nvSpPr>
        <p:spPr>
          <a:xfrm>
            <a:off x="10728655" y="6473952"/>
            <a:ext cx="914400" cy="228600"/>
          </a:xfrm>
          <a:prstGeom prst="rect">
            <a:avLst/>
          </a:prstGeom>
          <a:noFill/>
        </p:spPr>
        <p:txBody>
          <a:bodyPr wrap="square" anchor="t" lIns="0" rIns="0" tIns="0" bIns="0">
            <a:spAutoFit/>
          </a:bodyPr>
          <a:lstStyle/>
          <a:p>
            <a:pPr algn="r">
              <a:lnSpc>
                <a:spcPct val="100000"/>
              </a:lnSpc>
            </a:pPr>
            <a:r>
              <a:rPr sz="1000" b="0" lang="zh-TW">
                <a:solidFill>
                  <a:srgbClr val="8A97AB"/>
                </a:solidFill>
                <a:latin typeface="Segoe UI"/>
                <a:ea typeface="Segoe UI"/>
              </a:rPr>
              <a:t>03 / 08</a:t>
            </a:r>
          </a:p>
        </p:txBody>
      </p:sp>
      <p:pic>
        <p:nvPicPr>
          <p:cNvPr id="8" name="Picture 7" descr="fig_architecture.png"/>
          <p:cNvPicPr>
            <a:picLocks noChangeAspect="1"/>
          </p:cNvPicPr>
          <p:nvPr/>
        </p:nvPicPr>
        <p:blipFill>
          <a:blip r:embed="rId2"/>
          <a:stretch>
            <a:fillRect/>
          </a:stretch>
        </p:blipFill>
        <p:spPr>
          <a:xfrm>
            <a:off x="1272387" y="1325880"/>
            <a:ext cx="9646920" cy="506463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731520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03　核心技術創新</a:t>
            </a:r>
          </a:p>
        </p:txBody>
      </p:sp>
      <p:sp>
        <p:nvSpPr>
          <p:cNvPr id="5" name="TextBox 4"/>
          <p:cNvSpPr txBox="1"/>
          <p:nvPr/>
        </p:nvSpPr>
        <p:spPr>
          <a:xfrm>
            <a:off x="548640" y="603504"/>
            <a:ext cx="10515600" cy="548640"/>
          </a:xfrm>
          <a:prstGeom prst="rect">
            <a:avLst/>
          </a:prstGeom>
          <a:noFill/>
        </p:spPr>
        <p:txBody>
          <a:bodyPr wrap="square" anchor="t" lIns="0" rIns="0" tIns="0" bIns="0">
            <a:spAutoFit/>
          </a:bodyPr>
          <a:lstStyle/>
          <a:p>
            <a:pPr algn="l">
              <a:lnSpc>
                <a:spcPct val="110000"/>
              </a:lnSpc>
            </a:pPr>
            <a:r>
              <a:rPr sz="3200" b="1" lang="zh-TW">
                <a:solidFill>
                  <a:srgbClr val="0B1B33"/>
                </a:solidFill>
                <a:latin typeface="Microsoft JhengHei"/>
                <a:ea typeface="Microsoft JhengHei"/>
              </a:rPr>
              <a:t>三項創新，各自解決一個關鍵瓶頸</a:t>
            </a:r>
          </a:p>
        </p:txBody>
      </p:sp>
      <p:sp>
        <p:nvSpPr>
          <p:cNvPr id="6" name="TextBox 5"/>
          <p:cNvSpPr txBox="1"/>
          <p:nvPr/>
        </p:nvSpPr>
        <p:spPr>
          <a:xfrm>
            <a:off x="548640" y="6473952"/>
            <a:ext cx="8229600" cy="228600"/>
          </a:xfrm>
          <a:prstGeom prst="rect">
            <a:avLst/>
          </a:prstGeom>
          <a:noFill/>
        </p:spPr>
        <p:txBody>
          <a:bodyPr wrap="square" anchor="t" lIns="0" rIns="0" tIns="0" bIns="0">
            <a:spAutoFit/>
          </a:bodyPr>
          <a:lstStyle/>
          <a:p>
            <a:pPr algn="l">
              <a:lnSpc>
                <a:spcPct val="100000"/>
              </a:lnSpc>
            </a:pPr>
            <a:r>
              <a:rPr sz="1000" b="0" lang="zh-TW">
                <a:solidFill>
                  <a:srgbClr val="8A97AB"/>
                </a:solidFill>
                <a:latin typeface="Microsoft JhengHei"/>
                <a:ea typeface="Microsoft JhengHei"/>
              </a:rPr>
              <a:t>融合新型內容相依時序方向模型入侵偵測與任務導向檢索增強稽核之 AI 資安框架</a:t>
            </a:r>
          </a:p>
        </p:txBody>
      </p:sp>
      <p:sp>
        <p:nvSpPr>
          <p:cNvPr id="7" name="TextBox 6"/>
          <p:cNvSpPr txBox="1"/>
          <p:nvPr/>
        </p:nvSpPr>
        <p:spPr>
          <a:xfrm>
            <a:off x="10728655" y="6473952"/>
            <a:ext cx="914400" cy="228600"/>
          </a:xfrm>
          <a:prstGeom prst="rect">
            <a:avLst/>
          </a:prstGeom>
          <a:noFill/>
        </p:spPr>
        <p:txBody>
          <a:bodyPr wrap="square" anchor="t" lIns="0" rIns="0" tIns="0" bIns="0">
            <a:spAutoFit/>
          </a:bodyPr>
          <a:lstStyle/>
          <a:p>
            <a:pPr algn="r">
              <a:lnSpc>
                <a:spcPct val="100000"/>
              </a:lnSpc>
            </a:pPr>
            <a:r>
              <a:rPr sz="1000" b="0" lang="zh-TW">
                <a:solidFill>
                  <a:srgbClr val="8A97AB"/>
                </a:solidFill>
                <a:latin typeface="Segoe UI"/>
                <a:ea typeface="Segoe UI"/>
              </a:rPr>
              <a:t>04 / 08</a:t>
            </a:r>
          </a:p>
        </p:txBody>
      </p:sp>
      <p:sp>
        <p:nvSpPr>
          <p:cNvPr id="8" name="Rounded Rectangle 7"/>
          <p:cNvSpPr/>
          <p:nvPr/>
        </p:nvSpPr>
        <p:spPr>
          <a:xfrm>
            <a:off x="548640" y="1417320"/>
            <a:ext cx="3547872" cy="4846320"/>
          </a:xfrm>
          <a:prstGeom prst="roundRect">
            <a:avLst>
              <a:gd name="adj" fmla="val 4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417320"/>
            <a:ext cx="3547872" cy="64008"/>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1645920"/>
            <a:ext cx="914400" cy="411480"/>
          </a:xfrm>
          <a:prstGeom prst="rect">
            <a:avLst/>
          </a:prstGeom>
          <a:noFill/>
        </p:spPr>
        <p:txBody>
          <a:bodyPr wrap="square" anchor="t" lIns="0" rIns="0" tIns="0" bIns="0">
            <a:spAutoFit/>
          </a:bodyPr>
          <a:lstStyle/>
          <a:p>
            <a:pPr algn="l">
              <a:lnSpc>
                <a:spcPct val="100000"/>
              </a:lnSpc>
            </a:pPr>
            <a:r>
              <a:rPr sz="2400" b="1" lang="zh-TW">
                <a:solidFill>
                  <a:srgbClr val="1D4ED8"/>
                </a:solidFill>
                <a:latin typeface="Segoe UI"/>
                <a:ea typeface="Segoe UI"/>
              </a:rPr>
              <a:t>01</a:t>
            </a:r>
          </a:p>
        </p:txBody>
      </p:sp>
      <p:sp>
        <p:nvSpPr>
          <p:cNvPr id="11" name="TextBox 10"/>
          <p:cNvSpPr txBox="1"/>
          <p:nvPr/>
        </p:nvSpPr>
        <p:spPr>
          <a:xfrm>
            <a:off x="822959" y="2103120"/>
            <a:ext cx="3108960" cy="365760"/>
          </a:xfrm>
          <a:prstGeom prst="rect">
            <a:avLst/>
          </a:prstGeom>
          <a:noFill/>
        </p:spPr>
        <p:txBody>
          <a:bodyPr wrap="square" anchor="t" lIns="0" rIns="0" tIns="0" bIns="0">
            <a:spAutoFit/>
          </a:bodyPr>
          <a:lstStyle/>
          <a:p>
            <a:pPr algn="l">
              <a:lnSpc>
                <a:spcPct val="100000"/>
              </a:lnSpc>
            </a:pPr>
            <a:r>
              <a:rPr sz="2000" b="1" lang="zh-TW">
                <a:solidFill>
                  <a:srgbClr val="0B1B33"/>
                </a:solidFill>
                <a:latin typeface="Microsoft JhengHei"/>
                <a:ea typeface="Microsoft JhengHei"/>
              </a:rPr>
              <a:t>內容相依時序方向偵測</a:t>
            </a:r>
          </a:p>
        </p:txBody>
      </p:sp>
      <p:sp>
        <p:nvSpPr>
          <p:cNvPr id="12" name="TextBox 11"/>
          <p:cNvSpPr txBox="1"/>
          <p:nvPr/>
        </p:nvSpPr>
        <p:spPr>
          <a:xfrm>
            <a:off x="822959" y="2542032"/>
            <a:ext cx="310896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解決：只有標籤、少數類別判不準</a:t>
            </a:r>
          </a:p>
        </p:txBody>
      </p:sp>
      <p:sp>
        <p:nvSpPr>
          <p:cNvPr id="13" name="Oval 12"/>
          <p:cNvSpPr/>
          <p:nvPr/>
        </p:nvSpPr>
        <p:spPr>
          <a:xfrm>
            <a:off x="841247" y="3108960"/>
            <a:ext cx="109728" cy="10972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30175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CTBM：內容×時間差×方向</a:t>
            </a:r>
          </a:p>
        </p:txBody>
      </p:sp>
      <p:sp>
        <p:nvSpPr>
          <p:cNvPr id="15" name="Oval 14"/>
          <p:cNvSpPr/>
          <p:nvPr/>
        </p:nvSpPr>
        <p:spPr>
          <a:xfrm>
            <a:off x="841247" y="3566160"/>
            <a:ext cx="109728" cy="10972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4747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PBCNN：短窗位元組模式</a:t>
            </a:r>
          </a:p>
        </p:txBody>
      </p:sp>
      <p:sp>
        <p:nvSpPr>
          <p:cNvPr id="17" name="Oval 16"/>
          <p:cNvSpPr/>
          <p:nvPr/>
        </p:nvSpPr>
        <p:spPr>
          <a:xfrm>
            <a:off x="841247" y="4023359"/>
            <a:ext cx="109728" cy="10972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39319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溫度校準＋OOF Gate 融合</a:t>
            </a:r>
          </a:p>
        </p:txBody>
      </p:sp>
      <p:sp>
        <p:nvSpPr>
          <p:cNvPr id="19" name="Oval 18"/>
          <p:cNvSpPr/>
          <p:nvPr/>
        </p:nvSpPr>
        <p:spPr>
          <a:xfrm>
            <a:off x="841247" y="4480559"/>
            <a:ext cx="109728" cy="10972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 y="43891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class-F1 guard 保護少數類別</a:t>
            </a:r>
          </a:p>
        </p:txBody>
      </p:sp>
      <p:sp>
        <p:nvSpPr>
          <p:cNvPr id="21" name="Rounded Rectangle 20"/>
          <p:cNvSpPr/>
          <p:nvPr/>
        </p:nvSpPr>
        <p:spPr>
          <a:xfrm>
            <a:off x="777240" y="5029200"/>
            <a:ext cx="3090672" cy="1051560"/>
          </a:xfrm>
          <a:prstGeom prst="roundRect">
            <a:avLst>
              <a:gd name="adj" fmla="val 10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5120640"/>
            <a:ext cx="2743200" cy="548640"/>
          </a:xfrm>
          <a:prstGeom prst="rect">
            <a:avLst/>
          </a:prstGeom>
          <a:noFill/>
        </p:spPr>
        <p:txBody>
          <a:bodyPr wrap="square" anchor="t" lIns="0" rIns="0" tIns="0" bIns="0">
            <a:spAutoFit/>
          </a:bodyPr>
          <a:lstStyle/>
          <a:p>
            <a:pPr algn="l">
              <a:lnSpc>
                <a:spcPct val="100000"/>
              </a:lnSpc>
            </a:pPr>
            <a:r>
              <a:rPr sz="3000" b="1" lang="zh-TW">
                <a:solidFill>
                  <a:srgbClr val="1D4ED8"/>
                </a:solidFill>
                <a:latin typeface="Segoe UI"/>
                <a:ea typeface="Segoe UI"/>
              </a:rPr>
              <a:t>93.05%</a:t>
            </a:r>
          </a:p>
        </p:txBody>
      </p:sp>
      <p:sp>
        <p:nvSpPr>
          <p:cNvPr id="23" name="TextBox 22"/>
          <p:cNvSpPr txBox="1"/>
          <p:nvPr/>
        </p:nvSpPr>
        <p:spPr>
          <a:xfrm>
            <a:off x="960120" y="5669280"/>
            <a:ext cx="274320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Macro-F1（17 類）</a:t>
            </a:r>
          </a:p>
        </p:txBody>
      </p:sp>
      <p:sp>
        <p:nvSpPr>
          <p:cNvPr id="24" name="Rounded Rectangle 23"/>
          <p:cNvSpPr/>
          <p:nvPr/>
        </p:nvSpPr>
        <p:spPr>
          <a:xfrm>
            <a:off x="4279392" y="1417320"/>
            <a:ext cx="3547872" cy="4846320"/>
          </a:xfrm>
          <a:prstGeom prst="roundRect">
            <a:avLst>
              <a:gd name="adj" fmla="val 4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79392" y="1417320"/>
            <a:ext cx="3547872" cy="640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1645920"/>
            <a:ext cx="914400" cy="411480"/>
          </a:xfrm>
          <a:prstGeom prst="rect">
            <a:avLst/>
          </a:prstGeom>
          <a:noFill/>
        </p:spPr>
        <p:txBody>
          <a:bodyPr wrap="square" anchor="t" lIns="0" rIns="0" tIns="0" bIns="0">
            <a:spAutoFit/>
          </a:bodyPr>
          <a:lstStyle/>
          <a:p>
            <a:pPr algn="l">
              <a:lnSpc>
                <a:spcPct val="100000"/>
              </a:lnSpc>
            </a:pPr>
            <a:r>
              <a:rPr sz="2400" b="1" lang="zh-TW">
                <a:solidFill>
                  <a:srgbClr val="6D28D9"/>
                </a:solidFill>
                <a:latin typeface="Segoe UI"/>
                <a:ea typeface="Segoe UI"/>
              </a:rPr>
              <a:t>02</a:t>
            </a:r>
          </a:p>
        </p:txBody>
      </p:sp>
      <p:sp>
        <p:nvSpPr>
          <p:cNvPr id="27" name="TextBox 26"/>
          <p:cNvSpPr txBox="1"/>
          <p:nvPr/>
        </p:nvSpPr>
        <p:spPr>
          <a:xfrm>
            <a:off x="4553712" y="2103120"/>
            <a:ext cx="3108960" cy="365760"/>
          </a:xfrm>
          <a:prstGeom prst="rect">
            <a:avLst/>
          </a:prstGeom>
          <a:noFill/>
        </p:spPr>
        <p:txBody>
          <a:bodyPr wrap="square" anchor="t" lIns="0" rIns="0" tIns="0" bIns="0">
            <a:spAutoFit/>
          </a:bodyPr>
          <a:lstStyle/>
          <a:p>
            <a:pPr algn="l">
              <a:lnSpc>
                <a:spcPct val="100000"/>
              </a:lnSpc>
            </a:pPr>
            <a:r>
              <a:rPr sz="2000" b="1" lang="zh-TW">
                <a:solidFill>
                  <a:srgbClr val="0B1B33"/>
                </a:solidFill>
                <a:latin typeface="Microsoft JhengHei"/>
                <a:ea typeface="Microsoft JhengHei"/>
              </a:rPr>
              <a:t>任務導向證據檢索</a:t>
            </a:r>
          </a:p>
        </p:txBody>
      </p:sp>
      <p:sp>
        <p:nvSpPr>
          <p:cNvPr id="28" name="TextBox 27"/>
          <p:cNvSpPr txBox="1"/>
          <p:nvPr/>
        </p:nvSpPr>
        <p:spPr>
          <a:xfrm>
            <a:off x="4553712" y="2542032"/>
            <a:ext cx="310896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解決：判定沒有可回查依據</a:t>
            </a:r>
          </a:p>
        </p:txBody>
      </p:sp>
      <p:sp>
        <p:nvSpPr>
          <p:cNvPr id="29" name="Oval 28"/>
          <p:cNvSpPr/>
          <p:nvPr/>
        </p:nvSpPr>
        <p:spPr>
          <a:xfrm>
            <a:off x="4572000" y="3108960"/>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09744" y="30175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529 維任務向量＝表徵 ∥ 機率</a:t>
            </a:r>
          </a:p>
        </p:txBody>
      </p:sp>
      <p:sp>
        <p:nvSpPr>
          <p:cNvPr id="31" name="Oval 30"/>
          <p:cNvSpPr/>
          <p:nvPr/>
        </p:nvSpPr>
        <p:spPr>
          <a:xfrm>
            <a:off x="4572000" y="3566160"/>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09744" y="34747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L2 正規化＋餘弦相似度</a:t>
            </a:r>
          </a:p>
        </p:txBody>
      </p:sp>
      <p:sp>
        <p:nvSpPr>
          <p:cNvPr id="33" name="Oval 32"/>
          <p:cNvSpPr/>
          <p:nvPr/>
        </p:nvSpPr>
        <p:spPr>
          <a:xfrm>
            <a:off x="4572000" y="4023359"/>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09744" y="39319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只查訓練資料案例庫</a:t>
            </a:r>
          </a:p>
        </p:txBody>
      </p:sp>
      <p:sp>
        <p:nvSpPr>
          <p:cNvPr id="35" name="Oval 34"/>
          <p:cNvSpPr/>
          <p:nvPr/>
        </p:nvSpPr>
        <p:spPr>
          <a:xfrm>
            <a:off x="4572000" y="4480559"/>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09744" y="43891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檢索中位數 1.01 ms</a:t>
            </a:r>
          </a:p>
        </p:txBody>
      </p:sp>
      <p:sp>
        <p:nvSpPr>
          <p:cNvPr id="37" name="Rounded Rectangle 36"/>
          <p:cNvSpPr/>
          <p:nvPr/>
        </p:nvSpPr>
        <p:spPr>
          <a:xfrm>
            <a:off x="4507992" y="5029200"/>
            <a:ext cx="3090672" cy="1051560"/>
          </a:xfrm>
          <a:prstGeom prst="roundRect">
            <a:avLst>
              <a:gd name="adj" fmla="val 10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90872" y="5120640"/>
            <a:ext cx="2743200" cy="548640"/>
          </a:xfrm>
          <a:prstGeom prst="rect">
            <a:avLst/>
          </a:prstGeom>
          <a:noFill/>
        </p:spPr>
        <p:txBody>
          <a:bodyPr wrap="square" anchor="t" lIns="0" rIns="0" tIns="0" bIns="0">
            <a:spAutoFit/>
          </a:bodyPr>
          <a:lstStyle/>
          <a:p>
            <a:pPr algn="l">
              <a:lnSpc>
                <a:spcPct val="100000"/>
              </a:lnSpc>
            </a:pPr>
            <a:r>
              <a:rPr sz="3000" b="1" lang="zh-TW">
                <a:solidFill>
                  <a:srgbClr val="6D28D9"/>
                </a:solidFill>
                <a:latin typeface="Segoe UI"/>
                <a:ea typeface="Segoe UI"/>
              </a:rPr>
              <a:t>96.76%</a:t>
            </a:r>
          </a:p>
        </p:txBody>
      </p:sp>
      <p:sp>
        <p:nvSpPr>
          <p:cNvPr id="39" name="TextBox 38"/>
          <p:cNvSpPr txBox="1"/>
          <p:nvPr/>
        </p:nvSpPr>
        <p:spPr>
          <a:xfrm>
            <a:off x="4690872" y="5669280"/>
            <a:ext cx="274320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Top-5 命中率</a:t>
            </a:r>
          </a:p>
        </p:txBody>
      </p:sp>
      <p:sp>
        <p:nvSpPr>
          <p:cNvPr id="40" name="Rounded Rectangle 39"/>
          <p:cNvSpPr/>
          <p:nvPr/>
        </p:nvSpPr>
        <p:spPr>
          <a:xfrm>
            <a:off x="8010144" y="1417320"/>
            <a:ext cx="3547872" cy="4846320"/>
          </a:xfrm>
          <a:prstGeom prst="roundRect">
            <a:avLst>
              <a:gd name="adj" fmla="val 4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10144" y="1417320"/>
            <a:ext cx="3547872" cy="6400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84464" y="1645920"/>
            <a:ext cx="914400" cy="411480"/>
          </a:xfrm>
          <a:prstGeom prst="rect">
            <a:avLst/>
          </a:prstGeom>
          <a:noFill/>
        </p:spPr>
        <p:txBody>
          <a:bodyPr wrap="square" anchor="t" lIns="0" rIns="0" tIns="0" bIns="0">
            <a:spAutoFit/>
          </a:bodyPr>
          <a:lstStyle/>
          <a:p>
            <a:pPr algn="l">
              <a:lnSpc>
                <a:spcPct val="100000"/>
              </a:lnSpc>
            </a:pPr>
            <a:r>
              <a:rPr sz="2400" b="1" lang="zh-TW">
                <a:solidFill>
                  <a:srgbClr val="0F766E"/>
                </a:solidFill>
                <a:latin typeface="Segoe UI"/>
                <a:ea typeface="Segoe UI"/>
              </a:rPr>
              <a:t>03</a:t>
            </a:r>
          </a:p>
        </p:txBody>
      </p:sp>
      <p:sp>
        <p:nvSpPr>
          <p:cNvPr id="43" name="TextBox 42"/>
          <p:cNvSpPr txBox="1"/>
          <p:nvPr/>
        </p:nvSpPr>
        <p:spPr>
          <a:xfrm>
            <a:off x="8284464" y="2103120"/>
            <a:ext cx="3108960" cy="365760"/>
          </a:xfrm>
          <a:prstGeom prst="rect">
            <a:avLst/>
          </a:prstGeom>
          <a:noFill/>
        </p:spPr>
        <p:txBody>
          <a:bodyPr wrap="square" anchor="t" lIns="0" rIns="0" tIns="0" bIns="0">
            <a:spAutoFit/>
          </a:bodyPr>
          <a:lstStyle/>
          <a:p>
            <a:pPr algn="l">
              <a:lnSpc>
                <a:spcPct val="100000"/>
              </a:lnSpc>
            </a:pPr>
            <a:r>
              <a:rPr sz="2000" b="1" lang="zh-TW">
                <a:solidFill>
                  <a:srgbClr val="0B1B33"/>
                </a:solidFill>
                <a:latin typeface="Microsoft JhengHei"/>
                <a:ea typeface="Microsoft JhengHei"/>
              </a:rPr>
              <a:t>受控 AI 稽核與可回復處置</a:t>
            </a:r>
          </a:p>
        </p:txBody>
      </p:sp>
      <p:sp>
        <p:nvSpPr>
          <p:cNvPr id="44" name="TextBox 43"/>
          <p:cNvSpPr txBox="1"/>
          <p:nvPr/>
        </p:nvSpPr>
        <p:spPr>
          <a:xfrm>
            <a:off x="8284464" y="2542032"/>
            <a:ext cx="310896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解決：AI 幻覺與誤阻斷</a:t>
            </a:r>
          </a:p>
        </p:txBody>
      </p:sp>
      <p:sp>
        <p:nvSpPr>
          <p:cNvPr id="45" name="Oval 44"/>
          <p:cNvSpPr/>
          <p:nvPr/>
        </p:nvSpPr>
        <p:spPr>
          <a:xfrm>
            <a:off x="8302752" y="3108960"/>
            <a:ext cx="109728" cy="10972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40496" y="30175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本機 LLM 三態證據稽核</a:t>
            </a:r>
          </a:p>
        </p:txBody>
      </p:sp>
      <p:sp>
        <p:nvSpPr>
          <p:cNvPr id="47" name="Oval 46"/>
          <p:cNvSpPr/>
          <p:nvPr/>
        </p:nvSpPr>
        <p:spPr>
          <a:xfrm>
            <a:off x="8302752" y="3566160"/>
            <a:ext cx="109728" cy="10972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40496" y="34747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AI 不覆寫分類、不產生指令</a:t>
            </a:r>
          </a:p>
        </p:txBody>
      </p:sp>
      <p:sp>
        <p:nvSpPr>
          <p:cNvPr id="49" name="Oval 48"/>
          <p:cNvSpPr/>
          <p:nvPr/>
        </p:nvSpPr>
        <p:spPr>
          <a:xfrm>
            <a:off x="8302752" y="4023359"/>
            <a:ext cx="109728" cy="10972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40496" y="39319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Policy Guard 白名單＋門檻</a:t>
            </a:r>
          </a:p>
        </p:txBody>
      </p:sp>
      <p:sp>
        <p:nvSpPr>
          <p:cNvPr id="51" name="Oval 50"/>
          <p:cNvSpPr/>
          <p:nvPr/>
        </p:nvSpPr>
        <p:spPr>
          <a:xfrm>
            <a:off x="8302752" y="4480559"/>
            <a:ext cx="109728" cy="10972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40496" y="4389120"/>
            <a:ext cx="2926080" cy="320040"/>
          </a:xfrm>
          <a:prstGeom prst="rect">
            <a:avLst/>
          </a:prstGeom>
          <a:noFill/>
        </p:spPr>
        <p:txBody>
          <a:bodyPr wrap="square" anchor="t" lIns="0" rIns="0" tIns="0" bIns="0">
            <a:spAutoFit/>
          </a:bodyPr>
          <a:lstStyle/>
          <a:p>
            <a:pPr algn="l">
              <a:lnSpc>
                <a:spcPct val="100000"/>
              </a:lnSpc>
            </a:pPr>
            <a:r>
              <a:rPr sz="1600" b="0" lang="zh-TW">
                <a:solidFill>
                  <a:srgbClr val="0B1B33"/>
                </a:solidFill>
                <a:latin typeface="Microsoft JhengHei"/>
                <a:ea typeface="Microsoft JhengHei"/>
              </a:rPr>
              <a:t>TTL 到期撤銷與回復驗證</a:t>
            </a:r>
          </a:p>
        </p:txBody>
      </p:sp>
      <p:sp>
        <p:nvSpPr>
          <p:cNvPr id="53" name="Rounded Rectangle 52"/>
          <p:cNvSpPr/>
          <p:nvPr/>
        </p:nvSpPr>
        <p:spPr>
          <a:xfrm>
            <a:off x="8238744" y="5029200"/>
            <a:ext cx="3090672" cy="1051560"/>
          </a:xfrm>
          <a:prstGeom prst="roundRect">
            <a:avLst>
              <a:gd name="adj" fmla="val 10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21624" y="5120640"/>
            <a:ext cx="2743200" cy="548640"/>
          </a:xfrm>
          <a:prstGeom prst="rect">
            <a:avLst/>
          </a:prstGeom>
          <a:noFill/>
        </p:spPr>
        <p:txBody>
          <a:bodyPr wrap="square" anchor="t" lIns="0" rIns="0" tIns="0" bIns="0">
            <a:spAutoFit/>
          </a:bodyPr>
          <a:lstStyle/>
          <a:p>
            <a:pPr algn="l">
              <a:lnSpc>
                <a:spcPct val="100000"/>
              </a:lnSpc>
            </a:pPr>
            <a:r>
              <a:rPr sz="3000" b="1" lang="zh-TW">
                <a:solidFill>
                  <a:srgbClr val="0F766E"/>
                </a:solidFill>
                <a:latin typeface="Segoe UI"/>
                <a:ea typeface="Segoe UI"/>
              </a:rPr>
              <a:t>95.83%</a:t>
            </a:r>
          </a:p>
        </p:txBody>
      </p:sp>
      <p:sp>
        <p:nvSpPr>
          <p:cNvPr id="55" name="TextBox 54"/>
          <p:cNvSpPr txBox="1"/>
          <p:nvPr/>
        </p:nvSpPr>
        <p:spPr>
          <a:xfrm>
            <a:off x="8421624" y="5669280"/>
            <a:ext cx="2743200" cy="27432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改良 RAG 錯誤攔截率</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731520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04　系統展示</a:t>
            </a:r>
          </a:p>
        </p:txBody>
      </p:sp>
      <p:sp>
        <p:nvSpPr>
          <p:cNvPr id="5" name="TextBox 4"/>
          <p:cNvSpPr txBox="1"/>
          <p:nvPr/>
        </p:nvSpPr>
        <p:spPr>
          <a:xfrm>
            <a:off x="548640" y="603504"/>
            <a:ext cx="10515600" cy="548640"/>
          </a:xfrm>
          <a:prstGeom prst="rect">
            <a:avLst/>
          </a:prstGeom>
          <a:noFill/>
        </p:spPr>
        <p:txBody>
          <a:bodyPr wrap="square" anchor="t" lIns="0" rIns="0" tIns="0" bIns="0">
            <a:spAutoFit/>
          </a:bodyPr>
          <a:lstStyle/>
          <a:p>
            <a:pPr algn="l">
              <a:lnSpc>
                <a:spcPct val="110000"/>
              </a:lnSpc>
            </a:pPr>
            <a:r>
              <a:rPr sz="3200" b="1" lang="zh-TW">
                <a:solidFill>
                  <a:srgbClr val="0B1B33"/>
                </a:solidFill>
                <a:latin typeface="Microsoft JhengHei"/>
                <a:ea typeface="Microsoft JhengHei"/>
              </a:rPr>
              <a:t>Packet Tracer 模擬：一筆事件的輸入、處理與輸出</a:t>
            </a:r>
          </a:p>
        </p:txBody>
      </p:sp>
      <p:sp>
        <p:nvSpPr>
          <p:cNvPr id="6" name="TextBox 5"/>
          <p:cNvSpPr txBox="1"/>
          <p:nvPr/>
        </p:nvSpPr>
        <p:spPr>
          <a:xfrm>
            <a:off x="548640" y="6473952"/>
            <a:ext cx="8229600" cy="228600"/>
          </a:xfrm>
          <a:prstGeom prst="rect">
            <a:avLst/>
          </a:prstGeom>
          <a:noFill/>
        </p:spPr>
        <p:txBody>
          <a:bodyPr wrap="square" anchor="t" lIns="0" rIns="0" tIns="0" bIns="0">
            <a:spAutoFit/>
          </a:bodyPr>
          <a:lstStyle/>
          <a:p>
            <a:pPr algn="l">
              <a:lnSpc>
                <a:spcPct val="100000"/>
              </a:lnSpc>
            </a:pPr>
            <a:r>
              <a:rPr sz="1000" b="0" lang="zh-TW">
                <a:solidFill>
                  <a:srgbClr val="8A97AB"/>
                </a:solidFill>
                <a:latin typeface="Microsoft JhengHei"/>
                <a:ea typeface="Microsoft JhengHei"/>
              </a:rPr>
              <a:t>融合新型內容相依時序方向模型入侵偵測與任務導向檢索增強稽核之 AI 資安框架</a:t>
            </a:r>
          </a:p>
        </p:txBody>
      </p:sp>
      <p:sp>
        <p:nvSpPr>
          <p:cNvPr id="7" name="TextBox 6"/>
          <p:cNvSpPr txBox="1"/>
          <p:nvPr/>
        </p:nvSpPr>
        <p:spPr>
          <a:xfrm>
            <a:off x="10728655" y="6473952"/>
            <a:ext cx="914400" cy="228600"/>
          </a:xfrm>
          <a:prstGeom prst="rect">
            <a:avLst/>
          </a:prstGeom>
          <a:noFill/>
        </p:spPr>
        <p:txBody>
          <a:bodyPr wrap="square" anchor="t" lIns="0" rIns="0" tIns="0" bIns="0">
            <a:spAutoFit/>
          </a:bodyPr>
          <a:lstStyle/>
          <a:p>
            <a:pPr algn="r">
              <a:lnSpc>
                <a:spcPct val="100000"/>
              </a:lnSpc>
            </a:pPr>
            <a:r>
              <a:rPr sz="1000" b="0" lang="zh-TW">
                <a:solidFill>
                  <a:srgbClr val="8A97AB"/>
                </a:solidFill>
                <a:latin typeface="Segoe UI"/>
                <a:ea typeface="Segoe UI"/>
              </a:rPr>
              <a:t>05 / 08</a:t>
            </a:r>
          </a:p>
        </p:txBody>
      </p:sp>
      <p:sp>
        <p:nvSpPr>
          <p:cNvPr id="8" name="Rounded Rectangle 7"/>
          <p:cNvSpPr/>
          <p:nvPr/>
        </p:nvSpPr>
        <p:spPr>
          <a:xfrm>
            <a:off x="502920" y="1280160"/>
            <a:ext cx="8869680" cy="5029199"/>
          </a:xfrm>
          <a:prstGeom prst="roundRect">
            <a:avLst>
              <a:gd name="adj" fmla="val 2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AI資安框架_系統展示影片_60秒.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48640" y="1325880"/>
            <a:ext cx="8778240" cy="4937759"/>
          </a:xfrm>
          <a:prstGeom prst="rect">
            <a:avLst/>
          </a:prstGeom>
        </p:spPr>
      </p:pic>
      <p:sp>
        <p:nvSpPr>
          <p:cNvPr id="10" name="TextBox 9"/>
          <p:cNvSpPr txBox="1"/>
          <p:nvPr/>
        </p:nvSpPr>
        <p:spPr>
          <a:xfrm>
            <a:off x="9646920" y="1325880"/>
            <a:ext cx="2103120" cy="320040"/>
          </a:xfrm>
          <a:prstGeom prst="rect">
            <a:avLst/>
          </a:prstGeom>
          <a:noFill/>
        </p:spPr>
        <p:txBody>
          <a:bodyPr wrap="square" anchor="t" lIns="0" rIns="0" tIns="0" bIns="0">
            <a:spAutoFit/>
          </a:bodyPr>
          <a:lstStyle/>
          <a:p>
            <a:pPr algn="l">
              <a:lnSpc>
                <a:spcPct val="100000"/>
              </a:lnSpc>
            </a:pPr>
            <a:r>
              <a:rPr sz="1600" b="1" lang="zh-TW">
                <a:solidFill>
                  <a:srgbClr val="5B6B82"/>
                </a:solidFill>
                <a:latin typeface="Microsoft JhengHei"/>
                <a:ea typeface="Microsoft JhengHei"/>
              </a:rPr>
              <a:t>影片段落 · 60 秒</a:t>
            </a:r>
          </a:p>
        </p:txBody>
      </p:sp>
      <p:sp>
        <p:nvSpPr>
          <p:cNvPr id="11" name="Oval 10"/>
          <p:cNvSpPr/>
          <p:nvPr/>
        </p:nvSpPr>
        <p:spPr>
          <a:xfrm>
            <a:off x="9646920" y="1837943"/>
            <a:ext cx="201168" cy="20116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66960" y="1783080"/>
            <a:ext cx="2103120" cy="27432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資料輸入</a:t>
            </a:r>
          </a:p>
        </p:txBody>
      </p:sp>
      <p:sp>
        <p:nvSpPr>
          <p:cNvPr id="13" name="TextBox 12"/>
          <p:cNvSpPr txBox="1"/>
          <p:nvPr/>
        </p:nvSpPr>
        <p:spPr>
          <a:xfrm>
            <a:off x="9966960" y="2084831"/>
            <a:ext cx="210312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Mirror-TAP · 流量→張量</a:t>
            </a:r>
          </a:p>
        </p:txBody>
      </p:sp>
      <p:sp>
        <p:nvSpPr>
          <p:cNvPr id="14" name="Oval 13"/>
          <p:cNvSpPr/>
          <p:nvPr/>
        </p:nvSpPr>
        <p:spPr>
          <a:xfrm>
            <a:off x="9646920" y="2551176"/>
            <a:ext cx="201168" cy="201168"/>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0" y="2496312"/>
            <a:ext cx="2103120" cy="27432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17 類偵測</a:t>
            </a:r>
          </a:p>
        </p:txBody>
      </p:sp>
      <p:sp>
        <p:nvSpPr>
          <p:cNvPr id="16" name="TextBox 15"/>
          <p:cNvSpPr txBox="1"/>
          <p:nvPr/>
        </p:nvSpPr>
        <p:spPr>
          <a:xfrm>
            <a:off x="9966960" y="2798064"/>
            <a:ext cx="210312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IDS-Server · 17 類機率</a:t>
            </a:r>
          </a:p>
        </p:txBody>
      </p:sp>
      <p:sp>
        <p:nvSpPr>
          <p:cNvPr id="17" name="Oval 16"/>
          <p:cNvSpPr/>
          <p:nvPr/>
        </p:nvSpPr>
        <p:spPr>
          <a:xfrm>
            <a:off x="9646920" y="3264408"/>
            <a:ext cx="201168" cy="20116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0" y="3209544"/>
            <a:ext cx="2103120" cy="27432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Top-5 檢索</a:t>
            </a:r>
          </a:p>
        </p:txBody>
      </p:sp>
      <p:sp>
        <p:nvSpPr>
          <p:cNvPr id="19" name="TextBox 18"/>
          <p:cNvSpPr txBox="1"/>
          <p:nvPr/>
        </p:nvSpPr>
        <p:spPr>
          <a:xfrm>
            <a:off x="9966960" y="3511296"/>
            <a:ext cx="210312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RAG-Store · Top-5</a:t>
            </a:r>
          </a:p>
        </p:txBody>
      </p:sp>
      <p:sp>
        <p:nvSpPr>
          <p:cNvPr id="20" name="Oval 19"/>
          <p:cNvSpPr/>
          <p:nvPr/>
        </p:nvSpPr>
        <p:spPr>
          <a:xfrm>
            <a:off x="9646920" y="3977639"/>
            <a:ext cx="201168" cy="20116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3922776"/>
            <a:ext cx="2103120" cy="27432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AI 稽核</a:t>
            </a:r>
          </a:p>
        </p:txBody>
      </p:sp>
      <p:sp>
        <p:nvSpPr>
          <p:cNvPr id="22" name="TextBox 21"/>
          <p:cNvSpPr txBox="1"/>
          <p:nvPr/>
        </p:nvSpPr>
        <p:spPr>
          <a:xfrm>
            <a:off x="9966960" y="4224528"/>
            <a:ext cx="210312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LLM-Judge · 稽核 JSON</a:t>
            </a:r>
          </a:p>
        </p:txBody>
      </p:sp>
      <p:sp>
        <p:nvSpPr>
          <p:cNvPr id="23" name="Oval 22"/>
          <p:cNvSpPr/>
          <p:nvPr/>
        </p:nvSpPr>
        <p:spPr>
          <a:xfrm>
            <a:off x="9646920" y="4690872"/>
            <a:ext cx="201168" cy="201168"/>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66960" y="4636008"/>
            <a:ext cx="2103120" cy="27432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受控處置</a:t>
            </a:r>
          </a:p>
        </p:txBody>
      </p:sp>
      <p:sp>
        <p:nvSpPr>
          <p:cNvPr id="25" name="TextBox 24"/>
          <p:cNvSpPr txBox="1"/>
          <p:nvPr/>
        </p:nvSpPr>
        <p:spPr>
          <a:xfrm>
            <a:off x="9966960" y="4937760"/>
            <a:ext cx="210312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Policy-Guard · ACL・回復</a:t>
            </a:r>
          </a:p>
        </p:txBody>
      </p:sp>
      <p:sp>
        <p:nvSpPr>
          <p:cNvPr id="26" name="Oval 25"/>
          <p:cNvSpPr/>
          <p:nvPr/>
        </p:nvSpPr>
        <p:spPr>
          <a:xfrm>
            <a:off x="9646920" y="5404104"/>
            <a:ext cx="201168" cy="201168"/>
          </a:xfrm>
          <a:prstGeom prst="ellipse">
            <a:avLst/>
          </a:prstGeom>
          <a:solidFill>
            <a:srgbClr val="0B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66960" y="5349240"/>
            <a:ext cx="2103120" cy="27432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事件輸出</a:t>
            </a:r>
          </a:p>
        </p:txBody>
      </p:sp>
      <p:sp>
        <p:nvSpPr>
          <p:cNvPr id="28" name="TextBox 27"/>
          <p:cNvSpPr txBox="1"/>
          <p:nvPr/>
        </p:nvSpPr>
        <p:spPr>
          <a:xfrm>
            <a:off x="9966960" y="5650992"/>
            <a:ext cx="2103120" cy="274320"/>
          </a:xfrm>
          <a:prstGeom prst="rect">
            <a:avLst/>
          </a:prstGeom>
          <a:noFill/>
        </p:spPr>
        <p:txBody>
          <a:bodyPr wrap="square" anchor="t" lIns="0" rIns="0" tIns="0" bIns="0">
            <a:spAutoFit/>
          </a:bodyPr>
          <a:lstStyle/>
          <a:p>
            <a:pPr algn="l">
              <a:lnSpc>
                <a:spcPct val="100000"/>
              </a:lnSpc>
            </a:pPr>
            <a:r>
              <a:rPr sz="1200" b="0" lang="zh-TW">
                <a:solidFill>
                  <a:srgbClr val="5B6B82"/>
                </a:solidFill>
                <a:latin typeface="Microsoft JhengHei"/>
                <a:ea typeface="Microsoft JhengHei"/>
              </a:rPr>
              <a:t>Event Record · 匯出</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731520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05　實驗成果</a:t>
            </a:r>
          </a:p>
        </p:txBody>
      </p:sp>
      <p:sp>
        <p:nvSpPr>
          <p:cNvPr id="5" name="TextBox 4"/>
          <p:cNvSpPr txBox="1"/>
          <p:nvPr/>
        </p:nvSpPr>
        <p:spPr>
          <a:xfrm>
            <a:off x="548640" y="603504"/>
            <a:ext cx="10515600" cy="548640"/>
          </a:xfrm>
          <a:prstGeom prst="rect">
            <a:avLst/>
          </a:prstGeom>
          <a:noFill/>
        </p:spPr>
        <p:txBody>
          <a:bodyPr wrap="square" anchor="t" lIns="0" rIns="0" tIns="0" bIns="0">
            <a:spAutoFit/>
          </a:bodyPr>
          <a:lstStyle/>
          <a:p>
            <a:pPr algn="l">
              <a:lnSpc>
                <a:spcPct val="110000"/>
              </a:lnSpc>
            </a:pPr>
            <a:r>
              <a:rPr sz="3200" b="1" lang="zh-TW">
                <a:solidFill>
                  <a:srgbClr val="0B1B33"/>
                </a:solidFill>
                <a:latin typeface="Microsoft JhengHei"/>
                <a:ea typeface="Microsoft JhengHei"/>
              </a:rPr>
              <a:t>與基準方法相比，偵測與稽核皆明顯領先</a:t>
            </a:r>
          </a:p>
        </p:txBody>
      </p:sp>
      <p:sp>
        <p:nvSpPr>
          <p:cNvPr id="6" name="TextBox 5"/>
          <p:cNvSpPr txBox="1"/>
          <p:nvPr/>
        </p:nvSpPr>
        <p:spPr>
          <a:xfrm>
            <a:off x="548640" y="6473952"/>
            <a:ext cx="8229600" cy="228600"/>
          </a:xfrm>
          <a:prstGeom prst="rect">
            <a:avLst/>
          </a:prstGeom>
          <a:noFill/>
        </p:spPr>
        <p:txBody>
          <a:bodyPr wrap="square" anchor="t" lIns="0" rIns="0" tIns="0" bIns="0">
            <a:spAutoFit/>
          </a:bodyPr>
          <a:lstStyle/>
          <a:p>
            <a:pPr algn="l">
              <a:lnSpc>
                <a:spcPct val="100000"/>
              </a:lnSpc>
            </a:pPr>
            <a:r>
              <a:rPr sz="1000" b="0" lang="zh-TW">
                <a:solidFill>
                  <a:srgbClr val="8A97AB"/>
                </a:solidFill>
                <a:latin typeface="Microsoft JhengHei"/>
                <a:ea typeface="Microsoft JhengHei"/>
              </a:rPr>
              <a:t>融合新型內容相依時序方向模型入侵偵測與任務導向檢索增強稽核之 AI 資安框架</a:t>
            </a:r>
          </a:p>
        </p:txBody>
      </p:sp>
      <p:sp>
        <p:nvSpPr>
          <p:cNvPr id="7" name="TextBox 6"/>
          <p:cNvSpPr txBox="1"/>
          <p:nvPr/>
        </p:nvSpPr>
        <p:spPr>
          <a:xfrm>
            <a:off x="10728655" y="6473952"/>
            <a:ext cx="914400" cy="228600"/>
          </a:xfrm>
          <a:prstGeom prst="rect">
            <a:avLst/>
          </a:prstGeom>
          <a:noFill/>
        </p:spPr>
        <p:txBody>
          <a:bodyPr wrap="square" anchor="t" lIns="0" rIns="0" tIns="0" bIns="0">
            <a:spAutoFit/>
          </a:bodyPr>
          <a:lstStyle/>
          <a:p>
            <a:pPr algn="r">
              <a:lnSpc>
                <a:spcPct val="100000"/>
              </a:lnSpc>
            </a:pPr>
            <a:r>
              <a:rPr sz="1000" b="0" lang="zh-TW">
                <a:solidFill>
                  <a:srgbClr val="8A97AB"/>
                </a:solidFill>
                <a:latin typeface="Segoe UI"/>
                <a:ea typeface="Segoe UI"/>
              </a:rPr>
              <a:t>06 / 08</a:t>
            </a:r>
          </a:p>
        </p:txBody>
      </p:sp>
      <p:sp>
        <p:nvSpPr>
          <p:cNvPr id="8" name="Rounded Rectangle 7"/>
          <p:cNvSpPr/>
          <p:nvPr/>
        </p:nvSpPr>
        <p:spPr>
          <a:xfrm>
            <a:off x="548640" y="1371600"/>
            <a:ext cx="2615184" cy="114300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44752"/>
            <a:ext cx="2286000" cy="548640"/>
          </a:xfrm>
          <a:prstGeom prst="rect">
            <a:avLst/>
          </a:prstGeom>
          <a:noFill/>
        </p:spPr>
        <p:txBody>
          <a:bodyPr wrap="square" anchor="t" lIns="0" rIns="0" tIns="0" bIns="0">
            <a:spAutoFit/>
          </a:bodyPr>
          <a:lstStyle/>
          <a:p>
            <a:pPr algn="l">
              <a:lnSpc>
                <a:spcPct val="100000"/>
              </a:lnSpc>
            </a:pPr>
            <a:r>
              <a:rPr sz="3000" b="1" lang="zh-TW">
                <a:solidFill>
                  <a:srgbClr val="1D4ED8"/>
                </a:solidFill>
                <a:latin typeface="Segoe UI"/>
                <a:ea typeface="Segoe UI"/>
              </a:rPr>
              <a:t>98.08%</a:t>
            </a:r>
          </a:p>
        </p:txBody>
      </p:sp>
      <p:sp>
        <p:nvSpPr>
          <p:cNvPr id="10" name="TextBox 9"/>
          <p:cNvSpPr txBox="1"/>
          <p:nvPr/>
        </p:nvSpPr>
        <p:spPr>
          <a:xfrm>
            <a:off x="777240" y="1984248"/>
            <a:ext cx="2286000" cy="274320"/>
          </a:xfrm>
          <a:prstGeom prst="rect">
            <a:avLst/>
          </a:prstGeom>
          <a:noFill/>
        </p:spPr>
        <p:txBody>
          <a:bodyPr wrap="square" anchor="t" lIns="0" rIns="0" tIns="0" bIns="0">
            <a:spAutoFit/>
          </a:bodyPr>
          <a:lstStyle/>
          <a:p>
            <a:pPr algn="l">
              <a:lnSpc>
                <a:spcPct val="100000"/>
              </a:lnSpc>
            </a:pPr>
            <a:r>
              <a:rPr sz="1400" b="1" lang="zh-TW">
                <a:solidFill>
                  <a:srgbClr val="0B1B33"/>
                </a:solidFill>
                <a:latin typeface="Segoe UI"/>
                <a:ea typeface="Segoe UI"/>
              </a:rPr>
              <a:t>Accuracy</a:t>
            </a:r>
          </a:p>
        </p:txBody>
      </p:sp>
      <p:sp>
        <p:nvSpPr>
          <p:cNvPr id="11" name="TextBox 10"/>
          <p:cNvSpPr txBox="1"/>
          <p:nvPr/>
        </p:nvSpPr>
        <p:spPr>
          <a:xfrm>
            <a:off x="777240" y="2221992"/>
            <a:ext cx="2286000" cy="274320"/>
          </a:xfrm>
          <a:prstGeom prst="rect">
            <a:avLst/>
          </a:prstGeom>
          <a:noFill/>
        </p:spPr>
        <p:txBody>
          <a:bodyPr wrap="square" anchor="t" lIns="0" rIns="0" tIns="0" bIns="0">
            <a:spAutoFit/>
          </a:bodyPr>
          <a:lstStyle/>
          <a:p>
            <a:pPr algn="l">
              <a:lnSpc>
                <a:spcPct val="100000"/>
              </a:lnSpc>
            </a:pPr>
            <a:r>
              <a:rPr sz="1100" b="0" lang="zh-TW">
                <a:solidFill>
                  <a:srgbClr val="5B6B82"/>
                </a:solidFill>
                <a:latin typeface="Microsoft JhengHei"/>
                <a:ea typeface="Microsoft JhengHei"/>
              </a:rPr>
              <a:t>17 類 · 18,998 筆</a:t>
            </a:r>
          </a:p>
        </p:txBody>
      </p:sp>
      <p:sp>
        <p:nvSpPr>
          <p:cNvPr id="12" name="Rounded Rectangle 11"/>
          <p:cNvSpPr/>
          <p:nvPr/>
        </p:nvSpPr>
        <p:spPr>
          <a:xfrm>
            <a:off x="3346704" y="1371600"/>
            <a:ext cx="2615184" cy="114300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1444752"/>
            <a:ext cx="2286000" cy="548640"/>
          </a:xfrm>
          <a:prstGeom prst="rect">
            <a:avLst/>
          </a:prstGeom>
          <a:noFill/>
        </p:spPr>
        <p:txBody>
          <a:bodyPr wrap="square" anchor="t" lIns="0" rIns="0" tIns="0" bIns="0">
            <a:spAutoFit/>
          </a:bodyPr>
          <a:lstStyle/>
          <a:p>
            <a:pPr algn="l">
              <a:lnSpc>
                <a:spcPct val="100000"/>
              </a:lnSpc>
            </a:pPr>
            <a:r>
              <a:rPr sz="3000" b="1" lang="zh-TW">
                <a:solidFill>
                  <a:srgbClr val="1D4ED8"/>
                </a:solidFill>
                <a:latin typeface="Segoe UI"/>
                <a:ea typeface="Segoe UI"/>
              </a:rPr>
              <a:t>93.05%</a:t>
            </a:r>
          </a:p>
        </p:txBody>
      </p:sp>
      <p:sp>
        <p:nvSpPr>
          <p:cNvPr id="14" name="TextBox 13"/>
          <p:cNvSpPr txBox="1"/>
          <p:nvPr/>
        </p:nvSpPr>
        <p:spPr>
          <a:xfrm>
            <a:off x="3575304" y="1984248"/>
            <a:ext cx="2286000" cy="274320"/>
          </a:xfrm>
          <a:prstGeom prst="rect">
            <a:avLst/>
          </a:prstGeom>
          <a:noFill/>
        </p:spPr>
        <p:txBody>
          <a:bodyPr wrap="square" anchor="t" lIns="0" rIns="0" tIns="0" bIns="0">
            <a:spAutoFit/>
          </a:bodyPr>
          <a:lstStyle/>
          <a:p>
            <a:pPr algn="l">
              <a:lnSpc>
                <a:spcPct val="100000"/>
              </a:lnSpc>
            </a:pPr>
            <a:r>
              <a:rPr sz="1400" b="1" lang="zh-TW">
                <a:solidFill>
                  <a:srgbClr val="0B1B33"/>
                </a:solidFill>
                <a:latin typeface="Segoe UI"/>
                <a:ea typeface="Segoe UI"/>
              </a:rPr>
              <a:t>Macro-F1</a:t>
            </a:r>
          </a:p>
        </p:txBody>
      </p:sp>
      <p:sp>
        <p:nvSpPr>
          <p:cNvPr id="15" name="TextBox 14"/>
          <p:cNvSpPr txBox="1"/>
          <p:nvPr/>
        </p:nvSpPr>
        <p:spPr>
          <a:xfrm>
            <a:off x="3575304" y="2221992"/>
            <a:ext cx="2286000" cy="274320"/>
          </a:xfrm>
          <a:prstGeom prst="rect">
            <a:avLst/>
          </a:prstGeom>
          <a:noFill/>
        </p:spPr>
        <p:txBody>
          <a:bodyPr wrap="square" anchor="t" lIns="0" rIns="0" tIns="0" bIns="0">
            <a:spAutoFit/>
          </a:bodyPr>
          <a:lstStyle/>
          <a:p>
            <a:pPr algn="l">
              <a:lnSpc>
                <a:spcPct val="100000"/>
              </a:lnSpc>
            </a:pPr>
            <a:r>
              <a:rPr sz="1100" b="0" lang="zh-TW">
                <a:solidFill>
                  <a:srgbClr val="5B6B82"/>
                </a:solidFill>
                <a:latin typeface="Microsoft JhengHei"/>
                <a:ea typeface="Microsoft JhengHei"/>
              </a:rPr>
              <a:t>17 類 · 18,998 筆</a:t>
            </a:r>
          </a:p>
        </p:txBody>
      </p:sp>
      <p:sp>
        <p:nvSpPr>
          <p:cNvPr id="16" name="Rounded Rectangle 15"/>
          <p:cNvSpPr/>
          <p:nvPr/>
        </p:nvSpPr>
        <p:spPr>
          <a:xfrm>
            <a:off x="6144768" y="1371600"/>
            <a:ext cx="2615184" cy="114300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73368" y="1444752"/>
            <a:ext cx="2286000" cy="548640"/>
          </a:xfrm>
          <a:prstGeom prst="rect">
            <a:avLst/>
          </a:prstGeom>
          <a:noFill/>
        </p:spPr>
        <p:txBody>
          <a:bodyPr wrap="square" anchor="t" lIns="0" rIns="0" tIns="0" bIns="0">
            <a:spAutoFit/>
          </a:bodyPr>
          <a:lstStyle/>
          <a:p>
            <a:pPr algn="l">
              <a:lnSpc>
                <a:spcPct val="100000"/>
              </a:lnSpc>
            </a:pPr>
            <a:r>
              <a:rPr sz="3000" b="1" lang="zh-TW">
                <a:solidFill>
                  <a:srgbClr val="6D28D9"/>
                </a:solidFill>
                <a:latin typeface="Segoe UI"/>
                <a:ea typeface="Segoe UI"/>
              </a:rPr>
              <a:t>96.76%</a:t>
            </a:r>
          </a:p>
        </p:txBody>
      </p:sp>
      <p:sp>
        <p:nvSpPr>
          <p:cNvPr id="18" name="TextBox 17"/>
          <p:cNvSpPr txBox="1"/>
          <p:nvPr/>
        </p:nvSpPr>
        <p:spPr>
          <a:xfrm>
            <a:off x="6373368" y="1984248"/>
            <a:ext cx="2286000" cy="274320"/>
          </a:xfrm>
          <a:prstGeom prst="rect">
            <a:avLst/>
          </a:prstGeom>
          <a:noFill/>
        </p:spPr>
        <p:txBody>
          <a:bodyPr wrap="square" anchor="t" lIns="0" rIns="0" tIns="0" bIns="0">
            <a:spAutoFit/>
          </a:bodyPr>
          <a:lstStyle/>
          <a:p>
            <a:pPr algn="l">
              <a:lnSpc>
                <a:spcPct val="100000"/>
              </a:lnSpc>
            </a:pPr>
            <a:r>
              <a:rPr sz="1400" b="1" lang="zh-TW">
                <a:solidFill>
                  <a:srgbClr val="0B1B33"/>
                </a:solidFill>
                <a:latin typeface="Segoe UI"/>
                <a:ea typeface="Segoe UI"/>
              </a:rPr>
              <a:t>Top-5</a:t>
            </a:r>
          </a:p>
        </p:txBody>
      </p:sp>
      <p:sp>
        <p:nvSpPr>
          <p:cNvPr id="19" name="TextBox 18"/>
          <p:cNvSpPr txBox="1"/>
          <p:nvPr/>
        </p:nvSpPr>
        <p:spPr>
          <a:xfrm>
            <a:off x="6373368" y="2221992"/>
            <a:ext cx="2286000" cy="274320"/>
          </a:xfrm>
          <a:prstGeom prst="rect">
            <a:avLst/>
          </a:prstGeom>
          <a:noFill/>
        </p:spPr>
        <p:txBody>
          <a:bodyPr wrap="square" anchor="t" lIns="0" rIns="0" tIns="0" bIns="0">
            <a:spAutoFit/>
          </a:bodyPr>
          <a:lstStyle/>
          <a:p>
            <a:pPr algn="l">
              <a:lnSpc>
                <a:spcPct val="100000"/>
              </a:lnSpc>
            </a:pPr>
            <a:r>
              <a:rPr sz="1100" b="0" lang="zh-TW">
                <a:solidFill>
                  <a:srgbClr val="5B6B82"/>
                </a:solidFill>
                <a:latin typeface="Microsoft JhengHei"/>
                <a:ea typeface="Microsoft JhengHei"/>
              </a:rPr>
              <a:t>1,550 案例 / 463 查詢</a:t>
            </a:r>
          </a:p>
        </p:txBody>
      </p:sp>
      <p:sp>
        <p:nvSpPr>
          <p:cNvPr id="20" name="Rounded Rectangle 19"/>
          <p:cNvSpPr/>
          <p:nvPr/>
        </p:nvSpPr>
        <p:spPr>
          <a:xfrm>
            <a:off x="8942832" y="1371600"/>
            <a:ext cx="2615184" cy="1143000"/>
          </a:xfrm>
          <a:prstGeom prst="roundRect">
            <a:avLst>
              <a:gd name="adj" fmla="val 8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71432" y="1444752"/>
            <a:ext cx="2286000" cy="548640"/>
          </a:xfrm>
          <a:prstGeom prst="rect">
            <a:avLst/>
          </a:prstGeom>
          <a:noFill/>
        </p:spPr>
        <p:txBody>
          <a:bodyPr wrap="square" anchor="t" lIns="0" rIns="0" tIns="0" bIns="0">
            <a:spAutoFit/>
          </a:bodyPr>
          <a:lstStyle/>
          <a:p>
            <a:pPr algn="l">
              <a:lnSpc>
                <a:spcPct val="100000"/>
              </a:lnSpc>
            </a:pPr>
            <a:r>
              <a:rPr sz="3000" b="1" lang="zh-TW">
                <a:solidFill>
                  <a:srgbClr val="6D28D9"/>
                </a:solidFill>
                <a:latin typeface="Segoe UI"/>
                <a:ea typeface="Segoe UI"/>
              </a:rPr>
              <a:t>94.25%</a:t>
            </a:r>
          </a:p>
        </p:txBody>
      </p:sp>
      <p:sp>
        <p:nvSpPr>
          <p:cNvPr id="22" name="TextBox 21"/>
          <p:cNvSpPr txBox="1"/>
          <p:nvPr/>
        </p:nvSpPr>
        <p:spPr>
          <a:xfrm>
            <a:off x="9171432" y="1984248"/>
            <a:ext cx="2286000" cy="274320"/>
          </a:xfrm>
          <a:prstGeom prst="rect">
            <a:avLst/>
          </a:prstGeom>
          <a:noFill/>
        </p:spPr>
        <p:txBody>
          <a:bodyPr wrap="square" anchor="t" lIns="0" rIns="0" tIns="0" bIns="0">
            <a:spAutoFit/>
          </a:bodyPr>
          <a:lstStyle/>
          <a:p>
            <a:pPr algn="l">
              <a:lnSpc>
                <a:spcPct val="100000"/>
              </a:lnSpc>
            </a:pPr>
            <a:r>
              <a:rPr sz="1400" b="1" lang="zh-TW">
                <a:solidFill>
                  <a:srgbClr val="0B1B33"/>
                </a:solidFill>
                <a:latin typeface="Segoe UI"/>
                <a:ea typeface="Segoe UI"/>
              </a:rPr>
              <a:t>MRR@5</a:t>
            </a:r>
          </a:p>
        </p:txBody>
      </p:sp>
      <p:sp>
        <p:nvSpPr>
          <p:cNvPr id="23" name="TextBox 22"/>
          <p:cNvSpPr txBox="1"/>
          <p:nvPr/>
        </p:nvSpPr>
        <p:spPr>
          <a:xfrm>
            <a:off x="9171432" y="2221992"/>
            <a:ext cx="2286000" cy="274320"/>
          </a:xfrm>
          <a:prstGeom prst="rect">
            <a:avLst/>
          </a:prstGeom>
          <a:noFill/>
        </p:spPr>
        <p:txBody>
          <a:bodyPr wrap="square" anchor="t" lIns="0" rIns="0" tIns="0" bIns="0">
            <a:spAutoFit/>
          </a:bodyPr>
          <a:lstStyle/>
          <a:p>
            <a:pPr algn="l">
              <a:lnSpc>
                <a:spcPct val="100000"/>
              </a:lnSpc>
            </a:pPr>
            <a:r>
              <a:rPr sz="1100" b="0" lang="zh-TW">
                <a:solidFill>
                  <a:srgbClr val="5B6B82"/>
                </a:solidFill>
                <a:latin typeface="Microsoft JhengHei"/>
                <a:ea typeface="Microsoft JhengHei"/>
              </a:rPr>
              <a:t>1,550 案例 / 463 查詢</a:t>
            </a:r>
          </a:p>
        </p:txBody>
      </p:sp>
      <p:sp>
        <p:nvSpPr>
          <p:cNvPr id="24" name="Rounded Rectangle 23"/>
          <p:cNvSpPr/>
          <p:nvPr/>
        </p:nvSpPr>
        <p:spPr>
          <a:xfrm>
            <a:off x="548640" y="2697480"/>
            <a:ext cx="5413248" cy="3611880"/>
          </a:xfrm>
          <a:prstGeom prst="roundRect">
            <a:avLst>
              <a:gd name="adj" fmla="val 4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2807208"/>
            <a:ext cx="36576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偵測模組比較（%）</a:t>
            </a:r>
          </a:p>
        </p:txBody>
      </p:sp>
      <p:sp>
        <p:nvSpPr>
          <p:cNvPr id="26" name="TextBox 25"/>
          <p:cNvSpPr txBox="1"/>
          <p:nvPr/>
        </p:nvSpPr>
        <p:spPr>
          <a:xfrm>
            <a:off x="3447288" y="2834640"/>
            <a:ext cx="2286000" cy="274320"/>
          </a:xfrm>
          <a:prstGeom prst="rect">
            <a:avLst/>
          </a:prstGeom>
          <a:noFill/>
        </p:spPr>
        <p:txBody>
          <a:bodyPr wrap="square" anchor="t" lIns="0" rIns="0" tIns="0" bIns="0">
            <a:spAutoFit/>
          </a:bodyPr>
          <a:lstStyle/>
          <a:p>
            <a:pPr algn="r">
              <a:lnSpc>
                <a:spcPct val="100000"/>
              </a:lnSpc>
            </a:pPr>
            <a:r>
              <a:rPr sz="1100" b="0" lang="zh-TW">
                <a:solidFill>
                  <a:srgbClr val="5B6B82"/>
                </a:solidFill>
                <a:latin typeface="Microsoft JhengHei"/>
                <a:ea typeface="Microsoft JhengHei"/>
              </a:rPr>
              <a:t>相同測試設定</a:t>
            </a:r>
          </a:p>
        </p:txBody>
      </p:sp>
      <p:sp>
        <p:nvSpPr>
          <p:cNvPr id="27" name="Rounded Rectangle 26"/>
          <p:cNvSpPr/>
          <p:nvPr/>
        </p:nvSpPr>
        <p:spPr>
          <a:xfrm>
            <a:off x="6144768" y="2697480"/>
            <a:ext cx="5413248" cy="3611880"/>
          </a:xfrm>
          <a:prstGeom prst="roundRect">
            <a:avLst>
              <a:gd name="adj" fmla="val 4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3368" y="2807208"/>
            <a:ext cx="3657600" cy="32004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檢索稽核比較（%）</a:t>
            </a:r>
          </a:p>
        </p:txBody>
      </p:sp>
      <p:sp>
        <p:nvSpPr>
          <p:cNvPr id="29" name="TextBox 28"/>
          <p:cNvSpPr txBox="1"/>
          <p:nvPr/>
        </p:nvSpPr>
        <p:spPr>
          <a:xfrm>
            <a:off x="9043416" y="2834640"/>
            <a:ext cx="2286000" cy="274320"/>
          </a:xfrm>
          <a:prstGeom prst="rect">
            <a:avLst/>
          </a:prstGeom>
          <a:noFill/>
        </p:spPr>
        <p:txBody>
          <a:bodyPr wrap="square" anchor="t" lIns="0" rIns="0" tIns="0" bIns="0">
            <a:spAutoFit/>
          </a:bodyPr>
          <a:lstStyle/>
          <a:p>
            <a:pPr algn="r">
              <a:lnSpc>
                <a:spcPct val="100000"/>
              </a:lnSpc>
            </a:pPr>
            <a:r>
              <a:rPr sz="1100" b="0" lang="zh-TW">
                <a:solidFill>
                  <a:srgbClr val="5B6B82"/>
                </a:solidFill>
                <a:latin typeface="Microsoft JhengHei"/>
                <a:ea typeface="Microsoft JhengHei"/>
              </a:rPr>
              <a:t>Fine-11 配對 1,830 筆</a:t>
            </a:r>
          </a:p>
        </p:txBody>
      </p:sp>
      <p:graphicFrame>
        <p:nvGraphicFramePr>
          <p:cNvPr id="30" name="Chart 29"/>
          <p:cNvGraphicFramePr>
            <a:graphicFrameLocks noGrp="1"/>
          </p:cNvGraphicFramePr>
          <p:nvPr/>
        </p:nvGraphicFramePr>
        <p:xfrm>
          <a:off x="685800" y="3154680"/>
          <a:ext cx="5120640" cy="3108960"/>
        </p:xfrm>
        <a:graphic>
          <a:graphicData uri="http://schemas.openxmlformats.org/drawingml/2006/chart">
            <c:chart xmlns:c="http://schemas.openxmlformats.org/drawingml/2006/chart" r:id="rId2"/>
          </a:graphicData>
        </a:graphic>
      </p:graphicFrame>
      <p:graphicFrame>
        <p:nvGraphicFramePr>
          <p:cNvPr id="31" name="Chart 30"/>
          <p:cNvGraphicFramePr>
            <a:graphicFrameLocks noGrp="1"/>
          </p:cNvGraphicFramePr>
          <p:nvPr/>
        </p:nvGraphicFramePr>
        <p:xfrm>
          <a:off x="6281928" y="3154680"/>
          <a:ext cx="5120640" cy="310896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47472"/>
            <a:ext cx="7315200" cy="274320"/>
          </a:xfrm>
          <a:prstGeom prst="rect">
            <a:avLst/>
          </a:prstGeom>
          <a:noFill/>
        </p:spPr>
        <p:txBody>
          <a:bodyPr wrap="square" anchor="t" lIns="0" rIns="0" tIns="0" bIns="0">
            <a:spAutoFit/>
          </a:bodyPr>
          <a:lstStyle/>
          <a:p>
            <a:pPr algn="l">
              <a:lnSpc>
                <a:spcPct val="100000"/>
              </a:lnSpc>
            </a:pPr>
            <a:r>
              <a:rPr sz="1200" b="1" lang="zh-TW">
                <a:solidFill>
                  <a:srgbClr val="1D4ED8"/>
                </a:solidFill>
                <a:latin typeface="Microsoft JhengHei"/>
                <a:ea typeface="Microsoft JhengHei"/>
              </a:rPr>
              <a:t>06　競爭優勢與落地可行性</a:t>
            </a:r>
          </a:p>
        </p:txBody>
      </p:sp>
      <p:sp>
        <p:nvSpPr>
          <p:cNvPr id="5" name="TextBox 4"/>
          <p:cNvSpPr txBox="1"/>
          <p:nvPr/>
        </p:nvSpPr>
        <p:spPr>
          <a:xfrm>
            <a:off x="548640" y="603504"/>
            <a:ext cx="10515600" cy="548640"/>
          </a:xfrm>
          <a:prstGeom prst="rect">
            <a:avLst/>
          </a:prstGeom>
          <a:noFill/>
        </p:spPr>
        <p:txBody>
          <a:bodyPr wrap="square" anchor="t" lIns="0" rIns="0" tIns="0" bIns="0">
            <a:spAutoFit/>
          </a:bodyPr>
          <a:lstStyle/>
          <a:p>
            <a:pPr algn="l">
              <a:lnSpc>
                <a:spcPct val="110000"/>
              </a:lnSpc>
            </a:pPr>
            <a:r>
              <a:rPr sz="3200" b="1" lang="zh-TW">
                <a:solidFill>
                  <a:srgbClr val="0B1B33"/>
                </a:solidFill>
                <a:latin typeface="Microsoft JhengHei"/>
                <a:ea typeface="Microsoft JhengHei"/>
              </a:rPr>
              <a:t>可以直接部署、可驗證、可擴充</a:t>
            </a:r>
          </a:p>
        </p:txBody>
      </p:sp>
      <p:sp>
        <p:nvSpPr>
          <p:cNvPr id="6" name="TextBox 5"/>
          <p:cNvSpPr txBox="1"/>
          <p:nvPr/>
        </p:nvSpPr>
        <p:spPr>
          <a:xfrm>
            <a:off x="548640" y="6473952"/>
            <a:ext cx="8229600" cy="228600"/>
          </a:xfrm>
          <a:prstGeom prst="rect">
            <a:avLst/>
          </a:prstGeom>
          <a:noFill/>
        </p:spPr>
        <p:txBody>
          <a:bodyPr wrap="square" anchor="t" lIns="0" rIns="0" tIns="0" bIns="0">
            <a:spAutoFit/>
          </a:bodyPr>
          <a:lstStyle/>
          <a:p>
            <a:pPr algn="l">
              <a:lnSpc>
                <a:spcPct val="100000"/>
              </a:lnSpc>
            </a:pPr>
            <a:r>
              <a:rPr sz="1000" b="0" lang="zh-TW">
                <a:solidFill>
                  <a:srgbClr val="8A97AB"/>
                </a:solidFill>
                <a:latin typeface="Microsoft JhengHei"/>
                <a:ea typeface="Microsoft JhengHei"/>
              </a:rPr>
              <a:t>融合新型內容相依時序方向模型入侵偵測與任務導向檢索增強稽核之 AI 資安框架</a:t>
            </a:r>
          </a:p>
        </p:txBody>
      </p:sp>
      <p:sp>
        <p:nvSpPr>
          <p:cNvPr id="7" name="TextBox 6"/>
          <p:cNvSpPr txBox="1"/>
          <p:nvPr/>
        </p:nvSpPr>
        <p:spPr>
          <a:xfrm>
            <a:off x="10728655" y="6473952"/>
            <a:ext cx="914400" cy="228600"/>
          </a:xfrm>
          <a:prstGeom prst="rect">
            <a:avLst/>
          </a:prstGeom>
          <a:noFill/>
        </p:spPr>
        <p:txBody>
          <a:bodyPr wrap="square" anchor="t" lIns="0" rIns="0" tIns="0" bIns="0">
            <a:spAutoFit/>
          </a:bodyPr>
          <a:lstStyle/>
          <a:p>
            <a:pPr algn="r">
              <a:lnSpc>
                <a:spcPct val="100000"/>
              </a:lnSpc>
            </a:pPr>
            <a:r>
              <a:rPr sz="1000" b="0" lang="zh-TW">
                <a:solidFill>
                  <a:srgbClr val="8A97AB"/>
                </a:solidFill>
                <a:latin typeface="Segoe UI"/>
                <a:ea typeface="Segoe UI"/>
              </a:rPr>
              <a:t>07 / 08</a:t>
            </a:r>
          </a:p>
        </p:txBody>
      </p:sp>
      <p:sp>
        <p:nvSpPr>
          <p:cNvPr id="8" name="Rounded Rectangle 7"/>
          <p:cNvSpPr/>
          <p:nvPr/>
        </p:nvSpPr>
        <p:spPr>
          <a:xfrm>
            <a:off x="548640" y="1371600"/>
            <a:ext cx="3493008" cy="2286000"/>
          </a:xfrm>
          <a:prstGeom prst="roundRect">
            <a:avLst>
              <a:gd name="adj" fmla="val 5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00200"/>
            <a:ext cx="64008" cy="4572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1572768"/>
            <a:ext cx="3017520" cy="411480"/>
          </a:xfrm>
          <a:prstGeom prst="rect">
            <a:avLst/>
          </a:prstGeom>
          <a:noFill/>
        </p:spPr>
        <p:txBody>
          <a:bodyPr wrap="square" anchor="t" lIns="0" rIns="0" tIns="0" bIns="0">
            <a:spAutoFit/>
          </a:bodyPr>
          <a:lstStyle/>
          <a:p>
            <a:pPr algn="l">
              <a:lnSpc>
                <a:spcPct val="100000"/>
              </a:lnSpc>
            </a:pPr>
            <a:r>
              <a:rPr sz="2000" b="1" lang="zh-TW">
                <a:solidFill>
                  <a:srgbClr val="1D4ED8"/>
                </a:solidFill>
                <a:latin typeface="Microsoft JhengHei"/>
                <a:ea typeface="Microsoft JhengHei"/>
              </a:rPr>
              <a:t>穩定性</a:t>
            </a:r>
          </a:p>
        </p:txBody>
      </p:sp>
      <p:sp>
        <p:nvSpPr>
          <p:cNvPr id="11" name="TextBox 10"/>
          <p:cNvSpPr txBox="1"/>
          <p:nvPr/>
        </p:nvSpPr>
        <p:spPr>
          <a:xfrm>
            <a:off x="822959" y="2148840"/>
            <a:ext cx="3154680" cy="320040"/>
          </a:xfrm>
          <a:prstGeom prst="rect">
            <a:avLst/>
          </a:prstGeom>
          <a:noFill/>
        </p:spPr>
        <p:txBody>
          <a:bodyPr wrap="square" anchor="t" lIns="0" rIns="0" tIns="0" bIns="0">
            <a:spAutoFit/>
          </a:bodyPr>
          <a:lstStyle/>
          <a:p>
            <a:pPr algn="l">
              <a:lnSpc>
                <a:spcPct val="100000"/>
              </a:lnSpc>
            </a:pPr>
            <a:r>
              <a:rPr sz="1400" b="1" lang="zh-TW">
                <a:solidFill>
                  <a:srgbClr val="1D4ED8"/>
                </a:solidFill>
                <a:latin typeface="Segoe UI Symbol"/>
                <a:ea typeface="Segoe UI Symbol"/>
              </a:rPr>
              <a:t>✓  </a:t>
            </a:r>
            <a:r>
              <a:rPr sz="1400" b="0" lang="zh-TW">
                <a:solidFill>
                  <a:srgbClr val="0B1B33"/>
                </a:solidFill>
                <a:latin typeface="Microsoft JhengHei"/>
                <a:ea typeface="Microsoft JhengHei"/>
              </a:rPr>
              <a:t>AI 改寫分類 0 / 463 筆</a:t>
            </a:r>
          </a:p>
        </p:txBody>
      </p:sp>
      <p:sp>
        <p:nvSpPr>
          <p:cNvPr id="12" name="TextBox 11"/>
          <p:cNvSpPr txBox="1"/>
          <p:nvPr/>
        </p:nvSpPr>
        <p:spPr>
          <a:xfrm>
            <a:off x="822959" y="2606040"/>
            <a:ext cx="3154680" cy="320040"/>
          </a:xfrm>
          <a:prstGeom prst="rect">
            <a:avLst/>
          </a:prstGeom>
          <a:noFill/>
        </p:spPr>
        <p:txBody>
          <a:bodyPr wrap="square" anchor="t" lIns="0" rIns="0" tIns="0" bIns="0">
            <a:spAutoFit/>
          </a:bodyPr>
          <a:lstStyle/>
          <a:p>
            <a:pPr algn="l">
              <a:lnSpc>
                <a:spcPct val="100000"/>
              </a:lnSpc>
            </a:pPr>
            <a:r>
              <a:rPr sz="1400" b="1" lang="zh-TW">
                <a:solidFill>
                  <a:srgbClr val="1D4ED8"/>
                </a:solidFill>
                <a:latin typeface="Segoe UI Symbol"/>
                <a:ea typeface="Segoe UI Symbol"/>
              </a:rPr>
              <a:t>✓  </a:t>
            </a:r>
            <a:r>
              <a:rPr sz="1400" b="0" lang="zh-TW">
                <a:solidFill>
                  <a:srgbClr val="0B1B33"/>
                </a:solidFill>
                <a:latin typeface="Microsoft JhengHei"/>
                <a:ea typeface="Microsoft JhengHei"/>
              </a:rPr>
              <a:t>稽核 JSON 有效率 463 / 463</a:t>
            </a:r>
          </a:p>
        </p:txBody>
      </p:sp>
      <p:sp>
        <p:nvSpPr>
          <p:cNvPr id="13" name="TextBox 12"/>
          <p:cNvSpPr txBox="1"/>
          <p:nvPr/>
        </p:nvSpPr>
        <p:spPr>
          <a:xfrm>
            <a:off x="822959" y="3063240"/>
            <a:ext cx="3154680" cy="320040"/>
          </a:xfrm>
          <a:prstGeom prst="rect">
            <a:avLst/>
          </a:prstGeom>
          <a:noFill/>
        </p:spPr>
        <p:txBody>
          <a:bodyPr wrap="square" anchor="t" lIns="0" rIns="0" tIns="0" bIns="0">
            <a:spAutoFit/>
          </a:bodyPr>
          <a:lstStyle/>
          <a:p>
            <a:pPr algn="l">
              <a:lnSpc>
                <a:spcPct val="100000"/>
              </a:lnSpc>
            </a:pPr>
            <a:r>
              <a:rPr sz="1400" b="1" lang="zh-TW">
                <a:solidFill>
                  <a:srgbClr val="1D4ED8"/>
                </a:solidFill>
                <a:latin typeface="Segoe UI Symbol"/>
                <a:ea typeface="Segoe UI Symbol"/>
              </a:rPr>
              <a:t>✓  </a:t>
            </a:r>
            <a:r>
              <a:rPr sz="1400" b="0" lang="zh-TW">
                <a:solidFill>
                  <a:srgbClr val="0B1B33"/>
                </a:solidFill>
                <a:latin typeface="Microsoft JhengHei"/>
                <a:ea typeface="Microsoft JhengHei"/>
              </a:rPr>
              <a:t>任一檢核失敗即轉人工複核</a:t>
            </a:r>
          </a:p>
        </p:txBody>
      </p:sp>
      <p:sp>
        <p:nvSpPr>
          <p:cNvPr id="14" name="Rounded Rectangle 13"/>
          <p:cNvSpPr/>
          <p:nvPr/>
        </p:nvSpPr>
        <p:spPr>
          <a:xfrm>
            <a:off x="4206240" y="1371600"/>
            <a:ext cx="3493008" cy="2286000"/>
          </a:xfrm>
          <a:prstGeom prst="roundRect">
            <a:avLst>
              <a:gd name="adj" fmla="val 5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6240" y="1600200"/>
            <a:ext cx="6400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1572768"/>
            <a:ext cx="3017520" cy="411480"/>
          </a:xfrm>
          <a:prstGeom prst="rect">
            <a:avLst/>
          </a:prstGeom>
          <a:noFill/>
        </p:spPr>
        <p:txBody>
          <a:bodyPr wrap="square" anchor="t" lIns="0" rIns="0" tIns="0" bIns="0">
            <a:spAutoFit/>
          </a:bodyPr>
          <a:lstStyle/>
          <a:p>
            <a:pPr algn="l">
              <a:lnSpc>
                <a:spcPct val="100000"/>
              </a:lnSpc>
            </a:pPr>
            <a:r>
              <a:rPr sz="2000" b="1" lang="zh-TW">
                <a:solidFill>
                  <a:srgbClr val="0F766E"/>
                </a:solidFill>
                <a:latin typeface="Microsoft JhengHei"/>
                <a:ea typeface="Microsoft JhengHei"/>
              </a:rPr>
              <a:t>成熟度</a:t>
            </a:r>
          </a:p>
        </p:txBody>
      </p:sp>
      <p:sp>
        <p:nvSpPr>
          <p:cNvPr id="17" name="TextBox 16"/>
          <p:cNvSpPr txBox="1"/>
          <p:nvPr/>
        </p:nvSpPr>
        <p:spPr>
          <a:xfrm>
            <a:off x="4480559" y="2148840"/>
            <a:ext cx="3154680" cy="320040"/>
          </a:xfrm>
          <a:prstGeom prst="rect">
            <a:avLst/>
          </a:prstGeom>
          <a:noFill/>
        </p:spPr>
        <p:txBody>
          <a:bodyPr wrap="square" anchor="t" lIns="0" rIns="0" tIns="0" bIns="0">
            <a:spAutoFit/>
          </a:bodyPr>
          <a:lstStyle/>
          <a:p>
            <a:pPr algn="l">
              <a:lnSpc>
                <a:spcPct val="100000"/>
              </a:lnSpc>
            </a:pPr>
            <a:r>
              <a:rPr sz="1400" b="1" lang="zh-TW">
                <a:solidFill>
                  <a:srgbClr val="0F766E"/>
                </a:solidFill>
                <a:latin typeface="Segoe UI Symbol"/>
                <a:ea typeface="Segoe UI Symbol"/>
              </a:rPr>
              <a:t>✓  </a:t>
            </a:r>
            <a:r>
              <a:rPr sz="1400" b="0" lang="zh-TW">
                <a:solidFill>
                  <a:srgbClr val="0B1B33"/>
                </a:solidFill>
                <a:latin typeface="Microsoft JhengHei"/>
                <a:ea typeface="Microsoft JhengHei"/>
              </a:rPr>
              <a:t>17 類即時重跑 17 / 17</a:t>
            </a:r>
          </a:p>
        </p:txBody>
      </p:sp>
      <p:sp>
        <p:nvSpPr>
          <p:cNvPr id="18" name="TextBox 17"/>
          <p:cNvSpPr txBox="1"/>
          <p:nvPr/>
        </p:nvSpPr>
        <p:spPr>
          <a:xfrm>
            <a:off x="4480559" y="2606040"/>
            <a:ext cx="3154680" cy="320040"/>
          </a:xfrm>
          <a:prstGeom prst="rect">
            <a:avLst/>
          </a:prstGeom>
          <a:noFill/>
        </p:spPr>
        <p:txBody>
          <a:bodyPr wrap="square" anchor="t" lIns="0" rIns="0" tIns="0" bIns="0">
            <a:spAutoFit/>
          </a:bodyPr>
          <a:lstStyle/>
          <a:p>
            <a:pPr algn="l">
              <a:lnSpc>
                <a:spcPct val="100000"/>
              </a:lnSpc>
            </a:pPr>
            <a:r>
              <a:rPr sz="1400" b="1" lang="zh-TW">
                <a:solidFill>
                  <a:srgbClr val="0F766E"/>
                </a:solidFill>
                <a:latin typeface="Segoe UI Symbol"/>
                <a:ea typeface="Segoe UI Symbol"/>
              </a:rPr>
              <a:t>✓  </a:t>
            </a:r>
            <a:r>
              <a:rPr sz="1400" b="0" lang="zh-TW">
                <a:solidFill>
                  <a:srgbClr val="0B1B33"/>
                </a:solidFill>
                <a:latin typeface="Microsoft JhengHei"/>
                <a:ea typeface="Microsoft JhengHei"/>
              </a:rPr>
              <a:t>6 / 6 隔離情境背景服務保留</a:t>
            </a:r>
          </a:p>
        </p:txBody>
      </p:sp>
      <p:sp>
        <p:nvSpPr>
          <p:cNvPr id="19" name="TextBox 18"/>
          <p:cNvSpPr txBox="1"/>
          <p:nvPr/>
        </p:nvSpPr>
        <p:spPr>
          <a:xfrm>
            <a:off x="4480559" y="3063240"/>
            <a:ext cx="3154680" cy="320040"/>
          </a:xfrm>
          <a:prstGeom prst="rect">
            <a:avLst/>
          </a:prstGeom>
          <a:noFill/>
        </p:spPr>
        <p:txBody>
          <a:bodyPr wrap="square" anchor="t" lIns="0" rIns="0" tIns="0" bIns="0">
            <a:spAutoFit/>
          </a:bodyPr>
          <a:lstStyle/>
          <a:p>
            <a:pPr algn="l">
              <a:lnSpc>
                <a:spcPct val="100000"/>
              </a:lnSpc>
            </a:pPr>
            <a:r>
              <a:rPr sz="1400" b="1" lang="zh-TW">
                <a:solidFill>
                  <a:srgbClr val="0F766E"/>
                </a:solidFill>
                <a:latin typeface="Segoe UI Symbol"/>
                <a:ea typeface="Segoe UI Symbol"/>
              </a:rPr>
              <a:t>✓  </a:t>
            </a:r>
            <a:r>
              <a:rPr sz="1400" b="0" lang="zh-TW">
                <a:solidFill>
                  <a:srgbClr val="0B1B33"/>
                </a:solidFill>
                <a:latin typeface="Microsoft JhengHei"/>
                <a:ea typeface="Microsoft JhengHei"/>
              </a:rPr>
              <a:t>6 / 6 情境 30 秒到期完整回復</a:t>
            </a:r>
          </a:p>
        </p:txBody>
      </p:sp>
      <p:sp>
        <p:nvSpPr>
          <p:cNvPr id="20" name="Rounded Rectangle 19"/>
          <p:cNvSpPr/>
          <p:nvPr/>
        </p:nvSpPr>
        <p:spPr>
          <a:xfrm>
            <a:off x="548640" y="3840480"/>
            <a:ext cx="3493008" cy="2286000"/>
          </a:xfrm>
          <a:prstGeom prst="roundRect">
            <a:avLst>
              <a:gd name="adj" fmla="val 5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69080"/>
            <a:ext cx="64008" cy="4572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4041648"/>
            <a:ext cx="3017520" cy="411480"/>
          </a:xfrm>
          <a:prstGeom prst="rect">
            <a:avLst/>
          </a:prstGeom>
          <a:noFill/>
        </p:spPr>
        <p:txBody>
          <a:bodyPr wrap="square" anchor="t" lIns="0" rIns="0" tIns="0" bIns="0">
            <a:spAutoFit/>
          </a:bodyPr>
          <a:lstStyle/>
          <a:p>
            <a:pPr algn="l">
              <a:lnSpc>
                <a:spcPct val="100000"/>
              </a:lnSpc>
            </a:pPr>
            <a:r>
              <a:rPr sz="2000" b="1" lang="zh-TW">
                <a:solidFill>
                  <a:srgbClr val="6D28D9"/>
                </a:solidFill>
                <a:latin typeface="Microsoft JhengHei"/>
                <a:ea typeface="Microsoft JhengHei"/>
              </a:rPr>
              <a:t>完整性</a:t>
            </a:r>
          </a:p>
        </p:txBody>
      </p:sp>
      <p:sp>
        <p:nvSpPr>
          <p:cNvPr id="23" name="TextBox 22"/>
          <p:cNvSpPr txBox="1"/>
          <p:nvPr/>
        </p:nvSpPr>
        <p:spPr>
          <a:xfrm>
            <a:off x="822959" y="4617720"/>
            <a:ext cx="3154680" cy="320040"/>
          </a:xfrm>
          <a:prstGeom prst="rect">
            <a:avLst/>
          </a:prstGeom>
          <a:noFill/>
        </p:spPr>
        <p:txBody>
          <a:bodyPr wrap="square" anchor="t" lIns="0" rIns="0" tIns="0" bIns="0">
            <a:spAutoFit/>
          </a:bodyPr>
          <a:lstStyle/>
          <a:p>
            <a:pPr algn="l">
              <a:lnSpc>
                <a:spcPct val="100000"/>
              </a:lnSpc>
            </a:pPr>
            <a:r>
              <a:rPr sz="1400" b="1" lang="zh-TW">
                <a:solidFill>
                  <a:srgbClr val="6D28D9"/>
                </a:solidFill>
                <a:latin typeface="Segoe UI Symbol"/>
                <a:ea typeface="Segoe UI Symbol"/>
              </a:rPr>
              <a:t>✓  </a:t>
            </a:r>
            <a:r>
              <a:rPr sz="1400" b="0" lang="zh-TW">
                <a:solidFill>
                  <a:srgbClr val="0B1B33"/>
                </a:solidFill>
                <a:latin typeface="Microsoft JhengHei"/>
                <a:ea typeface="Microsoft JhengHei"/>
              </a:rPr>
              <a:t>偵測→證據→稽核→處置→回條</a:t>
            </a:r>
          </a:p>
        </p:txBody>
      </p:sp>
      <p:sp>
        <p:nvSpPr>
          <p:cNvPr id="24" name="TextBox 23"/>
          <p:cNvSpPr txBox="1"/>
          <p:nvPr/>
        </p:nvSpPr>
        <p:spPr>
          <a:xfrm>
            <a:off x="822959" y="5074920"/>
            <a:ext cx="3154680" cy="320040"/>
          </a:xfrm>
          <a:prstGeom prst="rect">
            <a:avLst/>
          </a:prstGeom>
          <a:noFill/>
        </p:spPr>
        <p:txBody>
          <a:bodyPr wrap="square" anchor="t" lIns="0" rIns="0" tIns="0" bIns="0">
            <a:spAutoFit/>
          </a:bodyPr>
          <a:lstStyle/>
          <a:p>
            <a:pPr algn="l">
              <a:lnSpc>
                <a:spcPct val="100000"/>
              </a:lnSpc>
            </a:pPr>
            <a:r>
              <a:rPr sz="1400" b="1" lang="zh-TW">
                <a:solidFill>
                  <a:srgbClr val="6D28D9"/>
                </a:solidFill>
                <a:latin typeface="Segoe UI Symbol"/>
                <a:ea typeface="Segoe UI Symbol"/>
              </a:rPr>
              <a:t>✓  </a:t>
            </a:r>
            <a:r>
              <a:rPr sz="1400" b="0" lang="zh-TW">
                <a:solidFill>
                  <a:srgbClr val="0B1B33"/>
                </a:solidFill>
                <a:latin typeface="Microsoft JhengHei"/>
                <a:ea typeface="Microsoft JhengHei"/>
              </a:rPr>
              <a:t>事件 ID 與執行 ID 雙重綁定</a:t>
            </a:r>
          </a:p>
        </p:txBody>
      </p:sp>
      <p:sp>
        <p:nvSpPr>
          <p:cNvPr id="25" name="TextBox 24"/>
          <p:cNvSpPr txBox="1"/>
          <p:nvPr/>
        </p:nvSpPr>
        <p:spPr>
          <a:xfrm>
            <a:off x="822959" y="5532120"/>
            <a:ext cx="3154680" cy="320040"/>
          </a:xfrm>
          <a:prstGeom prst="rect">
            <a:avLst/>
          </a:prstGeom>
          <a:noFill/>
        </p:spPr>
        <p:txBody>
          <a:bodyPr wrap="square" anchor="t" lIns="0" rIns="0" tIns="0" bIns="0">
            <a:spAutoFit/>
          </a:bodyPr>
          <a:lstStyle/>
          <a:p>
            <a:pPr algn="l">
              <a:lnSpc>
                <a:spcPct val="100000"/>
              </a:lnSpc>
            </a:pPr>
            <a:r>
              <a:rPr sz="1400" b="1" lang="zh-TW">
                <a:solidFill>
                  <a:srgbClr val="6D28D9"/>
                </a:solidFill>
                <a:latin typeface="Segoe UI Symbol"/>
                <a:ea typeface="Segoe UI Symbol"/>
              </a:rPr>
              <a:t>✓  </a:t>
            </a:r>
            <a:r>
              <a:rPr sz="1400" b="0" lang="zh-TW">
                <a:solidFill>
                  <a:srgbClr val="0B1B33"/>
                </a:solidFill>
                <a:latin typeface="Microsoft JhengHei"/>
                <a:ea typeface="Microsoft JhengHei"/>
              </a:rPr>
              <a:t>雜湊鏈紀錄可匯出稽核</a:t>
            </a:r>
          </a:p>
        </p:txBody>
      </p:sp>
      <p:sp>
        <p:nvSpPr>
          <p:cNvPr id="26" name="Rounded Rectangle 25"/>
          <p:cNvSpPr/>
          <p:nvPr/>
        </p:nvSpPr>
        <p:spPr>
          <a:xfrm>
            <a:off x="4206240" y="3840480"/>
            <a:ext cx="3493008" cy="2286000"/>
          </a:xfrm>
          <a:prstGeom prst="roundRect">
            <a:avLst>
              <a:gd name="adj" fmla="val 5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06240" y="4069080"/>
            <a:ext cx="64008" cy="4572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0559" y="4041648"/>
            <a:ext cx="3017520" cy="411480"/>
          </a:xfrm>
          <a:prstGeom prst="rect">
            <a:avLst/>
          </a:prstGeom>
          <a:noFill/>
        </p:spPr>
        <p:txBody>
          <a:bodyPr wrap="square" anchor="t" lIns="0" rIns="0" tIns="0" bIns="0">
            <a:spAutoFit/>
          </a:bodyPr>
          <a:lstStyle/>
          <a:p>
            <a:pPr algn="l">
              <a:lnSpc>
                <a:spcPct val="100000"/>
              </a:lnSpc>
            </a:pPr>
            <a:r>
              <a:rPr sz="2000" b="1" lang="zh-TW">
                <a:solidFill>
                  <a:srgbClr val="C2410C"/>
                </a:solidFill>
                <a:latin typeface="Microsoft JhengHei"/>
                <a:ea typeface="Microsoft JhengHei"/>
              </a:rPr>
              <a:t>擴充性</a:t>
            </a:r>
          </a:p>
        </p:txBody>
      </p:sp>
      <p:sp>
        <p:nvSpPr>
          <p:cNvPr id="29" name="TextBox 28"/>
          <p:cNvSpPr txBox="1"/>
          <p:nvPr/>
        </p:nvSpPr>
        <p:spPr>
          <a:xfrm>
            <a:off x="4480559" y="4617720"/>
            <a:ext cx="3154680" cy="320040"/>
          </a:xfrm>
          <a:prstGeom prst="rect">
            <a:avLst/>
          </a:prstGeom>
          <a:noFill/>
        </p:spPr>
        <p:txBody>
          <a:bodyPr wrap="square" anchor="t" lIns="0" rIns="0" tIns="0" bIns="0">
            <a:spAutoFit/>
          </a:bodyPr>
          <a:lstStyle/>
          <a:p>
            <a:pPr algn="l">
              <a:lnSpc>
                <a:spcPct val="100000"/>
              </a:lnSpc>
            </a:pPr>
            <a:r>
              <a:rPr sz="1400" b="1" lang="zh-TW">
                <a:solidFill>
                  <a:srgbClr val="C2410C"/>
                </a:solidFill>
                <a:latin typeface="Segoe UI Symbol"/>
                <a:ea typeface="Segoe UI Symbol"/>
              </a:rPr>
              <a:t>✓  </a:t>
            </a:r>
            <a:r>
              <a:rPr sz="1400" b="0" lang="zh-TW">
                <a:solidFill>
                  <a:srgbClr val="0B1B33"/>
                </a:solidFill>
                <a:latin typeface="Microsoft JhengHei"/>
                <a:ea typeface="Microsoft JhengHei"/>
              </a:rPr>
              <a:t>封存檔或鏡像流量，免改原架構</a:t>
            </a:r>
          </a:p>
        </p:txBody>
      </p:sp>
      <p:sp>
        <p:nvSpPr>
          <p:cNvPr id="30" name="TextBox 29"/>
          <p:cNvSpPr txBox="1"/>
          <p:nvPr/>
        </p:nvSpPr>
        <p:spPr>
          <a:xfrm>
            <a:off x="4480559" y="5074920"/>
            <a:ext cx="3154680" cy="320040"/>
          </a:xfrm>
          <a:prstGeom prst="rect">
            <a:avLst/>
          </a:prstGeom>
          <a:noFill/>
        </p:spPr>
        <p:txBody>
          <a:bodyPr wrap="square" anchor="t" lIns="0" rIns="0" tIns="0" bIns="0">
            <a:spAutoFit/>
          </a:bodyPr>
          <a:lstStyle/>
          <a:p>
            <a:pPr algn="l">
              <a:lnSpc>
                <a:spcPct val="100000"/>
              </a:lnSpc>
            </a:pPr>
            <a:r>
              <a:rPr sz="1400" b="1" lang="zh-TW">
                <a:solidFill>
                  <a:srgbClr val="C2410C"/>
                </a:solidFill>
                <a:latin typeface="Segoe UI Symbol"/>
                <a:ea typeface="Segoe UI Symbol"/>
              </a:rPr>
              <a:t>✓  </a:t>
            </a:r>
            <a:r>
              <a:rPr sz="1400" b="0" lang="zh-TW">
                <a:solidFill>
                  <a:srgbClr val="0B1B33"/>
                </a:solidFill>
                <a:latin typeface="Microsoft JhengHei"/>
                <a:ea typeface="Microsoft JhengHei"/>
              </a:rPr>
              <a:t>模型、案例庫、白名單獨立更新</a:t>
            </a:r>
          </a:p>
        </p:txBody>
      </p:sp>
      <p:sp>
        <p:nvSpPr>
          <p:cNvPr id="31" name="TextBox 30"/>
          <p:cNvSpPr txBox="1"/>
          <p:nvPr/>
        </p:nvSpPr>
        <p:spPr>
          <a:xfrm>
            <a:off x="4480559" y="5532120"/>
            <a:ext cx="3154680" cy="320040"/>
          </a:xfrm>
          <a:prstGeom prst="rect">
            <a:avLst/>
          </a:prstGeom>
          <a:noFill/>
        </p:spPr>
        <p:txBody>
          <a:bodyPr wrap="square" anchor="t" lIns="0" rIns="0" tIns="0" bIns="0">
            <a:spAutoFit/>
          </a:bodyPr>
          <a:lstStyle/>
          <a:p>
            <a:pPr algn="l">
              <a:lnSpc>
                <a:spcPct val="100000"/>
              </a:lnSpc>
            </a:pPr>
            <a:r>
              <a:rPr sz="1400" b="1" lang="zh-TW">
                <a:solidFill>
                  <a:srgbClr val="C2410C"/>
                </a:solidFill>
                <a:latin typeface="Segoe UI Symbol"/>
                <a:ea typeface="Segoe UI Symbol"/>
              </a:rPr>
              <a:t>✓  </a:t>
            </a:r>
            <a:r>
              <a:rPr sz="1400" b="0" lang="zh-TW">
                <a:solidFill>
                  <a:srgbClr val="0B1B33"/>
                </a:solidFill>
                <a:latin typeface="Microsoft JhengHei"/>
                <a:ea typeface="Microsoft JhengHei"/>
              </a:rPr>
              <a:t>全程本機推論，外部 API 0 次</a:t>
            </a:r>
          </a:p>
        </p:txBody>
      </p:sp>
      <p:sp>
        <p:nvSpPr>
          <p:cNvPr id="32" name="Rounded Rectangle 31"/>
          <p:cNvSpPr/>
          <p:nvPr/>
        </p:nvSpPr>
        <p:spPr>
          <a:xfrm>
            <a:off x="8001000" y="1371600"/>
            <a:ext cx="3639312" cy="4754880"/>
          </a:xfrm>
          <a:prstGeom prst="roundRect">
            <a:avLst>
              <a:gd name="adj" fmla="val 4000"/>
            </a:avLst>
          </a:prstGeom>
          <a:solidFill>
            <a:srgbClr val="FFFFFF"/>
          </a:solidFill>
          <a:ln w="12700">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1536192"/>
            <a:ext cx="3200400" cy="365760"/>
          </a:xfrm>
          <a:prstGeom prst="rect">
            <a:avLst/>
          </a:prstGeom>
          <a:noFill/>
        </p:spPr>
        <p:txBody>
          <a:bodyPr wrap="square" anchor="t" lIns="0" rIns="0" tIns="0" bIns="0">
            <a:spAutoFit/>
          </a:bodyPr>
          <a:lstStyle/>
          <a:p>
            <a:pPr algn="l">
              <a:lnSpc>
                <a:spcPct val="100000"/>
              </a:lnSpc>
            </a:pPr>
            <a:r>
              <a:rPr sz="1800" b="1" lang="zh-TW">
                <a:solidFill>
                  <a:srgbClr val="0B1B33"/>
                </a:solidFill>
                <a:latin typeface="Microsoft JhengHei"/>
                <a:ea typeface="Microsoft JhengHei"/>
              </a:rPr>
              <a:t>與典型方案比較</a:t>
            </a:r>
          </a:p>
        </p:txBody>
      </p:sp>
      <p:sp>
        <p:nvSpPr>
          <p:cNvPr id="34" name="TextBox 33"/>
          <p:cNvSpPr txBox="1"/>
          <p:nvPr/>
        </p:nvSpPr>
        <p:spPr>
          <a:xfrm>
            <a:off x="8275320" y="2029968"/>
            <a:ext cx="1097280" cy="274320"/>
          </a:xfrm>
          <a:prstGeom prst="rect">
            <a:avLst/>
          </a:prstGeom>
          <a:noFill/>
        </p:spPr>
        <p:txBody>
          <a:bodyPr wrap="square" anchor="t" lIns="0" rIns="0" tIns="0" bIns="0">
            <a:spAutoFit/>
          </a:bodyPr>
          <a:lstStyle/>
          <a:p>
            <a:pPr algn="l">
              <a:lnSpc>
                <a:spcPct val="100000"/>
              </a:lnSpc>
            </a:pPr>
            <a:r>
              <a:rPr sz="1100" b="0" lang="zh-TW">
                <a:solidFill>
                  <a:srgbClr val="5B6B82"/>
                </a:solidFill>
                <a:latin typeface="Microsoft JhengHei"/>
                <a:ea typeface="Microsoft JhengHei"/>
              </a:rPr>
              <a:t>面向</a:t>
            </a:r>
          </a:p>
        </p:txBody>
      </p:sp>
      <p:sp>
        <p:nvSpPr>
          <p:cNvPr id="35" name="TextBox 34"/>
          <p:cNvSpPr txBox="1"/>
          <p:nvPr/>
        </p:nvSpPr>
        <p:spPr>
          <a:xfrm>
            <a:off x="9326880" y="2029968"/>
            <a:ext cx="1097280" cy="274320"/>
          </a:xfrm>
          <a:prstGeom prst="rect">
            <a:avLst/>
          </a:prstGeom>
          <a:noFill/>
        </p:spPr>
        <p:txBody>
          <a:bodyPr wrap="square" anchor="t" lIns="0" rIns="0" tIns="0" bIns="0">
            <a:spAutoFit/>
          </a:bodyPr>
          <a:lstStyle/>
          <a:p>
            <a:pPr algn="l">
              <a:lnSpc>
                <a:spcPct val="100000"/>
              </a:lnSpc>
            </a:pPr>
            <a:r>
              <a:rPr sz="1100" b="0" lang="zh-TW">
                <a:solidFill>
                  <a:srgbClr val="5B6B82"/>
                </a:solidFill>
                <a:latin typeface="Microsoft JhengHei"/>
                <a:ea typeface="Microsoft JhengHei"/>
              </a:rPr>
              <a:t>典型</a:t>
            </a:r>
          </a:p>
        </p:txBody>
      </p:sp>
      <p:sp>
        <p:nvSpPr>
          <p:cNvPr id="36" name="TextBox 35"/>
          <p:cNvSpPr txBox="1"/>
          <p:nvPr/>
        </p:nvSpPr>
        <p:spPr>
          <a:xfrm>
            <a:off x="10378440" y="2029968"/>
            <a:ext cx="1188720" cy="274320"/>
          </a:xfrm>
          <a:prstGeom prst="rect">
            <a:avLst/>
          </a:prstGeom>
          <a:noFill/>
        </p:spPr>
        <p:txBody>
          <a:bodyPr wrap="square" anchor="t" lIns="0" rIns="0" tIns="0" bIns="0">
            <a:spAutoFit/>
          </a:bodyPr>
          <a:lstStyle/>
          <a:p>
            <a:pPr algn="l">
              <a:lnSpc>
                <a:spcPct val="100000"/>
              </a:lnSpc>
            </a:pPr>
            <a:r>
              <a:rPr sz="1100" b="1" lang="zh-TW">
                <a:solidFill>
                  <a:srgbClr val="1D4ED8"/>
                </a:solidFill>
                <a:latin typeface="Microsoft JhengHei"/>
                <a:ea typeface="Microsoft JhengHei"/>
              </a:rPr>
              <a:t>本框架</a:t>
            </a:r>
          </a:p>
        </p:txBody>
      </p:sp>
      <p:cxnSp>
        <p:nvCxnSpPr>
          <p:cNvPr id="37" name="Connector 36"/>
          <p:cNvCxnSpPr/>
          <p:nvPr/>
        </p:nvCxnSpPr>
        <p:spPr>
          <a:xfrm>
            <a:off x="8275320" y="2304288"/>
            <a:ext cx="3108960" cy="0"/>
          </a:xfrm>
          <a:prstGeom prst="line">
            <a:avLst/>
          </a:prstGeom>
          <a:ln w="12700">
            <a:solidFill>
              <a:srgbClr val="DCE3EE"/>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275320" y="2450592"/>
            <a:ext cx="1051560" cy="457200"/>
          </a:xfrm>
          <a:prstGeom prst="rect">
            <a:avLst/>
          </a:prstGeom>
          <a:noFill/>
        </p:spPr>
        <p:txBody>
          <a:bodyPr wrap="square" anchor="t" lIns="0" rIns="0" tIns="0" bIns="0">
            <a:spAutoFit/>
          </a:bodyPr>
          <a:lstStyle/>
          <a:p>
            <a:pPr algn="l">
              <a:lnSpc>
                <a:spcPct val="110000"/>
              </a:lnSpc>
            </a:pPr>
            <a:r>
              <a:rPr sz="1300" b="1" lang="zh-TW">
                <a:solidFill>
                  <a:srgbClr val="0B1B33"/>
                </a:solidFill>
                <a:latin typeface="Microsoft JhengHei"/>
                <a:ea typeface="Microsoft JhengHei"/>
              </a:rPr>
              <a:t>告警內容</a:t>
            </a:r>
          </a:p>
        </p:txBody>
      </p:sp>
      <p:sp>
        <p:nvSpPr>
          <p:cNvPr id="39" name="TextBox 38"/>
          <p:cNvSpPr txBox="1"/>
          <p:nvPr/>
        </p:nvSpPr>
        <p:spPr>
          <a:xfrm>
            <a:off x="9326880" y="2450592"/>
            <a:ext cx="1051560" cy="457200"/>
          </a:xfrm>
          <a:prstGeom prst="rect">
            <a:avLst/>
          </a:prstGeom>
          <a:noFill/>
        </p:spPr>
        <p:txBody>
          <a:bodyPr wrap="square" anchor="t" lIns="0" rIns="0" tIns="0" bIns="0">
            <a:spAutoFit/>
          </a:bodyPr>
          <a:lstStyle/>
          <a:p>
            <a:pPr algn="l">
              <a:lnSpc>
                <a:spcPct val="110000"/>
              </a:lnSpc>
            </a:pPr>
            <a:r>
              <a:rPr sz="1200" b="0" lang="zh-TW">
                <a:solidFill>
                  <a:srgbClr val="5B6B82"/>
                </a:solidFill>
                <a:latin typeface="Microsoft JhengHei"/>
                <a:ea typeface="Microsoft JhengHei"/>
              </a:rPr>
              <a:t>類別＋分數</a:t>
            </a:r>
          </a:p>
        </p:txBody>
      </p:sp>
      <p:sp>
        <p:nvSpPr>
          <p:cNvPr id="40" name="TextBox 39"/>
          <p:cNvSpPr txBox="1"/>
          <p:nvPr/>
        </p:nvSpPr>
        <p:spPr>
          <a:xfrm>
            <a:off x="10378440" y="2450592"/>
            <a:ext cx="1188720" cy="548640"/>
          </a:xfrm>
          <a:prstGeom prst="rect">
            <a:avLst/>
          </a:prstGeom>
          <a:noFill/>
        </p:spPr>
        <p:txBody>
          <a:bodyPr wrap="square" anchor="t" lIns="0" rIns="0" tIns="0" bIns="0">
            <a:spAutoFit/>
          </a:bodyPr>
          <a:lstStyle/>
          <a:p>
            <a:pPr algn="l">
              <a:lnSpc>
                <a:spcPct val="110000"/>
              </a:lnSpc>
            </a:pPr>
            <a:r>
              <a:rPr sz="1200" b="1" lang="zh-TW">
                <a:solidFill>
                  <a:srgbClr val="1D4ED8"/>
                </a:solidFill>
                <a:latin typeface="Microsoft JhengHei"/>
                <a:ea typeface="Microsoft JhengHei"/>
              </a:rPr>
              <a:t>17 類＋校準信心</a:t>
            </a:r>
          </a:p>
        </p:txBody>
      </p:sp>
      <p:cxnSp>
        <p:nvCxnSpPr>
          <p:cNvPr id="41" name="Connector 40"/>
          <p:cNvCxnSpPr/>
          <p:nvPr/>
        </p:nvCxnSpPr>
        <p:spPr>
          <a:xfrm>
            <a:off x="8275320" y="3035808"/>
            <a:ext cx="3108960" cy="0"/>
          </a:xfrm>
          <a:prstGeom prst="line">
            <a:avLst/>
          </a:prstGeom>
          <a:ln w="12700">
            <a:solidFill>
              <a:srgbClr val="DCE3E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8275320" y="3182112"/>
            <a:ext cx="1051560" cy="457200"/>
          </a:xfrm>
          <a:prstGeom prst="rect">
            <a:avLst/>
          </a:prstGeom>
          <a:noFill/>
        </p:spPr>
        <p:txBody>
          <a:bodyPr wrap="square" anchor="t" lIns="0" rIns="0" tIns="0" bIns="0">
            <a:spAutoFit/>
          </a:bodyPr>
          <a:lstStyle/>
          <a:p>
            <a:pPr algn="l">
              <a:lnSpc>
                <a:spcPct val="110000"/>
              </a:lnSpc>
            </a:pPr>
            <a:r>
              <a:rPr sz="1300" b="1" lang="zh-TW">
                <a:solidFill>
                  <a:srgbClr val="0B1B33"/>
                </a:solidFill>
                <a:latin typeface="Microsoft JhengHei"/>
                <a:ea typeface="Microsoft JhengHei"/>
              </a:rPr>
              <a:t>判定依據</a:t>
            </a:r>
          </a:p>
        </p:txBody>
      </p:sp>
      <p:sp>
        <p:nvSpPr>
          <p:cNvPr id="43" name="TextBox 42"/>
          <p:cNvSpPr txBox="1"/>
          <p:nvPr/>
        </p:nvSpPr>
        <p:spPr>
          <a:xfrm>
            <a:off x="9326880" y="3182112"/>
            <a:ext cx="1051560" cy="457200"/>
          </a:xfrm>
          <a:prstGeom prst="rect">
            <a:avLst/>
          </a:prstGeom>
          <a:noFill/>
        </p:spPr>
        <p:txBody>
          <a:bodyPr wrap="square" anchor="t" lIns="0" rIns="0" tIns="0" bIns="0">
            <a:spAutoFit/>
          </a:bodyPr>
          <a:lstStyle/>
          <a:p>
            <a:pPr algn="l">
              <a:lnSpc>
                <a:spcPct val="110000"/>
              </a:lnSpc>
            </a:pPr>
            <a:r>
              <a:rPr sz="1200" b="0" lang="zh-TW">
                <a:solidFill>
                  <a:srgbClr val="5B6B82"/>
                </a:solidFill>
                <a:latin typeface="Microsoft JhengHei"/>
                <a:ea typeface="Microsoft JhengHei"/>
              </a:rPr>
              <a:t>人工查找</a:t>
            </a:r>
          </a:p>
        </p:txBody>
      </p:sp>
      <p:sp>
        <p:nvSpPr>
          <p:cNvPr id="44" name="TextBox 43"/>
          <p:cNvSpPr txBox="1"/>
          <p:nvPr/>
        </p:nvSpPr>
        <p:spPr>
          <a:xfrm>
            <a:off x="10378440" y="3182112"/>
            <a:ext cx="1188720" cy="548640"/>
          </a:xfrm>
          <a:prstGeom prst="rect">
            <a:avLst/>
          </a:prstGeom>
          <a:noFill/>
        </p:spPr>
        <p:txBody>
          <a:bodyPr wrap="square" anchor="t" lIns="0" rIns="0" tIns="0" bIns="0">
            <a:spAutoFit/>
          </a:bodyPr>
          <a:lstStyle/>
          <a:p>
            <a:pPr algn="l">
              <a:lnSpc>
                <a:spcPct val="110000"/>
              </a:lnSpc>
            </a:pPr>
            <a:r>
              <a:rPr sz="1200" b="1" lang="zh-TW">
                <a:solidFill>
                  <a:srgbClr val="1D4ED8"/>
                </a:solidFill>
                <a:latin typeface="Microsoft JhengHei"/>
                <a:ea typeface="Microsoft JhengHei"/>
              </a:rPr>
              <a:t>Top-5 案例證據</a:t>
            </a:r>
          </a:p>
        </p:txBody>
      </p:sp>
      <p:cxnSp>
        <p:nvCxnSpPr>
          <p:cNvPr id="45" name="Connector 44"/>
          <p:cNvCxnSpPr/>
          <p:nvPr/>
        </p:nvCxnSpPr>
        <p:spPr>
          <a:xfrm>
            <a:off x="8275320" y="3767328"/>
            <a:ext cx="3108960" cy="0"/>
          </a:xfrm>
          <a:prstGeom prst="line">
            <a:avLst/>
          </a:prstGeom>
          <a:ln w="12700">
            <a:solidFill>
              <a:srgbClr val="DCE3E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8275320" y="3913632"/>
            <a:ext cx="1051560" cy="457200"/>
          </a:xfrm>
          <a:prstGeom prst="rect">
            <a:avLst/>
          </a:prstGeom>
          <a:noFill/>
        </p:spPr>
        <p:txBody>
          <a:bodyPr wrap="square" anchor="t" lIns="0" rIns="0" tIns="0" bIns="0">
            <a:spAutoFit/>
          </a:bodyPr>
          <a:lstStyle/>
          <a:p>
            <a:pPr algn="l">
              <a:lnSpc>
                <a:spcPct val="110000"/>
              </a:lnSpc>
            </a:pPr>
            <a:r>
              <a:rPr sz="1300" b="1" lang="zh-TW">
                <a:solidFill>
                  <a:srgbClr val="0B1B33"/>
                </a:solidFill>
                <a:latin typeface="Microsoft JhengHei"/>
                <a:ea typeface="Microsoft JhengHei"/>
              </a:rPr>
              <a:t>AI 角色</a:t>
            </a:r>
          </a:p>
        </p:txBody>
      </p:sp>
      <p:sp>
        <p:nvSpPr>
          <p:cNvPr id="47" name="TextBox 46"/>
          <p:cNvSpPr txBox="1"/>
          <p:nvPr/>
        </p:nvSpPr>
        <p:spPr>
          <a:xfrm>
            <a:off x="9326880" y="3913632"/>
            <a:ext cx="1051560" cy="457200"/>
          </a:xfrm>
          <a:prstGeom prst="rect">
            <a:avLst/>
          </a:prstGeom>
          <a:noFill/>
        </p:spPr>
        <p:txBody>
          <a:bodyPr wrap="square" anchor="t" lIns="0" rIns="0" tIns="0" bIns="0">
            <a:spAutoFit/>
          </a:bodyPr>
          <a:lstStyle/>
          <a:p>
            <a:pPr algn="l">
              <a:lnSpc>
                <a:spcPct val="110000"/>
              </a:lnSpc>
            </a:pPr>
            <a:r>
              <a:rPr sz="1200" b="0" lang="zh-TW">
                <a:solidFill>
                  <a:srgbClr val="5B6B82"/>
                </a:solidFill>
                <a:latin typeface="Microsoft JhengHei"/>
                <a:ea typeface="Microsoft JhengHei"/>
              </a:rPr>
              <a:t>開放式建議</a:t>
            </a:r>
          </a:p>
        </p:txBody>
      </p:sp>
      <p:sp>
        <p:nvSpPr>
          <p:cNvPr id="48" name="TextBox 47"/>
          <p:cNvSpPr txBox="1"/>
          <p:nvPr/>
        </p:nvSpPr>
        <p:spPr>
          <a:xfrm>
            <a:off x="10378440" y="3913632"/>
            <a:ext cx="1188720" cy="548640"/>
          </a:xfrm>
          <a:prstGeom prst="rect">
            <a:avLst/>
          </a:prstGeom>
          <a:noFill/>
        </p:spPr>
        <p:txBody>
          <a:bodyPr wrap="square" anchor="t" lIns="0" rIns="0" tIns="0" bIns="0">
            <a:spAutoFit/>
          </a:bodyPr>
          <a:lstStyle/>
          <a:p>
            <a:pPr algn="l">
              <a:lnSpc>
                <a:spcPct val="110000"/>
              </a:lnSpc>
            </a:pPr>
            <a:r>
              <a:rPr sz="1200" b="1" lang="zh-TW">
                <a:solidFill>
                  <a:srgbClr val="1D4ED8"/>
                </a:solidFill>
                <a:latin typeface="Microsoft JhengHei"/>
                <a:ea typeface="Microsoft JhengHei"/>
              </a:rPr>
              <a:t>限定證據稽核</a:t>
            </a:r>
          </a:p>
        </p:txBody>
      </p:sp>
      <p:cxnSp>
        <p:nvCxnSpPr>
          <p:cNvPr id="49" name="Connector 48"/>
          <p:cNvCxnSpPr/>
          <p:nvPr/>
        </p:nvCxnSpPr>
        <p:spPr>
          <a:xfrm>
            <a:off x="8275320" y="4498848"/>
            <a:ext cx="3108960" cy="0"/>
          </a:xfrm>
          <a:prstGeom prst="line">
            <a:avLst/>
          </a:prstGeom>
          <a:ln w="12700">
            <a:solidFill>
              <a:srgbClr val="DCE3EE"/>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75320" y="4645152"/>
            <a:ext cx="1051560" cy="457200"/>
          </a:xfrm>
          <a:prstGeom prst="rect">
            <a:avLst/>
          </a:prstGeom>
          <a:noFill/>
        </p:spPr>
        <p:txBody>
          <a:bodyPr wrap="square" anchor="t" lIns="0" rIns="0" tIns="0" bIns="0">
            <a:spAutoFit/>
          </a:bodyPr>
          <a:lstStyle/>
          <a:p>
            <a:pPr algn="l">
              <a:lnSpc>
                <a:spcPct val="110000"/>
              </a:lnSpc>
            </a:pPr>
            <a:r>
              <a:rPr sz="1300" b="1" lang="zh-TW">
                <a:solidFill>
                  <a:srgbClr val="0B1B33"/>
                </a:solidFill>
                <a:latin typeface="Microsoft JhengHei"/>
                <a:ea typeface="Microsoft JhengHei"/>
              </a:rPr>
              <a:t>執行方式</a:t>
            </a:r>
          </a:p>
        </p:txBody>
      </p:sp>
      <p:sp>
        <p:nvSpPr>
          <p:cNvPr id="51" name="TextBox 50"/>
          <p:cNvSpPr txBox="1"/>
          <p:nvPr/>
        </p:nvSpPr>
        <p:spPr>
          <a:xfrm>
            <a:off x="9326880" y="4645152"/>
            <a:ext cx="1051560" cy="457200"/>
          </a:xfrm>
          <a:prstGeom prst="rect">
            <a:avLst/>
          </a:prstGeom>
          <a:noFill/>
        </p:spPr>
        <p:txBody>
          <a:bodyPr wrap="square" anchor="t" lIns="0" rIns="0" tIns="0" bIns="0">
            <a:spAutoFit/>
          </a:bodyPr>
          <a:lstStyle/>
          <a:p>
            <a:pPr algn="l">
              <a:lnSpc>
                <a:spcPct val="110000"/>
              </a:lnSpc>
            </a:pPr>
            <a:r>
              <a:rPr sz="1200" b="0" lang="zh-TW">
                <a:solidFill>
                  <a:srgbClr val="5B6B82"/>
                </a:solidFill>
                <a:latin typeface="Microsoft JhengHei"/>
                <a:ea typeface="Microsoft JhengHei"/>
              </a:rPr>
              <a:t>直接下規則</a:t>
            </a:r>
          </a:p>
        </p:txBody>
      </p:sp>
      <p:sp>
        <p:nvSpPr>
          <p:cNvPr id="52" name="TextBox 51"/>
          <p:cNvSpPr txBox="1"/>
          <p:nvPr/>
        </p:nvSpPr>
        <p:spPr>
          <a:xfrm>
            <a:off x="10378440" y="4645152"/>
            <a:ext cx="1188720" cy="548640"/>
          </a:xfrm>
          <a:prstGeom prst="rect">
            <a:avLst/>
          </a:prstGeom>
          <a:noFill/>
        </p:spPr>
        <p:txBody>
          <a:bodyPr wrap="square" anchor="t" lIns="0" rIns="0" tIns="0" bIns="0">
            <a:spAutoFit/>
          </a:bodyPr>
          <a:lstStyle/>
          <a:p>
            <a:pPr algn="l">
              <a:lnSpc>
                <a:spcPct val="110000"/>
              </a:lnSpc>
            </a:pPr>
            <a:r>
              <a:rPr sz="1200" b="1" lang="zh-TW">
                <a:solidFill>
                  <a:srgbClr val="1D4ED8"/>
                </a:solidFill>
                <a:latin typeface="Microsoft JhengHei"/>
                <a:ea typeface="Microsoft JhengHei"/>
              </a:rPr>
              <a:t>白名單劇本</a:t>
            </a:r>
          </a:p>
        </p:txBody>
      </p:sp>
      <p:cxnSp>
        <p:nvCxnSpPr>
          <p:cNvPr id="53" name="Connector 52"/>
          <p:cNvCxnSpPr/>
          <p:nvPr/>
        </p:nvCxnSpPr>
        <p:spPr>
          <a:xfrm>
            <a:off x="8275320" y="5230368"/>
            <a:ext cx="3108960" cy="0"/>
          </a:xfrm>
          <a:prstGeom prst="line">
            <a:avLst/>
          </a:prstGeom>
          <a:ln w="12700">
            <a:solidFill>
              <a:srgbClr val="DCE3EE"/>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8275320" y="5376672"/>
            <a:ext cx="1051560" cy="457200"/>
          </a:xfrm>
          <a:prstGeom prst="rect">
            <a:avLst/>
          </a:prstGeom>
          <a:noFill/>
        </p:spPr>
        <p:txBody>
          <a:bodyPr wrap="square" anchor="t" lIns="0" rIns="0" tIns="0" bIns="0">
            <a:spAutoFit/>
          </a:bodyPr>
          <a:lstStyle/>
          <a:p>
            <a:pPr algn="l">
              <a:lnSpc>
                <a:spcPct val="110000"/>
              </a:lnSpc>
            </a:pPr>
            <a:r>
              <a:rPr sz="1300" b="1" lang="zh-TW">
                <a:solidFill>
                  <a:srgbClr val="0B1B33"/>
                </a:solidFill>
                <a:latin typeface="Microsoft JhengHei"/>
                <a:ea typeface="Microsoft JhengHei"/>
              </a:rPr>
              <a:t>安全控制</a:t>
            </a:r>
          </a:p>
        </p:txBody>
      </p:sp>
      <p:sp>
        <p:nvSpPr>
          <p:cNvPr id="55" name="TextBox 54"/>
          <p:cNvSpPr txBox="1"/>
          <p:nvPr/>
        </p:nvSpPr>
        <p:spPr>
          <a:xfrm>
            <a:off x="9326880" y="5376672"/>
            <a:ext cx="1051560" cy="457200"/>
          </a:xfrm>
          <a:prstGeom prst="rect">
            <a:avLst/>
          </a:prstGeom>
          <a:noFill/>
        </p:spPr>
        <p:txBody>
          <a:bodyPr wrap="square" anchor="t" lIns="0" rIns="0" tIns="0" bIns="0">
            <a:spAutoFit/>
          </a:bodyPr>
          <a:lstStyle/>
          <a:p>
            <a:pPr algn="l">
              <a:lnSpc>
                <a:spcPct val="110000"/>
              </a:lnSpc>
            </a:pPr>
            <a:r>
              <a:rPr sz="1200" b="0" lang="zh-TW">
                <a:solidFill>
                  <a:srgbClr val="5B6B82"/>
                </a:solidFill>
                <a:latin typeface="Microsoft JhengHei"/>
                <a:ea typeface="Microsoft JhengHei"/>
              </a:rPr>
              <a:t>手動撤銷</a:t>
            </a:r>
          </a:p>
        </p:txBody>
      </p:sp>
      <p:sp>
        <p:nvSpPr>
          <p:cNvPr id="56" name="TextBox 55"/>
          <p:cNvSpPr txBox="1"/>
          <p:nvPr/>
        </p:nvSpPr>
        <p:spPr>
          <a:xfrm>
            <a:off x="10378440" y="5376672"/>
            <a:ext cx="1188720" cy="548640"/>
          </a:xfrm>
          <a:prstGeom prst="rect">
            <a:avLst/>
          </a:prstGeom>
          <a:noFill/>
        </p:spPr>
        <p:txBody>
          <a:bodyPr wrap="square" anchor="t" lIns="0" rIns="0" tIns="0" bIns="0">
            <a:spAutoFit/>
          </a:bodyPr>
          <a:lstStyle/>
          <a:p>
            <a:pPr algn="l">
              <a:lnSpc>
                <a:spcPct val="110000"/>
              </a:lnSpc>
            </a:pPr>
            <a:r>
              <a:rPr sz="1200" b="1" lang="zh-TW">
                <a:solidFill>
                  <a:srgbClr val="1D4ED8"/>
                </a:solidFill>
                <a:latin typeface="Microsoft JhengHei"/>
                <a:ea typeface="Microsoft JhengHei"/>
              </a:rPr>
              <a:t>TTL・讀回・回復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709160"/>
            <a:ext cx="12191695"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5486400" cy="274320"/>
          </a:xfrm>
          <a:prstGeom prst="rect">
            <a:avLst/>
          </a:prstGeom>
          <a:noFill/>
        </p:spPr>
        <p:txBody>
          <a:bodyPr wrap="square" anchor="t" lIns="0" rIns="0" tIns="0" bIns="0">
            <a:spAutoFit/>
          </a:bodyPr>
          <a:lstStyle/>
          <a:p>
            <a:pPr algn="l">
              <a:lnSpc>
                <a:spcPct val="100000"/>
              </a:lnSpc>
            </a:pPr>
            <a:r>
              <a:rPr sz="1400" b="1" lang="zh-TW">
                <a:solidFill>
                  <a:srgbClr val="1D4ED8"/>
                </a:solidFill>
                <a:latin typeface="Microsoft JhengHei"/>
                <a:ea typeface="Microsoft JhengHei"/>
              </a:rPr>
              <a:t>結語</a:t>
            </a:r>
          </a:p>
        </p:txBody>
      </p:sp>
      <p:sp>
        <p:nvSpPr>
          <p:cNvPr id="6" name="TextBox 5"/>
          <p:cNvSpPr txBox="1"/>
          <p:nvPr/>
        </p:nvSpPr>
        <p:spPr>
          <a:xfrm>
            <a:off x="731520" y="1280160"/>
            <a:ext cx="10789920" cy="1463040"/>
          </a:xfrm>
          <a:prstGeom prst="rect">
            <a:avLst/>
          </a:prstGeom>
          <a:noFill/>
        </p:spPr>
        <p:txBody>
          <a:bodyPr wrap="square" anchor="t" lIns="0" rIns="0" tIns="0" bIns="0">
            <a:spAutoFit/>
          </a:bodyPr>
          <a:lstStyle/>
          <a:p>
            <a:pPr algn="l">
              <a:lnSpc>
                <a:spcPct val="130000"/>
              </a:lnSpc>
            </a:pPr>
            <a:r>
              <a:rPr sz="4000" b="1" lang="zh-TW">
                <a:solidFill>
                  <a:srgbClr val="0B1B33"/>
                </a:solidFill>
                <a:latin typeface="Microsoft JhengHei"/>
                <a:ea typeface="Microsoft JhengHei"/>
              </a:rPr>
              <a:t>讓每一筆告警，</a:t>
            </a:r>
          </a:p>
          <a:p>
            <a:pPr algn="l">
              <a:lnSpc>
                <a:spcPct val="130000"/>
              </a:lnSpc>
            </a:pPr>
            <a:r>
              <a:rPr sz="4000" b="1" lang="zh-TW">
                <a:solidFill>
                  <a:srgbClr val="1D4ED8"/>
                </a:solidFill>
                <a:latin typeface="Microsoft JhengHei"/>
                <a:ea typeface="Microsoft JhengHei"/>
              </a:rPr>
              <a:t>都有依據、有證據、可回復。</a:t>
            </a:r>
          </a:p>
        </p:txBody>
      </p:sp>
      <p:sp>
        <p:nvSpPr>
          <p:cNvPr id="7" name="Rectangle 6"/>
          <p:cNvSpPr/>
          <p:nvPr/>
        </p:nvSpPr>
        <p:spPr>
          <a:xfrm>
            <a:off x="731520" y="3246120"/>
            <a:ext cx="73152" cy="8686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246120"/>
            <a:ext cx="3200400" cy="411480"/>
          </a:xfrm>
          <a:prstGeom prst="rect">
            <a:avLst/>
          </a:prstGeom>
          <a:noFill/>
        </p:spPr>
        <p:txBody>
          <a:bodyPr wrap="square" anchor="t" lIns="0" rIns="0" tIns="0" bIns="0">
            <a:spAutoFit/>
          </a:bodyPr>
          <a:lstStyle/>
          <a:p>
            <a:pPr algn="l">
              <a:lnSpc>
                <a:spcPct val="100000"/>
              </a:lnSpc>
            </a:pPr>
            <a:r>
              <a:rPr sz="2200" b="1" lang="zh-TW">
                <a:solidFill>
                  <a:srgbClr val="1D4ED8"/>
                </a:solidFill>
                <a:latin typeface="Microsoft JhengHei"/>
                <a:ea typeface="Microsoft JhengHei"/>
              </a:rPr>
              <a:t>偵測有依據</a:t>
            </a:r>
          </a:p>
        </p:txBody>
      </p:sp>
      <p:sp>
        <p:nvSpPr>
          <p:cNvPr id="9" name="TextBox 8"/>
          <p:cNvSpPr txBox="1"/>
          <p:nvPr/>
        </p:nvSpPr>
        <p:spPr>
          <a:xfrm>
            <a:off x="1005840" y="3703320"/>
            <a:ext cx="3291840" cy="32004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內容相依時序方向判定 · 固定 17 類</a:t>
            </a:r>
          </a:p>
        </p:txBody>
      </p:sp>
      <p:sp>
        <p:nvSpPr>
          <p:cNvPr id="10" name="Rectangle 9"/>
          <p:cNvSpPr/>
          <p:nvPr/>
        </p:nvSpPr>
        <p:spPr>
          <a:xfrm>
            <a:off x="4389120" y="3246120"/>
            <a:ext cx="73152" cy="8686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3246120"/>
            <a:ext cx="3200400" cy="411480"/>
          </a:xfrm>
          <a:prstGeom prst="rect">
            <a:avLst/>
          </a:prstGeom>
          <a:noFill/>
        </p:spPr>
        <p:txBody>
          <a:bodyPr wrap="square" anchor="t" lIns="0" rIns="0" tIns="0" bIns="0">
            <a:spAutoFit/>
          </a:bodyPr>
          <a:lstStyle/>
          <a:p>
            <a:pPr algn="l">
              <a:lnSpc>
                <a:spcPct val="100000"/>
              </a:lnSpc>
            </a:pPr>
            <a:r>
              <a:rPr sz="2200" b="1" lang="zh-TW">
                <a:solidFill>
                  <a:srgbClr val="6D28D9"/>
                </a:solidFill>
                <a:latin typeface="Microsoft JhengHei"/>
                <a:ea typeface="Microsoft JhengHei"/>
              </a:rPr>
              <a:t>稽核有證據</a:t>
            </a:r>
          </a:p>
        </p:txBody>
      </p:sp>
      <p:sp>
        <p:nvSpPr>
          <p:cNvPr id="12" name="TextBox 11"/>
          <p:cNvSpPr txBox="1"/>
          <p:nvPr/>
        </p:nvSpPr>
        <p:spPr>
          <a:xfrm>
            <a:off x="4663440" y="3703320"/>
            <a:ext cx="3291840" cy="32004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529 維任務向量 · Top-5 案例證據</a:t>
            </a:r>
          </a:p>
        </p:txBody>
      </p:sp>
      <p:sp>
        <p:nvSpPr>
          <p:cNvPr id="13" name="Rectangle 12"/>
          <p:cNvSpPr/>
          <p:nvPr/>
        </p:nvSpPr>
        <p:spPr>
          <a:xfrm>
            <a:off x="8046720" y="3246120"/>
            <a:ext cx="73152" cy="8686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3246120"/>
            <a:ext cx="3200400" cy="411480"/>
          </a:xfrm>
          <a:prstGeom prst="rect">
            <a:avLst/>
          </a:prstGeom>
          <a:noFill/>
        </p:spPr>
        <p:txBody>
          <a:bodyPr wrap="square" anchor="t" lIns="0" rIns="0" tIns="0" bIns="0">
            <a:spAutoFit/>
          </a:bodyPr>
          <a:lstStyle/>
          <a:p>
            <a:pPr algn="l">
              <a:lnSpc>
                <a:spcPct val="100000"/>
              </a:lnSpc>
            </a:pPr>
            <a:r>
              <a:rPr sz="2200" b="1" lang="zh-TW">
                <a:solidFill>
                  <a:srgbClr val="0F766E"/>
                </a:solidFill>
                <a:latin typeface="Microsoft JhengHei"/>
                <a:ea typeface="Microsoft JhengHei"/>
              </a:rPr>
              <a:t>處置可回復</a:t>
            </a:r>
          </a:p>
        </p:txBody>
      </p:sp>
      <p:sp>
        <p:nvSpPr>
          <p:cNvPr id="15" name="TextBox 14"/>
          <p:cNvSpPr txBox="1"/>
          <p:nvPr/>
        </p:nvSpPr>
        <p:spPr>
          <a:xfrm>
            <a:off x="8321040" y="3703320"/>
            <a:ext cx="3291840" cy="320040"/>
          </a:xfrm>
          <a:prstGeom prst="rect">
            <a:avLst/>
          </a:prstGeom>
          <a:noFill/>
        </p:spPr>
        <p:txBody>
          <a:bodyPr wrap="square" anchor="t" lIns="0" rIns="0" tIns="0" bIns="0">
            <a:spAutoFit/>
          </a:bodyPr>
          <a:lstStyle/>
          <a:p>
            <a:pPr algn="l">
              <a:lnSpc>
                <a:spcPct val="100000"/>
              </a:lnSpc>
            </a:pPr>
            <a:r>
              <a:rPr sz="1400" b="0" lang="zh-TW">
                <a:solidFill>
                  <a:srgbClr val="5B6B82"/>
                </a:solidFill>
                <a:latin typeface="Microsoft JhengHei"/>
                <a:ea typeface="Microsoft JhengHei"/>
              </a:rPr>
              <a:t>Policy Guard · 讀回驗證 · 自動回復</a:t>
            </a:r>
          </a:p>
        </p:txBody>
      </p:sp>
      <p:sp>
        <p:nvSpPr>
          <p:cNvPr id="16" name="TextBox 15"/>
          <p:cNvSpPr txBox="1"/>
          <p:nvPr/>
        </p:nvSpPr>
        <p:spPr>
          <a:xfrm>
            <a:off x="731520" y="5074920"/>
            <a:ext cx="10789920" cy="365760"/>
          </a:xfrm>
          <a:prstGeom prst="rect">
            <a:avLst/>
          </a:prstGeom>
          <a:noFill/>
        </p:spPr>
        <p:txBody>
          <a:bodyPr wrap="square" anchor="t" lIns="0" rIns="0" tIns="0" bIns="0">
            <a:spAutoFit/>
          </a:bodyPr>
          <a:lstStyle/>
          <a:p>
            <a:pPr algn="l">
              <a:lnSpc>
                <a:spcPct val="100000"/>
              </a:lnSpc>
            </a:pPr>
            <a:r>
              <a:rPr sz="1600" b="1" lang="zh-TW">
                <a:solidFill>
                  <a:srgbClr val="0B1B33"/>
                </a:solidFill>
                <a:latin typeface="Microsoft JhengHei"/>
                <a:ea typeface="Microsoft JhengHei"/>
              </a:rPr>
              <a:t>融合新型內容相依時序方向模型入侵偵測與任務導向檢索增強稽核之 AI 資安框架</a:t>
            </a:r>
          </a:p>
        </p:txBody>
      </p:sp>
      <p:sp>
        <p:nvSpPr>
          <p:cNvPr id="17" name="TextBox 16"/>
          <p:cNvSpPr txBox="1"/>
          <p:nvPr/>
        </p:nvSpPr>
        <p:spPr>
          <a:xfrm>
            <a:off x="731520" y="5486400"/>
            <a:ext cx="10789920" cy="320040"/>
          </a:xfrm>
          <a:prstGeom prst="rect">
            <a:avLst/>
          </a:prstGeom>
          <a:noFill/>
        </p:spPr>
        <p:txBody>
          <a:bodyPr wrap="square" anchor="t" lIns="0" rIns="0" tIns="0" bIns="0">
            <a:spAutoFit/>
          </a:bodyPr>
          <a:lstStyle/>
          <a:p>
            <a:pPr algn="l">
              <a:lnSpc>
                <a:spcPct val="100000"/>
              </a:lnSpc>
            </a:pPr>
            <a:r>
              <a:rPr sz="2000" b="1" lang="zh-TW">
                <a:solidFill>
                  <a:srgbClr val="1D4ED8"/>
                </a:solidFill>
                <a:latin typeface="Microsoft JhengHei"/>
                <a:ea typeface="Microsoft JhengHei"/>
              </a:rPr>
              <a:t>感謝聆聽　敬請指教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