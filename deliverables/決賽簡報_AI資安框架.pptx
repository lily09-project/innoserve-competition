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notesSlides/notesSlide3.xml" ContentType="application/vnd.openxmlformats-officedocument.presentationml.notesSlide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notesSlides/notesSlide4.xml" ContentType="application/vnd.openxmlformats-officedocument.presentationml.notesSlide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notesSlides/notesSlide5.xml" ContentType="application/vnd.openxmlformats-officedocument.presentationml.notesSlide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notesSlides/notesSlide6.xml" ContentType="application/vnd.openxmlformats-officedocument.presentationml.notesSlide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notesSlides/notesSlide7.xml" ContentType="application/vnd.openxmlformats-officedocument.presentationml.notesSlide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notesSlides/notesSlide8.xml" ContentType="application/vnd.openxmlformats-officedocument.presentationml.notesSlide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notesSlides/notesSlide9.xml" ContentType="application/vnd.openxmlformats-officedocument.presentationml.notesSlide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notesSlides/notesSlide10.xml" ContentType="application/vnd.openxmlformats-officedocument.presentationml.notesSlide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notesSlides/notesSlide11.xml" ContentType="application/vnd.openxmlformats-officedocument.presentationml.notesSlide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TW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TW" sz="1200">
        <a:latin typeface="Times New Roman"/>
        <a:ea typeface="DFKai-SB"/>
        <a:cs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我們把入侵偵測、案例證據與受控處置串成同一事件流程，讓管理者能核對判斷依據，並追蹤處置與回復。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本頁為三十秒、兩倍速內嵌方法動畫，進入頁面後播放一次，結束停留。先讓評審看見同一事件的完整流程，再接續架構說明；影片計入五分鐘流程。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前段讓兩種模型分析同一筆流量。CTBM掌握封包內容、時間差與方向，PBCNN補充短視窗的位元組模式；經校準與融合閘門整合後，輸出十七類判定、信心與流量表徵。這些表徵會接到下一頁的案例檢索。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五百一十二維流量表徵與十七維類別機率，組成五百二十九維任務向量，查詢只由訓練資料建立的案例庫。檢索同時考慮流量特徵與判定資訊，本機AI再依前五筆案例核對證據，回傳支持、複核或不確定；正式分類與稽核結論保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策略閘門檢查範圍、動作白名單與有效期，通過後才套用並讀回規則，再於到期撤銷。六種隔離情境包含四種套用規則、兩種監測或蒐證；背景服務六種皆保留，回復完整性六種皆通過。這裡呈現的是隔離TCP交易與回條驗證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十七類整合重跑與六種隔離情境，驗證了同事件的判定、證據和回復紀錄。感謝聆聽，敬請指教。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Q1：創新在哪裡？與一般 IDS 加上 RAG 有何不同？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把流量表徵與類別機率組成任務向量，檢索相關證據。AI 保留正式分類，同一事件一路連到策略與回復回條。互補判定 → 案例檢索 → 證據稽核 → 受控處置。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Q2：如何證明前段判斷與後段處置已經串起來？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17 類本機推論與 AI 稽核已逐類執行，產物使用同一事件 ID。6 種隔離情境的回條綁定同次執行，過期執行 ID 會被拒絕。分類、Top-5、Judge、策略與回條綁定同一事件。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Q3：評估資料如何切分？案例庫是否洩漏測試答案？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偵測比較使用相同 18,998 筆測試；案例庫只由訓練資料建立。檢索使用 1,550 筆案例、463 筆查詢，訓練與查詢沒有重疊。偵測與檢索分開評估；AI 輸入不包含真實標籤。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Q4：AI 若支持錯誤判斷，如何避免直接誤封？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30 筆偵測誤判有 18 筆分流；其餘 12 筆仍獲 AI 支持。處置另經信心、政策、動作白名單與期限檢查，並可到期撤銷。AI 不改寫正式分類；複核／不確定走監測或蒐證。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Q5：6/6 是否代表各種真實攻擊都能完全防住？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6/6 指隔離 TCP 情境中的背景服務保留及回復完整性。4 種情境套用規則、2 種監測或蒐證；不等同真實攻擊防禦率。偵測 Accuracy 98.08%、Macro-F1 93.05% 另依測試集計算。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Q6：如何部署、保護資料，並接到既有環境？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本機 GPU 模型與本機案例庫處理事件，敏感欄位先遮罩。17 類已以前處理張量驗證；場域接入依資料介面配置。本機 AI 稽核；私有權重、輸入及逐筆回覆不公開。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10/29/2026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10/29/2026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sz="33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zh-TW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notesSlide" Target="../notesSlides/notesSlide1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24.xml"/><Relationship Id="rId18" Type="http://schemas.openxmlformats.org/officeDocument/2006/relationships/tags" Target="../tags/tag29.xml"/><Relationship Id="rId26" Type="http://schemas.openxmlformats.org/officeDocument/2006/relationships/tags" Target="../tags/tag37.xml"/><Relationship Id="rId3" Type="http://schemas.openxmlformats.org/officeDocument/2006/relationships/tags" Target="../tags/tag14.xml"/><Relationship Id="rId21" Type="http://schemas.openxmlformats.org/officeDocument/2006/relationships/tags" Target="../tags/tag32.xml"/><Relationship Id="rId34" Type="http://schemas.openxmlformats.org/officeDocument/2006/relationships/slideLayout" Target="../slideLayouts/slideLayout1.xml"/><Relationship Id="rId7" Type="http://schemas.openxmlformats.org/officeDocument/2006/relationships/tags" Target="../tags/tag18.xml"/><Relationship Id="rId12" Type="http://schemas.openxmlformats.org/officeDocument/2006/relationships/tags" Target="../tags/tag23.xml"/><Relationship Id="rId17" Type="http://schemas.openxmlformats.org/officeDocument/2006/relationships/tags" Target="../tags/tag28.xml"/><Relationship Id="rId25" Type="http://schemas.openxmlformats.org/officeDocument/2006/relationships/tags" Target="../tags/tag36.xml"/><Relationship Id="rId33" Type="http://schemas.openxmlformats.org/officeDocument/2006/relationships/tags" Target="../tags/tag44.xml"/><Relationship Id="rId2" Type="http://schemas.openxmlformats.org/officeDocument/2006/relationships/tags" Target="../tags/tag13.xml"/><Relationship Id="rId16" Type="http://schemas.openxmlformats.org/officeDocument/2006/relationships/tags" Target="../tags/tag27.xml"/><Relationship Id="rId20" Type="http://schemas.openxmlformats.org/officeDocument/2006/relationships/tags" Target="../tags/tag31.xml"/><Relationship Id="rId29" Type="http://schemas.openxmlformats.org/officeDocument/2006/relationships/tags" Target="../tags/tag40.xml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tags" Target="../tags/tag22.xml"/><Relationship Id="rId24" Type="http://schemas.openxmlformats.org/officeDocument/2006/relationships/tags" Target="../tags/tag35.xml"/><Relationship Id="rId32" Type="http://schemas.openxmlformats.org/officeDocument/2006/relationships/tags" Target="../tags/tag43.xml"/><Relationship Id="rId5" Type="http://schemas.openxmlformats.org/officeDocument/2006/relationships/tags" Target="../tags/tag16.xml"/><Relationship Id="rId15" Type="http://schemas.openxmlformats.org/officeDocument/2006/relationships/tags" Target="../tags/tag26.xml"/><Relationship Id="rId23" Type="http://schemas.openxmlformats.org/officeDocument/2006/relationships/tags" Target="../tags/tag34.xml"/><Relationship Id="rId28" Type="http://schemas.openxmlformats.org/officeDocument/2006/relationships/tags" Target="../tags/tag39.xml"/><Relationship Id="rId10" Type="http://schemas.openxmlformats.org/officeDocument/2006/relationships/tags" Target="../tags/tag21.xml"/><Relationship Id="rId19" Type="http://schemas.openxmlformats.org/officeDocument/2006/relationships/tags" Target="../tags/tag30.xml"/><Relationship Id="rId31" Type="http://schemas.openxmlformats.org/officeDocument/2006/relationships/tags" Target="../tags/tag42.xml"/><Relationship Id="rId4" Type="http://schemas.openxmlformats.org/officeDocument/2006/relationships/tags" Target="../tags/tag15.xml"/><Relationship Id="rId9" Type="http://schemas.openxmlformats.org/officeDocument/2006/relationships/tags" Target="../tags/tag20.xml"/><Relationship Id="rId14" Type="http://schemas.openxmlformats.org/officeDocument/2006/relationships/tags" Target="../tags/tag25.xml"/><Relationship Id="rId22" Type="http://schemas.openxmlformats.org/officeDocument/2006/relationships/tags" Target="../tags/tag33.xml"/><Relationship Id="rId27" Type="http://schemas.openxmlformats.org/officeDocument/2006/relationships/tags" Target="../tags/tag38.xml"/><Relationship Id="rId30" Type="http://schemas.openxmlformats.org/officeDocument/2006/relationships/tags" Target="../tags/tag41.xml"/><Relationship Id="rId35" Type="http://schemas.openxmlformats.org/officeDocument/2006/relationships/notesSlide" Target="../notesSlides/notesSlide3.xml"/><Relationship Id="rId8" Type="http://schemas.openxmlformats.org/officeDocument/2006/relationships/tags" Target="../tags/tag19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tags" Target="../tags/tag57.xml"/><Relationship Id="rId18" Type="http://schemas.openxmlformats.org/officeDocument/2006/relationships/tags" Target="../tags/tag62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17" Type="http://schemas.openxmlformats.org/officeDocument/2006/relationships/tags" Target="../tags/tag61.xml"/><Relationship Id="rId2" Type="http://schemas.openxmlformats.org/officeDocument/2006/relationships/tags" Target="../tags/tag46.xml"/><Relationship Id="rId16" Type="http://schemas.openxmlformats.org/officeDocument/2006/relationships/tags" Target="../tags/tag60.xml"/><Relationship Id="rId20" Type="http://schemas.openxmlformats.org/officeDocument/2006/relationships/notesSlide" Target="../notesSlides/notesSlide4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5" Type="http://schemas.openxmlformats.org/officeDocument/2006/relationships/tags" Target="../tags/tag59.xml"/><Relationship Id="rId10" Type="http://schemas.openxmlformats.org/officeDocument/2006/relationships/tags" Target="../tags/tag54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tags" Target="../tags/tag5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70.xml"/><Relationship Id="rId13" Type="http://schemas.openxmlformats.org/officeDocument/2006/relationships/tags" Target="../tags/tag75.xml"/><Relationship Id="rId18" Type="http://schemas.openxmlformats.org/officeDocument/2006/relationships/tags" Target="../tags/tag80.xml"/><Relationship Id="rId26" Type="http://schemas.openxmlformats.org/officeDocument/2006/relationships/tags" Target="../tags/tag88.xml"/><Relationship Id="rId3" Type="http://schemas.openxmlformats.org/officeDocument/2006/relationships/tags" Target="../tags/tag65.xml"/><Relationship Id="rId21" Type="http://schemas.openxmlformats.org/officeDocument/2006/relationships/tags" Target="../tags/tag83.xml"/><Relationship Id="rId7" Type="http://schemas.openxmlformats.org/officeDocument/2006/relationships/tags" Target="../tags/tag69.xml"/><Relationship Id="rId12" Type="http://schemas.openxmlformats.org/officeDocument/2006/relationships/tags" Target="../tags/tag74.xml"/><Relationship Id="rId17" Type="http://schemas.openxmlformats.org/officeDocument/2006/relationships/tags" Target="../tags/tag79.xml"/><Relationship Id="rId25" Type="http://schemas.openxmlformats.org/officeDocument/2006/relationships/tags" Target="../tags/tag87.xml"/><Relationship Id="rId2" Type="http://schemas.openxmlformats.org/officeDocument/2006/relationships/tags" Target="../tags/tag64.xml"/><Relationship Id="rId16" Type="http://schemas.openxmlformats.org/officeDocument/2006/relationships/tags" Target="../tags/tag78.xml"/><Relationship Id="rId20" Type="http://schemas.openxmlformats.org/officeDocument/2006/relationships/tags" Target="../tags/tag82.xml"/><Relationship Id="rId29" Type="http://schemas.openxmlformats.org/officeDocument/2006/relationships/tags" Target="../tags/tag91.xml"/><Relationship Id="rId1" Type="http://schemas.openxmlformats.org/officeDocument/2006/relationships/tags" Target="../tags/tag63.xml"/><Relationship Id="rId6" Type="http://schemas.openxmlformats.org/officeDocument/2006/relationships/tags" Target="../tags/tag68.xml"/><Relationship Id="rId11" Type="http://schemas.openxmlformats.org/officeDocument/2006/relationships/tags" Target="../tags/tag73.xml"/><Relationship Id="rId24" Type="http://schemas.openxmlformats.org/officeDocument/2006/relationships/tags" Target="../tags/tag86.xml"/><Relationship Id="rId5" Type="http://schemas.openxmlformats.org/officeDocument/2006/relationships/tags" Target="../tags/tag67.xml"/><Relationship Id="rId15" Type="http://schemas.openxmlformats.org/officeDocument/2006/relationships/tags" Target="../tags/tag77.xml"/><Relationship Id="rId23" Type="http://schemas.openxmlformats.org/officeDocument/2006/relationships/tags" Target="../tags/tag85.xml"/><Relationship Id="rId28" Type="http://schemas.openxmlformats.org/officeDocument/2006/relationships/tags" Target="../tags/tag90.xml"/><Relationship Id="rId10" Type="http://schemas.openxmlformats.org/officeDocument/2006/relationships/tags" Target="../tags/tag72.xml"/><Relationship Id="rId19" Type="http://schemas.openxmlformats.org/officeDocument/2006/relationships/tags" Target="../tags/tag81.xml"/><Relationship Id="rId31" Type="http://schemas.openxmlformats.org/officeDocument/2006/relationships/notesSlide" Target="../notesSlides/notesSlide5.xml"/><Relationship Id="rId4" Type="http://schemas.openxmlformats.org/officeDocument/2006/relationships/tags" Target="../tags/tag66.xml"/><Relationship Id="rId9" Type="http://schemas.openxmlformats.org/officeDocument/2006/relationships/tags" Target="../tags/tag71.xml"/><Relationship Id="rId14" Type="http://schemas.openxmlformats.org/officeDocument/2006/relationships/tags" Target="../tags/tag76.xml"/><Relationship Id="rId22" Type="http://schemas.openxmlformats.org/officeDocument/2006/relationships/tags" Target="../tags/tag84.xml"/><Relationship Id="rId27" Type="http://schemas.openxmlformats.org/officeDocument/2006/relationships/tags" Target="../tags/tag89.xml"/><Relationship Id="rId30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99.xml"/><Relationship Id="rId13" Type="http://schemas.openxmlformats.org/officeDocument/2006/relationships/tags" Target="../tags/tag104.xml"/><Relationship Id="rId18" Type="http://schemas.openxmlformats.org/officeDocument/2006/relationships/tags" Target="../tags/tag109.xml"/><Relationship Id="rId3" Type="http://schemas.openxmlformats.org/officeDocument/2006/relationships/tags" Target="../tags/tag94.xml"/><Relationship Id="rId7" Type="http://schemas.openxmlformats.org/officeDocument/2006/relationships/tags" Target="../tags/tag98.xml"/><Relationship Id="rId12" Type="http://schemas.openxmlformats.org/officeDocument/2006/relationships/tags" Target="../tags/tag103.xml"/><Relationship Id="rId17" Type="http://schemas.openxmlformats.org/officeDocument/2006/relationships/tags" Target="../tags/tag108.xml"/><Relationship Id="rId2" Type="http://schemas.openxmlformats.org/officeDocument/2006/relationships/tags" Target="../tags/tag93.xml"/><Relationship Id="rId16" Type="http://schemas.openxmlformats.org/officeDocument/2006/relationships/tags" Target="../tags/tag107.xml"/><Relationship Id="rId20" Type="http://schemas.openxmlformats.org/officeDocument/2006/relationships/notesSlide" Target="../notesSlides/notesSlide6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11" Type="http://schemas.openxmlformats.org/officeDocument/2006/relationships/tags" Target="../tags/tag102.xml"/><Relationship Id="rId5" Type="http://schemas.openxmlformats.org/officeDocument/2006/relationships/tags" Target="../tags/tag96.xml"/><Relationship Id="rId15" Type="http://schemas.openxmlformats.org/officeDocument/2006/relationships/tags" Target="../tags/tag106.xml"/><Relationship Id="rId10" Type="http://schemas.openxmlformats.org/officeDocument/2006/relationships/tags" Target="../tags/tag101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95.xml"/><Relationship Id="rId9" Type="http://schemas.openxmlformats.org/officeDocument/2006/relationships/tags" Target="../tags/tag100.xml"/><Relationship Id="rId14" Type="http://schemas.openxmlformats.org/officeDocument/2006/relationships/tags" Target="../tags/tag10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17.xml"/><Relationship Id="rId13" Type="http://schemas.openxmlformats.org/officeDocument/2006/relationships/tags" Target="../tags/tag122.xml"/><Relationship Id="rId18" Type="http://schemas.openxmlformats.org/officeDocument/2006/relationships/tags" Target="../tags/tag127.xml"/><Relationship Id="rId3" Type="http://schemas.openxmlformats.org/officeDocument/2006/relationships/tags" Target="../tags/tag112.xml"/><Relationship Id="rId21" Type="http://schemas.openxmlformats.org/officeDocument/2006/relationships/notesSlide" Target="../notesSlides/notesSlide7.xml"/><Relationship Id="rId7" Type="http://schemas.openxmlformats.org/officeDocument/2006/relationships/tags" Target="../tags/tag116.xml"/><Relationship Id="rId12" Type="http://schemas.openxmlformats.org/officeDocument/2006/relationships/tags" Target="../tags/tag121.xml"/><Relationship Id="rId17" Type="http://schemas.openxmlformats.org/officeDocument/2006/relationships/tags" Target="../tags/tag126.xml"/><Relationship Id="rId2" Type="http://schemas.openxmlformats.org/officeDocument/2006/relationships/tags" Target="../tags/tag111.xml"/><Relationship Id="rId16" Type="http://schemas.openxmlformats.org/officeDocument/2006/relationships/tags" Target="../tags/tag125.xml"/><Relationship Id="rId20" Type="http://schemas.openxmlformats.org/officeDocument/2006/relationships/slideLayout" Target="../slideLayouts/slideLayout1.xml"/><Relationship Id="rId1" Type="http://schemas.openxmlformats.org/officeDocument/2006/relationships/tags" Target="../tags/tag110.xml"/><Relationship Id="rId6" Type="http://schemas.openxmlformats.org/officeDocument/2006/relationships/tags" Target="../tags/tag115.xml"/><Relationship Id="rId11" Type="http://schemas.openxmlformats.org/officeDocument/2006/relationships/tags" Target="../tags/tag120.xml"/><Relationship Id="rId5" Type="http://schemas.openxmlformats.org/officeDocument/2006/relationships/tags" Target="../tags/tag114.xml"/><Relationship Id="rId15" Type="http://schemas.openxmlformats.org/officeDocument/2006/relationships/tags" Target="../tags/tag124.xml"/><Relationship Id="rId10" Type="http://schemas.openxmlformats.org/officeDocument/2006/relationships/tags" Target="../tags/tag119.xml"/><Relationship Id="rId19" Type="http://schemas.openxmlformats.org/officeDocument/2006/relationships/tags" Target="../tags/tag128.xml"/><Relationship Id="rId4" Type="http://schemas.openxmlformats.org/officeDocument/2006/relationships/tags" Target="../tags/tag113.xml"/><Relationship Id="rId9" Type="http://schemas.openxmlformats.org/officeDocument/2006/relationships/tags" Target="../tags/tag118.xml"/><Relationship Id="rId14" Type="http://schemas.openxmlformats.org/officeDocument/2006/relationships/tags" Target="../tags/tag12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36.xml"/><Relationship Id="rId13" Type="http://schemas.openxmlformats.org/officeDocument/2006/relationships/tags" Target="../tags/tag141.xml"/><Relationship Id="rId18" Type="http://schemas.openxmlformats.org/officeDocument/2006/relationships/tags" Target="../tags/tag146.xml"/><Relationship Id="rId3" Type="http://schemas.openxmlformats.org/officeDocument/2006/relationships/tags" Target="../tags/tag131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135.xml"/><Relationship Id="rId12" Type="http://schemas.openxmlformats.org/officeDocument/2006/relationships/tags" Target="../tags/tag140.xml"/><Relationship Id="rId17" Type="http://schemas.openxmlformats.org/officeDocument/2006/relationships/tags" Target="../tags/tag145.xml"/><Relationship Id="rId2" Type="http://schemas.openxmlformats.org/officeDocument/2006/relationships/tags" Target="../tags/tag130.xml"/><Relationship Id="rId16" Type="http://schemas.openxmlformats.org/officeDocument/2006/relationships/tags" Target="../tags/tag144.xml"/><Relationship Id="rId20" Type="http://schemas.openxmlformats.org/officeDocument/2006/relationships/tags" Target="../tags/tag148.xml"/><Relationship Id="rId1" Type="http://schemas.openxmlformats.org/officeDocument/2006/relationships/tags" Target="../tags/tag129.xml"/><Relationship Id="rId6" Type="http://schemas.openxmlformats.org/officeDocument/2006/relationships/tags" Target="../tags/tag134.xml"/><Relationship Id="rId11" Type="http://schemas.openxmlformats.org/officeDocument/2006/relationships/tags" Target="../tags/tag139.xml"/><Relationship Id="rId5" Type="http://schemas.openxmlformats.org/officeDocument/2006/relationships/tags" Target="../tags/tag133.xml"/><Relationship Id="rId15" Type="http://schemas.openxmlformats.org/officeDocument/2006/relationships/tags" Target="../tags/tag143.xml"/><Relationship Id="rId10" Type="http://schemas.openxmlformats.org/officeDocument/2006/relationships/tags" Target="../tags/tag138.xml"/><Relationship Id="rId19" Type="http://schemas.openxmlformats.org/officeDocument/2006/relationships/tags" Target="../tags/tag147.xml"/><Relationship Id="rId4" Type="http://schemas.openxmlformats.org/officeDocument/2006/relationships/tags" Target="../tags/tag132.xml"/><Relationship Id="rId9" Type="http://schemas.openxmlformats.org/officeDocument/2006/relationships/tags" Target="../tags/tag137.xml"/><Relationship Id="rId14" Type="http://schemas.openxmlformats.org/officeDocument/2006/relationships/tags" Target="../tags/tag142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56.xml"/><Relationship Id="rId13" Type="http://schemas.openxmlformats.org/officeDocument/2006/relationships/tags" Target="../tags/tag161.xml"/><Relationship Id="rId18" Type="http://schemas.openxmlformats.org/officeDocument/2006/relationships/notesSlide" Target="../notesSlides/notesSlide9.xml"/><Relationship Id="rId3" Type="http://schemas.openxmlformats.org/officeDocument/2006/relationships/tags" Target="../tags/tag151.xml"/><Relationship Id="rId7" Type="http://schemas.openxmlformats.org/officeDocument/2006/relationships/tags" Target="../tags/tag155.xml"/><Relationship Id="rId12" Type="http://schemas.openxmlformats.org/officeDocument/2006/relationships/tags" Target="../tags/tag160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150.xml"/><Relationship Id="rId16" Type="http://schemas.openxmlformats.org/officeDocument/2006/relationships/tags" Target="../tags/tag164.xml"/><Relationship Id="rId1" Type="http://schemas.openxmlformats.org/officeDocument/2006/relationships/tags" Target="../tags/tag149.xml"/><Relationship Id="rId6" Type="http://schemas.openxmlformats.org/officeDocument/2006/relationships/tags" Target="../tags/tag154.xml"/><Relationship Id="rId11" Type="http://schemas.openxmlformats.org/officeDocument/2006/relationships/tags" Target="../tags/tag159.xml"/><Relationship Id="rId5" Type="http://schemas.openxmlformats.org/officeDocument/2006/relationships/tags" Target="../tags/tag153.xml"/><Relationship Id="rId15" Type="http://schemas.openxmlformats.org/officeDocument/2006/relationships/tags" Target="../tags/tag163.xml"/><Relationship Id="rId10" Type="http://schemas.openxmlformats.org/officeDocument/2006/relationships/tags" Target="../tags/tag158.xml"/><Relationship Id="rId4" Type="http://schemas.openxmlformats.org/officeDocument/2006/relationships/tags" Target="../tags/tag152.xml"/><Relationship Id="rId9" Type="http://schemas.openxmlformats.org/officeDocument/2006/relationships/tags" Target="../tags/tag157.xml"/><Relationship Id="rId14" Type="http://schemas.openxmlformats.org/officeDocument/2006/relationships/tags" Target="../tags/tag16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72.xml"/><Relationship Id="rId13" Type="http://schemas.openxmlformats.org/officeDocument/2006/relationships/tags" Target="../tags/tag177.xml"/><Relationship Id="rId18" Type="http://schemas.openxmlformats.org/officeDocument/2006/relationships/tags" Target="../tags/tag182.xml"/><Relationship Id="rId3" Type="http://schemas.openxmlformats.org/officeDocument/2006/relationships/tags" Target="../tags/tag167.xml"/><Relationship Id="rId21" Type="http://schemas.openxmlformats.org/officeDocument/2006/relationships/tags" Target="../tags/tag185.xml"/><Relationship Id="rId7" Type="http://schemas.openxmlformats.org/officeDocument/2006/relationships/tags" Target="../tags/tag171.xml"/><Relationship Id="rId12" Type="http://schemas.openxmlformats.org/officeDocument/2006/relationships/tags" Target="../tags/tag176.xml"/><Relationship Id="rId17" Type="http://schemas.openxmlformats.org/officeDocument/2006/relationships/tags" Target="../tags/tag181.xml"/><Relationship Id="rId25" Type="http://schemas.openxmlformats.org/officeDocument/2006/relationships/notesSlide" Target="../notesSlides/notesSlide10.xml"/><Relationship Id="rId2" Type="http://schemas.openxmlformats.org/officeDocument/2006/relationships/tags" Target="../tags/tag166.xml"/><Relationship Id="rId16" Type="http://schemas.openxmlformats.org/officeDocument/2006/relationships/tags" Target="../tags/tag180.xml"/><Relationship Id="rId20" Type="http://schemas.openxmlformats.org/officeDocument/2006/relationships/tags" Target="../tags/tag184.xml"/><Relationship Id="rId1" Type="http://schemas.openxmlformats.org/officeDocument/2006/relationships/tags" Target="../tags/tag165.xml"/><Relationship Id="rId6" Type="http://schemas.openxmlformats.org/officeDocument/2006/relationships/tags" Target="../tags/tag170.xml"/><Relationship Id="rId11" Type="http://schemas.openxmlformats.org/officeDocument/2006/relationships/tags" Target="../tags/tag175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169.xml"/><Relationship Id="rId15" Type="http://schemas.openxmlformats.org/officeDocument/2006/relationships/tags" Target="../tags/tag179.xml"/><Relationship Id="rId23" Type="http://schemas.openxmlformats.org/officeDocument/2006/relationships/tags" Target="../tags/tag187.xml"/><Relationship Id="rId10" Type="http://schemas.openxmlformats.org/officeDocument/2006/relationships/tags" Target="../tags/tag174.xml"/><Relationship Id="rId19" Type="http://schemas.openxmlformats.org/officeDocument/2006/relationships/tags" Target="../tags/tag183.xml"/><Relationship Id="rId4" Type="http://schemas.openxmlformats.org/officeDocument/2006/relationships/tags" Target="../tags/tag168.xml"/><Relationship Id="rId9" Type="http://schemas.openxmlformats.org/officeDocument/2006/relationships/tags" Target="../tags/tag173.xml"/><Relationship Id="rId14" Type="http://schemas.openxmlformats.org/officeDocument/2006/relationships/tags" Target="../tags/tag178.xml"/><Relationship Id="rId22" Type="http://schemas.openxmlformats.org/officeDocument/2006/relationships/tags" Target="../tags/tag18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13" Type="http://schemas.openxmlformats.org/officeDocument/2006/relationships/tags" Target="../tags/tag200.xml"/><Relationship Id="rId18" Type="http://schemas.openxmlformats.org/officeDocument/2006/relationships/tags" Target="../tags/tag205.xml"/><Relationship Id="rId3" Type="http://schemas.openxmlformats.org/officeDocument/2006/relationships/tags" Target="../tags/tag190.xml"/><Relationship Id="rId21" Type="http://schemas.openxmlformats.org/officeDocument/2006/relationships/tags" Target="../tags/tag208.xml"/><Relationship Id="rId7" Type="http://schemas.openxmlformats.org/officeDocument/2006/relationships/tags" Target="../tags/tag194.xml"/><Relationship Id="rId12" Type="http://schemas.openxmlformats.org/officeDocument/2006/relationships/tags" Target="../tags/tag199.xml"/><Relationship Id="rId17" Type="http://schemas.openxmlformats.org/officeDocument/2006/relationships/tags" Target="../tags/tag204.xml"/><Relationship Id="rId2" Type="http://schemas.openxmlformats.org/officeDocument/2006/relationships/tags" Target="../tags/tag189.xml"/><Relationship Id="rId16" Type="http://schemas.openxmlformats.org/officeDocument/2006/relationships/tags" Target="../tags/tag203.xml"/><Relationship Id="rId20" Type="http://schemas.openxmlformats.org/officeDocument/2006/relationships/tags" Target="../tags/tag207.xml"/><Relationship Id="rId1" Type="http://schemas.openxmlformats.org/officeDocument/2006/relationships/tags" Target="../tags/tag188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24" Type="http://schemas.openxmlformats.org/officeDocument/2006/relationships/notesSlide" Target="../notesSlides/notesSlide11.xml"/><Relationship Id="rId5" Type="http://schemas.openxmlformats.org/officeDocument/2006/relationships/tags" Target="../tags/tag192.xml"/><Relationship Id="rId15" Type="http://schemas.openxmlformats.org/officeDocument/2006/relationships/tags" Target="../tags/tag202.xml"/><Relationship Id="rId23" Type="http://schemas.openxmlformats.org/officeDocument/2006/relationships/slideLayout" Target="../slideLayouts/slideLayout1.xml"/><Relationship Id="rId10" Type="http://schemas.openxmlformats.org/officeDocument/2006/relationships/tags" Target="../tags/tag197.xml"/><Relationship Id="rId19" Type="http://schemas.openxmlformats.org/officeDocument/2006/relationships/tags" Target="../tags/tag206.xml"/><Relationship Id="rId4" Type="http://schemas.openxmlformats.org/officeDocument/2006/relationships/tags" Target="../tags/tag191.xml"/><Relationship Id="rId9" Type="http://schemas.openxmlformats.org/officeDocument/2006/relationships/tags" Target="../tags/tag196.xml"/><Relationship Id="rId14" Type="http://schemas.openxmlformats.org/officeDocument/2006/relationships/tags" Target="../tags/tag201.xml"/><Relationship Id="rId22" Type="http://schemas.openxmlformats.org/officeDocument/2006/relationships/tags" Target="../tags/tag209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217.xml"/><Relationship Id="rId13" Type="http://schemas.openxmlformats.org/officeDocument/2006/relationships/tags" Target="../tags/tag222.xml"/><Relationship Id="rId18" Type="http://schemas.openxmlformats.org/officeDocument/2006/relationships/tags" Target="../tags/tag227.xml"/><Relationship Id="rId3" Type="http://schemas.openxmlformats.org/officeDocument/2006/relationships/tags" Target="../tags/tag212.xml"/><Relationship Id="rId21" Type="http://schemas.openxmlformats.org/officeDocument/2006/relationships/tags" Target="../tags/tag230.xml"/><Relationship Id="rId7" Type="http://schemas.openxmlformats.org/officeDocument/2006/relationships/tags" Target="../tags/tag216.xml"/><Relationship Id="rId12" Type="http://schemas.openxmlformats.org/officeDocument/2006/relationships/tags" Target="../tags/tag221.xml"/><Relationship Id="rId17" Type="http://schemas.openxmlformats.org/officeDocument/2006/relationships/tags" Target="../tags/tag226.xml"/><Relationship Id="rId25" Type="http://schemas.openxmlformats.org/officeDocument/2006/relationships/notesSlide" Target="../notesSlides/notesSlide12.xml"/><Relationship Id="rId2" Type="http://schemas.openxmlformats.org/officeDocument/2006/relationships/tags" Target="../tags/tag211.xml"/><Relationship Id="rId16" Type="http://schemas.openxmlformats.org/officeDocument/2006/relationships/tags" Target="../tags/tag225.xml"/><Relationship Id="rId20" Type="http://schemas.openxmlformats.org/officeDocument/2006/relationships/tags" Target="../tags/tag229.xml"/><Relationship Id="rId1" Type="http://schemas.openxmlformats.org/officeDocument/2006/relationships/tags" Target="../tags/tag210.xml"/><Relationship Id="rId6" Type="http://schemas.openxmlformats.org/officeDocument/2006/relationships/tags" Target="../tags/tag215.xml"/><Relationship Id="rId11" Type="http://schemas.openxmlformats.org/officeDocument/2006/relationships/tags" Target="../tags/tag220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214.xml"/><Relationship Id="rId15" Type="http://schemas.openxmlformats.org/officeDocument/2006/relationships/tags" Target="../tags/tag224.xml"/><Relationship Id="rId23" Type="http://schemas.openxmlformats.org/officeDocument/2006/relationships/tags" Target="../tags/tag232.xml"/><Relationship Id="rId10" Type="http://schemas.openxmlformats.org/officeDocument/2006/relationships/tags" Target="../tags/tag219.xml"/><Relationship Id="rId19" Type="http://schemas.openxmlformats.org/officeDocument/2006/relationships/tags" Target="../tags/tag228.xml"/><Relationship Id="rId4" Type="http://schemas.openxmlformats.org/officeDocument/2006/relationships/tags" Target="../tags/tag213.xml"/><Relationship Id="rId9" Type="http://schemas.openxmlformats.org/officeDocument/2006/relationships/tags" Target="../tags/tag218.xml"/><Relationship Id="rId14" Type="http://schemas.openxmlformats.org/officeDocument/2006/relationships/tags" Target="../tags/tag223.xml"/><Relationship Id="rId22" Type="http://schemas.openxmlformats.org/officeDocument/2006/relationships/tags" Target="../tags/tag2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609600" y="257175"/>
            <a:ext cx="1926476" cy="307467"/>
            <a:chOff x="609600" y="257175"/>
            <a:chExt cx="1926476" cy="307467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1"/>
              </p:custDataLst>
            </p:nvPr>
          </p:nvSpPr>
          <p:spPr>
            <a:xfrm>
              <a:off x="755523" y="314325"/>
              <a:ext cx="178055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2026 資安技術組 · 決賽</a:t>
              </a:r>
            </a:p>
          </p:txBody>
        </p:sp>
      </p:grpSp>
      <p:grpSp>
        <p:nvGrpSpPr>
          <p:cNvPr id="51" name="page-content"/>
          <p:cNvGrpSpPr/>
          <p:nvPr/>
        </p:nvGrpSpPr>
        <p:grpSpPr>
          <a:xfrm>
            <a:off x="593217" y="1558925"/>
            <a:ext cx="10619494" cy="4366815"/>
            <a:chOff x="593217" y="1558925"/>
            <a:chExt cx="10619494" cy="4366815"/>
          </a:xfrm>
        </p:grpSpPr>
        <p:sp>
          <p:nvSpPr>
            <p:cNvPr id="5" name="TextBox 5"/>
            <p:cNvSpPr txBox="1"/>
            <p:nvPr>
              <p:custDataLst>
                <p:tags r:id="rId3"/>
              </p:custDataLst>
            </p:nvPr>
          </p:nvSpPr>
          <p:spPr>
            <a:xfrm>
              <a:off x="593217" y="1558925"/>
              <a:ext cx="610143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融合新型內容相依時序方向模型</a:t>
              </a:r>
            </a:p>
          </p:txBody>
        </p:sp>
        <p:sp>
          <p:nvSpPr>
            <p:cNvPr id="6" name="TextBox 6"/>
            <p:cNvSpPr txBox="1"/>
            <p:nvPr>
              <p:custDataLst>
                <p:tags r:id="rId4"/>
              </p:custDataLst>
            </p:nvPr>
          </p:nvSpPr>
          <p:spPr>
            <a:xfrm>
              <a:off x="593217" y="2178050"/>
              <a:ext cx="653491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入侵偵測與任務導向檢索增強稽核</a:t>
              </a:r>
            </a:p>
          </p:txBody>
        </p:sp>
        <p:sp>
          <p:nvSpPr>
            <p:cNvPr id="7" name="TextBox 7"/>
            <p:cNvSpPr txBox="1"/>
            <p:nvPr>
              <p:custDataLst>
                <p:tags r:id="rId5"/>
              </p:custDataLst>
            </p:nvPr>
          </p:nvSpPr>
          <p:spPr>
            <a:xfrm>
              <a:off x="593217" y="2797175"/>
              <a:ext cx="306508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之</a:t>
              </a:r>
              <a:r>
                <a:rPr lang="en-US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</a:p>
          </p:txBody>
        </p:sp>
        <p:sp>
          <p:nvSpPr>
            <p:cNvPr id="8" name="TextBox 8"/>
            <p:cNvSpPr txBox="1"/>
            <p:nvPr>
              <p:custDataLst>
                <p:tags r:id="rId6"/>
              </p:custDataLst>
            </p:nvPr>
          </p:nvSpPr>
          <p:spPr>
            <a:xfrm>
              <a:off x="598932" y="3841750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從流量判定，走到有證據的處置。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715566" y="4877991"/>
              <a:ext cx="416719" cy="416719"/>
              <a:chOff x="715566" y="4877991"/>
              <a:chExt cx="416719" cy="416719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775097" y="4937522"/>
                <a:ext cx="297656" cy="297656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856952" y="5019377"/>
                <a:ext cx="133945" cy="133945"/>
              </a:xfrm>
              <a:prstGeom prst="roundRect">
                <a:avLst>
                  <a:gd name="adj" fmla="val 16667"/>
                </a:avLst>
              </a:prstGeom>
              <a:solidFill>
                <a:schemeClr val="accent3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15566" y="4877991"/>
                <a:ext cx="416719" cy="416719"/>
              </a:xfrm>
              <a:custGeom>
                <a:avLst/>
                <a:gdLst/>
                <a:ahLst/>
                <a:cxnLst/>
                <a:rect l="l" t="t" r="r" b="b"/>
                <a:pathLst>
                  <a:path w="416719" h="416719">
                    <a:moveTo>
                      <a:pt x="126504" y="0"/>
                    </a:moveTo>
                    <a:lnTo>
                      <a:pt x="126504" y="59531"/>
                    </a:lnTo>
                    <a:moveTo>
                      <a:pt x="208359" y="0"/>
                    </a:moveTo>
                    <a:lnTo>
                      <a:pt x="208359" y="59531"/>
                    </a:lnTo>
                    <a:moveTo>
                      <a:pt x="290215" y="0"/>
                    </a:moveTo>
                    <a:lnTo>
                      <a:pt x="290215" y="59531"/>
                    </a:lnTo>
                    <a:moveTo>
                      <a:pt x="126504" y="357188"/>
                    </a:moveTo>
                    <a:lnTo>
                      <a:pt x="126504" y="416719"/>
                    </a:lnTo>
                    <a:moveTo>
                      <a:pt x="208359" y="357188"/>
                    </a:moveTo>
                    <a:lnTo>
                      <a:pt x="208359" y="416719"/>
                    </a:lnTo>
                    <a:moveTo>
                      <a:pt x="290215" y="357188"/>
                    </a:moveTo>
                    <a:lnTo>
                      <a:pt x="290215" y="416719"/>
                    </a:lnTo>
                    <a:moveTo>
                      <a:pt x="0" y="126504"/>
                    </a:moveTo>
                    <a:lnTo>
                      <a:pt x="59531" y="126504"/>
                    </a:lnTo>
                    <a:moveTo>
                      <a:pt x="0" y="208359"/>
                    </a:moveTo>
                    <a:lnTo>
                      <a:pt x="59531" y="208359"/>
                    </a:lnTo>
                    <a:moveTo>
                      <a:pt x="0" y="290215"/>
                    </a:moveTo>
                    <a:lnTo>
                      <a:pt x="59531" y="290215"/>
                    </a:lnTo>
                    <a:moveTo>
                      <a:pt x="357188" y="126504"/>
                    </a:moveTo>
                    <a:lnTo>
                      <a:pt x="416719" y="126504"/>
                    </a:lnTo>
                    <a:moveTo>
                      <a:pt x="357188" y="208359"/>
                    </a:moveTo>
                    <a:lnTo>
                      <a:pt x="416719" y="208359"/>
                    </a:lnTo>
                    <a:moveTo>
                      <a:pt x="357188" y="290215"/>
                    </a:moveTo>
                    <a:lnTo>
                      <a:pt x="416719" y="290215"/>
                    </a:lnTo>
                  </a:path>
                </a:pathLst>
              </a:custGeom>
              <a:noFill/>
              <a:ln w="22324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4" name="TextBox 14"/>
            <p:cNvSpPr txBox="1"/>
            <p:nvPr>
              <p:custDataLst>
                <p:tags r:id="rId7"/>
              </p:custDataLst>
            </p:nvPr>
          </p:nvSpPr>
          <p:spPr>
            <a:xfrm>
              <a:off x="1401604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偵測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003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6574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7241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2852440" y="4892873"/>
              <a:ext cx="394395" cy="386953"/>
              <a:chOff x="2852440" y="4892873"/>
              <a:chExt cx="394395" cy="386953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2852440" y="4944963"/>
                <a:ext cx="282773" cy="297656"/>
              </a:xfrm>
              <a:custGeom>
                <a:avLst/>
                <a:gdLst/>
                <a:ahLst/>
                <a:cxnLst/>
                <a:rect l="l" t="t" r="r" b="b"/>
                <a:pathLst>
                  <a:path w="282773" h="297656">
                    <a:moveTo>
                      <a:pt x="0" y="0"/>
                    </a:moveTo>
                    <a:lnTo>
                      <a:pt x="0" y="230684"/>
                    </a:lnTo>
                    <a:cubicBezTo>
                      <a:pt x="0" y="297656"/>
                      <a:pt x="282773" y="297656"/>
                      <a:pt x="282773" y="230684"/>
                    </a:cubicBezTo>
                    <a:lnTo>
                      <a:pt x="282773" y="0"/>
                    </a:lnTo>
                  </a:path>
                </a:pathLst>
              </a:custGeom>
              <a:solidFill>
                <a:schemeClr val="lt1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19" name="Ellipse 19"/>
              <p:cNvSpPr/>
              <p:nvPr/>
            </p:nvSpPr>
            <p:spPr>
              <a:xfrm>
                <a:off x="2852440" y="4892873"/>
                <a:ext cx="282773" cy="104180"/>
              </a:xfrm>
              <a:prstGeom prst="ellipse">
                <a:avLst/>
              </a:prstGeom>
              <a:solidFill>
                <a:schemeClr val="lt1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852440" y="5049143"/>
                <a:ext cx="282773" cy="66973"/>
              </a:xfrm>
              <a:custGeom>
                <a:avLst/>
                <a:gdLst/>
                <a:ahLst/>
                <a:cxnLst/>
                <a:rect l="l" t="t" r="r" b="b"/>
                <a:pathLst>
                  <a:path w="282773" h="66973">
                    <a:moveTo>
                      <a:pt x="0" y="0"/>
                    </a:moveTo>
                    <a:cubicBezTo>
                      <a:pt x="0" y="66973"/>
                      <a:pt x="282773" y="66973"/>
                      <a:pt x="282773" y="0"/>
                    </a:cubicBezTo>
                  </a:path>
                </a:pathLst>
              </a:custGeom>
              <a:noFill/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3038475" y="5064026"/>
                <a:ext cx="163711" cy="163711"/>
              </a:xfrm>
              <a:prstGeom prst="ellipse">
                <a:avLst/>
              </a:prstGeom>
              <a:solidFill>
                <a:schemeClr val="accent3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179862" y="5205412"/>
                <a:ext cx="66973" cy="74414"/>
              </a:xfrm>
              <a:custGeom>
                <a:avLst/>
                <a:gdLst/>
                <a:ahLst/>
                <a:cxnLst/>
                <a:rect l="l" t="t" r="r" b="b"/>
                <a:pathLst>
                  <a:path w="66973" h="74414">
                    <a:moveTo>
                      <a:pt x="0" y="0"/>
                    </a:moveTo>
                    <a:lnTo>
                      <a:pt x="66973" y="74414"/>
                    </a:lnTo>
                  </a:path>
                </a:pathLst>
              </a:custGeom>
              <a:solidFill>
                <a:schemeClr val="lt1"/>
              </a:solidFill>
              <a:ln w="29766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4" name="TextBox 24"/>
            <p:cNvSpPr txBox="1"/>
            <p:nvPr>
              <p:custDataLst>
                <p:tags r:id="rId8"/>
              </p:custDataLst>
            </p:nvPr>
          </p:nvSpPr>
          <p:spPr>
            <a:xfrm>
              <a:off x="3516154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451485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77202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8387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995267" y="4881711"/>
              <a:ext cx="267891" cy="361653"/>
              <a:chOff x="4995267" y="4881711"/>
              <a:chExt cx="267891" cy="361653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995267" y="4881711"/>
                <a:ext cx="267891" cy="36165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6697">
                <a:solidFill>
                  <a:schemeClr val="accent1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5055543" y="496877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5055543" y="504244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5055543" y="511611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5055543" y="518978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</p:grpSp>
        <p:grpSp>
          <p:nvGrpSpPr>
            <p:cNvPr id="37" name="Group 37"/>
            <p:cNvGrpSpPr/>
            <p:nvPr/>
          </p:nvGrpSpPr>
          <p:grpSpPr>
            <a:xfrm>
              <a:off x="5202436" y="5135761"/>
              <a:ext cx="148828" cy="148828"/>
              <a:chOff x="5202436" y="5135761"/>
              <a:chExt cx="148828" cy="148828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5202436" y="5135761"/>
                <a:ext cx="148828" cy="148828"/>
              </a:xfrm>
              <a:prstGeom prst="ellipse">
                <a:avLst/>
              </a:prstGeom>
              <a:solidFill>
                <a:srgbClr val="EAF0F4"/>
              </a:solidFill>
              <a:ln w="7441">
                <a:solidFill>
                  <a:schemeClr val="accent1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5235178" y="5210175"/>
                <a:ext cx="29766" cy="29766"/>
              </a:xfrm>
              <a:custGeom>
                <a:avLst/>
                <a:gdLst/>
                <a:ahLst/>
                <a:cxnLst/>
                <a:rect l="l" t="t" r="r" b="b"/>
                <a:pathLst>
                  <a:path w="29766" h="29766">
                    <a:moveTo>
                      <a:pt x="0" y="0"/>
                    </a:moveTo>
                    <a:lnTo>
                      <a:pt x="29766" y="29766"/>
                    </a:lnTo>
                  </a:path>
                </a:pathLst>
              </a:custGeom>
              <a:noFill/>
              <a:ln w="11906" cap="rnd">
                <a:solidFill>
                  <a:schemeClr val="accent1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5264944" y="5177433"/>
                <a:ext cx="56555" cy="62508"/>
              </a:xfrm>
              <a:custGeom>
                <a:avLst/>
                <a:gdLst/>
                <a:ahLst/>
                <a:cxnLst/>
                <a:rect l="l" t="t" r="r" b="b"/>
                <a:pathLst>
                  <a:path w="56555" h="62508">
                    <a:moveTo>
                      <a:pt x="0" y="62508"/>
                    </a:moveTo>
                    <a:lnTo>
                      <a:pt x="56555" y="0"/>
                    </a:lnTo>
                  </a:path>
                </a:pathLst>
              </a:custGeom>
              <a:noFill/>
              <a:ln w="11906" cap="rnd">
                <a:solidFill>
                  <a:schemeClr val="accent1"/>
                </a:solidFill>
              </a:ln>
            </p:spPr>
          </p:sp>
        </p:grpSp>
        <p:sp>
          <p:nvSpPr>
            <p:cNvPr id="38" name="TextBox 38"/>
            <p:cNvSpPr txBox="1"/>
            <p:nvPr>
              <p:custDataLst>
                <p:tags r:id="rId9"/>
              </p:custDataLst>
            </p:nvPr>
          </p:nvSpPr>
          <p:spPr>
            <a:xfrm>
              <a:off x="5630704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6294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68865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9532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111305" y="4885432"/>
              <a:ext cx="349746" cy="409277"/>
              <a:chOff x="7111305" y="4885432"/>
              <a:chExt cx="349746" cy="409277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111305" y="4885432"/>
                <a:ext cx="312539" cy="401836"/>
              </a:xfrm>
              <a:custGeom>
                <a:avLst/>
                <a:gdLst/>
                <a:ahLst/>
                <a:cxnLst/>
                <a:rect l="l" t="t" r="r" b="b"/>
                <a:pathLst>
                  <a:path w="312539" h="401836">
                    <a:moveTo>
                      <a:pt x="156270" y="0"/>
                    </a:moveTo>
                    <a:lnTo>
                      <a:pt x="312539" y="66973"/>
                    </a:lnTo>
                    <a:lnTo>
                      <a:pt x="312539" y="186035"/>
                    </a:lnTo>
                    <a:cubicBezTo>
                      <a:pt x="312539" y="282773"/>
                      <a:pt x="238125" y="349746"/>
                      <a:pt x="156270" y="401836"/>
                    </a:cubicBezTo>
                    <a:cubicBezTo>
                      <a:pt x="74414" y="349746"/>
                      <a:pt x="0" y="282773"/>
                      <a:pt x="0" y="186035"/>
                    </a:cubicBezTo>
                    <a:lnTo>
                      <a:pt x="0" y="66973"/>
                    </a:lnTo>
                    <a:close/>
                  </a:path>
                </a:pathLst>
              </a:custGeom>
              <a:solidFill>
                <a:schemeClr val="lt1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185720" y="5011936"/>
                <a:ext cx="171152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171152" h="119062">
                    <a:moveTo>
                      <a:pt x="0" y="59531"/>
                    </a:moveTo>
                    <a:lnTo>
                      <a:pt x="59531" y="119062"/>
                    </a:lnTo>
                    <a:lnTo>
                      <a:pt x="171152" y="0"/>
                    </a:lnTo>
                  </a:path>
                </a:pathLst>
              </a:custGeom>
              <a:noFill/>
              <a:ln w="29766" cap="rnd">
                <a:solidFill>
                  <a:schemeClr val="accent1"/>
                </a:solidFill>
                <a:round/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364313" y="5168205"/>
                <a:ext cx="96738" cy="126504"/>
              </a:xfrm>
              <a:custGeom>
                <a:avLst/>
                <a:gdLst/>
                <a:ahLst/>
                <a:cxnLst/>
                <a:rect l="l" t="t" r="r" b="b"/>
                <a:pathLst>
                  <a:path w="96738" h="126504">
                    <a:moveTo>
                      <a:pt x="22324" y="0"/>
                    </a:moveTo>
                    <a:lnTo>
                      <a:pt x="96738" y="0"/>
                    </a:lnTo>
                    <a:lnTo>
                      <a:pt x="96738" y="89297"/>
                    </a:lnTo>
                    <a:lnTo>
                      <a:pt x="0" y="89297"/>
                    </a:lnTo>
                    <a:moveTo>
                      <a:pt x="37207" y="52090"/>
                    </a:moveTo>
                    <a:lnTo>
                      <a:pt x="0" y="89297"/>
                    </a:lnTo>
                    <a:lnTo>
                      <a:pt x="37207" y="126504"/>
                    </a:lnTo>
                  </a:path>
                </a:pathLst>
              </a:custGeom>
              <a:noFill/>
              <a:ln w="22324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46" name="TextBox 46"/>
            <p:cNvSpPr txBox="1"/>
            <p:nvPr>
              <p:custDataLst>
                <p:tags r:id="rId10"/>
              </p:custDataLst>
            </p:nvPr>
          </p:nvSpPr>
          <p:spPr>
            <a:xfrm>
              <a:off x="7745254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回復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9659838" y="4108549"/>
              <a:ext cx="1552873" cy="1817191"/>
              <a:chOff x="9659838" y="4108549"/>
              <a:chExt cx="1552873" cy="1817191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9659838" y="4108549"/>
                <a:ext cx="1387673" cy="1784152"/>
              </a:xfrm>
              <a:custGeom>
                <a:avLst/>
                <a:gdLst/>
                <a:ahLst/>
                <a:cxnLst/>
                <a:rect l="l" t="t" r="r" b="b"/>
                <a:pathLst>
                  <a:path w="1387673" h="1784152">
                    <a:moveTo>
                      <a:pt x="693837" y="0"/>
                    </a:moveTo>
                    <a:lnTo>
                      <a:pt x="1387673" y="297359"/>
                    </a:lnTo>
                    <a:lnTo>
                      <a:pt x="1387673" y="825996"/>
                    </a:lnTo>
                    <a:cubicBezTo>
                      <a:pt x="1387673" y="1255514"/>
                      <a:pt x="1057275" y="1552873"/>
                      <a:pt x="693837" y="1784152"/>
                    </a:cubicBezTo>
                    <a:cubicBezTo>
                      <a:pt x="330398" y="1552873"/>
                      <a:pt x="0" y="1255514"/>
                      <a:pt x="0" y="825996"/>
                    </a:cubicBezTo>
                    <a:lnTo>
                      <a:pt x="0" y="297359"/>
                    </a:lnTo>
                    <a:close/>
                  </a:path>
                </a:pathLst>
              </a:custGeom>
              <a:solidFill>
                <a:schemeClr val="lt1"/>
              </a:solidFill>
              <a:ln w="99120" cap="rnd">
                <a:solidFill>
                  <a:schemeClr val="accent1"/>
                </a:solidFill>
                <a:round/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9990237" y="4670227"/>
                <a:ext cx="759916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759916" h="528638">
                    <a:moveTo>
                      <a:pt x="0" y="264319"/>
                    </a:moveTo>
                    <a:lnTo>
                      <a:pt x="264319" y="528638"/>
                    </a:lnTo>
                    <a:lnTo>
                      <a:pt x="759916" y="0"/>
                    </a:lnTo>
                  </a:path>
                </a:pathLst>
              </a:custGeom>
              <a:noFill/>
              <a:ln w="132159" cap="rnd">
                <a:solidFill>
                  <a:schemeClr val="accent1"/>
                </a:solidFill>
                <a:round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0783193" y="5364063"/>
                <a:ext cx="429518" cy="561677"/>
              </a:xfrm>
              <a:custGeom>
                <a:avLst/>
                <a:gdLst/>
                <a:ahLst/>
                <a:cxnLst/>
                <a:rect l="l" t="t" r="r" b="b"/>
                <a:pathLst>
                  <a:path w="429518" h="561677">
                    <a:moveTo>
                      <a:pt x="99120" y="0"/>
                    </a:moveTo>
                    <a:lnTo>
                      <a:pt x="429518" y="0"/>
                    </a:lnTo>
                    <a:lnTo>
                      <a:pt x="429518" y="396478"/>
                    </a:lnTo>
                    <a:lnTo>
                      <a:pt x="0" y="396478"/>
                    </a:lnTo>
                    <a:moveTo>
                      <a:pt x="165199" y="231279"/>
                    </a:moveTo>
                    <a:lnTo>
                      <a:pt x="0" y="396478"/>
                    </a:lnTo>
                    <a:lnTo>
                      <a:pt x="165199" y="561677"/>
                    </a:lnTo>
                  </a:path>
                </a:pathLst>
              </a:custGeom>
              <a:noFill/>
              <a:ln w="99120" cap="rnd">
                <a:solidFill>
                  <a:schemeClr val="accent1"/>
                </a:solidFill>
                <a:round/>
              </a:ln>
            </p:spPr>
          </p:sp>
        </p:grpSp>
      </p:grpSp>
      <p:grpSp>
        <p:nvGrpSpPr>
          <p:cNvPr id="55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52" name="Line 52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53" name="TextBox 53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4" name="TextBox 54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01 / 09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peningFilm_30s_Embedded">
            <a:hlinkClick r:id="" action="ppaction://media"/>
            <a:extLst>
              <a:ext uri="{FF2B5EF4-FFF2-40B4-BE49-F238E27FC236}">
                <a16:creationId xmlns:a16="http://schemas.microsoft.com/office/drawing/2014/main" id="{2DF7044A-F50A-4404-86F6-C4039600A46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696587" cy="1082802"/>
            <a:chOff x="593598" y="257175"/>
            <a:chExt cx="4696587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32"/>
              </p:custDataLst>
            </p:nvPr>
          </p:nvSpPr>
          <p:spPr>
            <a:xfrm>
              <a:off x="755523" y="314325"/>
              <a:ext cx="154810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FRAMEWORK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33"/>
              </p:custDataLst>
            </p:nvPr>
          </p:nvSpPr>
          <p:spPr>
            <a:xfrm>
              <a:off x="593598" y="7239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一個框架，四個連續階段</a:t>
              </a:r>
            </a:p>
          </p:txBody>
        </p:sp>
      </p:grpSp>
      <p:grpSp>
        <p:nvGrpSpPr>
          <p:cNvPr id="88" name="page-content"/>
          <p:cNvGrpSpPr/>
          <p:nvPr/>
        </p:nvGrpSpPr>
        <p:grpSpPr>
          <a:xfrm>
            <a:off x="47625" y="1504950"/>
            <a:ext cx="11991975" cy="4824857"/>
            <a:chOff x="47625" y="1504950"/>
            <a:chExt cx="11991975" cy="4824857"/>
          </a:xfrm>
        </p:grpSpPr>
        <p:sp>
          <p:nvSpPr>
            <p:cNvPr id="6" name="Rectangle 6"/>
            <p:cNvSpPr/>
            <p:nvPr/>
          </p:nvSpPr>
          <p:spPr>
            <a:xfrm>
              <a:off x="152400" y="1504950"/>
              <a:ext cx="21526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314706" y="1593850"/>
              <a:ext cx="1179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流量表徵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1824930" y="1568351"/>
              <a:ext cx="293490" cy="268188"/>
              <a:chOff x="1824930" y="1568351"/>
              <a:chExt cx="293490" cy="268188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1870472" y="1568351"/>
                <a:ext cx="202406" cy="101203"/>
              </a:xfrm>
              <a:prstGeom prst="roundRect">
                <a:avLst>
                  <a:gd name="adj" fmla="val 20000"/>
                </a:avLst>
              </a:prstGeom>
              <a:solidFill>
                <a:schemeClr val="lt1"/>
              </a:solidFill>
              <a:ln w="15180" cap="rnd">
                <a:solidFill>
                  <a:schemeClr val="accent1"/>
                </a:solidFill>
                <a:round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860352" y="1669554"/>
                <a:ext cx="222647" cy="101203"/>
              </a:xfrm>
              <a:custGeom>
                <a:avLst/>
                <a:gdLst/>
                <a:ahLst/>
                <a:cxnLst/>
                <a:rect l="l" t="t" r="r" b="b"/>
                <a:pathLst>
                  <a:path w="222647" h="101203">
                    <a:moveTo>
                      <a:pt x="111323" y="0"/>
                    </a:moveTo>
                    <a:lnTo>
                      <a:pt x="111323" y="65782"/>
                    </a:lnTo>
                    <a:moveTo>
                      <a:pt x="0" y="65782"/>
                    </a:moveTo>
                    <a:lnTo>
                      <a:pt x="222647" y="65782"/>
                    </a:lnTo>
                    <a:moveTo>
                      <a:pt x="0" y="65782"/>
                    </a:moveTo>
                    <a:lnTo>
                      <a:pt x="0" y="101203"/>
                    </a:lnTo>
                    <a:moveTo>
                      <a:pt x="111323" y="65782"/>
                    </a:moveTo>
                    <a:lnTo>
                      <a:pt x="111323" y="101203"/>
                    </a:lnTo>
                    <a:moveTo>
                      <a:pt x="222647" y="65782"/>
                    </a:moveTo>
                    <a:lnTo>
                      <a:pt x="222647" y="101203"/>
                    </a:lnTo>
                  </a:path>
                </a:pathLst>
              </a:custGeom>
              <a:noFill/>
              <a:ln w="15180" cap="rnd">
                <a:solidFill>
                  <a:schemeClr val="accent1"/>
                </a:solidFill>
                <a:round/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1824930" y="1770757"/>
                <a:ext cx="70842" cy="65782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5180" cap="rnd">
                <a:solidFill>
                  <a:schemeClr val="accent1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1936254" y="1770757"/>
                <a:ext cx="70842" cy="65782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5180" cap="rnd">
                <a:solidFill>
                  <a:schemeClr val="accent1"/>
                </a:solidFill>
                <a:round/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2047577" y="1770757"/>
                <a:ext cx="70842" cy="65782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5180" cap="rnd">
                <a:solidFill>
                  <a:schemeClr val="accent1"/>
                </a:solidFill>
                <a:round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910953" y="1618952"/>
                <a:ext cx="12144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1444" h="9525">
                    <a:moveTo>
                      <a:pt x="0" y="0"/>
                    </a:moveTo>
                    <a:lnTo>
                      <a:pt x="121444" y="0"/>
                    </a:lnTo>
                  </a:path>
                </a:pathLst>
              </a:custGeom>
              <a:solidFill>
                <a:schemeClr val="lt1"/>
              </a:solidFill>
              <a:ln w="15180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5" name="TextBox 15"/>
            <p:cNvSpPr txBox="1"/>
            <p:nvPr>
              <p:custDataLst>
                <p:tags r:id="rId4"/>
              </p:custDataLst>
            </p:nvPr>
          </p:nvSpPr>
          <p:spPr>
            <a:xfrm>
              <a:off x="315849" y="2085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真實前處理張量</a:t>
              </a:r>
            </a:p>
          </p:txBody>
        </p:sp>
        <p:sp>
          <p:nvSpPr>
            <p:cNvPr id="16" name="TextBox 16"/>
            <p:cNvSpPr txBox="1"/>
            <p:nvPr>
              <p:custDataLst>
                <p:tags r:id="rId5"/>
              </p:custDataLst>
            </p:nvPr>
          </p:nvSpPr>
          <p:spPr>
            <a:xfrm>
              <a:off x="315468" y="25019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7" name="TextBox 17"/>
            <p:cNvSpPr txBox="1"/>
            <p:nvPr>
              <p:custDataLst>
                <p:tags r:id="rId6"/>
              </p:custDataLst>
            </p:nvPr>
          </p:nvSpPr>
          <p:spPr>
            <a:xfrm>
              <a:off x="315468" y="2806700"/>
              <a:ext cx="12055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時間差·方向</a:t>
              </a:r>
            </a:p>
          </p:txBody>
        </p:sp>
        <p:sp>
          <p:nvSpPr>
            <p:cNvPr id="18" name="TextBox 18"/>
            <p:cNvSpPr txBox="1"/>
            <p:nvPr>
              <p:custDataLst>
                <p:tags r:id="rId7"/>
              </p:custDataLst>
            </p:nvPr>
          </p:nvSpPr>
          <p:spPr>
            <a:xfrm>
              <a:off x="316230" y="3117850"/>
              <a:ext cx="17017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遮罩欄位·流量切窗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533650" y="1504950"/>
              <a:ext cx="95059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2707481" y="1583531"/>
              <a:ext cx="300038" cy="300038"/>
              <a:chOff x="2707481" y="1583531"/>
              <a:chExt cx="300038" cy="300038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2750344" y="1626394"/>
                <a:ext cx="214312" cy="214312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2809280" y="1685330"/>
                <a:ext cx="96441" cy="96441"/>
              </a:xfrm>
              <a:prstGeom prst="roundRect">
                <a:avLst>
                  <a:gd name="adj" fmla="val 16667"/>
                </a:avLst>
              </a:prstGeom>
              <a:solidFill>
                <a:schemeClr val="accent3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2707481" y="1583531"/>
                <a:ext cx="300038" cy="300038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300038">
                    <a:moveTo>
                      <a:pt x="91083" y="0"/>
                    </a:moveTo>
                    <a:lnTo>
                      <a:pt x="91083" y="42862"/>
                    </a:lnTo>
                    <a:moveTo>
                      <a:pt x="150019" y="0"/>
                    </a:moveTo>
                    <a:lnTo>
                      <a:pt x="150019" y="42862"/>
                    </a:lnTo>
                    <a:moveTo>
                      <a:pt x="208955" y="0"/>
                    </a:moveTo>
                    <a:lnTo>
                      <a:pt x="208955" y="42862"/>
                    </a:lnTo>
                    <a:moveTo>
                      <a:pt x="91083" y="257175"/>
                    </a:moveTo>
                    <a:lnTo>
                      <a:pt x="91083" y="300038"/>
                    </a:lnTo>
                    <a:moveTo>
                      <a:pt x="150019" y="257175"/>
                    </a:moveTo>
                    <a:lnTo>
                      <a:pt x="150019" y="300038"/>
                    </a:lnTo>
                    <a:moveTo>
                      <a:pt x="208955" y="257175"/>
                    </a:moveTo>
                    <a:lnTo>
                      <a:pt x="208955" y="300038"/>
                    </a:lnTo>
                    <a:moveTo>
                      <a:pt x="0" y="91083"/>
                    </a:moveTo>
                    <a:lnTo>
                      <a:pt x="42862" y="91083"/>
                    </a:lnTo>
                    <a:moveTo>
                      <a:pt x="0" y="150019"/>
                    </a:moveTo>
                    <a:lnTo>
                      <a:pt x="42862" y="150019"/>
                    </a:lnTo>
                    <a:moveTo>
                      <a:pt x="0" y="208955"/>
                    </a:moveTo>
                    <a:lnTo>
                      <a:pt x="42862" y="208955"/>
                    </a:lnTo>
                    <a:moveTo>
                      <a:pt x="257175" y="91083"/>
                    </a:moveTo>
                    <a:lnTo>
                      <a:pt x="300038" y="91083"/>
                    </a:lnTo>
                    <a:moveTo>
                      <a:pt x="257175" y="150019"/>
                    </a:moveTo>
                    <a:lnTo>
                      <a:pt x="300038" y="150019"/>
                    </a:lnTo>
                    <a:moveTo>
                      <a:pt x="257175" y="208955"/>
                    </a:moveTo>
                    <a:lnTo>
                      <a:pt x="300038" y="208955"/>
                    </a:lnTo>
                  </a:path>
                </a:pathLst>
              </a:custGeom>
              <a:noFill/>
              <a:ln w="16073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4" name="TextBox 24"/>
            <p:cNvSpPr txBox="1"/>
            <p:nvPr>
              <p:custDataLst>
                <p:tags r:id="rId8"/>
              </p:custDataLst>
            </p:nvPr>
          </p:nvSpPr>
          <p:spPr>
            <a:xfrm>
              <a:off x="3115056" y="1593850"/>
              <a:ext cx="25472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b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互補模型與 17 類判定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781300" y="201930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26" name="TextBox 26"/>
            <p:cNvSpPr txBox="1"/>
            <p:nvPr>
              <p:custDataLst>
                <p:tags r:id="rId9"/>
              </p:custDataLst>
            </p:nvPr>
          </p:nvSpPr>
          <p:spPr>
            <a:xfrm>
              <a:off x="2943606" y="2051050"/>
              <a:ext cx="950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27" name="TextBox 27"/>
            <p:cNvSpPr txBox="1"/>
            <p:nvPr>
              <p:custDataLst>
                <p:tags r:id="rId10"/>
              </p:custDataLst>
            </p:nvPr>
          </p:nvSpPr>
          <p:spPr>
            <a:xfrm>
              <a:off x="2945130" y="2317750"/>
              <a:ext cx="15708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內容·時間差·方向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2781300" y="276225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29" name="TextBox 29"/>
            <p:cNvSpPr txBox="1"/>
            <p:nvPr>
              <p:custDataLst>
                <p:tags r:id="rId11"/>
              </p:custDataLst>
            </p:nvPr>
          </p:nvSpPr>
          <p:spPr>
            <a:xfrm>
              <a:off x="2943606" y="2794000"/>
              <a:ext cx="10891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30" name="TextBox 30"/>
            <p:cNvSpPr txBox="1"/>
            <p:nvPr>
              <p:custDataLst>
                <p:tags r:id="rId12"/>
              </p:custDataLst>
            </p:nvPr>
          </p:nvSpPr>
          <p:spPr>
            <a:xfrm>
              <a:off x="2945130" y="30607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2209800"/>
              <a:ext cx="264795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32" name="TextBox 32"/>
            <p:cNvSpPr txBox="1"/>
            <p:nvPr>
              <p:custDataLst>
                <p:tags r:id="rId13"/>
              </p:custDataLst>
            </p:nvPr>
          </p:nvSpPr>
          <p:spPr>
            <a:xfrm>
              <a:off x="6486906" y="2308225"/>
              <a:ext cx="20301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33" name="TextBox 33"/>
            <p:cNvSpPr txBox="1"/>
            <p:nvPr>
              <p:custDataLst>
                <p:tags r:id="rId14"/>
              </p:custDataLst>
            </p:nvPr>
          </p:nvSpPr>
          <p:spPr>
            <a:xfrm>
              <a:off x="6487668" y="26733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201150" y="2209800"/>
              <a:ext cx="262890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35" name="TextBox 35"/>
            <p:cNvSpPr txBox="1"/>
            <p:nvPr>
              <p:custDataLst>
                <p:tags r:id="rId15"/>
              </p:custDataLst>
            </p:nvPr>
          </p:nvSpPr>
          <p:spPr>
            <a:xfrm>
              <a:off x="9382506" y="2308225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類正式判定</a:t>
              </a:r>
            </a:p>
          </p:txBody>
        </p:sp>
        <p:sp>
          <p:nvSpPr>
            <p:cNvPr id="36" name="TextBox 36"/>
            <p:cNvSpPr txBox="1"/>
            <p:nvPr>
              <p:custDataLst>
                <p:tags r:id="rId16"/>
              </p:custDataLst>
            </p:nvPr>
          </p:nvSpPr>
          <p:spPr>
            <a:xfrm>
              <a:off x="9384030" y="2698750"/>
              <a:ext cx="2068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維表徵＋17 維機率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2305050" y="2305050"/>
              <a:ext cx="476250" cy="171450"/>
            </a:xfrm>
            <a:custGeom>
              <a:avLst/>
              <a:gdLst/>
              <a:ahLst/>
              <a:cxnLst/>
              <a:rect l="l" t="t" r="r" b="b"/>
              <a:pathLst>
                <a:path w="476250" h="171450">
                  <a:moveTo>
                    <a:pt x="0" y="171450"/>
                  </a:moveTo>
                  <a:lnTo>
                    <a:pt x="361950" y="171450"/>
                  </a:lnTo>
                  <a:lnTo>
                    <a:pt x="361950" y="0"/>
                  </a:ln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2714625" y="2257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2667000" y="2476500"/>
              <a:ext cx="114300" cy="571500"/>
            </a:xfrm>
            <a:custGeom>
              <a:avLst/>
              <a:gdLst/>
              <a:ahLst/>
              <a:cxnLst/>
              <a:rect l="l" t="t" r="r" b="b"/>
              <a:pathLst>
                <a:path w="114300" h="571500">
                  <a:moveTo>
                    <a:pt x="0" y="0"/>
                  </a:moveTo>
                  <a:lnTo>
                    <a:pt x="0" y="571500"/>
                  </a:lnTo>
                  <a:lnTo>
                    <a:pt x="114300" y="5715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2714625" y="30003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5638800" y="2305050"/>
              <a:ext cx="647700" cy="333375"/>
            </a:xfrm>
            <a:custGeom>
              <a:avLst/>
              <a:gdLst/>
              <a:ahLst/>
              <a:cxnLst/>
              <a:rect l="l" t="t" r="r" b="b"/>
              <a:pathLst>
                <a:path w="647700" h="333375">
                  <a:moveTo>
                    <a:pt x="0" y="0"/>
                  </a:moveTo>
                  <a:lnTo>
                    <a:pt x="314325" y="0"/>
                  </a:lnTo>
                  <a:lnTo>
                    <a:pt x="314325" y="333375"/>
                  </a:lnTo>
                  <a:lnTo>
                    <a:pt x="647700" y="33337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5638800" y="2638425"/>
              <a:ext cx="647700" cy="409575"/>
            </a:xfrm>
            <a:custGeom>
              <a:avLst/>
              <a:gdLst/>
              <a:ahLst/>
              <a:cxnLst/>
              <a:rect l="l" t="t" r="r" b="b"/>
              <a:pathLst>
                <a:path w="647700" h="409575">
                  <a:moveTo>
                    <a:pt x="0" y="409575"/>
                  </a:moveTo>
                  <a:lnTo>
                    <a:pt x="314325" y="409575"/>
                  </a:lnTo>
                  <a:lnTo>
                    <a:pt x="314325" y="0"/>
                  </a:ln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8934450" y="263842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913447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152400" y="4038600"/>
              <a:ext cx="80010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361355" y="4127897"/>
              <a:ext cx="283963" cy="278606"/>
              <a:chOff x="361355" y="4127897"/>
              <a:chExt cx="283963" cy="278606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61355" y="4165402"/>
                <a:ext cx="203597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03597" h="214312">
                    <a:moveTo>
                      <a:pt x="0" y="0"/>
                    </a:moveTo>
                    <a:lnTo>
                      <a:pt x="0" y="166092"/>
                    </a:lnTo>
                    <a:cubicBezTo>
                      <a:pt x="0" y="214312"/>
                      <a:pt x="203597" y="214312"/>
                      <a:pt x="203597" y="166092"/>
                    </a:cubicBezTo>
                    <a:lnTo>
                      <a:pt x="203597" y="0"/>
                    </a:lnTo>
                  </a:path>
                </a:pathLst>
              </a:custGeom>
              <a:solidFill>
                <a:schemeClr val="lt1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49" name="Ellipse 49"/>
              <p:cNvSpPr/>
              <p:nvPr/>
            </p:nvSpPr>
            <p:spPr>
              <a:xfrm>
                <a:off x="361355" y="4127897"/>
                <a:ext cx="203597" cy="75009"/>
              </a:xfrm>
              <a:prstGeom prst="ellipse">
                <a:avLst/>
              </a:prstGeom>
              <a:solidFill>
                <a:schemeClr val="lt1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361355" y="4240411"/>
                <a:ext cx="203597" cy="48220"/>
              </a:xfrm>
              <a:custGeom>
                <a:avLst/>
                <a:gdLst/>
                <a:ahLst/>
                <a:cxnLst/>
                <a:rect l="l" t="t" r="r" b="b"/>
                <a:pathLst>
                  <a:path w="203597" h="48220">
                    <a:moveTo>
                      <a:pt x="0" y="0"/>
                    </a:moveTo>
                    <a:cubicBezTo>
                      <a:pt x="0" y="48220"/>
                      <a:pt x="203597" y="48220"/>
                      <a:pt x="203597" y="0"/>
                    </a:cubicBezTo>
                  </a:path>
                </a:pathLst>
              </a:custGeom>
              <a:noFill/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51" name="Ellipse 51"/>
              <p:cNvSpPr/>
              <p:nvPr/>
            </p:nvSpPr>
            <p:spPr>
              <a:xfrm>
                <a:off x="495300" y="4251127"/>
                <a:ext cx="117872" cy="117872"/>
              </a:xfrm>
              <a:prstGeom prst="ellipse">
                <a:avLst/>
              </a:prstGeom>
              <a:solidFill>
                <a:schemeClr val="accent3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597098" y="4352925"/>
                <a:ext cx="48220" cy="53578"/>
              </a:xfrm>
              <a:custGeom>
                <a:avLst/>
                <a:gdLst/>
                <a:ahLst/>
                <a:cxnLst/>
                <a:rect l="l" t="t" r="r" b="b"/>
                <a:pathLst>
                  <a:path w="48220" h="53578">
                    <a:moveTo>
                      <a:pt x="0" y="0"/>
                    </a:moveTo>
                    <a:lnTo>
                      <a:pt x="48220" y="53578"/>
                    </a:lnTo>
                  </a:path>
                </a:pathLst>
              </a:custGeom>
              <a:solidFill>
                <a:schemeClr val="lt1"/>
              </a:solidFill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54" name="TextBox 54"/>
            <p:cNvSpPr txBox="1"/>
            <p:nvPr>
              <p:custDataLst>
                <p:tags r:id="rId17"/>
              </p:custDataLst>
            </p:nvPr>
          </p:nvSpPr>
          <p:spPr>
            <a:xfrm>
              <a:off x="752856" y="4127500"/>
              <a:ext cx="28777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任務導向檢索與</a:t>
              </a:r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381000" y="4591050"/>
              <a:ext cx="180975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56" name="TextBox 56"/>
            <p:cNvSpPr txBox="1"/>
            <p:nvPr>
              <p:custDataLst>
                <p:tags r:id="rId18"/>
              </p:custDataLst>
            </p:nvPr>
          </p:nvSpPr>
          <p:spPr>
            <a:xfrm>
              <a:off x="505968" y="4711700"/>
              <a:ext cx="1538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57" name="TextBox 57"/>
            <p:cNvSpPr txBox="1"/>
            <p:nvPr>
              <p:custDataLst>
                <p:tags r:id="rId19"/>
              </p:custDataLst>
            </p:nvPr>
          </p:nvSpPr>
          <p:spPr>
            <a:xfrm>
              <a:off x="506730" y="5032375"/>
              <a:ext cx="973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2476500" y="4591050"/>
              <a:ext cx="23241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59" name="TextBox 59"/>
            <p:cNvSpPr txBox="1"/>
            <p:nvPr>
              <p:custDataLst>
                <p:tags r:id="rId20"/>
              </p:custDataLst>
            </p:nvPr>
          </p:nvSpPr>
          <p:spPr>
            <a:xfrm>
              <a:off x="2601468" y="4711700"/>
              <a:ext cx="16109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60" name="TextBox 60"/>
            <p:cNvSpPr txBox="1"/>
            <p:nvPr>
              <p:custDataLst>
                <p:tags r:id="rId21"/>
              </p:custDataLst>
            </p:nvPr>
          </p:nvSpPr>
          <p:spPr>
            <a:xfrm>
              <a:off x="2602230" y="50323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僅訓練資料案例庫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143500" y="4591050"/>
              <a:ext cx="27813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62" name="TextBox 62"/>
            <p:cNvSpPr txBox="1"/>
            <p:nvPr>
              <p:custDataLst>
                <p:tags r:id="rId22"/>
              </p:custDataLst>
            </p:nvPr>
          </p:nvSpPr>
          <p:spPr>
            <a:xfrm>
              <a:off x="5268468" y="4711700"/>
              <a:ext cx="1364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3" name="TextBox 63"/>
            <p:cNvSpPr txBox="1"/>
            <p:nvPr>
              <p:custDataLst>
                <p:tags r:id="rId23"/>
              </p:custDataLst>
            </p:nvPr>
          </p:nvSpPr>
          <p:spPr>
            <a:xfrm>
              <a:off x="5269230" y="50323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47625" y="3067050"/>
              <a:ext cx="10467975" cy="1914525"/>
            </a:xfrm>
            <a:custGeom>
              <a:avLst/>
              <a:gdLst/>
              <a:ahLst/>
              <a:cxnLst/>
              <a:rect l="l" t="t" r="r" b="b"/>
              <a:pathLst>
                <a:path w="10467975" h="1914525">
                  <a:moveTo>
                    <a:pt x="10467975" y="0"/>
                  </a:moveTo>
                  <a:lnTo>
                    <a:pt x="10467975" y="657225"/>
                  </a:lnTo>
                  <a:lnTo>
                    <a:pt x="0" y="657225"/>
                  </a:lnTo>
                  <a:lnTo>
                    <a:pt x="0" y="1914525"/>
                  </a:lnTo>
                  <a:lnTo>
                    <a:pt x="333375" y="191452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314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6" name="TextBox 66"/>
            <p:cNvSpPr txBox="1"/>
            <p:nvPr>
              <p:custDataLst>
                <p:tags r:id="rId24"/>
              </p:custDataLst>
            </p:nvPr>
          </p:nvSpPr>
          <p:spPr>
            <a:xfrm>
              <a:off x="4682155" y="3435350"/>
              <a:ext cx="23943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正式類別·信心·模型表徵</a:t>
              </a:r>
            </a:p>
          </p:txBody>
        </p:sp>
        <p:sp>
          <p:nvSpPr>
            <p:cNvPr id="67" name="Freeform 67"/>
            <p:cNvSpPr/>
            <p:nvPr/>
          </p:nvSpPr>
          <p:spPr>
            <a:xfrm>
              <a:off x="2190750" y="49815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2409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4800600" y="49815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5076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71" name="TextBox 71"/>
            <p:cNvSpPr txBox="1"/>
            <p:nvPr>
              <p:custDataLst>
                <p:tags r:id="rId25"/>
              </p:custDataLst>
            </p:nvPr>
          </p:nvSpPr>
          <p:spPr>
            <a:xfrm>
              <a:off x="3083242" y="549910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72" name="Freeform 72"/>
            <p:cNvSpPr/>
            <p:nvPr/>
          </p:nvSpPr>
          <p:spPr>
            <a:xfrm>
              <a:off x="3619500" y="53721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1143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53666E"/>
              </a:solidFill>
              <a:custDash>
                <a:ds d="250000" sp="200000"/>
              </a:custDash>
            </a:ln>
          </p:spPr>
        </p:sp>
        <p:sp>
          <p:nvSpPr>
            <p:cNvPr id="73" name="Freeform 73"/>
            <p:cNvSpPr/>
            <p:nvPr/>
          </p:nvSpPr>
          <p:spPr>
            <a:xfrm>
              <a:off x="3571875" y="537210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19050">
              <a:solidFill>
                <a:srgbClr val="53666E"/>
              </a:solidFill>
            </a:ln>
          </p:spPr>
        </p:sp>
        <p:sp>
          <p:nvSpPr>
            <p:cNvPr id="74" name="TextBox 74"/>
            <p:cNvSpPr txBox="1"/>
            <p:nvPr>
              <p:custDataLst>
                <p:tags r:id="rId26"/>
              </p:custDataLst>
            </p:nvPr>
          </p:nvSpPr>
          <p:spPr>
            <a:xfrm>
              <a:off x="5269230" y="549910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稽核保留正式分類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8382000" y="4038600"/>
              <a:ext cx="36576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grpSp>
          <p:nvGrpSpPr>
            <p:cNvPr id="79" name="Group 79"/>
            <p:cNvGrpSpPr/>
            <p:nvPr/>
          </p:nvGrpSpPr>
          <p:grpSpPr>
            <a:xfrm>
              <a:off x="8612386" y="4113014"/>
              <a:ext cx="251818" cy="294680"/>
              <a:chOff x="8612386" y="4113014"/>
              <a:chExt cx="251818" cy="294680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8612386" y="4113014"/>
                <a:ext cx="225028" cy="289322"/>
              </a:xfrm>
              <a:custGeom>
                <a:avLst/>
                <a:gdLst/>
                <a:ahLst/>
                <a:cxnLst/>
                <a:rect l="l" t="t" r="r" b="b"/>
                <a:pathLst>
                  <a:path w="225028" h="289322">
                    <a:moveTo>
                      <a:pt x="112514" y="0"/>
                    </a:moveTo>
                    <a:lnTo>
                      <a:pt x="225028" y="48220"/>
                    </a:lnTo>
                    <a:lnTo>
                      <a:pt x="225028" y="133945"/>
                    </a:lnTo>
                    <a:cubicBezTo>
                      <a:pt x="225028" y="203597"/>
                      <a:pt x="171450" y="251817"/>
                      <a:pt x="112514" y="289322"/>
                    </a:cubicBezTo>
                    <a:cubicBezTo>
                      <a:pt x="53578" y="251817"/>
                      <a:pt x="0" y="203597"/>
                      <a:pt x="0" y="133945"/>
                    </a:cubicBezTo>
                    <a:lnTo>
                      <a:pt x="0" y="48220"/>
                    </a:lnTo>
                    <a:close/>
                  </a:path>
                </a:pathLst>
              </a:custGeom>
              <a:solidFill>
                <a:schemeClr val="lt1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8665964" y="4204097"/>
                <a:ext cx="12323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85725">
                    <a:moveTo>
                      <a:pt x="0" y="42862"/>
                    </a:moveTo>
                    <a:lnTo>
                      <a:pt x="42862" y="85725"/>
                    </a:lnTo>
                    <a:lnTo>
                      <a:pt x="12323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8794552" y="4316611"/>
                <a:ext cx="69652" cy="91083"/>
              </a:xfrm>
              <a:custGeom>
                <a:avLst/>
                <a:gdLst/>
                <a:ahLst/>
                <a:cxnLst/>
                <a:rect l="l" t="t" r="r" b="b"/>
                <a:pathLst>
                  <a:path w="69652" h="91083">
                    <a:moveTo>
                      <a:pt x="16073" y="0"/>
                    </a:moveTo>
                    <a:lnTo>
                      <a:pt x="69652" y="0"/>
                    </a:lnTo>
                    <a:lnTo>
                      <a:pt x="69652" y="64294"/>
                    </a:lnTo>
                    <a:lnTo>
                      <a:pt x="0" y="64294"/>
                    </a:lnTo>
                    <a:moveTo>
                      <a:pt x="26789" y="37505"/>
                    </a:moveTo>
                    <a:lnTo>
                      <a:pt x="0" y="64294"/>
                    </a:lnTo>
                    <a:lnTo>
                      <a:pt x="26789" y="91083"/>
                    </a:lnTo>
                  </a:path>
                </a:pathLst>
              </a:custGeom>
              <a:noFill/>
              <a:ln w="16073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80" name="TextBox 80"/>
            <p:cNvSpPr txBox="1"/>
            <p:nvPr>
              <p:custDataLst>
                <p:tags r:id="rId27"/>
              </p:custDataLst>
            </p:nvPr>
          </p:nvSpPr>
          <p:spPr>
            <a:xfrm>
              <a:off x="8982456" y="4127500"/>
              <a:ext cx="1920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受控處置與回復</a:t>
              </a:r>
            </a:p>
          </p:txBody>
        </p:sp>
        <p:sp>
          <p:nvSpPr>
            <p:cNvPr id="81" name="TextBox 81"/>
            <p:cNvSpPr txBox="1"/>
            <p:nvPr>
              <p:custDataLst>
                <p:tags r:id="rId28"/>
              </p:custDataLst>
            </p:nvPr>
          </p:nvSpPr>
          <p:spPr>
            <a:xfrm>
              <a:off x="8601456" y="4603750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策略檢查 → 套用</a:t>
              </a:r>
            </a:p>
          </p:txBody>
        </p:sp>
        <p:sp>
          <p:nvSpPr>
            <p:cNvPr id="82" name="TextBox 82"/>
            <p:cNvSpPr txBox="1"/>
            <p:nvPr>
              <p:custDataLst>
                <p:tags r:id="rId29"/>
              </p:custDataLst>
            </p:nvPr>
          </p:nvSpPr>
          <p:spPr>
            <a:xfrm>
              <a:off x="8601456" y="4956175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 → 到期撤銷</a:t>
              </a:r>
            </a:p>
          </p:txBody>
        </p:sp>
        <p:sp>
          <p:nvSpPr>
            <p:cNvPr id="83" name="TextBox 83"/>
            <p:cNvSpPr txBox="1"/>
            <p:nvPr>
              <p:custDataLst>
                <p:tags r:id="rId30"/>
              </p:custDataLst>
            </p:nvPr>
          </p:nvSpPr>
          <p:spPr>
            <a:xfrm>
              <a:off x="8602980" y="5470525"/>
              <a:ext cx="1950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複核／不確定 → 蒐證</a:t>
              </a:r>
            </a:p>
          </p:txBody>
        </p:sp>
        <p:sp>
          <p:nvSpPr>
            <p:cNvPr id="84" name="Freeform 84"/>
            <p:cNvSpPr/>
            <p:nvPr/>
          </p:nvSpPr>
          <p:spPr>
            <a:xfrm>
              <a:off x="7924800" y="498157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85" name="Freeform 85"/>
            <p:cNvSpPr/>
            <p:nvPr/>
          </p:nvSpPr>
          <p:spPr>
            <a:xfrm>
              <a:off x="8315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86" name="Rectangle 86"/>
            <p:cNvSpPr/>
            <p:nvPr/>
          </p:nvSpPr>
          <p:spPr>
            <a:xfrm>
              <a:off x="152400" y="5962650"/>
              <a:ext cx="11887200" cy="361950"/>
            </a:xfrm>
            <a:prstGeom prst="roundRect">
              <a:avLst>
                <a:gd name="adj" fmla="val 21053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sp>
          <p:nvSpPr>
            <p:cNvPr id="87" name="TextBox 87"/>
            <p:cNvSpPr txBox="1"/>
            <p:nvPr>
              <p:custDataLst>
                <p:tags r:id="rId31"/>
              </p:custDataLst>
            </p:nvPr>
          </p:nvSpPr>
          <p:spPr>
            <a:xfrm>
              <a:off x="2796352" y="6007100"/>
              <a:ext cx="65469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共用事件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：正式判定｜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證據｜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稽核｜處置與回復回條</a:t>
              </a:r>
            </a:p>
          </p:txBody>
        </p:sp>
      </p:grpSp>
      <p:grpSp>
        <p:nvGrpSpPr>
          <p:cNvPr id="92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89" name="Line 89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90" name="TextBox 90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1" name="TextBox 91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03 / 09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120640" cy="1082802"/>
            <a:chOff x="593598" y="257175"/>
            <a:chExt cx="5120640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7"/>
              </p:custDataLst>
            </p:nvPr>
          </p:nvSpPr>
          <p:spPr>
            <a:xfrm>
              <a:off x="755523" y="314325"/>
              <a:ext cx="133979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DETECTION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18"/>
              </p:custDataLst>
            </p:nvPr>
          </p:nvSpPr>
          <p:spPr>
            <a:xfrm>
              <a:off x="593598" y="723900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互補模型，形成同一次判定</a:t>
              </a:r>
            </a:p>
          </p:txBody>
        </p:sp>
      </p:grpSp>
      <p:grpSp>
        <p:nvGrpSpPr>
          <p:cNvPr id="58" name="page-content"/>
          <p:cNvGrpSpPr/>
          <p:nvPr/>
        </p:nvGrpSpPr>
        <p:grpSpPr>
          <a:xfrm>
            <a:off x="609600" y="1809750"/>
            <a:ext cx="10972800" cy="4181475"/>
            <a:chOff x="609600" y="1809750"/>
            <a:chExt cx="10972800" cy="4181475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2095500" cy="333375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809244" y="1968500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同一流量輸入</a:t>
              </a:r>
            </a:p>
          </p:txBody>
        </p:sp>
        <p:sp>
          <p:nvSpPr>
            <p:cNvPr id="8" name="TextBox 8"/>
            <p:cNvSpPr txBox="1"/>
            <p:nvPr>
              <p:custDataLst>
                <p:tags r:id="rId4"/>
              </p:custDataLst>
            </p:nvPr>
          </p:nvSpPr>
          <p:spPr>
            <a:xfrm>
              <a:off x="810006" y="25654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1866900" y="25527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192405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04787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17170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29552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>
              <p:custDataLst>
                <p:tags r:id="rId5"/>
              </p:custDataLst>
            </p:nvPr>
          </p:nvSpPr>
          <p:spPr>
            <a:xfrm>
              <a:off x="810006" y="334645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866900" y="333375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924050" y="3390900"/>
              <a:ext cx="66675" cy="762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047875" y="3390900"/>
              <a:ext cx="66675" cy="10477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171700" y="3390900"/>
              <a:ext cx="66675" cy="1333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295525" y="3390900"/>
              <a:ext cx="66675" cy="16192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>
              <p:custDataLst>
                <p:tags r:id="rId6"/>
              </p:custDataLst>
            </p:nvPr>
          </p:nvSpPr>
          <p:spPr>
            <a:xfrm>
              <a:off x="810006" y="41275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方向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866900" y="41148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192405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04787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17170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29552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2705100" y="2571750"/>
              <a:ext cx="819150" cy="904875"/>
            </a:xfrm>
            <a:custGeom>
              <a:avLst/>
              <a:gdLst/>
              <a:ahLst/>
              <a:cxnLst/>
              <a:rect l="l" t="t" r="r" b="b"/>
              <a:pathLst>
                <a:path w="819150" h="904875">
                  <a:moveTo>
                    <a:pt x="0" y="904875"/>
                  </a:moveTo>
                  <a:lnTo>
                    <a:pt x="419100" y="904875"/>
                  </a:lnTo>
                  <a:lnTo>
                    <a:pt x="419100" y="0"/>
                  </a:lnTo>
                  <a:lnTo>
                    <a:pt x="8191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3457575" y="25241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124200" y="3476625"/>
              <a:ext cx="400050" cy="857250"/>
            </a:xfrm>
            <a:custGeom>
              <a:avLst/>
              <a:gdLst/>
              <a:ahLst/>
              <a:cxnLst/>
              <a:rect l="l" t="t" r="r" b="b"/>
              <a:pathLst>
                <a:path w="400050" h="857250">
                  <a:moveTo>
                    <a:pt x="0" y="0"/>
                  </a:moveTo>
                  <a:lnTo>
                    <a:pt x="0" y="857250"/>
                  </a:lnTo>
                  <a:lnTo>
                    <a:pt x="400050" y="857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3457575" y="42862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524250" y="1866900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3763566" y="2058591"/>
              <a:ext cx="683419" cy="683419"/>
              <a:chOff x="3763566" y="2058591"/>
              <a:chExt cx="683419" cy="683419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3861197" y="2156222"/>
                <a:ext cx="488156" cy="488156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36612" cap="rnd">
                <a:solidFill>
                  <a:schemeClr val="accent1"/>
                </a:solidFill>
                <a:round/>
              </a:ln>
            </p:spPr>
          </p:sp>
          <p:sp>
            <p:nvSpPr>
              <p:cNvPr id="32" name="Rectangle 32"/>
              <p:cNvSpPr/>
              <p:nvPr/>
            </p:nvSpPr>
            <p:spPr>
              <a:xfrm>
                <a:off x="3995440" y="2290465"/>
                <a:ext cx="219670" cy="219670"/>
              </a:xfrm>
              <a:prstGeom prst="roundRect">
                <a:avLst>
                  <a:gd name="adj" fmla="val 16667"/>
                </a:avLst>
              </a:prstGeom>
              <a:solidFill>
                <a:schemeClr val="accent3"/>
              </a:solidFill>
              <a:ln w="36612" cap="rnd">
                <a:solidFill>
                  <a:schemeClr val="accent1"/>
                </a:solidFill>
                <a:round/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3763566" y="2058591"/>
                <a:ext cx="683419" cy="683419"/>
              </a:xfrm>
              <a:custGeom>
                <a:avLst/>
                <a:gdLst/>
                <a:ahLst/>
                <a:cxnLst/>
                <a:rect l="l" t="t" r="r" b="b"/>
                <a:pathLst>
                  <a:path w="683419" h="683419">
                    <a:moveTo>
                      <a:pt x="207466" y="0"/>
                    </a:moveTo>
                    <a:lnTo>
                      <a:pt x="207466" y="97631"/>
                    </a:lnTo>
                    <a:moveTo>
                      <a:pt x="341709" y="0"/>
                    </a:moveTo>
                    <a:lnTo>
                      <a:pt x="341709" y="97631"/>
                    </a:lnTo>
                    <a:moveTo>
                      <a:pt x="475952" y="0"/>
                    </a:moveTo>
                    <a:lnTo>
                      <a:pt x="475952" y="97631"/>
                    </a:lnTo>
                    <a:moveTo>
                      <a:pt x="207466" y="585788"/>
                    </a:moveTo>
                    <a:lnTo>
                      <a:pt x="207466" y="683419"/>
                    </a:lnTo>
                    <a:moveTo>
                      <a:pt x="341709" y="585788"/>
                    </a:moveTo>
                    <a:lnTo>
                      <a:pt x="341709" y="683419"/>
                    </a:lnTo>
                    <a:moveTo>
                      <a:pt x="475952" y="585788"/>
                    </a:moveTo>
                    <a:lnTo>
                      <a:pt x="475952" y="683419"/>
                    </a:lnTo>
                    <a:moveTo>
                      <a:pt x="0" y="207466"/>
                    </a:moveTo>
                    <a:lnTo>
                      <a:pt x="97631" y="207466"/>
                    </a:lnTo>
                    <a:moveTo>
                      <a:pt x="0" y="341709"/>
                    </a:moveTo>
                    <a:lnTo>
                      <a:pt x="97631" y="341709"/>
                    </a:lnTo>
                    <a:moveTo>
                      <a:pt x="0" y="475952"/>
                    </a:moveTo>
                    <a:lnTo>
                      <a:pt x="97631" y="475952"/>
                    </a:lnTo>
                    <a:moveTo>
                      <a:pt x="585788" y="207466"/>
                    </a:moveTo>
                    <a:lnTo>
                      <a:pt x="683419" y="207466"/>
                    </a:lnTo>
                    <a:moveTo>
                      <a:pt x="585788" y="341709"/>
                    </a:moveTo>
                    <a:lnTo>
                      <a:pt x="683419" y="341709"/>
                    </a:lnTo>
                    <a:moveTo>
                      <a:pt x="585788" y="475952"/>
                    </a:moveTo>
                    <a:lnTo>
                      <a:pt x="683419" y="475952"/>
                    </a:lnTo>
                  </a:path>
                </a:pathLst>
              </a:custGeom>
              <a:noFill/>
              <a:ln w="3661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35" name="TextBox 35"/>
            <p:cNvSpPr txBox="1"/>
            <p:nvPr>
              <p:custDataLst>
                <p:tags r:id="rId7"/>
              </p:custDataLst>
            </p:nvPr>
          </p:nvSpPr>
          <p:spPr>
            <a:xfrm>
              <a:off x="4674108" y="1993900"/>
              <a:ext cx="12679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36" name="TextBox 36"/>
            <p:cNvSpPr txBox="1"/>
            <p:nvPr>
              <p:custDataLst>
                <p:tags r:id="rId8"/>
              </p:custDataLst>
            </p:nvPr>
          </p:nvSpPr>
          <p:spPr>
            <a:xfrm>
              <a:off x="4678299" y="2457450"/>
              <a:ext cx="144187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內容·時序·方向</a:t>
              </a:r>
            </a:p>
          </p:txBody>
        </p:sp>
        <p:sp>
          <p:nvSpPr>
            <p:cNvPr id="37" name="TextBox 37"/>
            <p:cNvSpPr txBox="1"/>
            <p:nvPr>
              <p:custDataLst>
                <p:tags r:id="rId9"/>
              </p:custDataLst>
            </p:nvPr>
          </p:nvSpPr>
          <p:spPr>
            <a:xfrm>
              <a:off x="3744849" y="28860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讀取流量的時序關係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3524250" y="3629025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3804940" y="3947220"/>
              <a:ext cx="562570" cy="375046"/>
              <a:chOff x="3804940" y="3947220"/>
              <a:chExt cx="562570" cy="375046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3804940" y="3947220"/>
                <a:ext cx="562570" cy="375047"/>
              </a:xfrm>
              <a:prstGeom prst="roundRect">
                <a:avLst>
                  <a:gd name="adj" fmla="val 13889"/>
                </a:avLst>
              </a:prstGeom>
              <a:solidFill>
                <a:schemeClr val="lt1"/>
              </a:solidFill>
              <a:ln w="10418">
                <a:solidFill>
                  <a:schemeClr val="accent1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3804940" y="3947220"/>
                <a:ext cx="281285" cy="208359"/>
              </a:xfrm>
              <a:custGeom>
                <a:avLst/>
                <a:gdLst/>
                <a:ahLst/>
                <a:cxnLst/>
                <a:rect l="l" t="t" r="r" b="b"/>
                <a:pathLst>
                  <a:path w="281285" h="208359">
                    <a:moveTo>
                      <a:pt x="0" y="0"/>
                    </a:moveTo>
                    <a:lnTo>
                      <a:pt x="281285" y="208359"/>
                    </a:lnTo>
                  </a:path>
                </a:pathLst>
              </a:custGeom>
              <a:noFill/>
              <a:ln w="26045" cap="rnd">
                <a:solidFill>
                  <a:schemeClr val="accent1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4086225" y="3947220"/>
                <a:ext cx="281285" cy="208359"/>
              </a:xfrm>
              <a:custGeom>
                <a:avLst/>
                <a:gdLst/>
                <a:ahLst/>
                <a:cxnLst/>
                <a:rect l="l" t="t" r="r" b="b"/>
                <a:pathLst>
                  <a:path w="281285" h="208359">
                    <a:moveTo>
                      <a:pt x="0" y="208359"/>
                    </a:moveTo>
                    <a:lnTo>
                      <a:pt x="281285" y="0"/>
                    </a:lnTo>
                  </a:path>
                </a:pathLst>
              </a:custGeom>
              <a:noFill/>
              <a:ln w="26045" cap="rnd">
                <a:solidFill>
                  <a:schemeClr val="accent1"/>
                </a:solidFill>
              </a:ln>
            </p:spPr>
          </p:sp>
        </p:grpSp>
        <p:sp>
          <p:nvSpPr>
            <p:cNvPr id="43" name="TextBox 43"/>
            <p:cNvSpPr txBox="1"/>
            <p:nvPr>
              <p:custDataLst>
                <p:tags r:id="rId10"/>
              </p:custDataLst>
            </p:nvPr>
          </p:nvSpPr>
          <p:spPr>
            <a:xfrm>
              <a:off x="4674108" y="3756025"/>
              <a:ext cx="145218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44" name="TextBox 44"/>
            <p:cNvSpPr txBox="1"/>
            <p:nvPr>
              <p:custDataLst>
                <p:tags r:id="rId11"/>
              </p:custDataLst>
            </p:nvPr>
          </p:nvSpPr>
          <p:spPr>
            <a:xfrm>
              <a:off x="4678299" y="42386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45" name="TextBox 45"/>
            <p:cNvSpPr txBox="1"/>
            <p:nvPr>
              <p:custDataLst>
                <p:tags r:id="rId12"/>
              </p:custDataLst>
            </p:nvPr>
          </p:nvSpPr>
          <p:spPr>
            <a:xfrm>
              <a:off x="3744849" y="46482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補充局部內容特徵</a:t>
              </a:r>
            </a:p>
          </p:txBody>
        </p:sp>
        <p:sp>
          <p:nvSpPr>
            <p:cNvPr id="46" name="Freeform 46"/>
            <p:cNvSpPr/>
            <p:nvPr/>
          </p:nvSpPr>
          <p:spPr>
            <a:xfrm>
              <a:off x="6762750" y="2571750"/>
              <a:ext cx="952500" cy="904875"/>
            </a:xfrm>
            <a:custGeom>
              <a:avLst/>
              <a:gdLst/>
              <a:ahLst/>
              <a:cxnLst/>
              <a:rect l="l" t="t" r="r" b="b"/>
              <a:pathLst>
                <a:path w="952500" h="904875">
                  <a:moveTo>
                    <a:pt x="0" y="0"/>
                  </a:moveTo>
                  <a:lnTo>
                    <a:pt x="476250" y="0"/>
                  </a:lnTo>
                  <a:lnTo>
                    <a:pt x="476250" y="904875"/>
                  </a:lnTo>
                  <a:lnTo>
                    <a:pt x="952500" y="9048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7648575" y="34290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6762750" y="3476625"/>
              <a:ext cx="476250" cy="857250"/>
            </a:xfrm>
            <a:custGeom>
              <a:avLst/>
              <a:gdLst/>
              <a:ahLst/>
              <a:cxnLst/>
              <a:rect l="l" t="t" r="r" b="b"/>
              <a:pathLst>
                <a:path w="476250" h="857250">
                  <a:moveTo>
                    <a:pt x="0" y="857250"/>
                  </a:moveTo>
                  <a:lnTo>
                    <a:pt x="476250" y="857250"/>
                  </a:lnTo>
                  <a:lnTo>
                    <a:pt x="476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7191375" y="34766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715250" y="2600325"/>
              <a:ext cx="3867150" cy="1714500"/>
            </a:xfrm>
            <a:prstGeom prst="roundRect">
              <a:avLst>
                <a:gd name="adj" fmla="val 4444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1" name="TextBox 51"/>
            <p:cNvSpPr txBox="1"/>
            <p:nvPr>
              <p:custDataLst>
                <p:tags r:id="rId13"/>
              </p:custDataLst>
            </p:nvPr>
          </p:nvSpPr>
          <p:spPr>
            <a:xfrm>
              <a:off x="7941945" y="2768600"/>
              <a:ext cx="253765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52" name="TextBox 52"/>
            <p:cNvSpPr txBox="1"/>
            <p:nvPr>
              <p:custDataLst>
                <p:tags r:id="rId14"/>
              </p:custDataLst>
            </p:nvPr>
          </p:nvSpPr>
          <p:spPr>
            <a:xfrm>
              <a:off x="7943850" y="3248025"/>
              <a:ext cx="179064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53" name="TextBox 53"/>
            <p:cNvSpPr txBox="1"/>
            <p:nvPr>
              <p:custDataLst>
                <p:tags r:id="rId15"/>
              </p:custDataLst>
            </p:nvPr>
          </p:nvSpPr>
          <p:spPr>
            <a:xfrm>
              <a:off x="7944612" y="37084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形成同一次正式判定</a:t>
              </a:r>
            </a:p>
          </p:txBody>
        </p:sp>
        <p:sp>
          <p:nvSpPr>
            <p:cNvPr id="54" name="Freeform 54"/>
            <p:cNvSpPr/>
            <p:nvPr/>
          </p:nvSpPr>
          <p:spPr>
            <a:xfrm>
              <a:off x="9648825" y="4314825"/>
              <a:ext cx="9525" cy="1066800"/>
            </a:xfrm>
            <a:custGeom>
              <a:avLst/>
              <a:gdLst/>
              <a:ahLst/>
              <a:cxnLst/>
              <a:rect l="l" t="t" r="r" b="b"/>
              <a:pathLst>
                <a:path w="9525" h="1066800">
                  <a:moveTo>
                    <a:pt x="0" y="0"/>
                  </a:moveTo>
                  <a:lnTo>
                    <a:pt x="0" y="10668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9601200" y="531495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09600" y="5381625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7" name="TextBox 57"/>
            <p:cNvSpPr txBox="1"/>
            <p:nvPr>
              <p:custDataLst>
                <p:tags r:id="rId16"/>
              </p:custDataLst>
            </p:nvPr>
          </p:nvSpPr>
          <p:spPr>
            <a:xfrm>
              <a:off x="828675" y="5534025"/>
              <a:ext cx="608355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類判定 ＋ 校準信心 ＋ 模型表徵 → 後段檢索與稽核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59" name="Line 59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60" name="TextBox 60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1" name="TextBox 61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04 / 09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968746" cy="1082802"/>
            <a:chOff x="593598" y="257175"/>
            <a:chExt cx="5968746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8"/>
              </p:custDataLst>
            </p:nvPr>
          </p:nvSpPr>
          <p:spPr>
            <a:xfrm>
              <a:off x="755523" y="314325"/>
              <a:ext cx="118004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EVIDENCE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9"/>
              </p:custDataLst>
            </p:nvPr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把偵測表徵，變成可核對的證據</a:t>
              </a:r>
            </a:p>
          </p:txBody>
        </p:sp>
      </p:grpSp>
      <p:grpSp>
        <p:nvGrpSpPr>
          <p:cNvPr id="85" name="page-content"/>
          <p:cNvGrpSpPr/>
          <p:nvPr/>
        </p:nvGrpSpPr>
        <p:grpSpPr>
          <a:xfrm>
            <a:off x="600456" y="1612900"/>
            <a:ext cx="10981944" cy="4504944"/>
            <a:chOff x="600456" y="1612900"/>
            <a:chExt cx="10981944" cy="4504944"/>
          </a:xfrm>
        </p:grpSpPr>
        <p:sp>
          <p:nvSpPr>
            <p:cNvPr id="6" name="TextBox 6"/>
            <p:cNvSpPr txBox="1"/>
            <p:nvPr>
              <p:custDataLst>
                <p:tags r:id="rId3"/>
              </p:custDataLst>
            </p:nvPr>
          </p:nvSpPr>
          <p:spPr>
            <a:xfrm>
              <a:off x="60083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 組合任務向量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" y="2152650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69888" y="2317998"/>
              <a:ext cx="403324" cy="374154"/>
              <a:chOff x="769888" y="2317998"/>
              <a:chExt cx="403324" cy="374154"/>
            </a:xfrm>
          </p:grpSpPr>
          <p:sp>
            <p:nvSpPr>
              <p:cNvPr id="8" name="Line 8"/>
              <p:cNvSpPr/>
              <p:nvPr/>
            </p:nvSpPr>
            <p:spPr>
              <a:xfrm>
                <a:off x="769888" y="23179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9" name="Line 9"/>
              <p:cNvSpPr/>
              <p:nvPr/>
            </p:nvSpPr>
            <p:spPr>
              <a:xfrm>
                <a:off x="769888" y="23179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769888" y="26826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112639" y="23179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163687" y="23179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112639" y="26826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4" name="Rectangle 14"/>
              <p:cNvSpPr/>
              <p:nvPr/>
            </p:nvSpPr>
            <p:spPr>
              <a:xfrm>
                <a:off x="864691" y="2361754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864691" y="2441972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864691" y="2522190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864691" y="2602409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</p:grpSp>
        <p:sp>
          <p:nvSpPr>
            <p:cNvPr id="19" name="TextBox 19"/>
            <p:cNvSpPr txBox="1"/>
            <p:nvPr>
              <p:custDataLst>
                <p:tags r:id="rId4"/>
              </p:custDataLst>
            </p:nvPr>
          </p:nvSpPr>
          <p:spPr>
            <a:xfrm>
              <a:off x="1470279" y="2374900"/>
              <a:ext cx="1193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維表徵</a:t>
              </a:r>
            </a:p>
          </p:txBody>
        </p:sp>
        <p:sp>
          <p:nvSpPr>
            <p:cNvPr id="20" name="TextBox 20"/>
            <p:cNvSpPr txBox="1"/>
            <p:nvPr>
              <p:custDataLst>
                <p:tags r:id="rId5"/>
              </p:custDataLst>
            </p:nvPr>
          </p:nvSpPr>
          <p:spPr>
            <a:xfrm>
              <a:off x="1649253" y="2911475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3400425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69888" y="3575298"/>
              <a:ext cx="403324" cy="374154"/>
              <a:chOff x="769888" y="3575298"/>
              <a:chExt cx="403324" cy="374154"/>
            </a:xfrm>
          </p:grpSpPr>
          <p:sp>
            <p:nvSpPr>
              <p:cNvPr id="22" name="Line 22"/>
              <p:cNvSpPr/>
              <p:nvPr/>
            </p:nvSpPr>
            <p:spPr>
              <a:xfrm>
                <a:off x="769888" y="35752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769888" y="35752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9888" y="39399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1112639" y="35752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1163687" y="35752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1112639" y="39399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864691" y="3619054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864691" y="3699272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864691" y="3779490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864691" y="3859709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</p:grpSp>
        <p:sp>
          <p:nvSpPr>
            <p:cNvPr id="33" name="TextBox 33"/>
            <p:cNvSpPr txBox="1"/>
            <p:nvPr>
              <p:custDataLst>
                <p:tags r:id="rId6"/>
              </p:custDataLst>
            </p:nvPr>
          </p:nvSpPr>
          <p:spPr>
            <a:xfrm>
              <a:off x="1327976" y="3622675"/>
              <a:ext cx="148107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維類別機率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1847850" y="2514600"/>
              <a:ext cx="1485900" cy="2038350"/>
            </a:xfrm>
            <a:custGeom>
              <a:avLst/>
              <a:gdLst/>
              <a:ahLst/>
              <a:cxnLst/>
              <a:rect l="l" t="t" r="r" b="b"/>
              <a:pathLst>
                <a:path w="1485900" h="2038350">
                  <a:moveTo>
                    <a:pt x="1238250" y="0"/>
                  </a:moveTo>
                  <a:lnTo>
                    <a:pt x="1485900" y="0"/>
                  </a:lnTo>
                  <a:lnTo>
                    <a:pt x="1485900" y="1866900"/>
                  </a:lnTo>
                  <a:lnTo>
                    <a:pt x="0" y="1866900"/>
                  </a:lnTo>
                  <a:lnTo>
                    <a:pt x="0" y="20383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847850" y="41148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09600" y="4552950"/>
              <a:ext cx="2476500" cy="933450"/>
            </a:xfrm>
            <a:prstGeom prst="roundRect">
              <a:avLst>
                <a:gd name="adj" fmla="val 816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39" name="TextBox 39"/>
            <p:cNvSpPr txBox="1"/>
            <p:nvPr>
              <p:custDataLst>
                <p:tags r:id="rId7"/>
              </p:custDataLst>
            </p:nvPr>
          </p:nvSpPr>
          <p:spPr>
            <a:xfrm>
              <a:off x="908018" y="4721225"/>
              <a:ext cx="18177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0" name="TextBox 40"/>
            <p:cNvSpPr txBox="1"/>
            <p:nvPr>
              <p:custDataLst>
                <p:tags r:id="rId8"/>
              </p:custDataLst>
            </p:nvPr>
          </p:nvSpPr>
          <p:spPr>
            <a:xfrm>
              <a:off x="1309720" y="5105400"/>
              <a:ext cx="10254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3086100" y="3076575"/>
              <a:ext cx="1009650" cy="1943100"/>
            </a:xfrm>
            <a:custGeom>
              <a:avLst/>
              <a:gdLst/>
              <a:ahLst/>
              <a:cxnLst/>
              <a:rect l="l" t="t" r="r" b="b"/>
              <a:pathLst>
                <a:path w="1009650" h="1943100">
                  <a:moveTo>
                    <a:pt x="0" y="1943100"/>
                  </a:moveTo>
                  <a:lnTo>
                    <a:pt x="628650" y="1943100"/>
                  </a:lnTo>
                  <a:lnTo>
                    <a:pt x="628650" y="0"/>
                  </a:lnTo>
                  <a:lnTo>
                    <a:pt x="10096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40290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TextBox 43"/>
            <p:cNvSpPr txBox="1"/>
            <p:nvPr>
              <p:custDataLst>
                <p:tags r:id="rId9"/>
              </p:custDataLst>
            </p:nvPr>
          </p:nvSpPr>
          <p:spPr>
            <a:xfrm>
              <a:off x="408698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 找出相似案例</a:t>
              </a:r>
            </a:p>
          </p:txBody>
        </p:sp>
        <p:grpSp>
          <p:nvGrpSpPr>
            <p:cNvPr id="49" name="Group 49"/>
            <p:cNvGrpSpPr/>
            <p:nvPr/>
          </p:nvGrpSpPr>
          <p:grpSpPr>
            <a:xfrm>
              <a:off x="4369743" y="2149376"/>
              <a:ext cx="1064865" cy="1044773"/>
              <a:chOff x="4369743" y="2149376"/>
              <a:chExt cx="1064865" cy="104477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4369743" y="2290018"/>
                <a:ext cx="763488" cy="803672"/>
              </a:xfrm>
              <a:custGeom>
                <a:avLst/>
                <a:gdLst/>
                <a:ahLst/>
                <a:cxnLst/>
                <a:rect l="l" t="t" r="r" b="b"/>
                <a:pathLst>
                  <a:path w="763488" h="803672">
                    <a:moveTo>
                      <a:pt x="0" y="0"/>
                    </a:moveTo>
                    <a:lnTo>
                      <a:pt x="0" y="622846"/>
                    </a:lnTo>
                    <a:cubicBezTo>
                      <a:pt x="0" y="803672"/>
                      <a:pt x="763488" y="803672"/>
                      <a:pt x="763488" y="622846"/>
                    </a:cubicBezTo>
                    <a:lnTo>
                      <a:pt x="763488" y="0"/>
                    </a:lnTo>
                  </a:path>
                </a:pathLst>
              </a:custGeom>
              <a:solidFill>
                <a:schemeClr val="lt1"/>
              </a:solidFill>
              <a:ln w="60275" cap="rnd">
                <a:solidFill>
                  <a:schemeClr val="accent1"/>
                </a:solidFill>
                <a:round/>
              </a:ln>
            </p:spPr>
          </p:sp>
          <p:sp>
            <p:nvSpPr>
              <p:cNvPr id="45" name="Ellipse 45"/>
              <p:cNvSpPr/>
              <p:nvPr/>
            </p:nvSpPr>
            <p:spPr>
              <a:xfrm>
                <a:off x="4369743" y="2149376"/>
                <a:ext cx="763488" cy="281285"/>
              </a:xfrm>
              <a:prstGeom prst="ellipse">
                <a:avLst/>
              </a:prstGeom>
              <a:solidFill>
                <a:schemeClr val="lt1"/>
              </a:solidFill>
              <a:ln w="60275" cap="rnd">
                <a:solidFill>
                  <a:schemeClr val="accent1"/>
                </a:solidFill>
                <a:round/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4369743" y="2571304"/>
                <a:ext cx="763488" cy="180826"/>
              </a:xfrm>
              <a:custGeom>
                <a:avLst/>
                <a:gdLst/>
                <a:ahLst/>
                <a:cxnLst/>
                <a:rect l="l" t="t" r="r" b="b"/>
                <a:pathLst>
                  <a:path w="763488" h="180826">
                    <a:moveTo>
                      <a:pt x="0" y="0"/>
                    </a:moveTo>
                    <a:cubicBezTo>
                      <a:pt x="0" y="180826"/>
                      <a:pt x="763488" y="180826"/>
                      <a:pt x="763488" y="0"/>
                    </a:cubicBezTo>
                  </a:path>
                </a:pathLst>
              </a:custGeom>
              <a:noFill/>
              <a:ln w="60275" cap="rnd">
                <a:solidFill>
                  <a:schemeClr val="accent1"/>
                </a:solidFill>
                <a:round/>
              </a:ln>
            </p:spPr>
          </p:sp>
          <p:sp>
            <p:nvSpPr>
              <p:cNvPr id="47" name="Ellipse 47"/>
              <p:cNvSpPr/>
              <p:nvPr/>
            </p:nvSpPr>
            <p:spPr>
              <a:xfrm>
                <a:off x="4872038" y="2611487"/>
                <a:ext cx="442020" cy="442020"/>
              </a:xfrm>
              <a:prstGeom prst="ellipse">
                <a:avLst/>
              </a:prstGeom>
              <a:solidFill>
                <a:schemeClr val="accent3"/>
              </a:solidFill>
              <a:ln w="60275" cap="rnd">
                <a:solidFill>
                  <a:schemeClr val="accent1"/>
                </a:solidFill>
                <a:round/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5253782" y="2993231"/>
                <a:ext cx="180826" cy="200918"/>
              </a:xfrm>
              <a:custGeom>
                <a:avLst/>
                <a:gdLst/>
                <a:ahLst/>
                <a:cxnLst/>
                <a:rect l="l" t="t" r="r" b="b"/>
                <a:pathLst>
                  <a:path w="180826" h="200918">
                    <a:moveTo>
                      <a:pt x="0" y="0"/>
                    </a:moveTo>
                    <a:lnTo>
                      <a:pt x="180826" y="200918"/>
                    </a:lnTo>
                  </a:path>
                </a:pathLst>
              </a:custGeom>
              <a:solidFill>
                <a:schemeClr val="lt1"/>
              </a:solidFill>
              <a:ln w="80367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50" name="TextBox 50"/>
            <p:cNvSpPr txBox="1"/>
            <p:nvPr>
              <p:custDataLst>
                <p:tags r:id="rId10"/>
              </p:custDataLst>
            </p:nvPr>
          </p:nvSpPr>
          <p:spPr>
            <a:xfrm>
              <a:off x="5762625" y="2143125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51" name="TextBox 51"/>
            <p:cNvSpPr txBox="1"/>
            <p:nvPr>
              <p:custDataLst>
                <p:tags r:id="rId11"/>
              </p:custDataLst>
            </p:nvPr>
          </p:nvSpPr>
          <p:spPr>
            <a:xfrm>
              <a:off x="5763768" y="2520950"/>
              <a:ext cx="12698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1,550 筆案例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0957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3" name="TextBox 53"/>
            <p:cNvSpPr txBox="1"/>
            <p:nvPr>
              <p:custDataLst>
                <p:tags r:id="rId12"/>
              </p:custDataLst>
            </p:nvPr>
          </p:nvSpPr>
          <p:spPr>
            <a:xfrm>
              <a:off x="4260723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7244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5" name="TextBox 55"/>
            <p:cNvSpPr txBox="1"/>
            <p:nvPr>
              <p:custDataLst>
                <p:tags r:id="rId13"/>
              </p:custDataLst>
            </p:nvPr>
          </p:nvSpPr>
          <p:spPr>
            <a:xfrm>
              <a:off x="4889373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3530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7" name="TextBox 57"/>
            <p:cNvSpPr txBox="1"/>
            <p:nvPr>
              <p:custDataLst>
                <p:tags r:id="rId14"/>
              </p:custDataLst>
            </p:nvPr>
          </p:nvSpPr>
          <p:spPr>
            <a:xfrm>
              <a:off x="5518023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9817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9" name="TextBox 59"/>
            <p:cNvSpPr txBox="1"/>
            <p:nvPr>
              <p:custDataLst>
                <p:tags r:id="rId15"/>
              </p:custDataLst>
            </p:nvPr>
          </p:nvSpPr>
          <p:spPr>
            <a:xfrm>
              <a:off x="6146673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6103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61" name="TextBox 61"/>
            <p:cNvSpPr txBox="1"/>
            <p:nvPr>
              <p:custDataLst>
                <p:tags r:id="rId16"/>
              </p:custDataLst>
            </p:nvPr>
          </p:nvSpPr>
          <p:spPr>
            <a:xfrm>
              <a:off x="6775323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</a:t>
              </a:r>
            </a:p>
          </p:txBody>
        </p:sp>
        <p:sp>
          <p:nvSpPr>
            <p:cNvPr id="62" name="TextBox 62"/>
            <p:cNvSpPr txBox="1"/>
            <p:nvPr>
              <p:custDataLst>
                <p:tags r:id="rId17"/>
              </p:custDataLst>
            </p:nvPr>
          </p:nvSpPr>
          <p:spPr>
            <a:xfrm>
              <a:off x="4086225" y="4724400"/>
              <a:ext cx="180319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63" name="TextBox 63"/>
            <p:cNvSpPr txBox="1"/>
            <p:nvPr>
              <p:custDataLst>
                <p:tags r:id="rId18"/>
              </p:custDataLst>
            </p:nvPr>
          </p:nvSpPr>
          <p:spPr>
            <a:xfrm>
              <a:off x="4087749" y="51149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只檢索訓練資料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7200900" y="2819400"/>
              <a:ext cx="895350" cy="1323975"/>
            </a:xfrm>
            <a:custGeom>
              <a:avLst/>
              <a:gdLst/>
              <a:ahLst/>
              <a:cxnLst/>
              <a:rect l="l" t="t" r="r" b="b"/>
              <a:pathLst>
                <a:path w="895350" h="1323975">
                  <a:moveTo>
                    <a:pt x="0" y="1323975"/>
                  </a:moveTo>
                  <a:lnTo>
                    <a:pt x="419100" y="1323975"/>
                  </a:lnTo>
                  <a:lnTo>
                    <a:pt x="419100" y="0"/>
                  </a:lnTo>
                  <a:lnTo>
                    <a:pt x="8953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8029575" y="2771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6" name="TextBox 66"/>
            <p:cNvSpPr txBox="1"/>
            <p:nvPr>
              <p:custDataLst>
                <p:tags r:id="rId19"/>
              </p:custDataLst>
            </p:nvPr>
          </p:nvSpPr>
          <p:spPr>
            <a:xfrm>
              <a:off x="8087487" y="1612900"/>
              <a:ext cx="17282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 本機</a:t>
              </a:r>
              <a:r>
                <a:rPr lang="en-US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096250" y="2286000"/>
              <a:ext cx="3486150" cy="106680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8" name="TextBox 68"/>
            <p:cNvSpPr txBox="1"/>
            <p:nvPr>
              <p:custDataLst>
                <p:tags r:id="rId20"/>
              </p:custDataLst>
            </p:nvPr>
          </p:nvSpPr>
          <p:spPr>
            <a:xfrm>
              <a:off x="8879682" y="2501900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判定＋案例證據</a:t>
              </a:r>
            </a:p>
          </p:txBody>
        </p:sp>
        <p:sp>
          <p:nvSpPr>
            <p:cNvPr id="69" name="TextBox 69"/>
            <p:cNvSpPr txBox="1"/>
            <p:nvPr>
              <p:custDataLst>
                <p:tags r:id="rId21"/>
              </p:custDataLst>
            </p:nvPr>
          </p:nvSpPr>
          <p:spPr>
            <a:xfrm>
              <a:off x="9138380" y="28924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核對同一事件</a:t>
              </a:r>
            </a:p>
          </p:txBody>
        </p:sp>
        <p:sp>
          <p:nvSpPr>
            <p:cNvPr id="70" name="Freeform 70"/>
            <p:cNvSpPr/>
            <p:nvPr/>
          </p:nvSpPr>
          <p:spPr>
            <a:xfrm>
              <a:off x="8658225" y="3352800"/>
              <a:ext cx="1181100" cy="361950"/>
            </a:xfrm>
            <a:custGeom>
              <a:avLst/>
              <a:gdLst/>
              <a:ahLst/>
              <a:cxnLst/>
              <a:rect l="l" t="t" r="r" b="b"/>
              <a:pathLst>
                <a:path w="1181100" h="361950">
                  <a:moveTo>
                    <a:pt x="1181100" y="0"/>
                  </a:moveTo>
                  <a:lnTo>
                    <a:pt x="1181100" y="180975"/>
                  </a:lnTo>
                  <a:lnTo>
                    <a:pt x="0" y="180975"/>
                  </a:ln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86106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9839325" y="3533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97917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9839325" y="3533775"/>
              <a:ext cx="1181100" cy="180975"/>
            </a:xfrm>
            <a:custGeom>
              <a:avLst/>
              <a:gdLst/>
              <a:ahLst/>
              <a:cxnLst/>
              <a:rect l="l" t="t" r="r" b="b"/>
              <a:pathLst>
                <a:path w="1181100" h="180975">
                  <a:moveTo>
                    <a:pt x="0" y="0"/>
                  </a:moveTo>
                  <a:lnTo>
                    <a:pt x="1181100" y="0"/>
                  </a:lnTo>
                  <a:lnTo>
                    <a:pt x="118110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109728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80962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7" name="TextBox 77"/>
            <p:cNvSpPr txBox="1"/>
            <p:nvPr>
              <p:custDataLst>
                <p:tags r:id="rId22"/>
              </p:custDataLst>
            </p:nvPr>
          </p:nvSpPr>
          <p:spPr>
            <a:xfrm>
              <a:off x="8378190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92773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9" name="TextBox 79"/>
            <p:cNvSpPr txBox="1"/>
            <p:nvPr>
              <p:custDataLst>
                <p:tags r:id="rId23"/>
              </p:custDataLst>
            </p:nvPr>
          </p:nvSpPr>
          <p:spPr>
            <a:xfrm>
              <a:off x="9559290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104584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1" name="TextBox 81"/>
            <p:cNvSpPr txBox="1"/>
            <p:nvPr>
              <p:custDataLst>
                <p:tags r:id="rId24"/>
              </p:custDataLst>
            </p:nvPr>
          </p:nvSpPr>
          <p:spPr>
            <a:xfrm>
              <a:off x="10619232" y="38989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82" name="TextBox 82"/>
            <p:cNvSpPr txBox="1"/>
            <p:nvPr>
              <p:custDataLst>
                <p:tags r:id="rId25"/>
              </p:custDataLst>
            </p:nvPr>
          </p:nvSpPr>
          <p:spPr>
            <a:xfrm>
              <a:off x="8086725" y="4724400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保留正式分類</a:t>
              </a:r>
            </a:p>
          </p:txBody>
        </p:sp>
        <p:sp>
          <p:nvSpPr>
            <p:cNvPr id="83" name="TextBox 83"/>
            <p:cNvSpPr txBox="1"/>
            <p:nvPr>
              <p:custDataLst>
                <p:tags r:id="rId26"/>
              </p:custDataLst>
            </p:nvPr>
          </p:nvSpPr>
          <p:spPr>
            <a:xfrm>
              <a:off x="8088249" y="511492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稽核結論附回事件紀錄</a:t>
              </a:r>
            </a:p>
          </p:txBody>
        </p:sp>
        <p:sp>
          <p:nvSpPr>
            <p:cNvPr id="84" name="TextBox 84"/>
            <p:cNvSpPr txBox="1"/>
            <p:nvPr>
              <p:custDataLst>
                <p:tags r:id="rId27"/>
              </p:custDataLst>
            </p:nvPr>
          </p:nvSpPr>
          <p:spPr>
            <a:xfrm>
              <a:off x="600456" y="5765800"/>
              <a:ext cx="52703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：分類結果與檢索證據一路可追溯。</a:t>
              </a:r>
            </a:p>
          </p:txBody>
        </p:sp>
      </p:grpSp>
      <p:grpSp>
        <p:nvGrpSpPr>
          <p:cNvPr id="89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86" name="Line 86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87" name="TextBox 87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8" name="TextBox 88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05 / 09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6392799" cy="1082802"/>
            <a:chOff x="593598" y="257175"/>
            <a:chExt cx="6392799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7"/>
              </p:custDataLst>
            </p:nvPr>
          </p:nvSpPr>
          <p:spPr>
            <a:xfrm>
              <a:off x="755523" y="314325"/>
              <a:ext cx="113078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CONTROL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18"/>
              </p:custDataLst>
            </p:nvPr>
          </p:nvSpPr>
          <p:spPr>
            <a:xfrm>
              <a:off x="593598" y="723900"/>
              <a:ext cx="639279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受控執行，留下可回復的處置紀錄</a:t>
              </a:r>
            </a:p>
          </p:txBody>
        </p:sp>
      </p:grpSp>
      <p:grpSp>
        <p:nvGrpSpPr>
          <p:cNvPr id="66" name="page-content"/>
          <p:cNvGrpSpPr/>
          <p:nvPr/>
        </p:nvGrpSpPr>
        <p:grpSpPr>
          <a:xfrm>
            <a:off x="609600" y="1857375"/>
            <a:ext cx="10972800" cy="4238625"/>
            <a:chOff x="609600" y="1857375"/>
            <a:chExt cx="10972800" cy="4238625"/>
          </a:xfrm>
        </p:grpSpPr>
        <p:sp>
          <p:nvSpPr>
            <p:cNvPr id="6" name="Rectangle 6"/>
            <p:cNvSpPr/>
            <p:nvPr/>
          </p:nvSpPr>
          <p:spPr>
            <a:xfrm>
              <a:off x="6096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81153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</a:t>
              </a:r>
            </a:p>
          </p:txBody>
        </p:sp>
        <p:grpSp>
          <p:nvGrpSpPr>
            <p:cNvPr id="11" name="Group 11"/>
            <p:cNvGrpSpPr/>
            <p:nvPr/>
          </p:nvGrpSpPr>
          <p:grpSpPr>
            <a:xfrm>
              <a:off x="1532930" y="2362795"/>
              <a:ext cx="811411" cy="949524"/>
              <a:chOff x="1532930" y="2362795"/>
              <a:chExt cx="811411" cy="9495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532930" y="2362795"/>
                <a:ext cx="725091" cy="932259"/>
              </a:xfrm>
              <a:custGeom>
                <a:avLst/>
                <a:gdLst/>
                <a:ahLst/>
                <a:cxnLst/>
                <a:rect l="l" t="t" r="r" b="b"/>
                <a:pathLst>
                  <a:path w="725091" h="932259">
                    <a:moveTo>
                      <a:pt x="362545" y="0"/>
                    </a:moveTo>
                    <a:lnTo>
                      <a:pt x="725091" y="155377"/>
                    </a:lnTo>
                    <a:lnTo>
                      <a:pt x="725091" y="431602"/>
                    </a:lnTo>
                    <a:cubicBezTo>
                      <a:pt x="725091" y="656034"/>
                      <a:pt x="552450" y="811411"/>
                      <a:pt x="362545" y="932259"/>
                    </a:cubicBezTo>
                    <a:cubicBezTo>
                      <a:pt x="172641" y="811411"/>
                      <a:pt x="0" y="656034"/>
                      <a:pt x="0" y="431602"/>
                    </a:cubicBezTo>
                    <a:lnTo>
                      <a:pt x="0" y="155377"/>
                    </a:lnTo>
                    <a:close/>
                  </a:path>
                </a:pathLst>
              </a:custGeom>
              <a:solidFill>
                <a:schemeClr val="lt1"/>
              </a:solidFill>
              <a:ln w="51792" cap="rnd">
                <a:solidFill>
                  <a:schemeClr val="accent1"/>
                </a:solidFill>
                <a:round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705570" y="2656284"/>
                <a:ext cx="397073" cy="276225"/>
              </a:xfrm>
              <a:custGeom>
                <a:avLst/>
                <a:gdLst/>
                <a:ahLst/>
                <a:cxnLst/>
                <a:rect l="l" t="t" r="r" b="b"/>
                <a:pathLst>
                  <a:path w="397073" h="276225">
                    <a:moveTo>
                      <a:pt x="0" y="138112"/>
                    </a:moveTo>
                    <a:lnTo>
                      <a:pt x="138112" y="276225"/>
                    </a:lnTo>
                    <a:lnTo>
                      <a:pt x="397073" y="0"/>
                    </a:lnTo>
                  </a:path>
                </a:pathLst>
              </a:custGeom>
              <a:noFill/>
              <a:ln w="69056" cap="rnd">
                <a:solidFill>
                  <a:schemeClr val="accent1"/>
                </a:solidFill>
                <a:round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119908" y="3018830"/>
                <a:ext cx="224433" cy="293489"/>
              </a:xfrm>
              <a:custGeom>
                <a:avLst/>
                <a:gdLst/>
                <a:ahLst/>
                <a:cxnLst/>
                <a:rect l="l" t="t" r="r" b="b"/>
                <a:pathLst>
                  <a:path w="224433" h="293489">
                    <a:moveTo>
                      <a:pt x="51792" y="0"/>
                    </a:moveTo>
                    <a:lnTo>
                      <a:pt x="224433" y="0"/>
                    </a:lnTo>
                    <a:lnTo>
                      <a:pt x="224433" y="207169"/>
                    </a:lnTo>
                    <a:lnTo>
                      <a:pt x="0" y="207169"/>
                    </a:lnTo>
                    <a:moveTo>
                      <a:pt x="86320" y="120848"/>
                    </a:moveTo>
                    <a:lnTo>
                      <a:pt x="0" y="207169"/>
                    </a:lnTo>
                    <a:lnTo>
                      <a:pt x="86320" y="293489"/>
                    </a:lnTo>
                  </a:path>
                </a:pathLst>
              </a:custGeom>
              <a:noFill/>
              <a:ln w="5179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2" name="TextBox 12"/>
            <p:cNvSpPr txBox="1"/>
            <p:nvPr>
              <p:custDataLst>
                <p:tags r:id="rId4"/>
              </p:custDataLst>
            </p:nvPr>
          </p:nvSpPr>
          <p:spPr>
            <a:xfrm>
              <a:off x="1262558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政策檢查</a:t>
              </a:r>
            </a:p>
          </p:txBody>
        </p:sp>
        <p:sp>
          <p:nvSpPr>
            <p:cNvPr id="13" name="TextBox 13"/>
            <p:cNvSpPr txBox="1"/>
            <p:nvPr>
              <p:custDataLst>
                <p:tags r:id="rId5"/>
              </p:custDataLst>
            </p:nvPr>
          </p:nvSpPr>
          <p:spPr>
            <a:xfrm>
              <a:off x="985273" y="3927475"/>
              <a:ext cx="17727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範圍·允許動作·期限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31813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3432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099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TextBox 17"/>
            <p:cNvSpPr txBox="1"/>
            <p:nvPr>
              <p:custDataLst>
                <p:tags r:id="rId6"/>
              </p:custDataLst>
            </p:nvPr>
          </p:nvSpPr>
          <p:spPr>
            <a:xfrm>
              <a:off x="361188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4310062" y="2495550"/>
              <a:ext cx="771526" cy="685800"/>
              <a:chOff x="4310062" y="2495550"/>
              <a:chExt cx="771526" cy="6858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4310062" y="2495550"/>
                <a:ext cx="771525" cy="68580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14288">
                <a:solidFill>
                  <a:schemeClr val="accent1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4310062" y="27241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310062" y="29527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56723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485298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4452938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4767262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456723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485298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</p:grpSp>
        <p:sp>
          <p:nvSpPr>
            <p:cNvPr id="28" name="TextBox 28"/>
            <p:cNvSpPr txBox="1"/>
            <p:nvPr>
              <p:custDataLst>
                <p:tags r:id="rId7"/>
              </p:custDataLst>
            </p:nvPr>
          </p:nvSpPr>
          <p:spPr>
            <a:xfrm>
              <a:off x="4062908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套用規則</a:t>
              </a:r>
            </a:p>
          </p:txBody>
        </p:sp>
        <p:sp>
          <p:nvSpPr>
            <p:cNvPr id="29" name="TextBox 29"/>
            <p:cNvSpPr txBox="1"/>
            <p:nvPr>
              <p:custDataLst>
                <p:tags r:id="rId8"/>
              </p:custDataLst>
            </p:nvPr>
          </p:nvSpPr>
          <p:spPr>
            <a:xfrm>
              <a:off x="3856672" y="39274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受允許策略才執行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598170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614362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103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3" name="TextBox 33"/>
            <p:cNvSpPr txBox="1"/>
            <p:nvPr>
              <p:custDataLst>
                <p:tags r:id="rId9"/>
              </p:custDataLst>
            </p:nvPr>
          </p:nvSpPr>
          <p:spPr>
            <a:xfrm>
              <a:off x="641223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</a:t>
              </a:r>
            </a:p>
          </p:txBody>
        </p:sp>
        <p:grpSp>
          <p:nvGrpSpPr>
            <p:cNvPr id="39" name="Group 39"/>
            <p:cNvGrpSpPr/>
            <p:nvPr/>
          </p:nvGrpSpPr>
          <p:grpSpPr>
            <a:xfrm>
              <a:off x="7210425" y="2452688"/>
              <a:ext cx="571500" cy="771524"/>
              <a:chOff x="7210425" y="2452688"/>
              <a:chExt cx="571500" cy="771524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210425" y="2452688"/>
                <a:ext cx="571500" cy="771525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4288">
                <a:solidFill>
                  <a:schemeClr val="accent1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7339012" y="2638425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7339012" y="2795588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7339012" y="2952750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7339012" y="31099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</p:grpSp>
        <p:sp>
          <p:nvSpPr>
            <p:cNvPr id="40" name="TextBox 40"/>
            <p:cNvSpPr txBox="1"/>
            <p:nvPr>
              <p:custDataLst>
                <p:tags r:id="rId10"/>
              </p:custDataLst>
            </p:nvPr>
          </p:nvSpPr>
          <p:spPr>
            <a:xfrm>
              <a:off x="6863258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讀回驗證</a:t>
              </a:r>
            </a:p>
          </p:txBody>
        </p:sp>
        <p:sp>
          <p:nvSpPr>
            <p:cNvPr id="41" name="TextBox 41"/>
            <p:cNvSpPr txBox="1"/>
            <p:nvPr>
              <p:custDataLst>
                <p:tags r:id="rId11"/>
              </p:custDataLst>
            </p:nvPr>
          </p:nvSpPr>
          <p:spPr>
            <a:xfrm>
              <a:off x="6556057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核對規則與事件回條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87820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89439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90106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5" name="TextBox 45"/>
            <p:cNvSpPr txBox="1"/>
            <p:nvPr>
              <p:custDataLst>
                <p:tags r:id="rId12"/>
              </p:custDataLst>
            </p:nvPr>
          </p:nvSpPr>
          <p:spPr>
            <a:xfrm>
              <a:off x="921258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04</a:t>
              </a:r>
            </a:p>
          </p:txBody>
        </p:sp>
        <p:grpSp>
          <p:nvGrpSpPr>
            <p:cNvPr id="51" name="Group 51"/>
            <p:cNvGrpSpPr/>
            <p:nvPr/>
          </p:nvGrpSpPr>
          <p:grpSpPr>
            <a:xfrm>
              <a:off x="9939338" y="2438400"/>
              <a:ext cx="714374" cy="800100"/>
              <a:chOff x="9939338" y="2438400"/>
              <a:chExt cx="714374" cy="800100"/>
            </a:xfrm>
          </p:grpSpPr>
          <p:sp>
            <p:nvSpPr>
              <p:cNvPr id="46" name="Ellipse 46"/>
              <p:cNvSpPr/>
              <p:nvPr/>
            </p:nvSpPr>
            <p:spPr>
              <a:xfrm>
                <a:off x="9939338" y="2481262"/>
                <a:ext cx="714375" cy="714375"/>
              </a:xfrm>
              <a:prstGeom prst="ellipse">
                <a:avLst/>
              </a:prstGeom>
              <a:solidFill>
                <a:schemeClr val="lt1"/>
              </a:solidFill>
              <a:ln w="35719">
                <a:solidFill>
                  <a:schemeClr val="accent1"/>
                </a:solidFill>
              </a:ln>
            </p:spPr>
          </p:sp>
          <p:sp>
            <p:nvSpPr>
              <p:cNvPr id="47" name="Line 47"/>
              <p:cNvSpPr/>
              <p:nvPr/>
            </p:nvSpPr>
            <p:spPr>
              <a:xfrm>
                <a:off x="10296525" y="2581275"/>
                <a:ext cx="952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7175">
                    <a:moveTo>
                      <a:pt x="0" y="257175"/>
                    </a:moveTo>
                    <a:lnTo>
                      <a:pt x="0" y="0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8" name="Line 48"/>
              <p:cNvSpPr/>
              <p:nvPr/>
            </p:nvSpPr>
            <p:spPr>
              <a:xfrm>
                <a:off x="10296525" y="2838450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0" y="0"/>
                    </a:moveTo>
                    <a:lnTo>
                      <a:pt x="200025" y="100012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9" name="Line 49"/>
              <p:cNvSpPr/>
              <p:nvPr/>
            </p:nvSpPr>
            <p:spPr>
              <a:xfrm>
                <a:off x="10296525" y="2438400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50" name="Line 50"/>
              <p:cNvSpPr/>
              <p:nvPr/>
            </p:nvSpPr>
            <p:spPr>
              <a:xfrm>
                <a:off x="10296525" y="3167062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</p:grpSp>
        <p:sp>
          <p:nvSpPr>
            <p:cNvPr id="52" name="TextBox 52"/>
            <p:cNvSpPr txBox="1"/>
            <p:nvPr>
              <p:custDataLst>
                <p:tags r:id="rId13"/>
              </p:custDataLst>
            </p:nvPr>
          </p:nvSpPr>
          <p:spPr>
            <a:xfrm>
              <a:off x="9663608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到期回復</a:t>
              </a:r>
            </a:p>
          </p:txBody>
        </p:sp>
        <p:sp>
          <p:nvSpPr>
            <p:cNvPr id="53" name="TextBox 53"/>
            <p:cNvSpPr txBox="1"/>
            <p:nvPr>
              <p:custDataLst>
                <p:tags r:id="rId14"/>
              </p:custDataLst>
            </p:nvPr>
          </p:nvSpPr>
          <p:spPr>
            <a:xfrm>
              <a:off x="9356407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撤銷並確認服務恢復</a:t>
              </a:r>
            </a:p>
          </p:txBody>
        </p:sp>
        <p:sp>
          <p:nvSpPr>
            <p:cNvPr id="54" name="Freeform 54"/>
            <p:cNvSpPr/>
            <p:nvPr/>
          </p:nvSpPr>
          <p:spPr>
            <a:xfrm>
              <a:off x="1895475" y="4305300"/>
              <a:ext cx="2143125" cy="581025"/>
            </a:xfrm>
            <a:custGeom>
              <a:avLst/>
              <a:gdLst/>
              <a:ahLst/>
              <a:cxnLst/>
              <a:rect l="l" t="t" r="r" b="b"/>
              <a:pathLst>
                <a:path w="2143125" h="581025">
                  <a:moveTo>
                    <a:pt x="0" y="0"/>
                  </a:moveTo>
                  <a:lnTo>
                    <a:pt x="0" y="581025"/>
                  </a:lnTo>
                  <a:lnTo>
                    <a:pt x="2143125" y="581025"/>
                  </a:lnTo>
                </a:path>
              </a:pathLst>
            </a:custGeom>
            <a:noFill/>
            <a:ln w="23812">
              <a:solidFill>
                <a:srgbClr val="53666E"/>
              </a:solidFill>
              <a:custDash>
                <a:ds d="240000" sp="200000"/>
              </a:custDash>
            </a:ln>
          </p:spPr>
        </p:sp>
        <p:sp>
          <p:nvSpPr>
            <p:cNvPr id="55" name="Freeform 55"/>
            <p:cNvSpPr/>
            <p:nvPr/>
          </p:nvSpPr>
          <p:spPr>
            <a:xfrm>
              <a:off x="3971925" y="4838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53666E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4038600" y="4552950"/>
              <a:ext cx="7543800" cy="657225"/>
            </a:xfrm>
            <a:prstGeom prst="roundRect">
              <a:avLst>
                <a:gd name="adj" fmla="val 11594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4285059" y="4698504"/>
              <a:ext cx="250032" cy="337542"/>
              <a:chOff x="4285059" y="4698504"/>
              <a:chExt cx="250032" cy="337542"/>
            </a:xfrm>
          </p:grpSpPr>
          <p:sp>
            <p:nvSpPr>
              <p:cNvPr id="57" name="Rectangle 57"/>
              <p:cNvSpPr/>
              <p:nvPr/>
            </p:nvSpPr>
            <p:spPr>
              <a:xfrm>
                <a:off x="4285059" y="4698504"/>
                <a:ext cx="250031" cy="33754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6251">
                <a:solidFill>
                  <a:schemeClr val="accent1"/>
                </a:solidFill>
              </a:ln>
            </p:spPr>
          </p:sp>
          <p:sp>
            <p:nvSpPr>
              <p:cNvPr id="58" name="Line 58"/>
              <p:cNvSpPr/>
              <p:nvPr/>
            </p:nvSpPr>
            <p:spPr>
              <a:xfrm>
                <a:off x="4341316" y="4779764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59" name="Line 59"/>
              <p:cNvSpPr/>
              <p:nvPr/>
            </p:nvSpPr>
            <p:spPr>
              <a:xfrm>
                <a:off x="4341316" y="4848523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60" name="Line 60"/>
              <p:cNvSpPr/>
              <p:nvPr/>
            </p:nvSpPr>
            <p:spPr>
              <a:xfrm>
                <a:off x="4341316" y="4917281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61" name="Line 61"/>
              <p:cNvSpPr/>
              <p:nvPr/>
            </p:nvSpPr>
            <p:spPr>
              <a:xfrm>
                <a:off x="4341316" y="4986040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</p:grpSp>
        <p:sp>
          <p:nvSpPr>
            <p:cNvPr id="63" name="TextBox 63"/>
            <p:cNvSpPr txBox="1"/>
            <p:nvPr>
              <p:custDataLst>
                <p:tags r:id="rId15"/>
              </p:custDataLst>
            </p:nvPr>
          </p:nvSpPr>
          <p:spPr>
            <a:xfrm>
              <a:off x="4752594" y="4721225"/>
              <a:ext cx="332346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複核／不確定 → 監測或蒐證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09600" y="5486400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5" name="TextBox 65"/>
            <p:cNvSpPr txBox="1"/>
            <p:nvPr>
              <p:custDataLst>
                <p:tags r:id="rId16"/>
              </p:custDataLst>
            </p:nvPr>
          </p:nvSpPr>
          <p:spPr>
            <a:xfrm>
              <a:off x="829818" y="5664200"/>
              <a:ext cx="77880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6 種隔離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情境：4 種套用規則、2 種監測或蒐證；背景保留與回復皆 6/6。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67" name="Line 67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68" name="TextBox 68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9" name="TextBox 69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06 / 09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544693" cy="1082802"/>
            <a:chOff x="593598" y="257175"/>
            <a:chExt cx="5544693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8"/>
              </p:custDataLst>
            </p:nvPr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19"/>
              </p:custDataLst>
            </p:nvPr>
          </p:nvSpPr>
          <p:spPr>
            <a:xfrm>
              <a:off x="593598" y="723900"/>
              <a:ext cx="554469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互補融合，提升整體辨識效果</a:t>
              </a:r>
            </a:p>
          </p:txBody>
        </p:sp>
      </p:grpSp>
      <p:grpSp>
        <p:nvGrpSpPr>
          <p:cNvPr id="29" name="page-content"/>
          <p:cNvGrpSpPr/>
          <p:nvPr/>
        </p:nvGrpSpPr>
        <p:grpSpPr>
          <a:xfrm>
            <a:off x="600456" y="1498600"/>
            <a:ext cx="10981944" cy="4642676"/>
            <a:chOff x="600456" y="1498600"/>
            <a:chExt cx="10981944" cy="4642676"/>
          </a:xfrm>
        </p:grpSpPr>
        <p:sp>
          <p:nvSpPr>
            <p:cNvPr id="6" name="TextBox 6"/>
            <p:cNvSpPr txBox="1"/>
            <p:nvPr>
              <p:custDataLst>
                <p:tags r:id="rId3"/>
              </p:custDataLst>
            </p:nvPr>
          </p:nvSpPr>
          <p:spPr>
            <a:xfrm>
              <a:off x="600456" y="1498600"/>
              <a:ext cx="38721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相同 18,998 筆封存測試</a:t>
              </a:r>
              <a:r>
                <a:rPr lang="en-US" sz="18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 · Macro-F1</a:t>
              </a:r>
            </a:p>
          </p:txBody>
        </p:sp>
        <p:grpSp>
          <p:nvGrpSpPr>
            <p:cNvPr id="22" name="detector-comparison-chartArea"/>
            <p:cNvGrpSpPr/>
            <p:nvPr/>
          </p:nvGrpSpPr>
          <p:grpSpPr>
            <a:xfrm>
              <a:off x="600837" y="2095500"/>
              <a:ext cx="7983329" cy="3592195"/>
              <a:chOff x="600837" y="2095500"/>
              <a:chExt cx="7983329" cy="3592195"/>
            </a:xfrm>
          </p:grpSpPr>
          <p:sp>
            <p:nvSpPr>
              <p:cNvPr id="7" name="Line 7"/>
              <p:cNvSpPr/>
              <p:nvPr/>
            </p:nvSpPr>
            <p:spPr>
              <a:xfrm>
                <a:off x="190500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8" name="TextBox 8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1731364" y="5394325"/>
                <a:ext cx="29964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0%</a:t>
                </a:r>
              </a:p>
            </p:txBody>
          </p:sp>
          <p:sp>
            <p:nvSpPr>
              <p:cNvPr id="9" name="Line 9"/>
              <p:cNvSpPr/>
              <p:nvPr/>
            </p:nvSpPr>
            <p:spPr>
              <a:xfrm>
                <a:off x="5000625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10" name="TextBox 10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4773649" y="5394325"/>
                <a:ext cx="40632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50%</a:t>
                </a:r>
              </a:p>
            </p:txBody>
          </p:sp>
          <p:sp>
            <p:nvSpPr>
              <p:cNvPr id="11" name="Line 11"/>
              <p:cNvSpPr/>
              <p:nvPr/>
            </p:nvSpPr>
            <p:spPr>
              <a:xfrm>
                <a:off x="809625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12" name="TextBox 12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7815934" y="5394325"/>
                <a:ext cx="5130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100%</a:t>
                </a:r>
              </a:p>
            </p:txBody>
          </p:sp>
          <p:sp>
            <p:nvSpPr>
              <p:cNvPr id="13" name="TextBox 13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600837" y="2479675"/>
                <a:ext cx="1008164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PBCNN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1905000" y="2419350"/>
                <a:ext cx="4937396" cy="400050"/>
              </a:xfrm>
              <a:prstGeom prst="rect">
                <a:avLst/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6947933" y="24796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79.75%</a:t>
                </a:r>
              </a:p>
            </p:txBody>
          </p:sp>
          <p:sp>
            <p:nvSpPr>
              <p:cNvPr id="16" name="TextBox 16"/>
              <p:cNvSpPr txBox="1"/>
              <p:nvPr>
                <p:custDataLst>
                  <p:tags r:id="rId14"/>
                </p:custDataLst>
              </p:nvPr>
            </p:nvSpPr>
            <p:spPr>
              <a:xfrm>
                <a:off x="600837" y="3527425"/>
                <a:ext cx="859446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CTBM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1905000" y="3467100"/>
                <a:ext cx="5702313" cy="400050"/>
              </a:xfrm>
              <a:prstGeom prst="rect">
                <a:avLst/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7712850" y="352742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92.10%</a:t>
                </a:r>
              </a:p>
            </p:txBody>
          </p:sp>
          <p:sp>
            <p:nvSpPr>
              <p:cNvPr id="19" name="TextBox 19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600837" y="4575175"/>
                <a:ext cx="1245309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OOF Gate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1905000" y="4514850"/>
                <a:ext cx="5760981" cy="40005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>
                <p:custDataLst>
                  <p:tags r:id="rId17"/>
                </p:custDataLst>
              </p:nvPr>
            </p:nvSpPr>
            <p:spPr>
              <a:xfrm>
                <a:off x="7771518" y="45751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93.05%</a:t>
                </a:r>
              </a:p>
            </p:txBody>
          </p:sp>
        </p:grpSp>
        <p:sp>
          <p:nvSpPr>
            <p:cNvPr id="23" name="Rectangle 23"/>
            <p:cNvSpPr/>
            <p:nvPr/>
          </p:nvSpPr>
          <p:spPr>
            <a:xfrm>
              <a:off x="9077325" y="2105025"/>
              <a:ext cx="2505075" cy="3133725"/>
            </a:xfrm>
            <a:prstGeom prst="roundRect">
              <a:avLst>
                <a:gd name="adj" fmla="val 3042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24" name="TextBox 24"/>
            <p:cNvSpPr txBox="1"/>
            <p:nvPr>
              <p:custDataLst>
                <p:tags r:id="rId4"/>
              </p:custDataLst>
            </p:nvPr>
          </p:nvSpPr>
          <p:spPr>
            <a:xfrm>
              <a:off x="9305544" y="2387600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整體準確率</a:t>
              </a:r>
            </a:p>
          </p:txBody>
        </p:sp>
        <p:sp>
          <p:nvSpPr>
            <p:cNvPr id="25" name="TextBox 25"/>
            <p:cNvSpPr txBox="1"/>
            <p:nvPr>
              <p:custDataLst>
                <p:tags r:id="rId5"/>
              </p:custDataLst>
            </p:nvPr>
          </p:nvSpPr>
          <p:spPr>
            <a:xfrm>
              <a:off x="9297162" y="3041650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98.08%</a:t>
              </a:r>
            </a:p>
          </p:txBody>
        </p:sp>
        <p:sp>
          <p:nvSpPr>
            <p:cNvPr id="26" name="TextBox 26"/>
            <p:cNvSpPr txBox="1"/>
            <p:nvPr>
              <p:custDataLst>
                <p:tags r:id="rId6"/>
              </p:custDataLst>
            </p:nvPr>
          </p:nvSpPr>
          <p:spPr>
            <a:xfrm>
              <a:off x="9305925" y="3819525"/>
              <a:ext cx="111257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類分類</a:t>
              </a:r>
            </a:p>
          </p:txBody>
        </p:sp>
        <p:sp>
          <p:nvSpPr>
            <p:cNvPr id="27" name="TextBox 27"/>
            <p:cNvSpPr txBox="1"/>
            <p:nvPr>
              <p:custDataLst>
                <p:tags r:id="rId7"/>
              </p:custDataLst>
            </p:nvPr>
          </p:nvSpPr>
          <p:spPr>
            <a:xfrm>
              <a:off x="9307449" y="4371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同一封存測試集</a:t>
              </a:r>
            </a:p>
          </p:txBody>
        </p:sp>
        <p:sp>
          <p:nvSpPr>
            <p:cNvPr id="28" name="TextBox 28"/>
            <p:cNvSpPr txBox="1"/>
            <p:nvPr>
              <p:custDataLst>
                <p:tags r:id="rId8"/>
              </p:custDataLst>
            </p:nvPr>
          </p:nvSpPr>
          <p:spPr>
            <a:xfrm>
              <a:off x="600837" y="5803900"/>
              <a:ext cx="80013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融合相較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PBCNN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13.30 個百分點；相較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CTBM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0.95 個百分點。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30" name="Line 3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31" name="TextBox 31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2" name="TextBox 32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07 / 09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270688" cy="1082802"/>
            <a:chOff x="593598" y="257175"/>
            <a:chExt cx="5270688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9"/>
              </p:custDataLst>
            </p:nvPr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0"/>
              </p:custDataLst>
            </p:nvPr>
          </p:nvSpPr>
          <p:spPr>
            <a:xfrm>
              <a:off x="593598" y="723900"/>
              <a:ext cx="52706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案例提供證據，</a:t>
              </a:r>
              <a:r>
                <a:rPr lang="en-US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完成分流</a:t>
              </a:r>
            </a:p>
          </p:txBody>
        </p:sp>
      </p:grpSp>
      <p:grpSp>
        <p:nvGrpSpPr>
          <p:cNvPr id="42" name="page-content"/>
          <p:cNvGrpSpPr/>
          <p:nvPr/>
        </p:nvGrpSpPr>
        <p:grpSpPr>
          <a:xfrm>
            <a:off x="609600" y="1809750"/>
            <a:ext cx="10972800" cy="4333875"/>
            <a:chOff x="609600" y="1809750"/>
            <a:chExt cx="10972800" cy="4333875"/>
          </a:xfrm>
        </p:grpSpPr>
        <p:sp>
          <p:nvSpPr>
            <p:cNvPr id="6" name="Rectangle 6"/>
            <p:cNvSpPr/>
            <p:nvPr/>
          </p:nvSpPr>
          <p:spPr>
            <a:xfrm>
              <a:off x="609600" y="1809750"/>
              <a:ext cx="3448050" cy="3514725"/>
            </a:xfrm>
            <a:prstGeom prst="roundRect">
              <a:avLst>
                <a:gd name="adj" fmla="val 221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828675" y="1981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檢索效果</a:t>
              </a:r>
            </a:p>
          </p:txBody>
        </p:sp>
        <p:sp>
          <p:nvSpPr>
            <p:cNvPr id="8" name="TextBox 8"/>
            <p:cNvSpPr txBox="1"/>
            <p:nvPr>
              <p:custDataLst>
                <p:tags r:id="rId4"/>
              </p:custDataLst>
            </p:nvPr>
          </p:nvSpPr>
          <p:spPr>
            <a:xfrm>
              <a:off x="819912" y="2498725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97.62%</a:t>
              </a:r>
            </a:p>
          </p:txBody>
        </p:sp>
        <p:sp>
          <p:nvSpPr>
            <p:cNvPr id="9" name="TextBox 9"/>
            <p:cNvSpPr txBox="1"/>
            <p:nvPr>
              <p:custDataLst>
                <p:tags r:id="rId5"/>
              </p:custDataLst>
            </p:nvPr>
          </p:nvSpPr>
          <p:spPr>
            <a:xfrm>
              <a:off x="829056" y="3089275"/>
              <a:ext cx="14841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命中率</a:t>
              </a:r>
            </a:p>
          </p:txBody>
        </p:sp>
        <p:sp>
          <p:nvSpPr>
            <p:cNvPr id="10" name="TextBox 10"/>
            <p:cNvSpPr txBox="1"/>
            <p:nvPr>
              <p:custDataLst>
                <p:tags r:id="rId6"/>
              </p:custDataLst>
            </p:nvPr>
          </p:nvSpPr>
          <p:spPr>
            <a:xfrm>
              <a:off x="821436" y="3651250"/>
              <a:ext cx="14806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93.89%</a:t>
              </a:r>
            </a:p>
          </p:txBody>
        </p:sp>
        <p:sp>
          <p:nvSpPr>
            <p:cNvPr id="11" name="TextBox 11"/>
            <p:cNvSpPr txBox="1"/>
            <p:nvPr>
              <p:custDataLst>
                <p:tags r:id="rId7"/>
              </p:custDataLst>
            </p:nvPr>
          </p:nvSpPr>
          <p:spPr>
            <a:xfrm>
              <a:off x="829056" y="4194175"/>
              <a:ext cx="21982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MRR@5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排序品質</a:t>
              </a:r>
            </a:p>
          </p:txBody>
        </p:sp>
        <p:sp>
          <p:nvSpPr>
            <p:cNvPr id="12" name="TextBox 12"/>
            <p:cNvSpPr txBox="1"/>
            <p:nvPr>
              <p:custDataLst>
                <p:tags r:id="rId8"/>
              </p:custDataLst>
            </p:nvPr>
          </p:nvSpPr>
          <p:spPr>
            <a:xfrm>
              <a:off x="830199" y="4829175"/>
              <a:ext cx="203464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1,550 案例／463 查詢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905375" y="1809750"/>
              <a:ext cx="5867400" cy="666750"/>
            </a:xfrm>
            <a:prstGeom prst="roundRect">
              <a:avLst>
                <a:gd name="adj" fmla="val 11429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4" name="TextBox 14"/>
            <p:cNvSpPr txBox="1"/>
            <p:nvPr>
              <p:custDataLst>
                <p:tags r:id="rId9"/>
              </p:custDataLst>
            </p:nvPr>
          </p:nvSpPr>
          <p:spPr>
            <a:xfrm>
              <a:off x="6097269" y="1987550"/>
              <a:ext cx="342011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463 筆事件 → 本機</a:t>
              </a:r>
              <a:r>
                <a:rPr lang="en-US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5486400" y="2476500"/>
              <a:ext cx="2352675" cy="723900"/>
            </a:xfrm>
            <a:custGeom>
              <a:avLst/>
              <a:gdLst/>
              <a:ahLst/>
              <a:cxnLst/>
              <a:rect l="l" t="t" r="r" b="b"/>
              <a:pathLst>
                <a:path w="2352675" h="723900">
                  <a:moveTo>
                    <a:pt x="2352675" y="0"/>
                  </a:moveTo>
                  <a:lnTo>
                    <a:pt x="2352675" y="361950"/>
                  </a:lnTo>
                  <a:lnTo>
                    <a:pt x="0" y="361950"/>
                  </a:lnTo>
                  <a:lnTo>
                    <a:pt x="0" y="7239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43877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839075" y="283845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791450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839075" y="2838450"/>
              <a:ext cx="2352675" cy="361950"/>
            </a:xfrm>
            <a:custGeom>
              <a:avLst/>
              <a:gdLst/>
              <a:ahLst/>
              <a:cxnLst/>
              <a:rect l="l" t="t" r="r" b="b"/>
              <a:pathLst>
                <a:path w="2352675" h="361950">
                  <a:moveTo>
                    <a:pt x="0" y="0"/>
                  </a:moveTo>
                  <a:lnTo>
                    <a:pt x="2352675" y="0"/>
                  </a:lnTo>
                  <a:lnTo>
                    <a:pt x="2352675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014412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7675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5337572" y="3356372"/>
              <a:ext cx="297656" cy="297656"/>
              <a:chOff x="5337572" y="3356372"/>
              <a:chExt cx="297656" cy="297656"/>
            </a:xfrm>
          </p:grpSpPr>
          <p:sp>
            <p:nvSpPr>
              <p:cNvPr id="22" name="Ellipse 22"/>
              <p:cNvSpPr/>
              <p:nvPr/>
            </p:nvSpPr>
            <p:spPr>
              <a:xfrm>
                <a:off x="5337572" y="3356372"/>
                <a:ext cx="297656" cy="297656"/>
              </a:xfrm>
              <a:prstGeom prst="ellipse">
                <a:avLst/>
              </a:prstGeom>
              <a:solidFill>
                <a:srgbClr val="EAF0F4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5403056" y="3505200"/>
                <a:ext cx="59531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59531">
                    <a:moveTo>
                      <a:pt x="0" y="0"/>
                    </a:moveTo>
                    <a:lnTo>
                      <a:pt x="59531" y="59531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462588" y="3439716"/>
                <a:ext cx="113109" cy="125016"/>
              </a:xfrm>
              <a:custGeom>
                <a:avLst/>
                <a:gdLst/>
                <a:ahLst/>
                <a:cxnLst/>
                <a:rect l="l" t="t" r="r" b="b"/>
                <a:pathLst>
                  <a:path w="113109" h="125016">
                    <a:moveTo>
                      <a:pt x="0" y="125016"/>
                    </a:moveTo>
                    <a:lnTo>
                      <a:pt x="113109" y="0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>
              <p:custDataLst>
                <p:tags r:id="rId10"/>
              </p:custDataLst>
            </p:nvPr>
          </p:nvSpPr>
          <p:spPr>
            <a:xfrm>
              <a:off x="5113998" y="3730625"/>
              <a:ext cx="65272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415</a:t>
              </a:r>
            </a:p>
          </p:txBody>
        </p:sp>
        <p:sp>
          <p:nvSpPr>
            <p:cNvPr id="27" name="TextBox 27"/>
            <p:cNvSpPr txBox="1"/>
            <p:nvPr>
              <p:custDataLst>
                <p:tags r:id="rId11"/>
              </p:custDataLst>
            </p:nvPr>
          </p:nvSpPr>
          <p:spPr>
            <a:xfrm>
              <a:off x="5206365" y="42418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29425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702153" y="3368278"/>
              <a:ext cx="279797" cy="279797"/>
              <a:chOff x="7702153" y="3368278"/>
              <a:chExt cx="279797" cy="279797"/>
            </a:xfrm>
          </p:grpSpPr>
          <p:sp>
            <p:nvSpPr>
              <p:cNvPr id="29" name="Ellipse 29"/>
              <p:cNvSpPr/>
              <p:nvPr/>
            </p:nvSpPr>
            <p:spPr>
              <a:xfrm>
                <a:off x="7702153" y="3368278"/>
                <a:ext cx="202406" cy="202406"/>
              </a:xfrm>
              <a:prstGeom prst="ellipse">
                <a:avLst/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7880747" y="3546872"/>
                <a:ext cx="101203" cy="101203"/>
              </a:xfrm>
              <a:custGeom>
                <a:avLst/>
                <a:gdLst/>
                <a:ahLst/>
                <a:cxnLst/>
                <a:rect l="l" t="t" r="r" b="b"/>
                <a:pathLst>
                  <a:path w="101203" h="101203">
                    <a:moveTo>
                      <a:pt x="0" y="0"/>
                    </a:moveTo>
                    <a:lnTo>
                      <a:pt x="101203" y="101203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>
              <p:custDataLst>
                <p:tags r:id="rId12"/>
              </p:custDataLst>
            </p:nvPr>
          </p:nvSpPr>
          <p:spPr>
            <a:xfrm>
              <a:off x="7570508" y="37306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13</a:t>
              </a:r>
            </a:p>
          </p:txBody>
        </p:sp>
        <p:sp>
          <p:nvSpPr>
            <p:cNvPr id="33" name="TextBox 33"/>
            <p:cNvSpPr txBox="1"/>
            <p:nvPr>
              <p:custDataLst>
                <p:tags r:id="rId13"/>
              </p:custDataLst>
            </p:nvPr>
          </p:nvSpPr>
          <p:spPr>
            <a:xfrm>
              <a:off x="7559040" y="42418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8210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10042922" y="3356372"/>
              <a:ext cx="297656" cy="297656"/>
            </a:xfrm>
            <a:prstGeom prst="ellipse">
              <a:avLst/>
            </a:prstGeom>
            <a:solidFill>
              <a:srgbClr val="EAF0F4"/>
            </a:solidFill>
            <a:ln w="14883">
              <a:solidFill>
                <a:schemeClr val="accent1"/>
              </a:solidFill>
            </a:ln>
          </p:spPr>
        </p:sp>
        <p:sp>
          <p:nvSpPr>
            <p:cNvPr id="36" name="TextBox 36"/>
            <p:cNvSpPr txBox="1"/>
            <p:nvPr>
              <p:custDataLst>
                <p:tags r:id="rId14"/>
              </p:custDataLst>
            </p:nvPr>
          </p:nvSpPr>
          <p:spPr>
            <a:xfrm>
              <a:off x="10092036" y="3365500"/>
              <a:ext cx="143866" cy="3461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7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?</a:t>
              </a:r>
            </a:p>
          </p:txBody>
        </p:sp>
        <p:sp>
          <p:nvSpPr>
            <p:cNvPr id="37" name="TextBox 37"/>
            <p:cNvSpPr txBox="1"/>
            <p:nvPr>
              <p:custDataLst>
                <p:tags r:id="rId15"/>
              </p:custDataLst>
            </p:nvPr>
          </p:nvSpPr>
          <p:spPr>
            <a:xfrm>
              <a:off x="9923183" y="37306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35</a:t>
              </a:r>
            </a:p>
          </p:txBody>
        </p:sp>
        <p:sp>
          <p:nvSpPr>
            <p:cNvPr id="38" name="TextBox 38"/>
            <p:cNvSpPr txBox="1"/>
            <p:nvPr>
              <p:custDataLst>
                <p:tags r:id="rId16"/>
              </p:custDataLst>
            </p:nvPr>
          </p:nvSpPr>
          <p:spPr>
            <a:xfrm>
              <a:off x="9790557" y="42418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39" name="TextBox 39"/>
            <p:cNvSpPr txBox="1"/>
            <p:nvPr>
              <p:custDataLst>
                <p:tags r:id="rId17"/>
              </p:custDataLst>
            </p:nvPr>
          </p:nvSpPr>
          <p:spPr>
            <a:xfrm>
              <a:off x="4467987" y="4908550"/>
              <a:ext cx="427839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支持精確率 97.11% · 正式分類保持可追溯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9600" y="5562600"/>
              <a:ext cx="10972800" cy="581025"/>
            </a:xfrm>
            <a:prstGeom prst="roundRect">
              <a:avLst>
                <a:gd name="adj" fmla="val 13115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41" name="TextBox 41"/>
            <p:cNvSpPr txBox="1"/>
            <p:nvPr>
              <p:custDataLst>
                <p:tags r:id="rId18"/>
              </p:custDataLst>
            </p:nvPr>
          </p:nvSpPr>
          <p:spPr>
            <a:xfrm>
              <a:off x="828675" y="5715000"/>
              <a:ext cx="679771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18 / 30 偵測誤判分流至複核或不確定；其餘 12 筆仍獲支持。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43" name="Line 43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44" name="TextBox 44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45" name="TextBox 45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08 / 09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5968746" cy="1082802"/>
            <a:chOff x="593598" y="257175"/>
            <a:chExt cx="5968746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5"/>
              </p:custDataLst>
            </p:nvPr>
          </p:nvSpPr>
          <p:spPr>
            <a:xfrm>
              <a:off x="755523" y="314325"/>
              <a:ext cx="304694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AI SECURITY FRAMEWORK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16"/>
              </p:custDataLst>
            </p:nvPr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一套可展示、可查核的資安框架</a:t>
              </a:r>
            </a:p>
          </p:txBody>
        </p:sp>
      </p:grpSp>
      <p:grpSp>
        <p:nvGrpSpPr>
          <p:cNvPr id="48" name="page-content"/>
          <p:cNvGrpSpPr/>
          <p:nvPr/>
        </p:nvGrpSpPr>
        <p:grpSpPr>
          <a:xfrm>
            <a:off x="595884" y="1527175"/>
            <a:ext cx="10986516" cy="4752594"/>
            <a:chOff x="595884" y="1527175"/>
            <a:chExt cx="10986516" cy="4752594"/>
          </a:xfrm>
        </p:grpSpPr>
        <p:sp>
          <p:nvSpPr>
            <p:cNvPr id="6" name="TextBox 6"/>
            <p:cNvSpPr txBox="1"/>
            <p:nvPr>
              <p:custDataLst>
                <p:tags r:id="rId3"/>
              </p:custDataLst>
            </p:nvPr>
          </p:nvSpPr>
          <p:spPr>
            <a:xfrm>
              <a:off x="595884" y="1527175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偵測有依據，稽核有證據，處置可回復。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710928" y="2951262"/>
              <a:ext cx="369094" cy="498276"/>
              <a:chOff x="1710928" y="2951262"/>
              <a:chExt cx="369094" cy="498276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1710928" y="2951262"/>
                <a:ext cx="369094" cy="498277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9227">
                <a:solidFill>
                  <a:schemeClr val="accent1"/>
                </a:solidFill>
              </a:ln>
            </p:spPr>
          </p:sp>
          <p:sp>
            <p:nvSpPr>
              <p:cNvPr id="9" name="Line 9"/>
              <p:cNvSpPr/>
              <p:nvPr/>
            </p:nvSpPr>
            <p:spPr>
              <a:xfrm>
                <a:off x="1793974" y="3071217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1793974" y="3172718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793974" y="3274219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793974" y="3375720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</p:grpSp>
        <p:sp>
          <p:nvSpPr>
            <p:cNvPr id="14" name="TextBox 14"/>
            <p:cNvSpPr txBox="1"/>
            <p:nvPr>
              <p:custDataLst>
                <p:tags r:id="rId4"/>
              </p:custDataLst>
            </p:nvPr>
          </p:nvSpPr>
          <p:spPr>
            <a:xfrm>
              <a:off x="130957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正式判定</a:t>
              </a:r>
            </a:p>
          </p:txBody>
        </p:sp>
        <p:sp>
          <p:nvSpPr>
            <p:cNvPr id="15" name="TextBox 15"/>
            <p:cNvSpPr txBox="1"/>
            <p:nvPr>
              <p:custDataLst>
                <p:tags r:id="rId5"/>
              </p:custDataLst>
            </p:nvPr>
          </p:nvSpPr>
          <p:spPr>
            <a:xfrm>
              <a:off x="1326832" y="4041775"/>
              <a:ext cx="10896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17 類＋信心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31813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3432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4465141" y="2969716"/>
              <a:ext cx="479823" cy="479823"/>
              <a:chOff x="4465141" y="2969716"/>
              <a:chExt cx="479823" cy="479823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4465141" y="2969716"/>
                <a:ext cx="350639" cy="350639"/>
              </a:xfrm>
              <a:prstGeom prst="ellipse">
                <a:avLst/>
              </a:prstGeom>
              <a:solidFill>
                <a:schemeClr val="lt1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769644" y="3274219"/>
                <a:ext cx="175320" cy="175320"/>
              </a:xfrm>
              <a:custGeom>
                <a:avLst/>
                <a:gdLst/>
                <a:ahLst/>
                <a:cxnLst/>
                <a:rect l="l" t="t" r="r" b="b"/>
                <a:pathLst>
                  <a:path w="175320" h="175320">
                    <a:moveTo>
                      <a:pt x="0" y="0"/>
                    </a:moveTo>
                    <a:lnTo>
                      <a:pt x="175320" y="175320"/>
                    </a:lnTo>
                  </a:path>
                </a:pathLst>
              </a:custGeom>
              <a:noFill/>
              <a:ln w="46137" cap="rnd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>
              <p:custDataLst>
                <p:tags r:id="rId6"/>
              </p:custDataLst>
            </p:nvPr>
          </p:nvSpPr>
          <p:spPr>
            <a:xfrm>
              <a:off x="410992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檢索證據</a:t>
              </a:r>
            </a:p>
          </p:txBody>
        </p:sp>
        <p:sp>
          <p:nvSpPr>
            <p:cNvPr id="23" name="TextBox 23"/>
            <p:cNvSpPr txBox="1"/>
            <p:nvPr>
              <p:custDataLst>
                <p:tags r:id="rId7"/>
              </p:custDataLst>
            </p:nvPr>
          </p:nvSpPr>
          <p:spPr>
            <a:xfrm>
              <a:off x="3952632" y="4041775"/>
              <a:ext cx="14387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訓練案例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598170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614362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103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265491" y="2969716"/>
              <a:ext cx="461368" cy="461368"/>
              <a:chOff x="7265491" y="2969716"/>
              <a:chExt cx="461368" cy="461368"/>
            </a:xfrm>
          </p:grpSpPr>
          <p:sp>
            <p:nvSpPr>
              <p:cNvPr id="27" name="Ellipse 27"/>
              <p:cNvSpPr/>
              <p:nvPr/>
            </p:nvSpPr>
            <p:spPr>
              <a:xfrm>
                <a:off x="7265491" y="2969716"/>
                <a:ext cx="461367" cy="461367"/>
              </a:xfrm>
              <a:prstGeom prst="ellipse">
                <a:avLst/>
              </a:prstGeom>
              <a:solidFill>
                <a:srgbClr val="EAF0F4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7366992" y="3200400"/>
                <a:ext cx="92273" cy="92273"/>
              </a:xfrm>
              <a:custGeom>
                <a:avLst/>
                <a:gdLst/>
                <a:ahLst/>
                <a:cxnLst/>
                <a:rect l="l" t="t" r="r" b="b"/>
                <a:pathLst>
                  <a:path w="92273" h="92273">
                    <a:moveTo>
                      <a:pt x="0" y="0"/>
                    </a:moveTo>
                    <a:lnTo>
                      <a:pt x="92273" y="92273"/>
                    </a:lnTo>
                  </a:path>
                </a:pathLst>
              </a:custGeom>
              <a:noFill/>
              <a:ln w="36909" cap="rnd">
                <a:solidFill>
                  <a:schemeClr val="accent1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7459266" y="3098899"/>
                <a:ext cx="175320" cy="193774"/>
              </a:xfrm>
              <a:custGeom>
                <a:avLst/>
                <a:gdLst/>
                <a:ahLst/>
                <a:cxnLst/>
                <a:rect l="l" t="t" r="r" b="b"/>
                <a:pathLst>
                  <a:path w="175320" h="193774">
                    <a:moveTo>
                      <a:pt x="0" y="193774"/>
                    </a:moveTo>
                    <a:lnTo>
                      <a:pt x="175320" y="0"/>
                    </a:lnTo>
                  </a:path>
                </a:pathLst>
              </a:custGeom>
              <a:noFill/>
              <a:ln w="36909" cap="rnd">
                <a:solidFill>
                  <a:schemeClr val="accent1"/>
                </a:solidFill>
              </a:ln>
            </p:spPr>
          </p:sp>
        </p:grpSp>
        <p:sp>
          <p:nvSpPr>
            <p:cNvPr id="31" name="TextBox 31"/>
            <p:cNvSpPr txBox="1"/>
            <p:nvPr>
              <p:custDataLst>
                <p:tags r:id="rId8"/>
              </p:custDataLst>
            </p:nvPr>
          </p:nvSpPr>
          <p:spPr>
            <a:xfrm>
              <a:off x="691027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32" name="TextBox 32"/>
            <p:cNvSpPr txBox="1"/>
            <p:nvPr>
              <p:custDataLst>
                <p:tags r:id="rId9"/>
              </p:custDataLst>
            </p:nvPr>
          </p:nvSpPr>
          <p:spPr>
            <a:xfrm>
              <a:off x="6556057" y="40417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87820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9439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0106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10065841" y="2942034"/>
              <a:ext cx="461368" cy="516732"/>
              <a:chOff x="10065841" y="2942034"/>
              <a:chExt cx="461368" cy="516732"/>
            </a:xfrm>
          </p:grpSpPr>
          <p:sp>
            <p:nvSpPr>
              <p:cNvPr id="36" name="Ellipse 36"/>
              <p:cNvSpPr/>
              <p:nvPr/>
            </p:nvSpPr>
            <p:spPr>
              <a:xfrm>
                <a:off x="10065841" y="2969716"/>
                <a:ext cx="461367" cy="461367"/>
              </a:xfrm>
              <a:prstGeom prst="ellipse">
                <a:avLst/>
              </a:prstGeom>
              <a:solidFill>
                <a:schemeClr val="lt1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10296525" y="3034308"/>
                <a:ext cx="9525" cy="16609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6092">
                    <a:moveTo>
                      <a:pt x="0" y="166092"/>
                    </a:moveTo>
                    <a:lnTo>
                      <a:pt x="0" y="0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10296525" y="3200400"/>
                <a:ext cx="129183" cy="64591"/>
              </a:xfrm>
              <a:custGeom>
                <a:avLst/>
                <a:gdLst/>
                <a:ahLst/>
                <a:cxnLst/>
                <a:rect l="l" t="t" r="r" b="b"/>
                <a:pathLst>
                  <a:path w="129183" h="64591">
                    <a:moveTo>
                      <a:pt x="0" y="0"/>
                    </a:moveTo>
                    <a:lnTo>
                      <a:pt x="129183" y="64591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10296525" y="2942034"/>
                <a:ext cx="9525" cy="4613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37">
                    <a:moveTo>
                      <a:pt x="0" y="0"/>
                    </a:moveTo>
                    <a:lnTo>
                      <a:pt x="0" y="46137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10296525" y="3412629"/>
                <a:ext cx="9525" cy="4613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37">
                    <a:moveTo>
                      <a:pt x="0" y="0"/>
                    </a:moveTo>
                    <a:lnTo>
                      <a:pt x="0" y="46137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</p:grpSp>
        <p:sp>
          <p:nvSpPr>
            <p:cNvPr id="42" name="TextBox 42"/>
            <p:cNvSpPr txBox="1"/>
            <p:nvPr>
              <p:custDataLst>
                <p:tags r:id="rId10"/>
              </p:custDataLst>
            </p:nvPr>
          </p:nvSpPr>
          <p:spPr>
            <a:xfrm>
              <a:off x="971062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43" name="TextBox 43"/>
            <p:cNvSpPr txBox="1"/>
            <p:nvPr>
              <p:custDataLst>
                <p:tags r:id="rId11"/>
              </p:custDataLst>
            </p:nvPr>
          </p:nvSpPr>
          <p:spPr>
            <a:xfrm>
              <a:off x="9558338" y="40417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讀回＋到期回復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9600" y="478155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rgbClr val="FFF4DD"/>
            </a:solidFill>
            <a:ln>
              <a:noFill/>
            </a:ln>
          </p:spPr>
        </p:sp>
        <p:sp>
          <p:nvSpPr>
            <p:cNvPr id="45" name="TextBox 45"/>
            <p:cNvSpPr txBox="1"/>
            <p:nvPr>
              <p:custDataLst>
                <p:tags r:id="rId12"/>
              </p:custDataLst>
            </p:nvPr>
          </p:nvSpPr>
          <p:spPr>
            <a:xfrm>
              <a:off x="3078995" y="4902200"/>
              <a:ext cx="59720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，串起分類、證據、判斷與回復紀錄。</a:t>
              </a:r>
            </a:p>
          </p:txBody>
        </p:sp>
        <p:sp>
          <p:nvSpPr>
            <p:cNvPr id="46" name="TextBox 46"/>
            <p:cNvSpPr txBox="1"/>
            <p:nvPr>
              <p:custDataLst>
                <p:tags r:id="rId13"/>
              </p:custDataLst>
            </p:nvPr>
          </p:nvSpPr>
          <p:spPr>
            <a:xfrm>
              <a:off x="599694" y="5511800"/>
              <a:ext cx="526682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類真實張量重跑 · 6 種隔離</a:t>
              </a:r>
              <a:r>
                <a:rPr lang="en-US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情境驗證</a:t>
              </a:r>
            </a:p>
          </p:txBody>
        </p:sp>
        <p:sp>
          <p:nvSpPr>
            <p:cNvPr id="47" name="TextBox 47"/>
            <p:cNvSpPr txBox="1"/>
            <p:nvPr>
              <p:custDataLst>
                <p:tags r:id="rId14"/>
              </p:custDataLst>
            </p:nvPr>
          </p:nvSpPr>
          <p:spPr>
            <a:xfrm>
              <a:off x="600456" y="5927725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感謝聆聽，敬請指教。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49" name="Line 49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50" name="TextBox 50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1" name="TextBox 51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09 / 09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2"/>
              </p:custDataLst>
            </p:nvPr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3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答詢圖解｜創新與整合</a:t>
              </a:r>
            </a:p>
          </p:txBody>
        </p:sp>
      </p:grpSp>
      <p:grpSp>
        <p:nvGrpSpPr>
          <p:cNvPr id="90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" name="TextBox 8"/>
            <p:cNvSpPr txBox="1"/>
            <p:nvPr>
              <p:custDataLst>
                <p:tags r:id="rId3"/>
              </p:custDataLst>
            </p:nvPr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Q1</a:t>
              </a:r>
            </a:p>
          </p:txBody>
        </p:sp>
        <p:sp>
          <p:nvSpPr>
            <p:cNvPr id="9" name="TextBox 9"/>
            <p:cNvSpPr txBox="1"/>
            <p:nvPr>
              <p:custDataLst>
                <p:tags r:id="rId4"/>
              </p:custDataLst>
            </p:nvPr>
          </p:nvSpPr>
          <p:spPr>
            <a:xfrm>
              <a:off x="1361694" y="1711325"/>
              <a:ext cx="58668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創新在哪裡？與一般</a:t>
              </a:r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IDS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加上</a:t>
              </a:r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RAG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有何不同？</a:t>
              </a:r>
            </a:p>
          </p:txBody>
        </p:sp>
        <p:grpSp>
          <p:nvGrpSpPr>
            <p:cNvPr id="13" name="Group 13"/>
            <p:cNvGrpSpPr/>
            <p:nvPr/>
          </p:nvGrpSpPr>
          <p:grpSpPr>
            <a:xfrm>
              <a:off x="1383506" y="2250281"/>
              <a:ext cx="700088" cy="700088"/>
              <a:chOff x="1383506" y="2250281"/>
              <a:chExt cx="700088" cy="700088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1483519" y="2350294"/>
                <a:ext cx="500062" cy="500062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1621036" y="2487811"/>
                <a:ext cx="225028" cy="225028"/>
              </a:xfrm>
              <a:prstGeom prst="roundRect">
                <a:avLst>
                  <a:gd name="adj" fmla="val 16667"/>
                </a:avLst>
              </a:prstGeom>
              <a:solidFill>
                <a:schemeClr val="accent3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83506" y="2250281"/>
                <a:ext cx="700088" cy="700088"/>
              </a:xfrm>
              <a:custGeom>
                <a:avLst/>
                <a:gdLst/>
                <a:ahLst/>
                <a:cxnLst/>
                <a:rect l="l" t="t" r="r" b="b"/>
                <a:pathLst>
                  <a:path w="700088" h="700088">
                    <a:moveTo>
                      <a:pt x="212527" y="0"/>
                    </a:moveTo>
                    <a:lnTo>
                      <a:pt x="212527" y="100012"/>
                    </a:lnTo>
                    <a:moveTo>
                      <a:pt x="350044" y="0"/>
                    </a:moveTo>
                    <a:lnTo>
                      <a:pt x="350044" y="100012"/>
                    </a:lnTo>
                    <a:moveTo>
                      <a:pt x="487561" y="0"/>
                    </a:moveTo>
                    <a:lnTo>
                      <a:pt x="487561" y="100012"/>
                    </a:lnTo>
                    <a:moveTo>
                      <a:pt x="212527" y="600075"/>
                    </a:moveTo>
                    <a:lnTo>
                      <a:pt x="212527" y="700088"/>
                    </a:lnTo>
                    <a:moveTo>
                      <a:pt x="350044" y="600075"/>
                    </a:moveTo>
                    <a:lnTo>
                      <a:pt x="350044" y="700088"/>
                    </a:lnTo>
                    <a:moveTo>
                      <a:pt x="487561" y="600075"/>
                    </a:moveTo>
                    <a:lnTo>
                      <a:pt x="487561" y="700088"/>
                    </a:lnTo>
                    <a:moveTo>
                      <a:pt x="0" y="212527"/>
                    </a:moveTo>
                    <a:lnTo>
                      <a:pt x="100012" y="212527"/>
                    </a:lnTo>
                    <a:moveTo>
                      <a:pt x="0" y="350044"/>
                    </a:moveTo>
                    <a:lnTo>
                      <a:pt x="100012" y="350044"/>
                    </a:lnTo>
                    <a:moveTo>
                      <a:pt x="0" y="487561"/>
                    </a:moveTo>
                    <a:lnTo>
                      <a:pt x="100012" y="487561"/>
                    </a:lnTo>
                    <a:moveTo>
                      <a:pt x="600075" y="212527"/>
                    </a:moveTo>
                    <a:lnTo>
                      <a:pt x="700088" y="212527"/>
                    </a:lnTo>
                    <a:moveTo>
                      <a:pt x="600075" y="350044"/>
                    </a:moveTo>
                    <a:lnTo>
                      <a:pt x="700088" y="350044"/>
                    </a:lnTo>
                    <a:moveTo>
                      <a:pt x="600075" y="487561"/>
                    </a:moveTo>
                    <a:lnTo>
                      <a:pt x="700088" y="487561"/>
                    </a:lnTo>
                  </a:path>
                </a:pathLst>
              </a:custGeom>
              <a:noFill/>
              <a:ln w="37505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4" name="TextBox 14"/>
            <p:cNvSpPr txBox="1"/>
            <p:nvPr>
              <p:custDataLst>
                <p:tags r:id="rId5"/>
              </p:custDataLst>
            </p:nvPr>
          </p:nvSpPr>
          <p:spPr>
            <a:xfrm>
              <a:off x="1254728" y="30543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互補判定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22574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1242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3421261" y="2275284"/>
              <a:ext cx="662583" cy="650082"/>
              <a:chOff x="3421261" y="2275284"/>
              <a:chExt cx="662583" cy="650082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3421261" y="2362795"/>
                <a:ext cx="475059" cy="500062"/>
              </a:xfrm>
              <a:custGeom>
                <a:avLst/>
                <a:gdLst/>
                <a:ahLst/>
                <a:cxnLst/>
                <a:rect l="l" t="t" r="r" b="b"/>
                <a:pathLst>
                  <a:path w="475059" h="500062">
                    <a:moveTo>
                      <a:pt x="0" y="0"/>
                    </a:moveTo>
                    <a:lnTo>
                      <a:pt x="0" y="387548"/>
                    </a:lnTo>
                    <a:cubicBezTo>
                      <a:pt x="0" y="500062"/>
                      <a:pt x="475059" y="500062"/>
                      <a:pt x="475059" y="387548"/>
                    </a:cubicBezTo>
                    <a:lnTo>
                      <a:pt x="475059" y="0"/>
                    </a:lnTo>
                  </a:path>
                </a:pathLst>
              </a:custGeom>
              <a:solidFill>
                <a:schemeClr val="lt1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18" name="Ellipse 18"/>
              <p:cNvSpPr/>
              <p:nvPr/>
            </p:nvSpPr>
            <p:spPr>
              <a:xfrm>
                <a:off x="3421261" y="2275284"/>
                <a:ext cx="475059" cy="175022"/>
              </a:xfrm>
              <a:prstGeom prst="ellipse">
                <a:avLst/>
              </a:prstGeom>
              <a:solidFill>
                <a:schemeClr val="lt1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3421261" y="2537817"/>
                <a:ext cx="475059" cy="112514"/>
              </a:xfrm>
              <a:custGeom>
                <a:avLst/>
                <a:gdLst/>
                <a:ahLst/>
                <a:cxnLst/>
                <a:rect l="l" t="t" r="r" b="b"/>
                <a:pathLst>
                  <a:path w="475059" h="112514">
                    <a:moveTo>
                      <a:pt x="0" y="0"/>
                    </a:moveTo>
                    <a:cubicBezTo>
                      <a:pt x="0" y="112514"/>
                      <a:pt x="475059" y="112514"/>
                      <a:pt x="475059" y="0"/>
                    </a:cubicBezTo>
                  </a:path>
                </a:pathLst>
              </a:custGeom>
              <a:noFill/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20" name="Ellipse 20"/>
              <p:cNvSpPr/>
              <p:nvPr/>
            </p:nvSpPr>
            <p:spPr>
              <a:xfrm>
                <a:off x="3733800" y="2562820"/>
                <a:ext cx="275034" cy="275034"/>
              </a:xfrm>
              <a:prstGeom prst="ellipse">
                <a:avLst/>
              </a:prstGeom>
              <a:solidFill>
                <a:schemeClr val="accent3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3971330" y="2800350"/>
                <a:ext cx="112514" cy="125016"/>
              </a:xfrm>
              <a:custGeom>
                <a:avLst/>
                <a:gdLst/>
                <a:ahLst/>
                <a:cxnLst/>
                <a:rect l="l" t="t" r="r" b="b"/>
                <a:pathLst>
                  <a:path w="112514" h="125016">
                    <a:moveTo>
                      <a:pt x="0" y="0"/>
                    </a:moveTo>
                    <a:lnTo>
                      <a:pt x="112514" y="125016"/>
                    </a:lnTo>
                  </a:path>
                </a:pathLst>
              </a:custGeom>
              <a:solidFill>
                <a:schemeClr val="lt1"/>
              </a:solidFill>
              <a:ln w="50006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3" name="TextBox 23"/>
            <p:cNvSpPr txBox="1"/>
            <p:nvPr>
              <p:custDataLst>
                <p:tags r:id="rId6"/>
              </p:custDataLst>
            </p:nvPr>
          </p:nvSpPr>
          <p:spPr>
            <a:xfrm>
              <a:off x="3160680" y="3054350"/>
              <a:ext cx="10938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529 維檢索</a:t>
              </a:r>
            </a:p>
          </p:txBody>
        </p:sp>
        <p:sp>
          <p:nvSpPr>
            <p:cNvPr id="24" name="Freeform 24"/>
            <p:cNvSpPr/>
            <p:nvPr/>
          </p:nvSpPr>
          <p:spPr>
            <a:xfrm>
              <a:off x="425767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512445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5469017" y="2256532"/>
              <a:ext cx="450056" cy="607576"/>
              <a:chOff x="5469017" y="2256532"/>
              <a:chExt cx="450056" cy="607576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469017" y="2256532"/>
                <a:ext cx="450056" cy="607576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1251">
                <a:solidFill>
                  <a:schemeClr val="accent1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5570280" y="2402800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5570280" y="2526566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5570280" y="2650331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5570280" y="2774097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</p:grpSp>
        <p:grpSp>
          <p:nvGrpSpPr>
            <p:cNvPr id="35" name="Group 35"/>
            <p:cNvGrpSpPr/>
            <p:nvPr/>
          </p:nvGrpSpPr>
          <p:grpSpPr>
            <a:xfrm>
              <a:off x="5817060" y="2683335"/>
              <a:ext cx="250032" cy="250032"/>
              <a:chOff x="5817060" y="2683335"/>
              <a:chExt cx="250032" cy="250032"/>
            </a:xfrm>
          </p:grpSpPr>
          <p:sp>
            <p:nvSpPr>
              <p:cNvPr id="32" name="Ellipse 32"/>
              <p:cNvSpPr/>
              <p:nvPr/>
            </p:nvSpPr>
            <p:spPr>
              <a:xfrm>
                <a:off x="5817060" y="2683335"/>
                <a:ext cx="250031" cy="250031"/>
              </a:xfrm>
              <a:prstGeom prst="ellipse">
                <a:avLst/>
              </a:prstGeom>
              <a:solidFill>
                <a:srgbClr val="EAF0F4"/>
              </a:solidFill>
              <a:ln w="12502">
                <a:solidFill>
                  <a:schemeClr val="accent1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5872067" y="2808351"/>
                <a:ext cx="50006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50006" h="50006">
                    <a:moveTo>
                      <a:pt x="0" y="0"/>
                    </a:moveTo>
                    <a:lnTo>
                      <a:pt x="50006" y="50006"/>
                    </a:lnTo>
                  </a:path>
                </a:pathLst>
              </a:custGeom>
              <a:noFill/>
              <a:ln w="20002" cap="rnd">
                <a:solidFill>
                  <a:schemeClr val="accent1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5922074" y="2753344"/>
                <a:ext cx="95012" cy="105013"/>
              </a:xfrm>
              <a:custGeom>
                <a:avLst/>
                <a:gdLst/>
                <a:ahLst/>
                <a:cxnLst/>
                <a:rect l="l" t="t" r="r" b="b"/>
                <a:pathLst>
                  <a:path w="95012" h="105013">
                    <a:moveTo>
                      <a:pt x="0" y="105013"/>
                    </a:moveTo>
                    <a:lnTo>
                      <a:pt x="95012" y="0"/>
                    </a:lnTo>
                  </a:path>
                </a:pathLst>
              </a:custGeom>
              <a:noFill/>
              <a:ln w="20002" cap="rnd">
                <a:solidFill>
                  <a:schemeClr val="accent1"/>
                </a:solidFill>
              </a:ln>
            </p:spPr>
          </p:sp>
        </p:grpSp>
        <p:sp>
          <p:nvSpPr>
            <p:cNvPr id="36" name="TextBox 36"/>
            <p:cNvSpPr txBox="1"/>
            <p:nvPr>
              <p:custDataLst>
                <p:tags r:id="rId7"/>
              </p:custDataLst>
            </p:nvPr>
          </p:nvSpPr>
          <p:spPr>
            <a:xfrm>
              <a:off x="5291368" y="3054350"/>
              <a:ext cx="8329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62579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1247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471767" y="2262783"/>
              <a:ext cx="587573" cy="687586"/>
              <a:chOff x="7471767" y="2262783"/>
              <a:chExt cx="587573" cy="68758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471767" y="2262783"/>
                <a:ext cx="525066" cy="675084"/>
              </a:xfrm>
              <a:custGeom>
                <a:avLst/>
                <a:gdLst/>
                <a:ahLst/>
                <a:cxnLst/>
                <a:rect l="l" t="t" r="r" b="b"/>
                <a:pathLst>
                  <a:path w="525066" h="675084">
                    <a:moveTo>
                      <a:pt x="262533" y="0"/>
                    </a:moveTo>
                    <a:lnTo>
                      <a:pt x="525066" y="112514"/>
                    </a:lnTo>
                    <a:lnTo>
                      <a:pt x="525066" y="312539"/>
                    </a:lnTo>
                    <a:cubicBezTo>
                      <a:pt x="525066" y="475059"/>
                      <a:pt x="400050" y="587573"/>
                      <a:pt x="262533" y="675084"/>
                    </a:cubicBezTo>
                    <a:cubicBezTo>
                      <a:pt x="125016" y="587573"/>
                      <a:pt x="0" y="475059"/>
                      <a:pt x="0" y="312539"/>
                    </a:cubicBezTo>
                    <a:lnTo>
                      <a:pt x="0" y="112514"/>
                    </a:lnTo>
                    <a:close/>
                  </a:path>
                </a:pathLst>
              </a:custGeom>
              <a:solidFill>
                <a:schemeClr val="lt1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596783" y="2475309"/>
                <a:ext cx="287536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87536" h="200025">
                    <a:moveTo>
                      <a:pt x="0" y="100012"/>
                    </a:moveTo>
                    <a:lnTo>
                      <a:pt x="100012" y="200025"/>
                    </a:lnTo>
                    <a:lnTo>
                      <a:pt x="287536" y="0"/>
                    </a:lnTo>
                  </a:path>
                </a:pathLst>
              </a:custGeom>
              <a:noFill/>
              <a:ln w="50006" cap="rnd">
                <a:solidFill>
                  <a:schemeClr val="accent1"/>
                </a:solidFill>
                <a:round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896820" y="2737842"/>
                <a:ext cx="162520" cy="212527"/>
              </a:xfrm>
              <a:custGeom>
                <a:avLst/>
                <a:gdLst/>
                <a:ahLst/>
                <a:cxnLst/>
                <a:rect l="l" t="t" r="r" b="b"/>
                <a:pathLst>
                  <a:path w="162520" h="212527">
                    <a:moveTo>
                      <a:pt x="37505" y="0"/>
                    </a:moveTo>
                    <a:lnTo>
                      <a:pt x="162520" y="0"/>
                    </a:lnTo>
                    <a:lnTo>
                      <a:pt x="162520" y="150019"/>
                    </a:lnTo>
                    <a:lnTo>
                      <a:pt x="0" y="150019"/>
                    </a:lnTo>
                    <a:moveTo>
                      <a:pt x="62508" y="87511"/>
                    </a:moveTo>
                    <a:lnTo>
                      <a:pt x="0" y="150019"/>
                    </a:lnTo>
                    <a:lnTo>
                      <a:pt x="62508" y="212527"/>
                    </a:lnTo>
                  </a:path>
                </a:pathLst>
              </a:custGeom>
              <a:noFill/>
              <a:ln w="37505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43" name="TextBox 43"/>
            <p:cNvSpPr txBox="1"/>
            <p:nvPr>
              <p:custDataLst>
                <p:tags r:id="rId8"/>
              </p:custDataLst>
            </p:nvPr>
          </p:nvSpPr>
          <p:spPr>
            <a:xfrm>
              <a:off x="7144417" y="30543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策略與回復</a:t>
              </a:r>
            </a:p>
          </p:txBody>
        </p:sp>
        <p:sp>
          <p:nvSpPr>
            <p:cNvPr id="44" name="TextBox 44"/>
            <p:cNvSpPr txBox="1"/>
            <p:nvPr>
              <p:custDataLst>
                <p:tags r:id="rId9"/>
              </p:custDataLst>
            </p:nvPr>
          </p:nvSpPr>
          <p:spPr>
            <a:xfrm>
              <a:off x="830580" y="3336925"/>
              <a:ext cx="40054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正式分類保留 · 稽核證據可追溯 · 策略可回復</a:t>
              </a:r>
            </a:p>
          </p:txBody>
        </p:sp>
        <p:sp>
          <p:nvSpPr>
            <p:cNvPr id="45" name="TextBox 45"/>
            <p:cNvSpPr txBox="1"/>
            <p:nvPr>
              <p:custDataLst>
                <p:tags r:id="rId10"/>
              </p:custDataLst>
            </p:nvPr>
          </p:nvSpPr>
          <p:spPr>
            <a:xfrm>
              <a:off x="9823607" y="2152650"/>
              <a:ext cx="112204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</a:t>
              </a:r>
            </a:p>
          </p:txBody>
        </p:sp>
        <p:sp>
          <p:nvSpPr>
            <p:cNvPr id="46" name="TextBox 46"/>
            <p:cNvSpPr txBox="1"/>
            <p:nvPr>
              <p:custDataLst>
                <p:tags r:id="rId11"/>
              </p:custDataLst>
            </p:nvPr>
          </p:nvSpPr>
          <p:spPr>
            <a:xfrm>
              <a:off x="9545676" y="27813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任務導向證據向量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49" name="TextBox 49"/>
            <p:cNvSpPr txBox="1"/>
            <p:nvPr>
              <p:custDataLst>
                <p:tags r:id="rId12"/>
              </p:custDataLst>
            </p:nvPr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Q2</a:t>
              </a:r>
            </a:p>
          </p:txBody>
        </p:sp>
        <p:sp>
          <p:nvSpPr>
            <p:cNvPr id="50" name="TextBox 50"/>
            <p:cNvSpPr txBox="1"/>
            <p:nvPr>
              <p:custDataLst>
                <p:tags r:id="rId13"/>
              </p:custDataLst>
            </p:nvPr>
          </p:nvSpPr>
          <p:spPr>
            <a:xfrm>
              <a:off x="1361694" y="4035425"/>
              <a:ext cx="50074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如何證明前段判斷與後段處置已經串起來？</a:t>
              </a:r>
            </a:p>
          </p:txBody>
        </p:sp>
        <p:grpSp>
          <p:nvGrpSpPr>
            <p:cNvPr id="56" name="Group 56"/>
            <p:cNvGrpSpPr/>
            <p:nvPr/>
          </p:nvGrpSpPr>
          <p:grpSpPr>
            <a:xfrm>
              <a:off x="1586508" y="4571851"/>
              <a:ext cx="303609" cy="409873"/>
              <a:chOff x="1586508" y="4571851"/>
              <a:chExt cx="303609" cy="409873"/>
            </a:xfrm>
          </p:grpSpPr>
          <p:sp>
            <p:nvSpPr>
              <p:cNvPr id="51" name="Rectangle 51"/>
              <p:cNvSpPr/>
              <p:nvPr/>
            </p:nvSpPr>
            <p:spPr>
              <a:xfrm>
                <a:off x="158650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52" name="Line 52"/>
              <p:cNvSpPr/>
              <p:nvPr/>
            </p:nvSpPr>
            <p:spPr>
              <a:xfrm>
                <a:off x="165482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3" name="Line 53"/>
              <p:cNvSpPr/>
              <p:nvPr/>
            </p:nvSpPr>
            <p:spPr>
              <a:xfrm>
                <a:off x="165482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4" name="Line 54"/>
              <p:cNvSpPr/>
              <p:nvPr/>
            </p:nvSpPr>
            <p:spPr>
              <a:xfrm>
                <a:off x="165482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165482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57" name="TextBox 57"/>
            <p:cNvSpPr txBox="1"/>
            <p:nvPr>
              <p:custDataLst>
                <p:tags r:id="rId14"/>
              </p:custDataLst>
            </p:nvPr>
          </p:nvSpPr>
          <p:spPr>
            <a:xfrm>
              <a:off x="127475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</a:t>
              </a:r>
            </a:p>
          </p:txBody>
        </p:sp>
        <p:sp>
          <p:nvSpPr>
            <p:cNvPr id="58" name="Freeform 58"/>
            <p:cNvSpPr/>
            <p:nvPr/>
          </p:nvSpPr>
          <p:spPr>
            <a:xfrm>
              <a:off x="20478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33623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3586758" y="4571851"/>
              <a:ext cx="303609" cy="409873"/>
              <a:chOff x="3586758" y="4571851"/>
              <a:chExt cx="303609" cy="409873"/>
            </a:xfrm>
          </p:grpSpPr>
          <p:sp>
            <p:nvSpPr>
              <p:cNvPr id="60" name="Rectangle 60"/>
              <p:cNvSpPr/>
              <p:nvPr/>
            </p:nvSpPr>
            <p:spPr>
              <a:xfrm>
                <a:off x="358675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61" name="Line 61"/>
              <p:cNvSpPr/>
              <p:nvPr/>
            </p:nvSpPr>
            <p:spPr>
              <a:xfrm>
                <a:off x="365507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2" name="Line 62"/>
              <p:cNvSpPr/>
              <p:nvPr/>
            </p:nvSpPr>
            <p:spPr>
              <a:xfrm>
                <a:off x="365507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3" name="Line 63"/>
              <p:cNvSpPr/>
              <p:nvPr/>
            </p:nvSpPr>
            <p:spPr>
              <a:xfrm>
                <a:off x="365507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4" name="Line 64"/>
              <p:cNvSpPr/>
              <p:nvPr/>
            </p:nvSpPr>
            <p:spPr>
              <a:xfrm>
                <a:off x="365507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66" name="TextBox 66"/>
            <p:cNvSpPr txBox="1"/>
            <p:nvPr>
              <p:custDataLst>
                <p:tags r:id="rId15"/>
              </p:custDataLst>
            </p:nvPr>
          </p:nvSpPr>
          <p:spPr>
            <a:xfrm>
              <a:off x="3163377" y="5038725"/>
              <a:ext cx="1090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案例</a:t>
              </a:r>
            </a:p>
          </p:txBody>
        </p:sp>
        <p:sp>
          <p:nvSpPr>
            <p:cNvPr id="67" name="Freeform 67"/>
            <p:cNvSpPr/>
            <p:nvPr/>
          </p:nvSpPr>
          <p:spPr>
            <a:xfrm>
              <a:off x="404812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536257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5587008" y="4571851"/>
              <a:ext cx="303609" cy="409873"/>
              <a:chOff x="5587008" y="4571851"/>
              <a:chExt cx="303609" cy="409873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558700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70" name="Line 70"/>
              <p:cNvSpPr/>
              <p:nvPr/>
            </p:nvSpPr>
            <p:spPr>
              <a:xfrm>
                <a:off x="565532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565532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72" name="Line 72"/>
              <p:cNvSpPr/>
              <p:nvPr/>
            </p:nvSpPr>
            <p:spPr>
              <a:xfrm>
                <a:off x="565532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73" name="Line 73"/>
              <p:cNvSpPr/>
              <p:nvPr/>
            </p:nvSpPr>
            <p:spPr>
              <a:xfrm>
                <a:off x="565532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75" name="TextBox 75"/>
            <p:cNvSpPr txBox="1"/>
            <p:nvPr>
              <p:custDataLst>
                <p:tags r:id="rId16"/>
              </p:custDataLst>
            </p:nvPr>
          </p:nvSpPr>
          <p:spPr>
            <a:xfrm>
              <a:off x="527525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76" name="Freeform 76"/>
            <p:cNvSpPr/>
            <p:nvPr/>
          </p:nvSpPr>
          <p:spPr>
            <a:xfrm>
              <a:off x="60483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7" name="Freeform 77"/>
            <p:cNvSpPr/>
            <p:nvPr/>
          </p:nvSpPr>
          <p:spPr>
            <a:xfrm>
              <a:off x="73628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83" name="Group 83"/>
            <p:cNvGrpSpPr/>
            <p:nvPr/>
          </p:nvGrpSpPr>
          <p:grpSpPr>
            <a:xfrm>
              <a:off x="7587258" y="4571851"/>
              <a:ext cx="303609" cy="409873"/>
              <a:chOff x="7587258" y="4571851"/>
              <a:chExt cx="303609" cy="409873"/>
            </a:xfrm>
          </p:grpSpPr>
          <p:sp>
            <p:nvSpPr>
              <p:cNvPr id="78" name="Rectangle 78"/>
              <p:cNvSpPr/>
              <p:nvPr/>
            </p:nvSpPr>
            <p:spPr>
              <a:xfrm>
                <a:off x="758725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79" name="Line 79"/>
              <p:cNvSpPr/>
              <p:nvPr/>
            </p:nvSpPr>
            <p:spPr>
              <a:xfrm>
                <a:off x="765557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80" name="Line 80"/>
              <p:cNvSpPr/>
              <p:nvPr/>
            </p:nvSpPr>
            <p:spPr>
              <a:xfrm>
                <a:off x="765557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81" name="Line 81"/>
              <p:cNvSpPr/>
              <p:nvPr/>
            </p:nvSpPr>
            <p:spPr>
              <a:xfrm>
                <a:off x="765557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82" name="Line 82"/>
              <p:cNvSpPr/>
              <p:nvPr/>
            </p:nvSpPr>
            <p:spPr>
              <a:xfrm>
                <a:off x="765557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84" name="TextBox 84"/>
            <p:cNvSpPr txBox="1"/>
            <p:nvPr>
              <p:custDataLst>
                <p:tags r:id="rId17"/>
              </p:custDataLst>
            </p:nvPr>
          </p:nvSpPr>
          <p:spPr>
            <a:xfrm>
              <a:off x="727550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838200" y="5334000"/>
              <a:ext cx="7791450" cy="295275"/>
            </a:xfrm>
            <a:prstGeom prst="roundRect">
              <a:avLst>
                <a:gd name="adj" fmla="val 19355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6" name="TextBox 86"/>
            <p:cNvSpPr txBox="1"/>
            <p:nvPr>
              <p:custDataLst>
                <p:tags r:id="rId18"/>
              </p:custDataLst>
            </p:nvPr>
          </p:nvSpPr>
          <p:spPr>
            <a:xfrm>
              <a:off x="3016562" y="5349875"/>
              <a:ext cx="3382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event_id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 同次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execution_id</a:t>
              </a:r>
            </a:p>
          </p:txBody>
        </p:sp>
        <p:sp>
          <p:nvSpPr>
            <p:cNvPr id="87" name="TextBox 87"/>
            <p:cNvSpPr txBox="1"/>
            <p:nvPr>
              <p:custDataLst>
                <p:tags r:id="rId19"/>
              </p:custDataLst>
            </p:nvPr>
          </p:nvSpPr>
          <p:spPr>
            <a:xfrm>
              <a:off x="830580" y="5661025"/>
              <a:ext cx="43238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分類、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Top-5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、策略與回條綁定同一事件</a:t>
              </a:r>
            </a:p>
          </p:txBody>
        </p:sp>
        <p:sp>
          <p:nvSpPr>
            <p:cNvPr id="88" name="TextBox 88"/>
            <p:cNvSpPr txBox="1"/>
            <p:nvPr>
              <p:custDataLst>
                <p:tags r:id="rId20"/>
              </p:custDataLst>
            </p:nvPr>
          </p:nvSpPr>
          <p:spPr>
            <a:xfrm>
              <a:off x="9665243" y="4476750"/>
              <a:ext cx="143877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</a:p>
          </p:txBody>
        </p:sp>
        <p:sp>
          <p:nvSpPr>
            <p:cNvPr id="89" name="TextBox 89"/>
            <p:cNvSpPr txBox="1"/>
            <p:nvPr>
              <p:custDataLst>
                <p:tags r:id="rId21"/>
              </p:custDataLst>
            </p:nvPr>
          </p:nvSpPr>
          <p:spPr>
            <a:xfrm>
              <a:off x="9545676" y="51054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事件與執行可追溯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91" name="Line 9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92" name="TextBox 92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3" name="TextBox 93"/>
            <p:cNvSpPr txBox="1"/>
            <p:nvPr>
              <p:custDataLst>
                <p:tags r:id="rId2"/>
              </p:custDataLst>
            </p:nvPr>
          </p:nvSpPr>
          <p:spPr>
            <a:xfrm>
              <a:off x="10616566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1 / 3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1"/>
              </p:custDataLst>
            </p:nvPr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2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答詢圖解｜評估與誤判</a:t>
              </a:r>
            </a:p>
          </p:txBody>
        </p:sp>
      </p:grpSp>
      <p:grpSp>
        <p:nvGrpSpPr>
          <p:cNvPr id="60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" name="TextBox 8"/>
            <p:cNvSpPr txBox="1"/>
            <p:nvPr>
              <p:custDataLst>
                <p:tags r:id="rId3"/>
              </p:custDataLst>
            </p:nvPr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Q3</a:t>
              </a:r>
            </a:p>
          </p:txBody>
        </p:sp>
        <p:sp>
          <p:nvSpPr>
            <p:cNvPr id="9" name="TextBox 9"/>
            <p:cNvSpPr txBox="1"/>
            <p:nvPr>
              <p:custDataLst>
                <p:tags r:id="rId4"/>
              </p:custDataLst>
            </p:nvPr>
          </p:nvSpPr>
          <p:spPr>
            <a:xfrm>
              <a:off x="1361694" y="1711325"/>
              <a:ext cx="553250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評估資料如何切分？案例庫是否洩漏測試答案？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715393" y="2323505"/>
              <a:ext cx="583704" cy="572690"/>
              <a:chOff x="1715393" y="2323505"/>
              <a:chExt cx="583704" cy="57269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715393" y="2400598"/>
                <a:ext cx="418505" cy="440531"/>
              </a:xfrm>
              <a:custGeom>
                <a:avLst/>
                <a:gdLst/>
                <a:ahLst/>
                <a:cxnLst/>
                <a:rect l="l" t="t" r="r" b="b"/>
                <a:pathLst>
                  <a:path w="418505" h="440531">
                    <a:moveTo>
                      <a:pt x="0" y="0"/>
                    </a:moveTo>
                    <a:lnTo>
                      <a:pt x="0" y="341412"/>
                    </a:lnTo>
                    <a:cubicBezTo>
                      <a:pt x="0" y="440531"/>
                      <a:pt x="418505" y="440531"/>
                      <a:pt x="418505" y="341412"/>
                    </a:cubicBezTo>
                    <a:lnTo>
                      <a:pt x="418505" y="0"/>
                    </a:lnTo>
                  </a:path>
                </a:pathLst>
              </a:custGeom>
              <a:solidFill>
                <a:schemeClr val="lt1"/>
              </a:solidFill>
              <a:ln w="33040" cap="rnd">
                <a:solidFill>
                  <a:schemeClr val="accent1"/>
                </a:solidFill>
                <a:round/>
              </a:ln>
            </p:spPr>
          </p:sp>
          <p:sp>
            <p:nvSpPr>
              <p:cNvPr id="11" name="Ellipse 11"/>
              <p:cNvSpPr/>
              <p:nvPr/>
            </p:nvSpPr>
            <p:spPr>
              <a:xfrm>
                <a:off x="1715393" y="2323505"/>
                <a:ext cx="418505" cy="154186"/>
              </a:xfrm>
              <a:prstGeom prst="ellipse">
                <a:avLst/>
              </a:prstGeom>
              <a:solidFill>
                <a:schemeClr val="lt1"/>
              </a:solidFill>
              <a:ln w="33040" cap="rnd">
                <a:solidFill>
                  <a:schemeClr val="accent1"/>
                </a:solidFill>
                <a:round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715393" y="2554784"/>
                <a:ext cx="418505" cy="99120"/>
              </a:xfrm>
              <a:custGeom>
                <a:avLst/>
                <a:gdLst/>
                <a:ahLst/>
                <a:cxnLst/>
                <a:rect l="l" t="t" r="r" b="b"/>
                <a:pathLst>
                  <a:path w="418505" h="99120">
                    <a:moveTo>
                      <a:pt x="0" y="0"/>
                    </a:moveTo>
                    <a:cubicBezTo>
                      <a:pt x="0" y="99120"/>
                      <a:pt x="418505" y="99120"/>
                      <a:pt x="418505" y="0"/>
                    </a:cubicBezTo>
                  </a:path>
                </a:pathLst>
              </a:custGeom>
              <a:noFill/>
              <a:ln w="33040" cap="rnd">
                <a:solidFill>
                  <a:schemeClr val="accent1"/>
                </a:solidFill>
                <a:round/>
              </a:ln>
            </p:spPr>
          </p:sp>
          <p:sp>
            <p:nvSpPr>
              <p:cNvPr id="13" name="Ellipse 13"/>
              <p:cNvSpPr/>
              <p:nvPr/>
            </p:nvSpPr>
            <p:spPr>
              <a:xfrm>
                <a:off x="1990725" y="2576810"/>
                <a:ext cx="242292" cy="242292"/>
              </a:xfrm>
              <a:prstGeom prst="ellipse">
                <a:avLst/>
              </a:prstGeom>
              <a:solidFill>
                <a:schemeClr val="accent3"/>
              </a:solidFill>
              <a:ln w="33040" cap="rnd">
                <a:solidFill>
                  <a:schemeClr val="accent1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2199977" y="2786062"/>
                <a:ext cx="99120" cy="110133"/>
              </a:xfrm>
              <a:custGeom>
                <a:avLst/>
                <a:gdLst/>
                <a:ahLst/>
                <a:cxnLst/>
                <a:rect l="l" t="t" r="r" b="b"/>
                <a:pathLst>
                  <a:path w="99120" h="110133">
                    <a:moveTo>
                      <a:pt x="0" y="0"/>
                    </a:moveTo>
                    <a:lnTo>
                      <a:pt x="99120" y="110133"/>
                    </a:lnTo>
                  </a:path>
                </a:pathLst>
              </a:custGeom>
              <a:solidFill>
                <a:schemeClr val="lt1"/>
              </a:solidFill>
              <a:ln w="44053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6" name="TextBox 16"/>
            <p:cNvSpPr txBox="1"/>
            <p:nvPr>
              <p:custDataLst>
                <p:tags r:id="rId5"/>
              </p:custDataLst>
            </p:nvPr>
          </p:nvSpPr>
          <p:spPr>
            <a:xfrm>
              <a:off x="1186065" y="2889250"/>
              <a:ext cx="15553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訓練案例 1,550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4595217" y="2318742"/>
              <a:ext cx="526257" cy="526256"/>
              <a:chOff x="4595217" y="2318742"/>
              <a:chExt cx="526257" cy="526256"/>
            </a:xfrm>
          </p:grpSpPr>
          <p:sp>
            <p:nvSpPr>
              <p:cNvPr id="17" name="Ellipse 17"/>
              <p:cNvSpPr/>
              <p:nvPr/>
            </p:nvSpPr>
            <p:spPr>
              <a:xfrm>
                <a:off x="4595217" y="2318742"/>
                <a:ext cx="384572" cy="384572"/>
              </a:xfrm>
              <a:prstGeom prst="ellipse">
                <a:avLst/>
              </a:prstGeom>
              <a:solidFill>
                <a:schemeClr val="lt1"/>
              </a:solidFill>
              <a:ln w="25301">
                <a:solidFill>
                  <a:schemeClr val="accent1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4929188" y="2652712"/>
                <a:ext cx="192286" cy="192286"/>
              </a:xfrm>
              <a:custGeom>
                <a:avLst/>
                <a:gdLst/>
                <a:ahLst/>
                <a:cxnLst/>
                <a:rect l="l" t="t" r="r" b="b"/>
                <a:pathLst>
                  <a:path w="192286" h="192286">
                    <a:moveTo>
                      <a:pt x="0" y="0"/>
                    </a:moveTo>
                    <a:lnTo>
                      <a:pt x="192286" y="192286"/>
                    </a:lnTo>
                  </a:path>
                </a:pathLst>
              </a:custGeom>
              <a:noFill/>
              <a:ln w="50602" cap="rnd">
                <a:solidFill>
                  <a:schemeClr val="accent1"/>
                </a:solidFill>
              </a:ln>
            </p:spPr>
          </p:sp>
        </p:grpSp>
        <p:sp>
          <p:nvSpPr>
            <p:cNvPr id="20" name="TextBox 20"/>
            <p:cNvSpPr txBox="1"/>
            <p:nvPr>
              <p:custDataLst>
                <p:tags r:id="rId6"/>
              </p:custDataLst>
            </p:nvPr>
          </p:nvSpPr>
          <p:spPr>
            <a:xfrm>
              <a:off x="4199293" y="2889250"/>
              <a:ext cx="118673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7540228" y="2332137"/>
              <a:ext cx="369094" cy="498276"/>
              <a:chOff x="7540228" y="2332137"/>
              <a:chExt cx="369094" cy="498276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7540228" y="2332137"/>
                <a:ext cx="369094" cy="498277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9227">
                <a:solidFill>
                  <a:schemeClr val="accent1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7623274" y="2452092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7623274" y="2553593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23274" y="2655094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623274" y="2756595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</p:grpSp>
        <p:sp>
          <p:nvSpPr>
            <p:cNvPr id="27" name="TextBox 27"/>
            <p:cNvSpPr txBox="1"/>
            <p:nvPr>
              <p:custDataLst>
                <p:tags r:id="rId7"/>
              </p:custDataLst>
            </p:nvPr>
          </p:nvSpPr>
          <p:spPr>
            <a:xfrm>
              <a:off x="7011860" y="2889250"/>
              <a:ext cx="13718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測試查詢 463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2667000" y="2619375"/>
              <a:ext cx="1762125" cy="9525"/>
            </a:xfrm>
            <a:custGeom>
              <a:avLst/>
              <a:gdLst/>
              <a:ahLst/>
              <a:cxnLst/>
              <a:rect l="l" t="t" r="r" b="b"/>
              <a:pathLst>
                <a:path w="1762125" h="9525">
                  <a:moveTo>
                    <a:pt x="0" y="0"/>
                  </a:moveTo>
                  <a:lnTo>
                    <a:pt x="1762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4362450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5267325" y="2619375"/>
              <a:ext cx="2009775" cy="9525"/>
            </a:xfrm>
            <a:custGeom>
              <a:avLst/>
              <a:gdLst/>
              <a:ahLst/>
              <a:cxnLst/>
              <a:rect l="l" t="t" r="r" b="b"/>
              <a:pathLst>
                <a:path w="2009775" h="9525">
                  <a:moveTo>
                    <a:pt x="2009775" y="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5267325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66675" y="0"/>
                  </a:moveTo>
                  <a:lnTo>
                    <a:pt x="0" y="47625"/>
                  </a:lnTo>
                  <a:lnTo>
                    <a:pt x="66675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2" name="TextBox 32"/>
            <p:cNvSpPr txBox="1"/>
            <p:nvPr>
              <p:custDataLst>
                <p:tags r:id="rId8"/>
              </p:custDataLst>
            </p:nvPr>
          </p:nvSpPr>
          <p:spPr>
            <a:xfrm>
              <a:off x="830580" y="3336925"/>
              <a:ext cx="39778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訓練庫只讀 · 查詢不重疊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· 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不看真實標籤</a:t>
              </a:r>
            </a:p>
          </p:txBody>
        </p:sp>
        <p:sp>
          <p:nvSpPr>
            <p:cNvPr id="33" name="TextBox 33"/>
            <p:cNvSpPr txBox="1"/>
            <p:nvPr>
              <p:custDataLst>
                <p:tags r:id="rId9"/>
              </p:custDataLst>
            </p:nvPr>
          </p:nvSpPr>
          <p:spPr>
            <a:xfrm>
              <a:off x="10268807" y="21399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34" name="TextBox 34"/>
            <p:cNvSpPr txBox="1"/>
            <p:nvPr>
              <p:custDataLst>
                <p:tags r:id="rId10"/>
              </p:custDataLst>
            </p:nvPr>
          </p:nvSpPr>
          <p:spPr>
            <a:xfrm>
              <a:off x="96520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訓練／查詢重疊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37" name="TextBox 37"/>
            <p:cNvSpPr txBox="1"/>
            <p:nvPr>
              <p:custDataLst>
                <p:tags r:id="rId11"/>
              </p:custDataLst>
            </p:nvPr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Q4</a:t>
              </a:r>
            </a:p>
          </p:txBody>
        </p:sp>
        <p:sp>
          <p:nvSpPr>
            <p:cNvPr id="38" name="TextBox 38"/>
            <p:cNvSpPr txBox="1"/>
            <p:nvPr>
              <p:custDataLst>
                <p:tags r:id="rId12"/>
              </p:custDataLst>
            </p:nvPr>
          </p:nvSpPr>
          <p:spPr>
            <a:xfrm>
              <a:off x="1361694" y="4035425"/>
              <a:ext cx="494099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若支持錯誤判斷，如何避免直接誤封？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38200" y="4914900"/>
              <a:ext cx="14287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0" name="TextBox 40"/>
            <p:cNvSpPr txBox="1"/>
            <p:nvPr>
              <p:custDataLst>
                <p:tags r:id="rId13"/>
              </p:custDataLst>
            </p:nvPr>
          </p:nvSpPr>
          <p:spPr>
            <a:xfrm>
              <a:off x="1038130" y="501650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30 筆誤判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2266950" y="4762500"/>
              <a:ext cx="704850" cy="381000"/>
            </a:xfrm>
            <a:custGeom>
              <a:avLst/>
              <a:gdLst/>
              <a:ahLst/>
              <a:cxnLst/>
              <a:rect l="l" t="t" r="r" b="b"/>
              <a:pathLst>
                <a:path w="704850" h="381000">
                  <a:moveTo>
                    <a:pt x="0" y="381000"/>
                  </a:moveTo>
                  <a:lnTo>
                    <a:pt x="342900" y="381000"/>
                  </a:lnTo>
                  <a:lnTo>
                    <a:pt x="342900" y="0"/>
                  </a:lnTo>
                  <a:lnTo>
                    <a:pt x="704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29051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2609850" y="5143500"/>
              <a:ext cx="361950" cy="209550"/>
            </a:xfrm>
            <a:custGeom>
              <a:avLst/>
              <a:gdLst/>
              <a:ahLst/>
              <a:cxnLst/>
              <a:rect l="l" t="t" r="r" b="b"/>
              <a:pathLst>
                <a:path w="361950" h="209550">
                  <a:moveTo>
                    <a:pt x="0" y="0"/>
                  </a:moveTo>
                  <a:lnTo>
                    <a:pt x="0" y="209550"/>
                  </a:lnTo>
                  <a:lnTo>
                    <a:pt x="361950" y="2095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29051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2971800" y="453390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6" name="TextBox 46"/>
            <p:cNvSpPr txBox="1"/>
            <p:nvPr>
              <p:custDataLst>
                <p:tags r:id="rId14"/>
              </p:custDataLst>
            </p:nvPr>
          </p:nvSpPr>
          <p:spPr>
            <a:xfrm>
              <a:off x="3267171" y="4635500"/>
              <a:ext cx="16428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18 複核／不確定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2971800" y="512445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8" name="TextBox 48"/>
            <p:cNvSpPr txBox="1"/>
            <p:nvPr>
              <p:custDataLst>
                <p:tags r:id="rId15"/>
              </p:custDataLst>
            </p:nvPr>
          </p:nvSpPr>
          <p:spPr>
            <a:xfrm>
              <a:off x="3600354" y="522605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12 仍支持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5257800" y="47625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57626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5257800" y="5353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57626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5829300" y="453390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4" name="TextBox 54"/>
            <p:cNvSpPr txBox="1"/>
            <p:nvPr>
              <p:custDataLst>
                <p:tags r:id="rId16"/>
              </p:custDataLst>
            </p:nvPr>
          </p:nvSpPr>
          <p:spPr>
            <a:xfrm>
              <a:off x="6649117" y="463550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監測／蒐證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829300" y="512445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6" name="TextBox 56"/>
            <p:cNvSpPr txBox="1"/>
            <p:nvPr>
              <p:custDataLst>
                <p:tags r:id="rId17"/>
              </p:custDataLst>
            </p:nvPr>
          </p:nvSpPr>
          <p:spPr>
            <a:xfrm>
              <a:off x="6292596" y="5238750"/>
              <a:ext cx="184200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若觸發 → 策略檢查</a:t>
              </a:r>
            </a:p>
          </p:txBody>
        </p:sp>
        <p:sp>
          <p:nvSpPr>
            <p:cNvPr id="57" name="TextBox 57"/>
            <p:cNvSpPr txBox="1"/>
            <p:nvPr>
              <p:custDataLst>
                <p:tags r:id="rId18"/>
              </p:custDataLst>
            </p:nvPr>
          </p:nvSpPr>
          <p:spPr>
            <a:xfrm>
              <a:off x="830580" y="5661025"/>
              <a:ext cx="4320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12 筆為支持統計；處置與回復另以隔離情境驗證</a:t>
              </a:r>
            </a:p>
          </p:txBody>
        </p:sp>
        <p:sp>
          <p:nvSpPr>
            <p:cNvPr id="58" name="TextBox 58"/>
            <p:cNvSpPr txBox="1"/>
            <p:nvPr>
              <p:custDataLst>
                <p:tags r:id="rId19"/>
              </p:custDataLst>
            </p:nvPr>
          </p:nvSpPr>
          <p:spPr>
            <a:xfrm>
              <a:off x="9807115" y="4464050"/>
              <a:ext cx="115503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18 / 30</a:t>
              </a:r>
            </a:p>
          </p:txBody>
        </p:sp>
        <p:sp>
          <p:nvSpPr>
            <p:cNvPr id="59" name="TextBox 59"/>
            <p:cNvSpPr txBox="1"/>
            <p:nvPr>
              <p:custDataLst>
                <p:tags r:id="rId20"/>
              </p:custDataLst>
            </p:nvPr>
          </p:nvSpPr>
          <p:spPr>
            <a:xfrm>
              <a:off x="9758375" y="5105400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偵測誤判分流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61" name="Line 6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62" name="TextBox 62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3" name="TextBox 63"/>
            <p:cNvSpPr txBox="1"/>
            <p:nvPr>
              <p:custDataLst>
                <p:tags r:id="rId2"/>
              </p:custDataLst>
            </p:nvPr>
          </p:nvSpPr>
          <p:spPr>
            <a:xfrm>
              <a:off x="10616566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2 / 3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line"/>
          <p:cNvGrpSpPr/>
          <p:nvPr/>
        </p:nvGrpSpPr>
        <p:grpSpPr>
          <a:xfrm>
            <a:off x="593598" y="257175"/>
            <a:ext cx="4272534" cy="1082802"/>
            <a:chOff x="593598" y="257175"/>
            <a:chExt cx="4272534" cy="1082802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2"/>
              </p:custDataLst>
            </p:nvPr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3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答詢圖解｜效果與部署</a:t>
              </a:r>
            </a:p>
          </p:txBody>
        </p:sp>
      </p:grpSp>
      <p:grpSp>
        <p:nvGrpSpPr>
          <p:cNvPr id="101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6" name="Rectangle 6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" name="TextBox 8"/>
            <p:cNvSpPr txBox="1"/>
            <p:nvPr>
              <p:custDataLst>
                <p:tags r:id="rId3"/>
              </p:custDataLst>
            </p:nvPr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Q5</a:t>
              </a:r>
            </a:p>
          </p:txBody>
        </p:sp>
        <p:sp>
          <p:nvSpPr>
            <p:cNvPr id="9" name="TextBox 9"/>
            <p:cNvSpPr txBox="1"/>
            <p:nvPr>
              <p:custDataLst>
                <p:tags r:id="rId4"/>
              </p:custDataLst>
            </p:nvPr>
          </p:nvSpPr>
          <p:spPr>
            <a:xfrm>
              <a:off x="1361694" y="1711325"/>
              <a:ext cx="49062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6/6 是否代表各種真實攻擊都能完全防住？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38200" y="2238375"/>
              <a:ext cx="3143250" cy="1038225"/>
            </a:xfrm>
            <a:prstGeom prst="roundRect">
              <a:avLst>
                <a:gd name="adj" fmla="val 550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1" name="TextBox 11"/>
            <p:cNvSpPr txBox="1"/>
            <p:nvPr>
              <p:custDataLst>
                <p:tags r:id="rId5"/>
              </p:custDataLst>
            </p:nvPr>
          </p:nvSpPr>
          <p:spPr>
            <a:xfrm>
              <a:off x="1487362" y="2282825"/>
              <a:ext cx="17925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隔離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測試床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1234678" y="2632472"/>
              <a:ext cx="273844" cy="297656"/>
              <a:chOff x="1234678" y="2632472"/>
              <a:chExt cx="273844" cy="297656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1234678" y="263247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3" name="Ellipse 13"/>
              <p:cNvSpPr/>
              <p:nvPr/>
            </p:nvSpPr>
            <p:spPr>
              <a:xfrm>
                <a:off x="1448991" y="266223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4" name="Line 14"/>
              <p:cNvSpPr/>
              <p:nvPr/>
            </p:nvSpPr>
            <p:spPr>
              <a:xfrm>
                <a:off x="1270397" y="267414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1234678" y="273962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6" name="Ellipse 16"/>
              <p:cNvSpPr/>
              <p:nvPr/>
            </p:nvSpPr>
            <p:spPr>
              <a:xfrm>
                <a:off x="1448991" y="276939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1270397" y="278130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1234678" y="284678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9" name="Ellipse 19"/>
              <p:cNvSpPr/>
              <p:nvPr/>
            </p:nvSpPr>
            <p:spPr>
              <a:xfrm>
                <a:off x="1448991" y="287655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1270397" y="288845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grpSp>
          <p:nvGrpSpPr>
            <p:cNvPr id="31" name="Group 31"/>
            <p:cNvGrpSpPr/>
            <p:nvPr/>
          </p:nvGrpSpPr>
          <p:grpSpPr>
            <a:xfrm>
              <a:off x="2249091" y="2638425"/>
              <a:ext cx="321469" cy="285750"/>
              <a:chOff x="2249091" y="2638425"/>
              <a:chExt cx="321469" cy="2857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2249091" y="2638425"/>
                <a:ext cx="321469" cy="28575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2249091" y="273367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2249091" y="282892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2356247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2475309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2308622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2439591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2356247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2475309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grpSp>
          <p:nvGrpSpPr>
            <p:cNvPr id="41" name="Group 41"/>
            <p:cNvGrpSpPr/>
            <p:nvPr/>
          </p:nvGrpSpPr>
          <p:grpSpPr>
            <a:xfrm>
              <a:off x="3311128" y="2632472"/>
              <a:ext cx="273844" cy="297656"/>
              <a:chOff x="3311128" y="2632472"/>
              <a:chExt cx="273844" cy="297656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3311128" y="263247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3" name="Ellipse 33"/>
              <p:cNvSpPr/>
              <p:nvPr/>
            </p:nvSpPr>
            <p:spPr>
              <a:xfrm>
                <a:off x="3525441" y="266223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4" name="Line 34"/>
              <p:cNvSpPr/>
              <p:nvPr/>
            </p:nvSpPr>
            <p:spPr>
              <a:xfrm>
                <a:off x="3346847" y="267414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5" name="Rectangle 35"/>
              <p:cNvSpPr/>
              <p:nvPr/>
            </p:nvSpPr>
            <p:spPr>
              <a:xfrm>
                <a:off x="3311128" y="273962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6" name="Ellipse 36"/>
              <p:cNvSpPr/>
              <p:nvPr/>
            </p:nvSpPr>
            <p:spPr>
              <a:xfrm>
                <a:off x="3525441" y="276939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3346847" y="278130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8" name="Rectangle 38"/>
              <p:cNvSpPr/>
              <p:nvPr/>
            </p:nvSpPr>
            <p:spPr>
              <a:xfrm>
                <a:off x="3311128" y="284678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9" name="Ellipse 39"/>
              <p:cNvSpPr/>
              <p:nvPr/>
            </p:nvSpPr>
            <p:spPr>
              <a:xfrm>
                <a:off x="3525441" y="287655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3346847" y="288845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sp>
          <p:nvSpPr>
            <p:cNvPr id="42" name="Freeform 42"/>
            <p:cNvSpPr/>
            <p:nvPr/>
          </p:nvSpPr>
          <p:spPr>
            <a:xfrm>
              <a:off x="1581150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2152650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2619375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3190875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TextBox 46"/>
            <p:cNvSpPr txBox="1"/>
            <p:nvPr>
              <p:custDataLst>
                <p:tags r:id="rId6"/>
              </p:custDataLst>
            </p:nvPr>
          </p:nvSpPr>
          <p:spPr>
            <a:xfrm>
              <a:off x="1713548" y="3013075"/>
              <a:ext cx="1344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 規則＋2 監測</a:t>
              </a:r>
            </a:p>
          </p:txBody>
        </p:sp>
        <p:sp>
          <p:nvSpPr>
            <p:cNvPr id="47" name="Freeform 47"/>
            <p:cNvSpPr/>
            <p:nvPr/>
          </p:nvSpPr>
          <p:spPr>
            <a:xfrm>
              <a:off x="3981450" y="2486025"/>
              <a:ext cx="590550" cy="285750"/>
            </a:xfrm>
            <a:custGeom>
              <a:avLst/>
              <a:gdLst/>
              <a:ahLst/>
              <a:cxnLst/>
              <a:rect l="l" t="t" r="r" b="b"/>
              <a:pathLst>
                <a:path w="590550" h="285750">
                  <a:moveTo>
                    <a:pt x="0" y="285750"/>
                  </a:moveTo>
                  <a:lnTo>
                    <a:pt x="304800" y="285750"/>
                  </a:lnTo>
                  <a:lnTo>
                    <a:pt x="304800" y="0"/>
                  </a:lnTo>
                  <a:lnTo>
                    <a:pt x="590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4505325" y="2438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4286250" y="2771775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0" y="247650"/>
                  </a:lnTo>
                  <a:lnTo>
                    <a:pt x="285750" y="2476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4505325" y="2971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4572000" y="22574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2" name="TextBox 52"/>
            <p:cNvSpPr txBox="1"/>
            <p:nvPr>
              <p:custDataLst>
                <p:tags r:id="rId7"/>
              </p:custDataLst>
            </p:nvPr>
          </p:nvSpPr>
          <p:spPr>
            <a:xfrm>
              <a:off x="5671447" y="2359025"/>
              <a:ext cx="182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背景服務保留 6 / 6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572000" y="27908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4" name="TextBox 54"/>
            <p:cNvSpPr txBox="1"/>
            <p:nvPr>
              <p:custDataLst>
                <p:tags r:id="rId8"/>
              </p:custDataLst>
            </p:nvPr>
          </p:nvSpPr>
          <p:spPr>
            <a:xfrm>
              <a:off x="5782508" y="2892425"/>
              <a:ext cx="160329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回復完整性 6 / 6</a:t>
              </a:r>
            </a:p>
          </p:txBody>
        </p:sp>
        <p:sp>
          <p:nvSpPr>
            <p:cNvPr id="55" name="TextBox 55"/>
            <p:cNvSpPr txBox="1"/>
            <p:nvPr>
              <p:custDataLst>
                <p:tags r:id="rId9"/>
              </p:custDataLst>
            </p:nvPr>
          </p:nvSpPr>
          <p:spPr>
            <a:xfrm>
              <a:off x="830580" y="3336925"/>
              <a:ext cx="43798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6/6 驗證服務保留與回復；不等同真實攻擊防禦率</a:t>
              </a:r>
            </a:p>
          </p:txBody>
        </p:sp>
        <p:sp>
          <p:nvSpPr>
            <p:cNvPr id="56" name="TextBox 56"/>
            <p:cNvSpPr txBox="1"/>
            <p:nvPr>
              <p:custDataLst>
                <p:tags r:id="rId10"/>
              </p:custDataLst>
            </p:nvPr>
          </p:nvSpPr>
          <p:spPr>
            <a:xfrm>
              <a:off x="10009808" y="2139950"/>
              <a:ext cx="749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 / 6</a:t>
              </a:r>
            </a:p>
          </p:txBody>
        </p:sp>
        <p:sp>
          <p:nvSpPr>
            <p:cNvPr id="57" name="TextBox 57"/>
            <p:cNvSpPr txBox="1"/>
            <p:nvPr>
              <p:custDataLst>
                <p:tags r:id="rId11"/>
              </p:custDataLst>
            </p:nvPr>
          </p:nvSpPr>
          <p:spPr>
            <a:xfrm>
              <a:off x="96520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背景保留與回復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0" name="TextBox 60"/>
            <p:cNvSpPr txBox="1"/>
            <p:nvPr>
              <p:custDataLst>
                <p:tags r:id="rId12"/>
              </p:custDataLst>
            </p:nvPr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Q6</a:t>
              </a:r>
            </a:p>
          </p:txBody>
        </p:sp>
        <p:sp>
          <p:nvSpPr>
            <p:cNvPr id="61" name="TextBox 61"/>
            <p:cNvSpPr txBox="1"/>
            <p:nvPr>
              <p:custDataLst>
                <p:tags r:id="rId13"/>
              </p:custDataLst>
            </p:nvPr>
          </p:nvSpPr>
          <p:spPr>
            <a:xfrm>
              <a:off x="1361694" y="4035425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如何部署、保護資料，並接到既有環境？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38200" y="4600575"/>
              <a:ext cx="7810500" cy="981075"/>
            </a:xfrm>
            <a:prstGeom prst="roundRect">
              <a:avLst>
                <a:gd name="adj" fmla="val 679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3" name="TextBox 63"/>
            <p:cNvSpPr txBox="1"/>
            <p:nvPr>
              <p:custDataLst>
                <p:tags r:id="rId14"/>
              </p:custDataLst>
            </p:nvPr>
          </p:nvSpPr>
          <p:spPr>
            <a:xfrm>
              <a:off x="1039368" y="4635500"/>
              <a:ext cx="33389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本機工作站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· GPU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模型與案例庫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99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1090612" y="5049441"/>
              <a:ext cx="238126" cy="321468"/>
              <a:chOff x="1090612" y="5049441"/>
              <a:chExt cx="238126" cy="321468"/>
            </a:xfrm>
          </p:grpSpPr>
          <p:sp>
            <p:nvSpPr>
              <p:cNvPr id="65" name="Rectangle 65"/>
              <p:cNvSpPr/>
              <p:nvPr/>
            </p:nvSpPr>
            <p:spPr>
              <a:xfrm>
                <a:off x="1090612" y="5049441"/>
                <a:ext cx="238125" cy="32146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66" name="Line 66"/>
              <p:cNvSpPr/>
              <p:nvPr/>
            </p:nvSpPr>
            <p:spPr>
              <a:xfrm>
                <a:off x="1144191" y="5126831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67" name="Line 67"/>
              <p:cNvSpPr/>
              <p:nvPr/>
            </p:nvSpPr>
            <p:spPr>
              <a:xfrm>
                <a:off x="1144191" y="5192316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68" name="Line 68"/>
              <p:cNvSpPr/>
              <p:nvPr/>
            </p:nvSpPr>
            <p:spPr>
              <a:xfrm>
                <a:off x="1144191" y="5257800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1144191" y="5323284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sp>
          <p:nvSpPr>
            <p:cNvPr id="71" name="TextBox 71"/>
            <p:cNvSpPr txBox="1"/>
            <p:nvPr>
              <p:custDataLst>
                <p:tags r:id="rId15"/>
              </p:custDataLst>
            </p:nvPr>
          </p:nvSpPr>
          <p:spPr>
            <a:xfrm>
              <a:off x="1584007" y="50990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欄位遮罩</a:t>
              </a:r>
            </a:p>
          </p:txBody>
        </p:sp>
        <p:sp>
          <p:nvSpPr>
            <p:cNvPr id="72" name="Freeform 72"/>
            <p:cNvSpPr/>
            <p:nvPr/>
          </p:nvSpPr>
          <p:spPr>
            <a:xfrm>
              <a:off x="260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282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289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2947988" y="5043488"/>
              <a:ext cx="333375" cy="333375"/>
              <a:chOff x="2947988" y="5043488"/>
              <a:chExt cx="333375" cy="333375"/>
            </a:xfrm>
          </p:grpSpPr>
          <p:sp>
            <p:nvSpPr>
              <p:cNvPr id="75" name="Rectangle 75"/>
              <p:cNvSpPr/>
              <p:nvPr/>
            </p:nvSpPr>
            <p:spPr>
              <a:xfrm>
                <a:off x="2995612" y="5091112"/>
                <a:ext cx="238125" cy="238125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76" name="Rectangle 76"/>
              <p:cNvSpPr/>
              <p:nvPr/>
            </p:nvSpPr>
            <p:spPr>
              <a:xfrm>
                <a:off x="3061097" y="5156597"/>
                <a:ext cx="107156" cy="107156"/>
              </a:xfrm>
              <a:prstGeom prst="roundRect">
                <a:avLst>
                  <a:gd name="adj" fmla="val 16667"/>
                </a:avLst>
              </a:prstGeom>
              <a:solidFill>
                <a:schemeClr val="accent3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2947988" y="5043488"/>
                <a:ext cx="333375" cy="333375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333375">
                    <a:moveTo>
                      <a:pt x="101203" y="0"/>
                    </a:moveTo>
                    <a:lnTo>
                      <a:pt x="101203" y="47625"/>
                    </a:lnTo>
                    <a:moveTo>
                      <a:pt x="166688" y="0"/>
                    </a:moveTo>
                    <a:lnTo>
                      <a:pt x="166688" y="47625"/>
                    </a:lnTo>
                    <a:moveTo>
                      <a:pt x="232172" y="0"/>
                    </a:moveTo>
                    <a:lnTo>
                      <a:pt x="232172" y="47625"/>
                    </a:lnTo>
                    <a:moveTo>
                      <a:pt x="101203" y="285750"/>
                    </a:moveTo>
                    <a:lnTo>
                      <a:pt x="101203" y="333375"/>
                    </a:lnTo>
                    <a:moveTo>
                      <a:pt x="166688" y="285750"/>
                    </a:moveTo>
                    <a:lnTo>
                      <a:pt x="166688" y="333375"/>
                    </a:lnTo>
                    <a:moveTo>
                      <a:pt x="232172" y="285750"/>
                    </a:moveTo>
                    <a:lnTo>
                      <a:pt x="232172" y="333375"/>
                    </a:lnTo>
                    <a:moveTo>
                      <a:pt x="0" y="101203"/>
                    </a:moveTo>
                    <a:lnTo>
                      <a:pt x="47625" y="101203"/>
                    </a:lnTo>
                    <a:moveTo>
                      <a:pt x="0" y="166688"/>
                    </a:moveTo>
                    <a:lnTo>
                      <a:pt x="47625" y="166688"/>
                    </a:lnTo>
                    <a:moveTo>
                      <a:pt x="0" y="232172"/>
                    </a:moveTo>
                    <a:lnTo>
                      <a:pt x="47625" y="232172"/>
                    </a:lnTo>
                    <a:moveTo>
                      <a:pt x="285750" y="101203"/>
                    </a:moveTo>
                    <a:lnTo>
                      <a:pt x="333375" y="101203"/>
                    </a:lnTo>
                    <a:moveTo>
                      <a:pt x="285750" y="166688"/>
                    </a:moveTo>
                    <a:lnTo>
                      <a:pt x="333375" y="166688"/>
                    </a:lnTo>
                    <a:moveTo>
                      <a:pt x="285750" y="232172"/>
                    </a:moveTo>
                    <a:lnTo>
                      <a:pt x="333375" y="232172"/>
                    </a:ln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79" name="TextBox 79"/>
            <p:cNvSpPr txBox="1"/>
            <p:nvPr>
              <p:custDataLst>
                <p:tags r:id="rId16"/>
              </p:custDataLst>
            </p:nvPr>
          </p:nvSpPr>
          <p:spPr>
            <a:xfrm>
              <a:off x="3456622" y="5099050"/>
              <a:ext cx="8877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類推論</a:t>
              </a:r>
            </a:p>
          </p:txBody>
        </p:sp>
        <p:sp>
          <p:nvSpPr>
            <p:cNvPr id="80" name="Freeform 80"/>
            <p:cNvSpPr/>
            <p:nvPr/>
          </p:nvSpPr>
          <p:spPr>
            <a:xfrm>
              <a:off x="4514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81" name="Freeform 81"/>
            <p:cNvSpPr/>
            <p:nvPr/>
          </p:nvSpPr>
          <p:spPr>
            <a:xfrm>
              <a:off x="4733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82" name="Rectangle 82"/>
            <p:cNvSpPr/>
            <p:nvPr/>
          </p:nvSpPr>
          <p:spPr>
            <a:xfrm>
              <a:off x="480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88" name="Group 88"/>
            <p:cNvGrpSpPr/>
            <p:nvPr/>
          </p:nvGrpSpPr>
          <p:grpSpPr>
            <a:xfrm>
              <a:off x="4870847" y="5055394"/>
              <a:ext cx="315515" cy="309562"/>
              <a:chOff x="4870847" y="5055394"/>
              <a:chExt cx="315515" cy="309562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4870847" y="5097066"/>
                <a:ext cx="226219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238125">
                    <a:moveTo>
                      <a:pt x="0" y="0"/>
                    </a:moveTo>
                    <a:lnTo>
                      <a:pt x="0" y="184547"/>
                    </a:lnTo>
                    <a:cubicBezTo>
                      <a:pt x="0" y="238125"/>
                      <a:pt x="226219" y="238125"/>
                      <a:pt x="226219" y="184547"/>
                    </a:cubicBezTo>
                    <a:lnTo>
                      <a:pt x="226219" y="0"/>
                    </a:lnTo>
                  </a:path>
                </a:pathLst>
              </a:cu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4" name="Ellipse 84"/>
              <p:cNvSpPr/>
              <p:nvPr/>
            </p:nvSpPr>
            <p:spPr>
              <a:xfrm>
                <a:off x="4870847" y="5055394"/>
                <a:ext cx="226219" cy="83344"/>
              </a:xfrm>
              <a:prstGeom prst="ellipse">
                <a:avLst/>
              </a:pr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4870847" y="5180409"/>
                <a:ext cx="226219" cy="53578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53578">
                    <a:moveTo>
                      <a:pt x="0" y="0"/>
                    </a:moveTo>
                    <a:cubicBezTo>
                      <a:pt x="0" y="53578"/>
                      <a:pt x="226219" y="53578"/>
                      <a:pt x="226219" y="0"/>
                    </a:cubicBez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6" name="Ellipse 86"/>
              <p:cNvSpPr/>
              <p:nvPr/>
            </p:nvSpPr>
            <p:spPr>
              <a:xfrm>
                <a:off x="5019675" y="5192316"/>
                <a:ext cx="130969" cy="130969"/>
              </a:xfrm>
              <a:prstGeom prst="ellipse">
                <a:avLst/>
              </a:prstGeom>
              <a:solidFill>
                <a:schemeClr val="accent3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5132784" y="5305425"/>
                <a:ext cx="5357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3578" h="59531">
                    <a:moveTo>
                      <a:pt x="0" y="0"/>
                    </a:moveTo>
                    <a:lnTo>
                      <a:pt x="53578" y="59531"/>
                    </a:lnTo>
                  </a:path>
                </a:pathLst>
              </a:custGeom>
              <a:solidFill>
                <a:schemeClr val="lt1"/>
              </a:solidFill>
              <a:ln w="2381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89" name="TextBox 89"/>
            <p:cNvSpPr txBox="1"/>
            <p:nvPr>
              <p:custDataLst>
                <p:tags r:id="rId17"/>
              </p:custDataLst>
            </p:nvPr>
          </p:nvSpPr>
          <p:spPr>
            <a:xfrm>
              <a:off x="5358281" y="5099050"/>
              <a:ext cx="8944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檢索＋</a:t>
              </a:r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</a:p>
          </p:txBody>
        </p:sp>
        <p:sp>
          <p:nvSpPr>
            <p:cNvPr id="90" name="Freeform 90"/>
            <p:cNvSpPr/>
            <p:nvPr/>
          </p:nvSpPr>
          <p:spPr>
            <a:xfrm>
              <a:off x="641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91" name="Freeform 91"/>
            <p:cNvSpPr/>
            <p:nvPr/>
          </p:nvSpPr>
          <p:spPr>
            <a:xfrm>
              <a:off x="663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92" name="Rectangle 92"/>
            <p:cNvSpPr/>
            <p:nvPr/>
          </p:nvSpPr>
          <p:spPr>
            <a:xfrm>
              <a:off x="670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96" name="Group 96"/>
            <p:cNvGrpSpPr/>
            <p:nvPr/>
          </p:nvGrpSpPr>
          <p:grpSpPr>
            <a:xfrm>
              <a:off x="6799659" y="5049441"/>
              <a:ext cx="279798" cy="327421"/>
              <a:chOff x="6799659" y="5049441"/>
              <a:chExt cx="279798" cy="327421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6799659" y="5049441"/>
                <a:ext cx="250031" cy="321469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321469">
                    <a:moveTo>
                      <a:pt x="125016" y="0"/>
                    </a:moveTo>
                    <a:lnTo>
                      <a:pt x="250031" y="53578"/>
                    </a:lnTo>
                    <a:lnTo>
                      <a:pt x="250031" y="148828"/>
                    </a:lnTo>
                    <a:cubicBezTo>
                      <a:pt x="250031" y="226219"/>
                      <a:pt x="190500" y="279797"/>
                      <a:pt x="125016" y="321469"/>
                    </a:cubicBezTo>
                    <a:cubicBezTo>
                      <a:pt x="59531" y="279797"/>
                      <a:pt x="0" y="226219"/>
                      <a:pt x="0" y="148828"/>
                    </a:cubicBezTo>
                    <a:lnTo>
                      <a:pt x="0" y="53578"/>
                    </a:lnTo>
                    <a:close/>
                  </a:path>
                </a:pathLst>
              </a:cu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6859191" y="5150644"/>
                <a:ext cx="136922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0">
                    <a:moveTo>
                      <a:pt x="0" y="47625"/>
                    </a:moveTo>
                    <a:lnTo>
                      <a:pt x="47625" y="95250"/>
                    </a:lnTo>
                    <a:lnTo>
                      <a:pt x="136922" y="0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  <a:round/>
              </a:ln>
            </p:spPr>
          </p:sp>
          <p:sp>
            <p:nvSpPr>
              <p:cNvPr id="95" name="Freeform 95"/>
              <p:cNvSpPr/>
              <p:nvPr/>
            </p:nvSpPr>
            <p:spPr>
              <a:xfrm>
                <a:off x="7002066" y="5275659"/>
                <a:ext cx="77391" cy="101203"/>
              </a:xfrm>
              <a:custGeom>
                <a:avLst/>
                <a:gdLst/>
                <a:ahLst/>
                <a:cxnLst/>
                <a:rect l="l" t="t" r="r" b="b"/>
                <a:pathLst>
                  <a:path w="77391" h="101203">
                    <a:moveTo>
                      <a:pt x="17859" y="0"/>
                    </a:moveTo>
                    <a:lnTo>
                      <a:pt x="77391" y="0"/>
                    </a:lnTo>
                    <a:lnTo>
                      <a:pt x="77391" y="71438"/>
                    </a:lnTo>
                    <a:lnTo>
                      <a:pt x="0" y="71438"/>
                    </a:lnTo>
                    <a:moveTo>
                      <a:pt x="29766" y="41672"/>
                    </a:moveTo>
                    <a:lnTo>
                      <a:pt x="0" y="71438"/>
                    </a:lnTo>
                    <a:lnTo>
                      <a:pt x="29766" y="101203"/>
                    </a:ln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97" name="TextBox 97"/>
            <p:cNvSpPr txBox="1"/>
            <p:nvPr>
              <p:custDataLst>
                <p:tags r:id="rId18"/>
              </p:custDataLst>
            </p:nvPr>
          </p:nvSpPr>
          <p:spPr>
            <a:xfrm>
              <a:off x="7299007" y="50990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策略回條</a:t>
              </a:r>
            </a:p>
          </p:txBody>
        </p:sp>
        <p:sp>
          <p:nvSpPr>
            <p:cNvPr id="98" name="TextBox 98"/>
            <p:cNvSpPr txBox="1"/>
            <p:nvPr>
              <p:custDataLst>
                <p:tags r:id="rId19"/>
              </p:custDataLst>
            </p:nvPr>
          </p:nvSpPr>
          <p:spPr>
            <a:xfrm>
              <a:off x="830580" y="5661025"/>
              <a:ext cx="44567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稽核；私有權重、輸入及逐筆回覆不公開</a:t>
              </a:r>
            </a:p>
          </p:txBody>
        </p:sp>
        <p:sp>
          <p:nvSpPr>
            <p:cNvPr id="99" name="TextBox 99"/>
            <p:cNvSpPr txBox="1"/>
            <p:nvPr>
              <p:custDataLst>
                <p:tags r:id="rId20"/>
              </p:custDataLst>
            </p:nvPr>
          </p:nvSpPr>
          <p:spPr>
            <a:xfrm>
              <a:off x="10268807" y="44640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100" name="TextBox 100"/>
            <p:cNvSpPr txBox="1"/>
            <p:nvPr>
              <p:custDataLst>
                <p:tags r:id="rId21"/>
              </p:custDataLst>
            </p:nvPr>
          </p:nvSpPr>
          <p:spPr>
            <a:xfrm>
              <a:off x="9682978" y="5105400"/>
              <a:ext cx="144299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外部</a:t>
              </a:r>
              <a:r>
                <a:rPr lang="en-US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 API </a:t>
              </a:r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呼叫</a:t>
              </a:r>
            </a:p>
          </p:txBody>
        </p:sp>
      </p:grpSp>
      <p:grpSp>
        <p:nvGrpSpPr>
          <p:cNvPr id="105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102" name="Line 102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103" name="TextBox 103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104" name="TextBox 104"/>
            <p:cNvSpPr txBox="1"/>
            <p:nvPr>
              <p:custDataLst>
                <p:tags r:id="rId2"/>
              </p:custDataLst>
            </p:nvPr>
          </p:nvSpPr>
          <p:spPr>
            <a:xfrm>
              <a:off x="10616566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3 /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1599998474121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4.2500038146972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0.749988555908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249988555908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3.749988555908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78000068664550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70000839233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400001525878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400001525878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9999961853027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5.2799987792968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77999877929688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89999389648438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7799987792968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8999938964843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0.7799987792969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0.839996337890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780029296875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900024414062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27999877929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.84000015258789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.90000152587890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4.8399963378906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4.8999938964843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39996337890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999938964844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5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4.9999923706054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99993896484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7.28002929687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280029296875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280029296875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4000244140625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.000030517578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20001220703125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040008544921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369995117187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8699951171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0400085449219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3699951171875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869995117187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3499755859375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5599975585938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64.99999618530273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570846557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65.0000038146972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618530273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9618530273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80999755859375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7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839996337890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3.49999046325684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2.99999046325684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49999046325684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1.99999046325684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1.4999904632568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7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869995117187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099975585938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500610351562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499961853027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1.7500114440918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500114440918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7.749973297119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7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69995117187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900001525878906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4.3999938964844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4998474121094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4998474121094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04.8999938964844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47412109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771118164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5.4000244140625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847412109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771118164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4.220001220703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3999633789062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719970703125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0599975585938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75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8699951171875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0.0000400543213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3.75004291534424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7.5000610351562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7.0813598632812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7.31103515625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1.9305419921875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.55999755859375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.68000030517578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700027465820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457763672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1.999963760376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2.0000114440918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343322754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114440918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5000143051147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5000343322754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499973297119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1.80999755859375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91999816894531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4999618530273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114440918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457763672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09265137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771118164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809265137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20001220703125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5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3.9999656677246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4999885559082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9.0000495910645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504089355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610351562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5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0000457763672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50000762939453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9.0000076293945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2.75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885559082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610351562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6.75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9.49996185302734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8.2499885559082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47683716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465942383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22.25003814697266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4.00000762939453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3.99996185302734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70.0000495910645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70.0000076293945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76293945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923706055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003814697266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000381469727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0.5000381469727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0.5000038146973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286102295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465942383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.83999633789062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9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999885559082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8.999958038330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8.9999771118164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47683716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152587891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heme/theme1.xml><?xml version="1.0" encoding="utf-8"?>
<a:theme xmlns:a="http://schemas.openxmlformats.org/drawingml/2006/main" name="finals_editorial">
  <a:themeElements>
    <a:clrScheme name="AI Security Navy Blue Gold">
      <a:dk1>
        <a:srgbClr val="171C1D"/>
      </a:dk1>
      <a:lt1>
        <a:srgbClr val="FFFFFF"/>
      </a:lt1>
      <a:dk2>
        <a:srgbClr val="092B42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105186"/>
      </a:hlink>
      <a:folHlink>
        <a:srgbClr val="092B42"/>
      </a:folHlink>
    </a:clrScheme>
    <a:fontScheme name="finals_editorial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AI Security Navy Blue Gold">
      <a:dk1>
        <a:srgbClr val="171C1D"/>
      </a:dk1>
      <a:lt1>
        <a:srgbClr val="FFFFFF"/>
      </a:lt1>
      <a:dk2>
        <a:srgbClr val="092B42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105186"/>
      </a:hlink>
      <a:folHlink>
        <a:srgbClr val="092B42"/>
      </a:folHlink>
    </a:clrScheme>
    <a:fontScheme name="finals_editorial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2126</Words>
  <Application>Microsoft Office PowerPoint</Application>
  <PresentationFormat>寬螢幕</PresentationFormat>
  <Paragraphs>268</Paragraphs>
  <Slides>12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4" baseType="lpstr">
      <vt:lpstr>Times New Roman</vt:lpstr>
      <vt:lpstr>finals_editorial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/>
  <cp:lastModifiedBy/>
  <cp:revision>3</cp:revision>
  <dcterms:created xsi:type="dcterms:W3CDTF">2026-10-28T14:17:39Z</dcterms:created>
  <dcterms:modified xsi:type="dcterms:W3CDTF">2026-10-28T18:11:49Z</dcterms:modified>
  <cp:category/>
  <cp:contentStatus/>
  <dc:language>zh-TW</dc:language>
</cp:coreProperties>
</file>