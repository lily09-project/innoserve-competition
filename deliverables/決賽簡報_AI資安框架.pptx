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TW"/>
    </a:defPPr>
    <a:lvl1pPr marL="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TW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TW" sz="1200">
        <a:latin typeface="Times New Roman"/>
        <a:ea typeface="DFKai-SB"/>
        <a:cs typeface="Times New Roman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我們的作品將入侵偵測、案例檢索、AI稽核與受控處置，整合在同一條事件鏈。前段產生判定與模型表徵，後段依相似案例核對證據，最後留下可驗證、可回復的處置回條。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本頁為三十秒、兩倍速內嵌方法動畫，進入頁面後播放一次，結束停留。先讓評審看見同一事件的完整流程，再接續架構說明；影片計入五分鐘流程。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前段以兩種互補特徵平行判斷，並非先後串行。CTBM閱讀封包內容、時間差與方向；PBCNN補充短視窗位元組模式。校準後由OOF Gate依事件證據融合，輸出固定十七類，並保留信心與表徵交給後段。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後段不是只把類別名稱送進語言模型。我們結合五百一十二維流量表徵與十七維類別機率，建立任務向量，查詢只由訓練資料建立的案例庫。前五筆案例與類別共識交給本機AI核對，回傳支持、複核或不確定，連同正式分類留在同一事件紀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處置由政策閘門檢查範圍、白名單與有效期，通過後才套用並讀回規則，再於到期撤銷。六種隔離情境包含四種實際套用規則、兩種監測或蒐證；背景服務六種皆保留，回復完整性六種皆通過。這些結果量測隔離TCP交易與回條，不代表原始攻擊封包或正式場域的防禦率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以十七類真實前處理張量重跑整合鏈，並以六種隔離情境確認處置回條與回復行為。作品把偵測、證據與處置放在同一個框架，讓判斷有依據、稽核有證據、處置可回復。前面播放的三十秒動畫以兩倍速說明流程，並可搭配本機執行紀錄展示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Q1：創新在哪裡？與一般 IDS 加上 RAG 有何不同？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把流量表徵與類別機率組成任務向量，檢索相關證據。AI 保留正式分類，同一事件一路連到策略與回復回條。互補判定 → 案例檢索 → 證據稽核 → 受控處置。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Q2：如何證明前段判斷與後段處置已經串起來？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17 類本機推論與 AI 稽核已逐類執行，產物使用同一事件 ID。6 種隔離情境的回條綁定同次執行，過期執行 ID 會被拒絕。分類、Top-5、Judge、策略與回條綁定同一事件。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Q3：評估資料如何切分？案例庫是否洩漏測試答案？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偵測比較使用相同 18,998 筆測試；案例庫只由訓練資料建立。檢索使用 1,550 筆案例、463 筆查詢，訓練與查詢沒有重疊。偵測與檢索分開評估；AI 輸入不包含真實標籤。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Q4：AI 若支持錯誤判斷，如何避免直接誤封？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30 筆偵測誤判有 18 筆分流；其餘 12 筆仍獲 AI 支持。處置另經信心、政策、白名單與期限檢查，並可到期撤銷。AI 不改寫正式分類；複核／不確定走監測或蒐證。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Q5：6/6 是否代表各種真實攻擊都能完全防住？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6/6 指隔離 TCP 情境中的背景服務保留及回復完整性。4 種情境套用規則、2 種監測或蒐證；不等同真實攻擊防禦率。偵測 Accuracy 98.08%、Macro-F1 93.05% 另依測試集計算。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Q6：如何部署、保護資料，並接到既有環境？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本機 GPU 模型與本機案例庫處理事件，敏感欄位先遮罩。17 類已以前處理張量驗證；場域接入依資料介面配置。本機 AI 稽核；私有權重、輸入及逐筆回覆不公開。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TW" smtClean="0"/>
              <a:t>10/28/2026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10/28/2026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TW" sz="33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zh-TW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609600" y="257175"/>
            <a:ext cx="1926476" cy="307467"/>
            <a:chOff x="609600" y="257175"/>
            <a:chExt cx="1926476" cy="307467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78055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2026 資安技術組 · 決賽</a:t>
              </a:r>
            </a:p>
          </p:txBody>
        </p:sp>
      </p:grpSp>
      <p:grpSp>
        <p:nvGrpSpPr>
          <p:cNvPr id="37" name="page-content"/>
          <p:cNvGrpSpPr/>
          <p:nvPr/>
        </p:nvGrpSpPr>
        <p:grpSpPr>
          <a:xfrm>
            <a:off x="593217" y="1558925"/>
            <a:ext cx="10817733" cy="4498975"/>
            <a:chOff x="593217" y="1558925"/>
            <a:chExt cx="10817733" cy="4498975"/>
          </a:xfrm>
        </p:grpSpPr>
        <p:sp>
          <p:nvSpPr>
            <p:cNvPr id="5" name="TextBox 5"/>
            <p:cNvSpPr txBox="1"/>
            <p:nvPr/>
          </p:nvSpPr>
          <p:spPr>
            <a:xfrm>
              <a:off x="593217" y="1558925"/>
              <a:ext cx="610143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融合新型內容相依時序方向模型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3217" y="2178050"/>
              <a:ext cx="6534912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入侵偵測與任務導向檢索增強稽核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3217" y="2797175"/>
              <a:ext cx="306508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之</a:t>
              </a:r>
              <a:r>
                <a:rPr lang="en-US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8932" y="3841750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從流量判定，走到有證據的處置。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096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4848225"/>
              <a:ext cx="476250" cy="476250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1432560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偵測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24003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6574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7241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pic>
          <p:nvPicPr>
            <p:cNvPr id="15" name="Image 1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00350" y="4848225"/>
              <a:ext cx="476250" cy="476250"/>
            </a:xfrm>
            <a:prstGeom prst="rect">
              <a:avLst/>
            </a:prstGeom>
          </p:spPr>
        </p:pic>
        <p:sp>
          <p:nvSpPr>
            <p:cNvPr id="16" name="TextBox 16"/>
            <p:cNvSpPr txBox="1"/>
            <p:nvPr/>
          </p:nvSpPr>
          <p:spPr>
            <a:xfrm>
              <a:off x="3547110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451485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77202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8387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4995267" y="4881711"/>
              <a:ext cx="267891" cy="361653"/>
              <a:chOff x="4995267" y="4881711"/>
              <a:chExt cx="267891" cy="361653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995267" y="4881711"/>
                <a:ext cx="267891" cy="36165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6697">
                <a:solidFill>
                  <a:schemeClr val="accent1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5055543" y="496877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95BADC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5055543" y="504244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95BADC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5055543" y="511611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95BADC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055543" y="518978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95BADC"/>
                </a:solidFill>
              </a:ln>
            </p:spPr>
          </p:sp>
        </p:grpSp>
        <p:grpSp>
          <p:nvGrpSpPr>
            <p:cNvPr id="29" name="Group 29"/>
            <p:cNvGrpSpPr/>
            <p:nvPr/>
          </p:nvGrpSpPr>
          <p:grpSpPr>
            <a:xfrm>
              <a:off x="5202436" y="5135761"/>
              <a:ext cx="148828" cy="148828"/>
              <a:chOff x="5202436" y="5135761"/>
              <a:chExt cx="148828" cy="148828"/>
            </a:xfrm>
          </p:grpSpPr>
          <p:sp>
            <p:nvSpPr>
              <p:cNvPr id="26" name="Ellipse 26"/>
              <p:cNvSpPr/>
              <p:nvPr/>
            </p:nvSpPr>
            <p:spPr>
              <a:xfrm>
                <a:off x="5202436" y="5135761"/>
                <a:ext cx="148828" cy="148828"/>
              </a:xfrm>
              <a:prstGeom prst="ellipse">
                <a:avLst/>
              </a:prstGeom>
              <a:solidFill>
                <a:srgbClr val="E7F1FB"/>
              </a:solidFill>
              <a:ln w="7441">
                <a:solidFill>
                  <a:schemeClr val="accent1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5235178" y="5210175"/>
                <a:ext cx="29766" cy="29766"/>
              </a:xfrm>
              <a:custGeom>
                <a:avLst/>
                <a:gdLst/>
                <a:ahLst/>
                <a:cxnLst/>
                <a:rect l="l" t="t" r="r" b="b"/>
                <a:pathLst>
                  <a:path w="29766" h="29766">
                    <a:moveTo>
                      <a:pt x="0" y="0"/>
                    </a:moveTo>
                    <a:lnTo>
                      <a:pt x="29766" y="29766"/>
                    </a:lnTo>
                  </a:path>
                </a:pathLst>
              </a:custGeom>
              <a:noFill/>
              <a:ln w="11906" cap="rnd">
                <a:solidFill>
                  <a:schemeClr val="accent1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5264944" y="5177433"/>
                <a:ext cx="56555" cy="62508"/>
              </a:xfrm>
              <a:custGeom>
                <a:avLst/>
                <a:gdLst/>
                <a:ahLst/>
                <a:cxnLst/>
                <a:rect l="l" t="t" r="r" b="b"/>
                <a:pathLst>
                  <a:path w="56555" h="62508">
                    <a:moveTo>
                      <a:pt x="0" y="62508"/>
                    </a:moveTo>
                    <a:lnTo>
                      <a:pt x="56555" y="0"/>
                    </a:lnTo>
                  </a:path>
                </a:pathLst>
              </a:custGeom>
              <a:noFill/>
              <a:ln w="11906" cap="rnd">
                <a:solidFill>
                  <a:schemeClr val="accent1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5661660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66294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8865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9532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29450" y="4848225"/>
              <a:ext cx="476250" cy="476250"/>
            </a:xfrm>
            <a:prstGeom prst="rect">
              <a:avLst/>
            </a:prstGeom>
          </p:spPr>
        </p:pic>
        <p:sp>
          <p:nvSpPr>
            <p:cNvPr id="35" name="TextBox 35"/>
            <p:cNvSpPr txBox="1"/>
            <p:nvPr/>
          </p:nvSpPr>
          <p:spPr>
            <a:xfrm>
              <a:off x="7776210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回復</a:t>
              </a:r>
            </a:p>
          </p:txBody>
        </p:sp>
        <p:pic>
          <p:nvPicPr>
            <p:cNvPr id="36" name="Image 3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96400" y="3943350"/>
              <a:ext cx="2114550" cy="2114550"/>
            </a:xfrm>
            <a:prstGeom prst="rect">
              <a:avLst/>
            </a:prstGeom>
          </p:spPr>
        </p:pic>
      </p:grpSp>
      <p:grpSp>
        <p:nvGrpSpPr>
          <p:cNvPr id="41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38" name="Line 38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01 / 09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peningFilm_30s_Embedded">
            <a:hlinkClick r:id="" action="ppaction://media"/>
            <a:extLst>
              <a:ext uri="{FF2B5EF4-FFF2-40B4-BE49-F238E27FC236}">
                <a16:creationId xmlns:a16="http://schemas.microsoft.com/office/drawing/2014/main" id="{769353B6-9DBC-4F2E-828C-AB1667AC6C4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696587" cy="1082802"/>
            <a:chOff x="593598" y="257175"/>
            <a:chExt cx="4696587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4810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FRAMEWORK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一個框架，四個連續階段</a:t>
              </a:r>
            </a:p>
          </p:txBody>
        </p:sp>
      </p:grpSp>
      <p:grpSp>
        <p:nvGrpSpPr>
          <p:cNvPr id="71" name="page-content"/>
          <p:cNvGrpSpPr/>
          <p:nvPr/>
        </p:nvGrpSpPr>
        <p:grpSpPr>
          <a:xfrm>
            <a:off x="47625" y="1504950"/>
            <a:ext cx="11991975" cy="4824857"/>
            <a:chOff x="47625" y="1504950"/>
            <a:chExt cx="11991975" cy="4824857"/>
          </a:xfrm>
        </p:grpSpPr>
        <p:sp>
          <p:nvSpPr>
            <p:cNvPr id="6" name="Rectangle 6"/>
            <p:cNvSpPr/>
            <p:nvPr/>
          </p:nvSpPr>
          <p:spPr>
            <a:xfrm>
              <a:off x="152400" y="1504950"/>
              <a:ext cx="21526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314706" y="1593850"/>
              <a:ext cx="1179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流量表徵</a:t>
              </a:r>
            </a:p>
          </p:txBody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9750" y="1543050"/>
              <a:ext cx="323850" cy="32385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315849" y="2085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真實前處理張量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5468" y="25019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5468" y="280670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時間差・方向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16230" y="31178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遮罩欄位・流量切窗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533650" y="1504950"/>
              <a:ext cx="95059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86050" y="1562100"/>
              <a:ext cx="342900" cy="342900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3115056" y="1593850"/>
              <a:ext cx="25472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b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互補模型與 17 類判定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781300" y="201930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943606" y="2051050"/>
              <a:ext cx="950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45130" y="23177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內容・時間差・方向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2781300" y="276225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943606" y="2794000"/>
              <a:ext cx="10891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45130" y="306070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09800"/>
              <a:ext cx="264795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86906" y="2308225"/>
              <a:ext cx="20301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7668" y="26733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9201150" y="2209800"/>
              <a:ext cx="262890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382506" y="2308225"/>
              <a:ext cx="15499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類正式判定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84030" y="2698750"/>
              <a:ext cx="2068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512 維表徵＋17 維機率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2305050" y="2305050"/>
              <a:ext cx="476250" cy="171450"/>
            </a:xfrm>
            <a:custGeom>
              <a:avLst/>
              <a:gdLst/>
              <a:ahLst/>
              <a:cxnLst/>
              <a:rect l="l" t="t" r="r" b="b"/>
              <a:pathLst>
                <a:path w="476250" h="171450">
                  <a:moveTo>
                    <a:pt x="0" y="171450"/>
                  </a:moveTo>
                  <a:lnTo>
                    <a:pt x="361950" y="171450"/>
                  </a:lnTo>
                  <a:lnTo>
                    <a:pt x="361950" y="0"/>
                  </a:ln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2714625" y="2257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2667000" y="2476500"/>
              <a:ext cx="114300" cy="571500"/>
            </a:xfrm>
            <a:custGeom>
              <a:avLst/>
              <a:gdLst/>
              <a:ahLst/>
              <a:cxnLst/>
              <a:rect l="l" t="t" r="r" b="b"/>
              <a:pathLst>
                <a:path w="114300" h="571500">
                  <a:moveTo>
                    <a:pt x="0" y="0"/>
                  </a:moveTo>
                  <a:lnTo>
                    <a:pt x="0" y="571500"/>
                  </a:lnTo>
                  <a:lnTo>
                    <a:pt x="114300" y="5715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2714625" y="30003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5638800" y="2305050"/>
              <a:ext cx="647700" cy="333375"/>
            </a:xfrm>
            <a:custGeom>
              <a:avLst/>
              <a:gdLst/>
              <a:ahLst/>
              <a:cxnLst/>
              <a:rect l="l" t="t" r="r" b="b"/>
              <a:pathLst>
                <a:path w="647700" h="333375">
                  <a:moveTo>
                    <a:pt x="0" y="0"/>
                  </a:moveTo>
                  <a:lnTo>
                    <a:pt x="314325" y="0"/>
                  </a:lnTo>
                  <a:lnTo>
                    <a:pt x="314325" y="333375"/>
                  </a:lnTo>
                  <a:lnTo>
                    <a:pt x="647700" y="33337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5638800" y="2638425"/>
              <a:ext cx="647700" cy="409575"/>
            </a:xfrm>
            <a:custGeom>
              <a:avLst/>
              <a:gdLst/>
              <a:ahLst/>
              <a:cxnLst/>
              <a:rect l="l" t="t" r="r" b="b"/>
              <a:pathLst>
                <a:path w="647700" h="409575">
                  <a:moveTo>
                    <a:pt x="0" y="409575"/>
                  </a:moveTo>
                  <a:lnTo>
                    <a:pt x="314325" y="409575"/>
                  </a:lnTo>
                  <a:lnTo>
                    <a:pt x="314325" y="0"/>
                  </a:ln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8934450" y="263842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913447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52400" y="4038600"/>
              <a:ext cx="80010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39" name="Image 3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3850" y="4095750"/>
              <a:ext cx="342900" cy="342900"/>
            </a:xfrm>
            <a:prstGeom prst="rect">
              <a:avLst/>
            </a:prstGeom>
          </p:spPr>
        </p:pic>
        <p:sp>
          <p:nvSpPr>
            <p:cNvPr id="40" name="TextBox 40"/>
            <p:cNvSpPr txBox="1"/>
            <p:nvPr/>
          </p:nvSpPr>
          <p:spPr>
            <a:xfrm>
              <a:off x="752856" y="4127500"/>
              <a:ext cx="28777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任務導向檢索與</a:t>
              </a:r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381000" y="4591050"/>
              <a:ext cx="180975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05968" y="4711700"/>
              <a:ext cx="15380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06730" y="5032375"/>
              <a:ext cx="973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2476500" y="4591050"/>
              <a:ext cx="23241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601468" y="4711700"/>
              <a:ext cx="16109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602230" y="50323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僅訓練資料案例庫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143500" y="4591050"/>
              <a:ext cx="27813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68468" y="4711700"/>
              <a:ext cx="1364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269230" y="50323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50" name="Freeform 50"/>
            <p:cNvSpPr/>
            <p:nvPr/>
          </p:nvSpPr>
          <p:spPr>
            <a:xfrm>
              <a:off x="47625" y="3067050"/>
              <a:ext cx="10467975" cy="1914525"/>
            </a:xfrm>
            <a:custGeom>
              <a:avLst/>
              <a:gdLst/>
              <a:ahLst/>
              <a:cxnLst/>
              <a:rect l="l" t="t" r="r" b="b"/>
              <a:pathLst>
                <a:path w="10467975" h="1914525">
                  <a:moveTo>
                    <a:pt x="10467975" y="0"/>
                  </a:moveTo>
                  <a:lnTo>
                    <a:pt x="10467975" y="657225"/>
                  </a:lnTo>
                  <a:lnTo>
                    <a:pt x="0" y="657225"/>
                  </a:lnTo>
                  <a:lnTo>
                    <a:pt x="0" y="1914525"/>
                  </a:lnTo>
                  <a:lnTo>
                    <a:pt x="333375" y="191452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314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564380" y="3435350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正式類別・信心・模型表徵</a:t>
              </a:r>
            </a:p>
          </p:txBody>
        </p:sp>
        <p:sp>
          <p:nvSpPr>
            <p:cNvPr id="53" name="Freeform 53"/>
            <p:cNvSpPr/>
            <p:nvPr/>
          </p:nvSpPr>
          <p:spPr>
            <a:xfrm>
              <a:off x="2190750" y="49815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2409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4800600" y="49815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5076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3107055" y="549910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58" name="Freeform 58"/>
            <p:cNvSpPr/>
            <p:nvPr/>
          </p:nvSpPr>
          <p:spPr>
            <a:xfrm>
              <a:off x="3619500" y="53721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1143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6B6B6B"/>
              </a:solidFill>
              <a:custDash>
                <a:ds d="250000" sp="200000"/>
              </a:custDash>
            </a:ln>
          </p:spPr>
        </p:sp>
        <p:sp>
          <p:nvSpPr>
            <p:cNvPr id="59" name="Freeform 59"/>
            <p:cNvSpPr/>
            <p:nvPr/>
          </p:nvSpPr>
          <p:spPr>
            <a:xfrm>
              <a:off x="3571875" y="537210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19050">
              <a:solidFill>
                <a:srgbClr val="6B6B6B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269230" y="549910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稽核保留正式分類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382000" y="4038600"/>
              <a:ext cx="36576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62" name="Image 6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53450" y="4086225"/>
              <a:ext cx="342900" cy="342900"/>
            </a:xfrm>
            <a:prstGeom prst="rect">
              <a:avLst/>
            </a:prstGeom>
          </p:spPr>
        </p:pic>
        <p:sp>
          <p:nvSpPr>
            <p:cNvPr id="63" name="TextBox 63"/>
            <p:cNvSpPr txBox="1"/>
            <p:nvPr/>
          </p:nvSpPr>
          <p:spPr>
            <a:xfrm>
              <a:off x="8982456" y="4127500"/>
              <a:ext cx="1920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受控處置與回復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601456" y="4603750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策略檢查 → 套用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601456" y="4956175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 → 到期撤銷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602980" y="5470525"/>
              <a:ext cx="1950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複核／不確定 → 蒐證</a:t>
              </a:r>
            </a:p>
          </p:txBody>
        </p:sp>
        <p:sp>
          <p:nvSpPr>
            <p:cNvPr id="67" name="Freeform 67"/>
            <p:cNvSpPr/>
            <p:nvPr/>
          </p:nvSpPr>
          <p:spPr>
            <a:xfrm>
              <a:off x="7924800" y="498157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8315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152400" y="5962650"/>
              <a:ext cx="11887200" cy="361950"/>
            </a:xfrm>
            <a:prstGeom prst="roundRect">
              <a:avLst>
                <a:gd name="adj" fmla="val 21053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2822546" y="6007100"/>
              <a:ext cx="65469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共用事件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：正式判定｜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證據｜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稽核｜處置與回復回條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72" name="Line 72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03 / 09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120640" cy="1082802"/>
            <a:chOff x="593598" y="257175"/>
            <a:chExt cx="5120640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33979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DETECTION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互補模型，形成同一次判定</a:t>
              </a:r>
            </a:p>
          </p:txBody>
        </p:sp>
      </p:grpSp>
      <p:grpSp>
        <p:nvGrpSpPr>
          <p:cNvPr id="55" name="page-content"/>
          <p:cNvGrpSpPr/>
          <p:nvPr/>
        </p:nvGrpSpPr>
        <p:grpSpPr>
          <a:xfrm>
            <a:off x="609600" y="1809750"/>
            <a:ext cx="10972800" cy="4181475"/>
            <a:chOff x="609600" y="1809750"/>
            <a:chExt cx="10972800" cy="4181475"/>
          </a:xfrm>
        </p:grpSpPr>
        <p:sp>
          <p:nvSpPr>
            <p:cNvPr id="6" name="Rectangle 6"/>
            <p:cNvSpPr/>
            <p:nvPr/>
          </p:nvSpPr>
          <p:spPr>
            <a:xfrm>
              <a:off x="609600" y="1809750"/>
              <a:ext cx="2095500" cy="333375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09244" y="1968500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同一流量輸入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0006" y="25654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1866900" y="25527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192405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04787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17170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29552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10006" y="334645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866900" y="333375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924050" y="3390900"/>
              <a:ext cx="66675" cy="762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047875" y="3390900"/>
              <a:ext cx="66675" cy="10477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171700" y="3390900"/>
              <a:ext cx="66675" cy="1333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295525" y="3390900"/>
              <a:ext cx="66675" cy="16192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10006" y="41275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方向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866900" y="41148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192405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04787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17170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29552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2705100" y="2571750"/>
              <a:ext cx="819150" cy="904875"/>
            </a:xfrm>
            <a:custGeom>
              <a:avLst/>
              <a:gdLst/>
              <a:ahLst/>
              <a:cxnLst/>
              <a:rect l="l" t="t" r="r" b="b"/>
              <a:pathLst>
                <a:path w="819150" h="904875">
                  <a:moveTo>
                    <a:pt x="0" y="904875"/>
                  </a:moveTo>
                  <a:lnTo>
                    <a:pt x="419100" y="904875"/>
                  </a:lnTo>
                  <a:lnTo>
                    <a:pt x="419100" y="0"/>
                  </a:lnTo>
                  <a:lnTo>
                    <a:pt x="8191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3457575" y="25241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124200" y="3476625"/>
              <a:ext cx="400050" cy="857250"/>
            </a:xfrm>
            <a:custGeom>
              <a:avLst/>
              <a:gdLst/>
              <a:ahLst/>
              <a:cxnLst/>
              <a:rect l="l" t="t" r="r" b="b"/>
              <a:pathLst>
                <a:path w="400050" h="857250">
                  <a:moveTo>
                    <a:pt x="0" y="0"/>
                  </a:moveTo>
                  <a:lnTo>
                    <a:pt x="0" y="857250"/>
                  </a:lnTo>
                  <a:lnTo>
                    <a:pt x="400050" y="857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3457575" y="42862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524250" y="1866900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pic>
          <p:nvPicPr>
            <p:cNvPr id="31" name="Image 3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4750" y="2009775"/>
              <a:ext cx="781050" cy="781050"/>
            </a:xfrm>
            <a:prstGeom prst="rect">
              <a:avLst/>
            </a:prstGeom>
          </p:spPr>
        </p:pic>
        <p:sp>
          <p:nvSpPr>
            <p:cNvPr id="32" name="TextBox 32"/>
            <p:cNvSpPr txBox="1"/>
            <p:nvPr/>
          </p:nvSpPr>
          <p:spPr>
            <a:xfrm>
              <a:off x="4674108" y="1993900"/>
              <a:ext cx="12679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78299" y="245745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內容・時序・方向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744849" y="28860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讀取流量的時序關係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524250" y="3629025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3804940" y="3947220"/>
              <a:ext cx="562570" cy="375046"/>
              <a:chOff x="3804940" y="3947220"/>
              <a:chExt cx="562570" cy="375046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3804940" y="3947220"/>
                <a:ext cx="562570" cy="375047"/>
              </a:xfrm>
              <a:prstGeom prst="roundRect">
                <a:avLst>
                  <a:gd name="adj" fmla="val 13889"/>
                </a:avLst>
              </a:prstGeom>
              <a:solidFill>
                <a:schemeClr val="lt1"/>
              </a:solidFill>
              <a:ln w="10418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3804940" y="3947220"/>
                <a:ext cx="281285" cy="208359"/>
              </a:xfrm>
              <a:custGeom>
                <a:avLst/>
                <a:gdLst/>
                <a:ahLst/>
                <a:cxnLst/>
                <a:rect l="l" t="t" r="r" b="b"/>
                <a:pathLst>
                  <a:path w="281285" h="208359">
                    <a:moveTo>
                      <a:pt x="0" y="0"/>
                    </a:moveTo>
                    <a:lnTo>
                      <a:pt x="281285" y="208359"/>
                    </a:lnTo>
                  </a:path>
                </a:pathLst>
              </a:custGeom>
              <a:noFill/>
              <a:ln w="26045" cap="rnd">
                <a:solidFill>
                  <a:schemeClr val="accent1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4086225" y="3947220"/>
                <a:ext cx="281285" cy="208359"/>
              </a:xfrm>
              <a:custGeom>
                <a:avLst/>
                <a:gdLst/>
                <a:ahLst/>
                <a:cxnLst/>
                <a:rect l="l" t="t" r="r" b="b"/>
                <a:pathLst>
                  <a:path w="281285" h="208359">
                    <a:moveTo>
                      <a:pt x="0" y="208359"/>
                    </a:moveTo>
                    <a:lnTo>
                      <a:pt x="281285" y="0"/>
                    </a:lnTo>
                  </a:path>
                </a:pathLst>
              </a:custGeom>
              <a:noFill/>
              <a:ln w="26045" cap="rnd">
                <a:solidFill>
                  <a:schemeClr val="accent1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4674108" y="3756025"/>
              <a:ext cx="145218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678299" y="42386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744849" y="46482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補充局部內容特徵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6762750" y="2571750"/>
              <a:ext cx="952500" cy="904875"/>
            </a:xfrm>
            <a:custGeom>
              <a:avLst/>
              <a:gdLst/>
              <a:ahLst/>
              <a:cxnLst/>
              <a:rect l="l" t="t" r="r" b="b"/>
              <a:pathLst>
                <a:path w="952500" h="904875">
                  <a:moveTo>
                    <a:pt x="0" y="0"/>
                  </a:moveTo>
                  <a:lnTo>
                    <a:pt x="476250" y="0"/>
                  </a:lnTo>
                  <a:lnTo>
                    <a:pt x="476250" y="904875"/>
                  </a:lnTo>
                  <a:lnTo>
                    <a:pt x="952500" y="9048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7648575" y="34290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6762750" y="3476625"/>
              <a:ext cx="476250" cy="857250"/>
            </a:xfrm>
            <a:custGeom>
              <a:avLst/>
              <a:gdLst/>
              <a:ahLst/>
              <a:cxnLst/>
              <a:rect l="l" t="t" r="r" b="b"/>
              <a:pathLst>
                <a:path w="476250" h="857250">
                  <a:moveTo>
                    <a:pt x="0" y="857250"/>
                  </a:moveTo>
                  <a:lnTo>
                    <a:pt x="476250" y="857250"/>
                  </a:lnTo>
                  <a:lnTo>
                    <a:pt x="476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7191375" y="34766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715250" y="2600325"/>
              <a:ext cx="3867150" cy="1714500"/>
            </a:xfrm>
            <a:prstGeom prst="roundRect">
              <a:avLst>
                <a:gd name="adj" fmla="val 4444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941945" y="2768600"/>
              <a:ext cx="253765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43850" y="3248025"/>
              <a:ext cx="179064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944612" y="37084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形成同一次正式判定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9648825" y="4314825"/>
              <a:ext cx="9525" cy="1066800"/>
            </a:xfrm>
            <a:custGeom>
              <a:avLst/>
              <a:gdLst/>
              <a:ahLst/>
              <a:cxnLst/>
              <a:rect l="l" t="t" r="r" b="b"/>
              <a:pathLst>
                <a:path w="9525" h="1066800">
                  <a:moveTo>
                    <a:pt x="0" y="0"/>
                  </a:moveTo>
                  <a:lnTo>
                    <a:pt x="0" y="10668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9601200" y="531495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09600" y="5381625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28675" y="5534025"/>
              <a:ext cx="608355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類判定 ＋ 校準信心 ＋ 模型表徵 → 後段檢索與稽核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56" name="Line 56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04 / 09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968746" cy="1082802"/>
            <a:chOff x="593598" y="257175"/>
            <a:chExt cx="5968746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18004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EVIDENCE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把偵測表徵，變成可核對的證據</a:t>
              </a:r>
            </a:p>
          </p:txBody>
        </p:sp>
      </p:grpSp>
      <p:grpSp>
        <p:nvGrpSpPr>
          <p:cNvPr id="80" name="page-content"/>
          <p:cNvGrpSpPr/>
          <p:nvPr/>
        </p:nvGrpSpPr>
        <p:grpSpPr>
          <a:xfrm>
            <a:off x="600456" y="1612900"/>
            <a:ext cx="10981944" cy="4504944"/>
            <a:chOff x="600456" y="1612900"/>
            <a:chExt cx="10981944" cy="4504944"/>
          </a:xfrm>
        </p:grpSpPr>
        <p:sp>
          <p:nvSpPr>
            <p:cNvPr id="6" name="TextBox 6"/>
            <p:cNvSpPr txBox="1"/>
            <p:nvPr/>
          </p:nvSpPr>
          <p:spPr>
            <a:xfrm>
              <a:off x="60083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 組合任務向量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" y="2152650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69888" y="2317998"/>
              <a:ext cx="403324" cy="374154"/>
              <a:chOff x="769888" y="2317998"/>
              <a:chExt cx="403324" cy="374154"/>
            </a:xfrm>
          </p:grpSpPr>
          <p:sp>
            <p:nvSpPr>
              <p:cNvPr id="8" name="Line 8"/>
              <p:cNvSpPr/>
              <p:nvPr/>
            </p:nvSpPr>
            <p:spPr>
              <a:xfrm>
                <a:off x="769888" y="23179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9" name="Line 9"/>
              <p:cNvSpPr/>
              <p:nvPr/>
            </p:nvSpPr>
            <p:spPr>
              <a:xfrm>
                <a:off x="769888" y="23179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769888" y="26826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112639" y="23179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163687" y="23179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112639" y="26826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4" name="Rectangle 14"/>
              <p:cNvSpPr/>
              <p:nvPr/>
            </p:nvSpPr>
            <p:spPr>
              <a:xfrm>
                <a:off x="864691" y="2361754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8EB9DE"/>
              </a:solidFill>
              <a:ln>
                <a:noFill/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864691" y="2441972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8EB9DE"/>
              </a:solidFill>
              <a:ln>
                <a:noFill/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864691" y="2522190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8EB9DE"/>
              </a:solidFill>
              <a:ln>
                <a:noFill/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864691" y="2602409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8EB9DE"/>
              </a:solidFill>
              <a:ln>
                <a:noFill/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498854" y="2374900"/>
              <a:ext cx="1193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512 維表徵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84972" y="2911475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3400425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69888" y="3575298"/>
              <a:ext cx="403324" cy="374154"/>
              <a:chOff x="769888" y="3575298"/>
              <a:chExt cx="403324" cy="374154"/>
            </a:xfrm>
          </p:grpSpPr>
          <p:sp>
            <p:nvSpPr>
              <p:cNvPr id="22" name="Line 22"/>
              <p:cNvSpPr/>
              <p:nvPr/>
            </p:nvSpPr>
            <p:spPr>
              <a:xfrm>
                <a:off x="769888" y="35752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769888" y="35752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9888" y="39399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1112639" y="35752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1163687" y="35752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1112639" y="39399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864691" y="3619054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8EB9DE"/>
              </a:solidFill>
              <a:ln>
                <a:noFill/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864691" y="3699272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8EB9DE"/>
              </a:solidFill>
              <a:ln>
                <a:noFill/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864691" y="3779490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8EB9DE"/>
              </a:solidFill>
              <a:ln>
                <a:noFill/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864691" y="3859709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8EB9DE"/>
              </a:solidFill>
              <a:ln>
                <a:noFill/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354963" y="3622675"/>
              <a:ext cx="148107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維類別機率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1847850" y="2514600"/>
              <a:ext cx="1485900" cy="2038350"/>
            </a:xfrm>
            <a:custGeom>
              <a:avLst/>
              <a:gdLst/>
              <a:ahLst/>
              <a:cxnLst/>
              <a:rect l="l" t="t" r="r" b="b"/>
              <a:pathLst>
                <a:path w="1485900" h="2038350">
                  <a:moveTo>
                    <a:pt x="1238250" y="0"/>
                  </a:moveTo>
                  <a:lnTo>
                    <a:pt x="1485900" y="0"/>
                  </a:lnTo>
                  <a:lnTo>
                    <a:pt x="1485900" y="1866900"/>
                  </a:lnTo>
                  <a:lnTo>
                    <a:pt x="0" y="1866900"/>
                  </a:lnTo>
                  <a:lnTo>
                    <a:pt x="0" y="20383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847850" y="41148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09600" y="4552950"/>
              <a:ext cx="2476500" cy="933450"/>
            </a:xfrm>
            <a:prstGeom prst="roundRect">
              <a:avLst>
                <a:gd name="adj" fmla="val 8163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38974" y="4721225"/>
              <a:ext cx="18177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335120" y="5105400"/>
              <a:ext cx="10254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3086100" y="3076575"/>
              <a:ext cx="1009650" cy="1943100"/>
            </a:xfrm>
            <a:custGeom>
              <a:avLst/>
              <a:gdLst/>
              <a:ahLst/>
              <a:cxnLst/>
              <a:rect l="l" t="t" r="r" b="b"/>
              <a:pathLst>
                <a:path w="1009650" h="1943100">
                  <a:moveTo>
                    <a:pt x="0" y="1943100"/>
                  </a:moveTo>
                  <a:lnTo>
                    <a:pt x="628650" y="1943100"/>
                  </a:lnTo>
                  <a:lnTo>
                    <a:pt x="628650" y="0"/>
                  </a:lnTo>
                  <a:lnTo>
                    <a:pt x="10096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40290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08698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 找出相似案例</a:t>
              </a:r>
            </a:p>
          </p:txBody>
        </p:sp>
        <p:pic>
          <p:nvPicPr>
            <p:cNvPr id="44" name="Image 4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29100" y="2028825"/>
              <a:ext cx="1285875" cy="1285875"/>
            </a:xfrm>
            <a:prstGeom prst="rect">
              <a:avLst/>
            </a:prstGeom>
          </p:spPr>
        </p:pic>
        <p:sp>
          <p:nvSpPr>
            <p:cNvPr id="45" name="TextBox 45"/>
            <p:cNvSpPr txBox="1"/>
            <p:nvPr/>
          </p:nvSpPr>
          <p:spPr>
            <a:xfrm>
              <a:off x="5762625" y="2143125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763768" y="2520950"/>
              <a:ext cx="12698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1,550 筆案例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40957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2892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7244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91794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530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5465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9817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17524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6103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8038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086225" y="4724400"/>
              <a:ext cx="180319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087749" y="51149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只檢索訓練資料</a:t>
              </a:r>
            </a:p>
          </p:txBody>
        </p:sp>
        <p:sp>
          <p:nvSpPr>
            <p:cNvPr id="59" name="Freeform 59"/>
            <p:cNvSpPr/>
            <p:nvPr/>
          </p:nvSpPr>
          <p:spPr>
            <a:xfrm>
              <a:off x="7200900" y="2819400"/>
              <a:ext cx="895350" cy="1323975"/>
            </a:xfrm>
            <a:custGeom>
              <a:avLst/>
              <a:gdLst/>
              <a:ahLst/>
              <a:cxnLst/>
              <a:rect l="l" t="t" r="r" b="b"/>
              <a:pathLst>
                <a:path w="895350" h="1323975">
                  <a:moveTo>
                    <a:pt x="0" y="1323975"/>
                  </a:moveTo>
                  <a:lnTo>
                    <a:pt x="419100" y="1323975"/>
                  </a:lnTo>
                  <a:lnTo>
                    <a:pt x="419100" y="0"/>
                  </a:lnTo>
                  <a:lnTo>
                    <a:pt x="8953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8029575" y="2771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087487" y="1612900"/>
              <a:ext cx="172824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 本機</a:t>
              </a:r>
              <a:r>
                <a:rPr lang="en-US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096250" y="2286000"/>
              <a:ext cx="3486150" cy="106680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910638" y="2501900"/>
              <a:ext cx="18573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判定＋案例證據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164574" y="28924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核對同一事件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8658225" y="3352800"/>
              <a:ext cx="1181100" cy="361950"/>
            </a:xfrm>
            <a:custGeom>
              <a:avLst/>
              <a:gdLst/>
              <a:ahLst/>
              <a:cxnLst/>
              <a:rect l="l" t="t" r="r" b="b"/>
              <a:pathLst>
                <a:path w="1181100" h="361950">
                  <a:moveTo>
                    <a:pt x="1181100" y="0"/>
                  </a:moveTo>
                  <a:lnTo>
                    <a:pt x="1181100" y="180975"/>
                  </a:lnTo>
                  <a:lnTo>
                    <a:pt x="0" y="180975"/>
                  </a:ln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86106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9839325" y="3533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97917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9839325" y="3533775"/>
              <a:ext cx="1181100" cy="180975"/>
            </a:xfrm>
            <a:custGeom>
              <a:avLst/>
              <a:gdLst/>
              <a:ahLst/>
              <a:cxnLst/>
              <a:rect l="l" t="t" r="r" b="b"/>
              <a:pathLst>
                <a:path w="1181100" h="180975">
                  <a:moveTo>
                    <a:pt x="0" y="0"/>
                  </a:moveTo>
                  <a:lnTo>
                    <a:pt x="1181100" y="0"/>
                  </a:lnTo>
                  <a:lnTo>
                    <a:pt x="118110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109728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80962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8406765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92773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9587865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104584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10647807" y="38989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086725" y="4724400"/>
              <a:ext cx="15375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保留正式分類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088249" y="511492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稽核結論附回事件紀錄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00456" y="5765800"/>
              <a:ext cx="52703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：分類結果與檢索證據一路可追溯。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81" name="Line 8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05 / 09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6392799" cy="1082802"/>
            <a:chOff x="593598" y="257175"/>
            <a:chExt cx="6392799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13078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CONTROL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639279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受控執行，留下可回復的處置紀錄</a:t>
              </a:r>
            </a:p>
          </p:txBody>
        </p:sp>
      </p:grpSp>
      <p:grpSp>
        <p:nvGrpSpPr>
          <p:cNvPr id="63" name="page-content"/>
          <p:cNvGrpSpPr/>
          <p:nvPr/>
        </p:nvGrpSpPr>
        <p:grpSpPr>
          <a:xfrm>
            <a:off x="609600" y="1857375"/>
            <a:ext cx="10972800" cy="4238625"/>
            <a:chOff x="609600" y="1857375"/>
            <a:chExt cx="10972800" cy="4238625"/>
          </a:xfrm>
        </p:grpSpPr>
        <p:sp>
          <p:nvSpPr>
            <p:cNvPr id="6" name="Rectangle 6"/>
            <p:cNvSpPr/>
            <p:nvPr/>
          </p:nvSpPr>
          <p:spPr>
            <a:xfrm>
              <a:off x="6096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1153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</a:t>
              </a:r>
            </a:p>
          </p:txBody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43025" y="2276475"/>
              <a:ext cx="1104900" cy="11049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1297483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政策檢查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79170" y="3927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範圍・白名單・期限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31813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3432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4099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61188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4310062" y="2495550"/>
              <a:ext cx="771526" cy="685800"/>
              <a:chOff x="4310062" y="2495550"/>
              <a:chExt cx="771526" cy="685800"/>
            </a:xfrm>
          </p:grpSpPr>
          <p:sp>
            <p:nvSpPr>
              <p:cNvPr id="15" name="Rectangle 15"/>
              <p:cNvSpPr/>
              <p:nvPr/>
            </p:nvSpPr>
            <p:spPr>
              <a:xfrm>
                <a:off x="4310062" y="2495550"/>
                <a:ext cx="771525" cy="68580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14288">
                <a:solidFill>
                  <a:schemeClr val="accent1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4310062" y="27241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8DB5D9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4310062" y="29527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8DB5D9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456723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DB5D9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485298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DB5D9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452938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DB5D9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767262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DB5D9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456723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DB5D9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485298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DB5D9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4097833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套用規則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80485" y="39274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受允許策略才執行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598170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614362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103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1223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</a:t>
              </a:r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7210425" y="2452688"/>
              <a:ext cx="571500" cy="771524"/>
              <a:chOff x="7210425" y="2452688"/>
              <a:chExt cx="571500" cy="771524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7210425" y="2452688"/>
                <a:ext cx="571500" cy="771525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4288">
                <a:solidFill>
                  <a:schemeClr val="accent1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7339012" y="2638425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95BADC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7339012" y="2795588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95BADC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7339012" y="2952750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95BADC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7339012" y="3109912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95BADC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6898183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讀回驗證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79870" y="3927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核對規則與事件回條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87820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9439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90106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1258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04</a:t>
              </a:r>
            </a:p>
          </p:txBody>
        </p:sp>
        <p:grpSp>
          <p:nvGrpSpPr>
            <p:cNvPr id="48" name="Group 48"/>
            <p:cNvGrpSpPr/>
            <p:nvPr/>
          </p:nvGrpSpPr>
          <p:grpSpPr>
            <a:xfrm>
              <a:off x="9939338" y="2438400"/>
              <a:ext cx="714374" cy="800100"/>
              <a:chOff x="9939338" y="2438400"/>
              <a:chExt cx="714374" cy="800100"/>
            </a:xfrm>
          </p:grpSpPr>
          <p:sp>
            <p:nvSpPr>
              <p:cNvPr id="43" name="Ellipse 43"/>
              <p:cNvSpPr/>
              <p:nvPr/>
            </p:nvSpPr>
            <p:spPr>
              <a:xfrm>
                <a:off x="9939338" y="2481262"/>
                <a:ext cx="714375" cy="714375"/>
              </a:xfrm>
              <a:prstGeom prst="ellipse">
                <a:avLst/>
              </a:prstGeom>
              <a:solidFill>
                <a:schemeClr val="lt1"/>
              </a:solidFill>
              <a:ln w="35719">
                <a:solidFill>
                  <a:schemeClr val="accent1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10296525" y="2581275"/>
                <a:ext cx="952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7175">
                    <a:moveTo>
                      <a:pt x="0" y="257175"/>
                    </a:moveTo>
                    <a:lnTo>
                      <a:pt x="0" y="0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5" name="Line 45"/>
              <p:cNvSpPr/>
              <p:nvPr/>
            </p:nvSpPr>
            <p:spPr>
              <a:xfrm>
                <a:off x="10296525" y="2838450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0" y="0"/>
                    </a:moveTo>
                    <a:lnTo>
                      <a:pt x="200025" y="100012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6" name="Line 46"/>
              <p:cNvSpPr/>
              <p:nvPr/>
            </p:nvSpPr>
            <p:spPr>
              <a:xfrm>
                <a:off x="10296525" y="2438400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7" name="Line 47"/>
              <p:cNvSpPr/>
              <p:nvPr/>
            </p:nvSpPr>
            <p:spPr>
              <a:xfrm>
                <a:off x="10296525" y="3167062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9698533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到期回復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380220" y="3927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撤銷並確認服務恢復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1895475" y="4305300"/>
              <a:ext cx="2143125" cy="581025"/>
            </a:xfrm>
            <a:custGeom>
              <a:avLst/>
              <a:gdLst/>
              <a:ahLst/>
              <a:cxnLst/>
              <a:rect l="l" t="t" r="r" b="b"/>
              <a:pathLst>
                <a:path w="2143125" h="581025">
                  <a:moveTo>
                    <a:pt x="0" y="0"/>
                  </a:moveTo>
                  <a:lnTo>
                    <a:pt x="0" y="581025"/>
                  </a:lnTo>
                  <a:lnTo>
                    <a:pt x="2143125" y="581025"/>
                  </a:lnTo>
                </a:path>
              </a:pathLst>
            </a:custGeom>
            <a:noFill/>
            <a:ln w="23812">
              <a:solidFill>
                <a:srgbClr val="6B6B6B"/>
              </a:solidFill>
              <a:custDash>
                <a:ds d="240000" sp="200000"/>
              </a:custDash>
            </a:ln>
          </p:spPr>
        </p:sp>
        <p:sp>
          <p:nvSpPr>
            <p:cNvPr id="52" name="Freeform 52"/>
            <p:cNvSpPr/>
            <p:nvPr/>
          </p:nvSpPr>
          <p:spPr>
            <a:xfrm>
              <a:off x="3971925" y="4838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6B6B6B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4038600" y="4552950"/>
              <a:ext cx="7543800" cy="657225"/>
            </a:xfrm>
            <a:prstGeom prst="roundRect">
              <a:avLst>
                <a:gd name="adj" fmla="val 11594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4285059" y="4698504"/>
              <a:ext cx="250032" cy="337542"/>
              <a:chOff x="4285059" y="4698504"/>
              <a:chExt cx="250032" cy="337542"/>
            </a:xfrm>
          </p:grpSpPr>
          <p:sp>
            <p:nvSpPr>
              <p:cNvPr id="54" name="Rectangle 54"/>
              <p:cNvSpPr/>
              <p:nvPr/>
            </p:nvSpPr>
            <p:spPr>
              <a:xfrm>
                <a:off x="4285059" y="4698504"/>
                <a:ext cx="250031" cy="33754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6251">
                <a:solidFill>
                  <a:schemeClr val="accent1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4341316" y="4779764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95BADC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4341316" y="4848523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95BADC"/>
                </a:solidFill>
              </a:ln>
            </p:spPr>
          </p:sp>
          <p:sp>
            <p:nvSpPr>
              <p:cNvPr id="57" name="Line 57"/>
              <p:cNvSpPr/>
              <p:nvPr/>
            </p:nvSpPr>
            <p:spPr>
              <a:xfrm>
                <a:off x="4341316" y="4917281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95BADC"/>
                </a:solidFill>
              </a:ln>
            </p:spPr>
          </p:sp>
          <p:sp>
            <p:nvSpPr>
              <p:cNvPr id="58" name="Line 58"/>
              <p:cNvSpPr/>
              <p:nvPr/>
            </p:nvSpPr>
            <p:spPr>
              <a:xfrm>
                <a:off x="4341316" y="4986040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95BADC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4752594" y="4721225"/>
              <a:ext cx="332346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複核／不確定 → 監測或蒐證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09600" y="5486400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29818" y="5664200"/>
              <a:ext cx="77880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6 種隔離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情境：4 種套用規則、2 種監測或蒐證；背景保留與回復皆 6/6。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64" name="Line 6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06 / 09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544693" cy="1082802"/>
            <a:chOff x="593598" y="257175"/>
            <a:chExt cx="5544693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23410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544693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互補融合，提升整體辨識效果</a:t>
              </a:r>
            </a:p>
          </p:txBody>
        </p:sp>
      </p:grpSp>
      <p:grpSp>
        <p:nvGrpSpPr>
          <p:cNvPr id="29" name="page-content"/>
          <p:cNvGrpSpPr/>
          <p:nvPr/>
        </p:nvGrpSpPr>
        <p:grpSpPr>
          <a:xfrm>
            <a:off x="600456" y="1498600"/>
            <a:ext cx="10981944" cy="4642676"/>
            <a:chOff x="600456" y="1498600"/>
            <a:chExt cx="10981944" cy="4642676"/>
          </a:xfrm>
        </p:grpSpPr>
        <p:sp>
          <p:nvSpPr>
            <p:cNvPr id="6" name="TextBox 6"/>
            <p:cNvSpPr txBox="1"/>
            <p:nvPr/>
          </p:nvSpPr>
          <p:spPr>
            <a:xfrm>
              <a:off x="600456" y="1498600"/>
              <a:ext cx="38721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相同 18,998 筆封存測試</a:t>
              </a:r>
              <a:r>
                <a:rPr lang="en-US" sz="18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 · Macro-F1</a:t>
              </a:r>
            </a:p>
          </p:txBody>
        </p:sp>
        <p:grpSp>
          <p:nvGrpSpPr>
            <p:cNvPr id="22" name="detector-comparison-chartArea"/>
            <p:cNvGrpSpPr/>
            <p:nvPr/>
          </p:nvGrpSpPr>
          <p:grpSpPr>
            <a:xfrm>
              <a:off x="600837" y="2095500"/>
              <a:ext cx="7983329" cy="3592195"/>
              <a:chOff x="600837" y="2095500"/>
              <a:chExt cx="7983329" cy="3592195"/>
            </a:xfrm>
          </p:grpSpPr>
          <p:sp>
            <p:nvSpPr>
              <p:cNvPr id="7" name="Line 7"/>
              <p:cNvSpPr/>
              <p:nvPr/>
            </p:nvSpPr>
            <p:spPr>
              <a:xfrm>
                <a:off x="190500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DE5ED"/>
                </a:solidFill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1755176" y="5394325"/>
                <a:ext cx="29964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>0%</a:t>
                </a:r>
              </a:p>
            </p:txBody>
          </p:sp>
          <p:sp>
            <p:nvSpPr>
              <p:cNvPr id="9" name="Line 9"/>
              <p:cNvSpPr/>
              <p:nvPr/>
            </p:nvSpPr>
            <p:spPr>
              <a:xfrm>
                <a:off x="5000625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DE5ED"/>
                </a:solidFill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4797461" y="5394325"/>
                <a:ext cx="40632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>50%</a:t>
                </a:r>
              </a:p>
            </p:txBody>
          </p:sp>
          <p:sp>
            <p:nvSpPr>
              <p:cNvPr id="11" name="Line 11"/>
              <p:cNvSpPr/>
              <p:nvPr/>
            </p:nvSpPr>
            <p:spPr>
              <a:xfrm>
                <a:off x="809625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DE5ED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7839746" y="5394325"/>
                <a:ext cx="5130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>100%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600837" y="2479675"/>
                <a:ext cx="1008164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PBCNN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1905000" y="2419350"/>
                <a:ext cx="4937396" cy="400050"/>
              </a:xfrm>
              <a:prstGeom prst="rect">
                <a:avLst/>
              </a:prstGeom>
              <a:solidFill>
                <a:srgbClr val="9ABDE0"/>
              </a:solidFill>
              <a:ln>
                <a:noFill/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6947933" y="24796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79.75%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00837" y="3527425"/>
                <a:ext cx="859446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CTBM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1905000" y="3467100"/>
                <a:ext cx="5702313" cy="400050"/>
              </a:xfrm>
              <a:prstGeom prst="rect">
                <a:avLst/>
              </a:prstGeom>
              <a:solidFill>
                <a:srgbClr val="9ABDE0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7712850" y="352742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92.10%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00837" y="4575175"/>
                <a:ext cx="1245309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OOF Gate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1905000" y="4514850"/>
                <a:ext cx="5760981" cy="40005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7771518" y="45751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93.05%</a:t>
                </a:r>
              </a:p>
            </p:txBody>
          </p:sp>
        </p:grpSp>
        <p:sp>
          <p:nvSpPr>
            <p:cNvPr id="23" name="Rectangle 23"/>
            <p:cNvSpPr/>
            <p:nvPr/>
          </p:nvSpPr>
          <p:spPr>
            <a:xfrm>
              <a:off x="9077325" y="2105025"/>
              <a:ext cx="2505075" cy="3133725"/>
            </a:xfrm>
            <a:prstGeom prst="roundRect">
              <a:avLst>
                <a:gd name="adj" fmla="val 3042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305544" y="2387600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整體準確率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97162" y="3041650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98.08%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05925" y="3819525"/>
              <a:ext cx="111257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類分類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7449" y="4371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同一封存測試集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0837" y="5803900"/>
              <a:ext cx="80013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融合相較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PBCNN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 13.30 個百分點；相較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CTBM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 0.95 個百分點。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30" name="Line 3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07 / 09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270688" cy="1082802"/>
            <a:chOff x="593598" y="257175"/>
            <a:chExt cx="5270688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23410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2706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案例提供證據，</a:t>
              </a:r>
              <a:r>
                <a:rPr lang="en-US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完成分流</a:t>
              </a:r>
            </a:p>
          </p:txBody>
        </p:sp>
      </p:grpSp>
      <p:grpSp>
        <p:nvGrpSpPr>
          <p:cNvPr id="42" name="page-content"/>
          <p:cNvGrpSpPr/>
          <p:nvPr/>
        </p:nvGrpSpPr>
        <p:grpSpPr>
          <a:xfrm>
            <a:off x="609600" y="1809750"/>
            <a:ext cx="10972800" cy="4333875"/>
            <a:chOff x="609600" y="1809750"/>
            <a:chExt cx="10972800" cy="4333875"/>
          </a:xfrm>
        </p:grpSpPr>
        <p:sp>
          <p:nvSpPr>
            <p:cNvPr id="6" name="Rectangle 6"/>
            <p:cNvSpPr/>
            <p:nvPr/>
          </p:nvSpPr>
          <p:spPr>
            <a:xfrm>
              <a:off x="609600" y="1809750"/>
              <a:ext cx="3448050" cy="3514725"/>
            </a:xfrm>
            <a:prstGeom prst="roundRect">
              <a:avLst>
                <a:gd name="adj" fmla="val 221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28675" y="1981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檢索效果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9912" y="2498725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97.62%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9056" y="3089275"/>
              <a:ext cx="14841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命中率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1436" y="3651250"/>
              <a:ext cx="14806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93.89%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29056" y="4194175"/>
              <a:ext cx="21982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MRR@5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排序品質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0199" y="4829175"/>
              <a:ext cx="203464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1,550 案例／463 查詢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905375" y="1809750"/>
              <a:ext cx="5867400" cy="666750"/>
            </a:xfrm>
            <a:prstGeom prst="roundRect">
              <a:avLst>
                <a:gd name="adj" fmla="val 11429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129018" y="1987550"/>
              <a:ext cx="342011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463 筆事件 → 本機</a:t>
              </a:r>
              <a:r>
                <a:rPr lang="en-US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5486400" y="2476500"/>
              <a:ext cx="2352675" cy="723900"/>
            </a:xfrm>
            <a:custGeom>
              <a:avLst/>
              <a:gdLst/>
              <a:ahLst/>
              <a:cxnLst/>
              <a:rect l="l" t="t" r="r" b="b"/>
              <a:pathLst>
                <a:path w="2352675" h="723900">
                  <a:moveTo>
                    <a:pt x="2352675" y="0"/>
                  </a:moveTo>
                  <a:lnTo>
                    <a:pt x="2352675" y="361950"/>
                  </a:lnTo>
                  <a:lnTo>
                    <a:pt x="0" y="361950"/>
                  </a:lnTo>
                  <a:lnTo>
                    <a:pt x="0" y="7239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43877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7839075" y="283845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791450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839075" y="2838450"/>
              <a:ext cx="2352675" cy="361950"/>
            </a:xfrm>
            <a:custGeom>
              <a:avLst/>
              <a:gdLst/>
              <a:ahLst/>
              <a:cxnLst/>
              <a:rect l="l" t="t" r="r" b="b"/>
              <a:pathLst>
                <a:path w="2352675" h="361950">
                  <a:moveTo>
                    <a:pt x="0" y="0"/>
                  </a:moveTo>
                  <a:lnTo>
                    <a:pt x="2352675" y="0"/>
                  </a:lnTo>
                  <a:lnTo>
                    <a:pt x="2352675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014412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7675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5337572" y="3356372"/>
              <a:ext cx="297656" cy="297656"/>
              <a:chOff x="5337572" y="3356372"/>
              <a:chExt cx="297656" cy="297656"/>
            </a:xfrm>
          </p:grpSpPr>
          <p:sp>
            <p:nvSpPr>
              <p:cNvPr id="22" name="Ellipse 22"/>
              <p:cNvSpPr/>
              <p:nvPr/>
            </p:nvSpPr>
            <p:spPr>
              <a:xfrm>
                <a:off x="5337572" y="3356372"/>
                <a:ext cx="297656" cy="297656"/>
              </a:xfrm>
              <a:prstGeom prst="ellipse">
                <a:avLst/>
              </a:prstGeom>
              <a:solidFill>
                <a:srgbClr val="E7F1FB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5403056" y="3505200"/>
                <a:ext cx="59531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59531">
                    <a:moveTo>
                      <a:pt x="0" y="0"/>
                    </a:moveTo>
                    <a:lnTo>
                      <a:pt x="59531" y="59531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462588" y="3439716"/>
                <a:ext cx="113109" cy="125016"/>
              </a:xfrm>
              <a:custGeom>
                <a:avLst/>
                <a:gdLst/>
                <a:ahLst/>
                <a:cxnLst/>
                <a:rect l="l" t="t" r="r" b="b"/>
                <a:pathLst>
                  <a:path w="113109" h="125016">
                    <a:moveTo>
                      <a:pt x="0" y="125016"/>
                    </a:moveTo>
                    <a:lnTo>
                      <a:pt x="113109" y="0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5160035" y="3730625"/>
              <a:ext cx="65272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415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234940" y="42418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29425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702153" y="3368278"/>
              <a:ext cx="279797" cy="279797"/>
              <a:chOff x="7702153" y="3368278"/>
              <a:chExt cx="279797" cy="279797"/>
            </a:xfrm>
          </p:grpSpPr>
          <p:sp>
            <p:nvSpPr>
              <p:cNvPr id="29" name="Ellipse 29"/>
              <p:cNvSpPr/>
              <p:nvPr/>
            </p:nvSpPr>
            <p:spPr>
              <a:xfrm>
                <a:off x="7702153" y="3368278"/>
                <a:ext cx="202406" cy="202406"/>
              </a:xfrm>
              <a:prstGeom prst="ellipse">
                <a:avLst/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7880747" y="3546872"/>
                <a:ext cx="101203" cy="101203"/>
              </a:xfrm>
              <a:custGeom>
                <a:avLst/>
                <a:gdLst/>
                <a:ahLst/>
                <a:cxnLst/>
                <a:rect l="l" t="t" r="r" b="b"/>
                <a:pathLst>
                  <a:path w="101203" h="101203">
                    <a:moveTo>
                      <a:pt x="0" y="0"/>
                    </a:moveTo>
                    <a:lnTo>
                      <a:pt x="101203" y="101203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7616546" y="3730625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87615" y="42418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8210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10042922" y="3356372"/>
              <a:ext cx="297656" cy="297656"/>
            </a:xfrm>
            <a:prstGeom prst="ellipse">
              <a:avLst/>
            </a:prstGeom>
            <a:solidFill>
              <a:srgbClr val="E7F1FB"/>
            </a:solidFill>
            <a:ln w="14883">
              <a:solidFill>
                <a:schemeClr val="accent1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119817" y="3365500"/>
              <a:ext cx="143866" cy="3461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7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?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969221" y="3730625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819132" y="42418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467987" y="4908550"/>
              <a:ext cx="427839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支持精確率 97.11% · 正式分類保持可追溯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9600" y="5562600"/>
              <a:ext cx="10972800" cy="581025"/>
            </a:xfrm>
            <a:prstGeom prst="roundRect">
              <a:avLst>
                <a:gd name="adj" fmla="val 13115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28675" y="5715000"/>
              <a:ext cx="679771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18 / 30 偵測誤判分流至複核或不確定；其餘 12 筆仍獲支持。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43" name="Line 43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08 / 09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968746" cy="1082802"/>
            <a:chOff x="593598" y="257175"/>
            <a:chExt cx="5968746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304694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AI SECURITY FRAMEWORK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一套可展示、可查核的資安框架</a:t>
              </a:r>
            </a:p>
          </p:txBody>
        </p:sp>
      </p:grpSp>
      <p:grpSp>
        <p:nvGrpSpPr>
          <p:cNvPr id="48" name="page-content"/>
          <p:cNvGrpSpPr/>
          <p:nvPr/>
        </p:nvGrpSpPr>
        <p:grpSpPr>
          <a:xfrm>
            <a:off x="595884" y="1527175"/>
            <a:ext cx="10986516" cy="4752594"/>
            <a:chOff x="595884" y="1527175"/>
            <a:chExt cx="10986516" cy="4752594"/>
          </a:xfrm>
        </p:grpSpPr>
        <p:sp>
          <p:nvSpPr>
            <p:cNvPr id="6" name="TextBox 6"/>
            <p:cNvSpPr txBox="1"/>
            <p:nvPr/>
          </p:nvSpPr>
          <p:spPr>
            <a:xfrm>
              <a:off x="595884" y="1527175"/>
              <a:ext cx="65699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偵測有依據，稽核有證據，處置可回復。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710928" y="2951262"/>
              <a:ext cx="369094" cy="498276"/>
              <a:chOff x="1710928" y="2951262"/>
              <a:chExt cx="369094" cy="498276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1710928" y="2951262"/>
                <a:ext cx="369094" cy="498277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9227">
                <a:solidFill>
                  <a:schemeClr val="accent1"/>
                </a:solidFill>
              </a:ln>
            </p:spPr>
          </p:sp>
          <p:sp>
            <p:nvSpPr>
              <p:cNvPr id="9" name="Line 9"/>
              <p:cNvSpPr/>
              <p:nvPr/>
            </p:nvSpPr>
            <p:spPr>
              <a:xfrm>
                <a:off x="1793974" y="3071217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95BADC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1793974" y="3172718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95BADC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793974" y="3274219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95BADC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793974" y="3375720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95BADC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34132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正式判定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50645" y="4041775"/>
              <a:ext cx="10896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17 類＋信心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31813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3432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099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4465141" y="2969716"/>
              <a:ext cx="479823" cy="479823"/>
              <a:chOff x="4465141" y="2969716"/>
              <a:chExt cx="479823" cy="479823"/>
            </a:xfrm>
          </p:grpSpPr>
          <p:sp>
            <p:nvSpPr>
              <p:cNvPr id="19" name="Ellipse 19"/>
              <p:cNvSpPr/>
              <p:nvPr/>
            </p:nvSpPr>
            <p:spPr>
              <a:xfrm>
                <a:off x="4465141" y="2969716"/>
                <a:ext cx="350639" cy="350639"/>
              </a:xfrm>
              <a:prstGeom prst="ellipse">
                <a:avLst/>
              </a:prstGeom>
              <a:solidFill>
                <a:schemeClr val="lt1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769644" y="3274219"/>
                <a:ext cx="175320" cy="175320"/>
              </a:xfrm>
              <a:custGeom>
                <a:avLst/>
                <a:gdLst/>
                <a:ahLst/>
                <a:cxnLst/>
                <a:rect l="l" t="t" r="r" b="b"/>
                <a:pathLst>
                  <a:path w="175320" h="175320">
                    <a:moveTo>
                      <a:pt x="0" y="0"/>
                    </a:moveTo>
                    <a:lnTo>
                      <a:pt x="175320" y="175320"/>
                    </a:lnTo>
                  </a:path>
                </a:pathLst>
              </a:custGeom>
              <a:noFill/>
              <a:ln w="46137" cap="rnd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414167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檢索證據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976444" y="4041775"/>
              <a:ext cx="14387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訓練案例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598170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614362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103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265491" y="2969716"/>
              <a:ext cx="461368" cy="461368"/>
              <a:chOff x="7265491" y="2969716"/>
              <a:chExt cx="461368" cy="461368"/>
            </a:xfrm>
          </p:grpSpPr>
          <p:sp>
            <p:nvSpPr>
              <p:cNvPr id="27" name="Ellipse 27"/>
              <p:cNvSpPr/>
              <p:nvPr/>
            </p:nvSpPr>
            <p:spPr>
              <a:xfrm>
                <a:off x="7265491" y="2969716"/>
                <a:ext cx="461367" cy="461367"/>
              </a:xfrm>
              <a:prstGeom prst="ellipse">
                <a:avLst/>
              </a:prstGeom>
              <a:solidFill>
                <a:srgbClr val="E7F1FB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7366992" y="3200400"/>
                <a:ext cx="92273" cy="92273"/>
              </a:xfrm>
              <a:custGeom>
                <a:avLst/>
                <a:gdLst/>
                <a:ahLst/>
                <a:cxnLst/>
                <a:rect l="l" t="t" r="r" b="b"/>
                <a:pathLst>
                  <a:path w="92273" h="92273">
                    <a:moveTo>
                      <a:pt x="0" y="0"/>
                    </a:moveTo>
                    <a:lnTo>
                      <a:pt x="92273" y="92273"/>
                    </a:lnTo>
                  </a:path>
                </a:pathLst>
              </a:custGeom>
              <a:noFill/>
              <a:ln w="36909" cap="rnd">
                <a:solidFill>
                  <a:schemeClr val="accent1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7459266" y="3098899"/>
                <a:ext cx="175320" cy="193774"/>
              </a:xfrm>
              <a:custGeom>
                <a:avLst/>
                <a:gdLst/>
                <a:ahLst/>
                <a:cxnLst/>
                <a:rect l="l" t="t" r="r" b="b"/>
                <a:pathLst>
                  <a:path w="175320" h="193774">
                    <a:moveTo>
                      <a:pt x="0" y="193774"/>
                    </a:moveTo>
                    <a:lnTo>
                      <a:pt x="175320" y="0"/>
                    </a:lnTo>
                  </a:path>
                </a:pathLst>
              </a:custGeom>
              <a:noFill/>
              <a:ln w="36909" cap="rnd">
                <a:solidFill>
                  <a:schemeClr val="accent1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694202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79870" y="40417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87820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9439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90106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10065841" y="2942034"/>
              <a:ext cx="461368" cy="516732"/>
              <a:chOff x="10065841" y="2942034"/>
              <a:chExt cx="461368" cy="516732"/>
            </a:xfrm>
          </p:grpSpPr>
          <p:sp>
            <p:nvSpPr>
              <p:cNvPr id="36" name="Ellipse 36"/>
              <p:cNvSpPr/>
              <p:nvPr/>
            </p:nvSpPr>
            <p:spPr>
              <a:xfrm>
                <a:off x="10065841" y="2969716"/>
                <a:ext cx="461367" cy="461367"/>
              </a:xfrm>
              <a:prstGeom prst="ellipse">
                <a:avLst/>
              </a:prstGeom>
              <a:solidFill>
                <a:schemeClr val="lt1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10296525" y="3034308"/>
                <a:ext cx="9525" cy="16609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6092">
                    <a:moveTo>
                      <a:pt x="0" y="166092"/>
                    </a:moveTo>
                    <a:lnTo>
                      <a:pt x="0" y="0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10296525" y="3200400"/>
                <a:ext cx="129183" cy="64591"/>
              </a:xfrm>
              <a:custGeom>
                <a:avLst/>
                <a:gdLst/>
                <a:ahLst/>
                <a:cxnLst/>
                <a:rect l="l" t="t" r="r" b="b"/>
                <a:pathLst>
                  <a:path w="129183" h="64591">
                    <a:moveTo>
                      <a:pt x="0" y="0"/>
                    </a:moveTo>
                    <a:lnTo>
                      <a:pt x="129183" y="64591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10296525" y="2942034"/>
                <a:ext cx="9525" cy="4613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37">
                    <a:moveTo>
                      <a:pt x="0" y="0"/>
                    </a:moveTo>
                    <a:lnTo>
                      <a:pt x="0" y="46137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10296525" y="3412629"/>
                <a:ext cx="9525" cy="4613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37">
                    <a:moveTo>
                      <a:pt x="0" y="0"/>
                    </a:moveTo>
                    <a:lnTo>
                      <a:pt x="0" y="46137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974237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582150" y="40417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讀回＋到期回復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09600" y="478155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3109951" y="4902200"/>
              <a:ext cx="59720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，串起分類、證據、判斷與回復紀錄。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99694" y="5511800"/>
              <a:ext cx="526682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類真實張量重跑 · 6 種隔離</a:t>
              </a:r>
              <a:r>
                <a:rPr lang="en-US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情境驗證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00456" y="5927725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感謝聆聽，敬請指教。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49" name="Line 49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134157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09 / 09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答詢圖解｜創新與整合</a:t>
              </a:r>
            </a:p>
          </p:txBody>
        </p:sp>
      </p:grpSp>
      <p:grpSp>
        <p:nvGrpSpPr>
          <p:cNvPr id="79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1694" y="1711325"/>
              <a:ext cx="58668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創新在哪裡？與一般</a:t>
              </a:r>
              <a:r>
                <a:rPr lang="en-US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 IDS </a:t>
              </a:r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加上</a:t>
              </a:r>
              <a:r>
                <a:rPr lang="en-US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 RAG </a:t>
              </a:r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有何不同？</a:t>
              </a:r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33500" y="2200275"/>
              <a:ext cx="800100" cy="800100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1280922" y="30543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互補判定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22574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1242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33750" y="2200275"/>
              <a:ext cx="800100" cy="800100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3186874" y="3054350"/>
              <a:ext cx="10938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529 維檢索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425767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512445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5469017" y="2256532"/>
              <a:ext cx="450056" cy="607576"/>
              <a:chOff x="5469017" y="2256532"/>
              <a:chExt cx="450056" cy="607576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5469017" y="2256532"/>
                <a:ext cx="450056" cy="607576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1251">
                <a:solidFill>
                  <a:schemeClr val="accent1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5570280" y="2402800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95BADC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5570280" y="2526566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95BADC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5570280" y="2650331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95BADC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5570280" y="2774097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95BADC"/>
                </a:solidFill>
              </a:ln>
            </p:spPr>
          </p:sp>
        </p:grpSp>
        <p:grpSp>
          <p:nvGrpSpPr>
            <p:cNvPr id="27" name="Group 27"/>
            <p:cNvGrpSpPr/>
            <p:nvPr/>
          </p:nvGrpSpPr>
          <p:grpSpPr>
            <a:xfrm>
              <a:off x="5817060" y="2683335"/>
              <a:ext cx="250032" cy="250032"/>
              <a:chOff x="5817060" y="2683335"/>
              <a:chExt cx="250032" cy="250032"/>
            </a:xfrm>
          </p:grpSpPr>
          <p:sp>
            <p:nvSpPr>
              <p:cNvPr id="24" name="Ellipse 24"/>
              <p:cNvSpPr/>
              <p:nvPr/>
            </p:nvSpPr>
            <p:spPr>
              <a:xfrm>
                <a:off x="5817060" y="2683335"/>
                <a:ext cx="250031" cy="250031"/>
              </a:xfrm>
              <a:prstGeom prst="ellipse">
                <a:avLst/>
              </a:prstGeom>
              <a:solidFill>
                <a:srgbClr val="E7F1FB"/>
              </a:solidFill>
              <a:ln w="12502">
                <a:solidFill>
                  <a:schemeClr val="accent1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5872067" y="2808351"/>
                <a:ext cx="50006" cy="50006"/>
              </a:xfrm>
              <a:custGeom>
                <a:avLst/>
                <a:gdLst/>
                <a:ahLst/>
                <a:cxnLst/>
                <a:rect l="l" t="t" r="r" b="b"/>
                <a:pathLst>
                  <a:path w="50006" h="50006">
                    <a:moveTo>
                      <a:pt x="0" y="0"/>
                    </a:moveTo>
                    <a:lnTo>
                      <a:pt x="50006" y="50006"/>
                    </a:lnTo>
                  </a:path>
                </a:pathLst>
              </a:custGeom>
              <a:noFill/>
              <a:ln w="20002" cap="rnd">
                <a:solidFill>
                  <a:schemeClr val="accent1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5922074" y="2753344"/>
                <a:ext cx="95012" cy="105013"/>
              </a:xfrm>
              <a:custGeom>
                <a:avLst/>
                <a:gdLst/>
                <a:ahLst/>
                <a:cxnLst/>
                <a:rect l="l" t="t" r="r" b="b"/>
                <a:pathLst>
                  <a:path w="95012" h="105013">
                    <a:moveTo>
                      <a:pt x="0" y="105013"/>
                    </a:moveTo>
                    <a:lnTo>
                      <a:pt x="95012" y="0"/>
                    </a:lnTo>
                  </a:path>
                </a:pathLst>
              </a:custGeom>
              <a:noFill/>
              <a:ln w="20002" cap="rnd">
                <a:solidFill>
                  <a:schemeClr val="accent1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5317562" y="3054350"/>
              <a:ext cx="8329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62579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1247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pic>
          <p:nvPicPr>
            <p:cNvPr id="31" name="Image 3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34250" y="2200275"/>
              <a:ext cx="800100" cy="800100"/>
            </a:xfrm>
            <a:prstGeom prst="rect">
              <a:avLst/>
            </a:prstGeom>
          </p:spPr>
        </p:pic>
        <p:sp>
          <p:nvSpPr>
            <p:cNvPr id="32" name="TextBox 32"/>
            <p:cNvSpPr txBox="1"/>
            <p:nvPr/>
          </p:nvSpPr>
          <p:spPr>
            <a:xfrm>
              <a:off x="7170611" y="30543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策略與回復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0580" y="3336925"/>
              <a:ext cx="40054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正式分類保留 · 稽核證據可追溯 · 策略可回復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868852" y="2152650"/>
              <a:ext cx="112204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529 維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71076" y="27813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任務導向證據向量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361694" y="4035425"/>
              <a:ext cx="500748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如何證明前段判斷與後段處置已經串起來？</a:t>
              </a:r>
            </a:p>
          </p:txBody>
        </p:sp>
        <p:grpSp>
          <p:nvGrpSpPr>
            <p:cNvPr id="45" name="Group 45"/>
            <p:cNvGrpSpPr/>
            <p:nvPr/>
          </p:nvGrpSpPr>
          <p:grpSpPr>
            <a:xfrm>
              <a:off x="1586508" y="4571851"/>
              <a:ext cx="303609" cy="409873"/>
              <a:chOff x="1586508" y="4571851"/>
              <a:chExt cx="303609" cy="409873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158650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41" name="Line 41"/>
              <p:cNvSpPr/>
              <p:nvPr/>
            </p:nvSpPr>
            <p:spPr>
              <a:xfrm>
                <a:off x="165482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  <p:sp>
            <p:nvSpPr>
              <p:cNvPr id="42" name="Line 42"/>
              <p:cNvSpPr/>
              <p:nvPr/>
            </p:nvSpPr>
            <p:spPr>
              <a:xfrm>
                <a:off x="165482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  <p:sp>
            <p:nvSpPr>
              <p:cNvPr id="43" name="Line 43"/>
              <p:cNvSpPr/>
              <p:nvPr/>
            </p:nvSpPr>
            <p:spPr>
              <a:xfrm>
                <a:off x="165482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165482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30015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正式類別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20478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33623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3586758" y="4571851"/>
              <a:ext cx="303609" cy="409873"/>
              <a:chOff x="3586758" y="4571851"/>
              <a:chExt cx="303609" cy="409873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358675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50" name="Line 50"/>
              <p:cNvSpPr/>
              <p:nvPr/>
            </p:nvSpPr>
            <p:spPr>
              <a:xfrm>
                <a:off x="365507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  <p:sp>
            <p:nvSpPr>
              <p:cNvPr id="51" name="Line 51"/>
              <p:cNvSpPr/>
              <p:nvPr/>
            </p:nvSpPr>
            <p:spPr>
              <a:xfrm>
                <a:off x="365507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  <p:sp>
            <p:nvSpPr>
              <p:cNvPr id="52" name="Line 52"/>
              <p:cNvSpPr/>
              <p:nvPr/>
            </p:nvSpPr>
            <p:spPr>
              <a:xfrm>
                <a:off x="365507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  <p:sp>
            <p:nvSpPr>
              <p:cNvPr id="53" name="Line 53"/>
              <p:cNvSpPr/>
              <p:nvPr/>
            </p:nvSpPr>
            <p:spPr>
              <a:xfrm>
                <a:off x="365507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3188777" y="5038725"/>
              <a:ext cx="1090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案例</a:t>
              </a:r>
            </a:p>
          </p:txBody>
        </p:sp>
        <p:sp>
          <p:nvSpPr>
            <p:cNvPr id="56" name="Freeform 56"/>
            <p:cNvSpPr/>
            <p:nvPr/>
          </p:nvSpPr>
          <p:spPr>
            <a:xfrm>
              <a:off x="404812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536257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5587008" y="4571851"/>
              <a:ext cx="303609" cy="409873"/>
              <a:chOff x="5587008" y="4571851"/>
              <a:chExt cx="303609" cy="409873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558700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59" name="Line 59"/>
              <p:cNvSpPr/>
              <p:nvPr/>
            </p:nvSpPr>
            <p:spPr>
              <a:xfrm>
                <a:off x="565532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  <p:sp>
            <p:nvSpPr>
              <p:cNvPr id="60" name="Line 60"/>
              <p:cNvSpPr/>
              <p:nvPr/>
            </p:nvSpPr>
            <p:spPr>
              <a:xfrm>
                <a:off x="565532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  <p:sp>
            <p:nvSpPr>
              <p:cNvPr id="61" name="Line 61"/>
              <p:cNvSpPr/>
              <p:nvPr/>
            </p:nvSpPr>
            <p:spPr>
              <a:xfrm>
                <a:off x="565532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  <p:sp>
            <p:nvSpPr>
              <p:cNvPr id="62" name="Line 62"/>
              <p:cNvSpPr/>
              <p:nvPr/>
            </p:nvSpPr>
            <p:spPr>
              <a:xfrm>
                <a:off x="565532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530065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60483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73628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7587258" y="4571851"/>
              <a:ext cx="303609" cy="409873"/>
              <a:chOff x="7587258" y="4571851"/>
              <a:chExt cx="303609" cy="409873"/>
            </a:xfrm>
          </p:grpSpPr>
          <p:sp>
            <p:nvSpPr>
              <p:cNvPr id="67" name="Rectangle 67"/>
              <p:cNvSpPr/>
              <p:nvPr/>
            </p:nvSpPr>
            <p:spPr>
              <a:xfrm>
                <a:off x="758725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68" name="Line 68"/>
              <p:cNvSpPr/>
              <p:nvPr/>
            </p:nvSpPr>
            <p:spPr>
              <a:xfrm>
                <a:off x="765557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765557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  <p:sp>
            <p:nvSpPr>
              <p:cNvPr id="70" name="Line 70"/>
              <p:cNvSpPr/>
              <p:nvPr/>
            </p:nvSpPr>
            <p:spPr>
              <a:xfrm>
                <a:off x="765557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  <p:sp>
            <p:nvSpPr>
              <p:cNvPr id="71" name="Line 71"/>
              <p:cNvSpPr/>
              <p:nvPr/>
            </p:nvSpPr>
            <p:spPr>
              <a:xfrm>
                <a:off x="765557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95BADC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730090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838200" y="5334000"/>
              <a:ext cx="7791450" cy="295275"/>
            </a:xfrm>
            <a:prstGeom prst="roundRect">
              <a:avLst>
                <a:gd name="adj" fmla="val 19355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3042756" y="5349875"/>
              <a:ext cx="33823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event_id </a:t>
              </a:r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 同次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execution_id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30580" y="5661025"/>
              <a:ext cx="43238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分類、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Top-5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、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、策略與回條綁定同一事件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710486" y="4476750"/>
              <a:ext cx="143877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571076" y="51054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事件與執行可追溯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80" name="Line 8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0650541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答詢備用 1 / 3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答詢圖解｜評估與誤判</a:t>
              </a:r>
            </a:p>
          </p:txBody>
        </p:sp>
      </p:grpSp>
      <p:grpSp>
        <p:nvGrpSpPr>
          <p:cNvPr id="55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Q3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1694" y="1711325"/>
              <a:ext cx="553250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評估資料如何切分？案例庫是否洩漏測試答案？</a:t>
              </a:r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8300" y="2257425"/>
              <a:ext cx="704850" cy="704850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1213053" y="2889250"/>
              <a:ext cx="15553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訓練案例 1,550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4595217" y="2318742"/>
              <a:ext cx="526257" cy="526256"/>
              <a:chOff x="4595217" y="2318742"/>
              <a:chExt cx="526257" cy="526256"/>
            </a:xfrm>
          </p:grpSpPr>
          <p:sp>
            <p:nvSpPr>
              <p:cNvPr id="12" name="Ellipse 12"/>
              <p:cNvSpPr/>
              <p:nvPr/>
            </p:nvSpPr>
            <p:spPr>
              <a:xfrm>
                <a:off x="4595217" y="2318742"/>
                <a:ext cx="384572" cy="384572"/>
              </a:xfrm>
              <a:prstGeom prst="ellipse">
                <a:avLst/>
              </a:prstGeom>
              <a:solidFill>
                <a:schemeClr val="lt1"/>
              </a:solidFill>
              <a:ln w="25301">
                <a:solidFill>
                  <a:schemeClr val="accent1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4929188" y="2652712"/>
                <a:ext cx="192286" cy="192286"/>
              </a:xfrm>
              <a:custGeom>
                <a:avLst/>
                <a:gdLst/>
                <a:ahLst/>
                <a:cxnLst/>
                <a:rect l="l" t="t" r="r" b="b"/>
                <a:pathLst>
                  <a:path w="192286" h="192286">
                    <a:moveTo>
                      <a:pt x="0" y="0"/>
                    </a:moveTo>
                    <a:lnTo>
                      <a:pt x="192286" y="192286"/>
                    </a:lnTo>
                  </a:path>
                </a:pathLst>
              </a:custGeom>
              <a:noFill/>
              <a:ln w="50602" cap="rnd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4226280" y="2889250"/>
              <a:ext cx="118673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7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7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7540228" y="2332137"/>
              <a:ext cx="369094" cy="498276"/>
              <a:chOff x="7540228" y="2332137"/>
              <a:chExt cx="369094" cy="498276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7540228" y="2332137"/>
                <a:ext cx="369094" cy="498277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9227">
                <a:solidFill>
                  <a:schemeClr val="accent1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7623274" y="2452092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95BADC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7623274" y="2553593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95BADC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7623274" y="2655094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95BADC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7623274" y="2756595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95BADC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7038848" y="2889250"/>
              <a:ext cx="13718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測試查詢 463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2667000" y="2619375"/>
              <a:ext cx="1762125" cy="9525"/>
            </a:xfrm>
            <a:custGeom>
              <a:avLst/>
              <a:gdLst/>
              <a:ahLst/>
              <a:cxnLst/>
              <a:rect l="l" t="t" r="r" b="b"/>
              <a:pathLst>
                <a:path w="1762125" h="9525">
                  <a:moveTo>
                    <a:pt x="0" y="0"/>
                  </a:moveTo>
                  <a:lnTo>
                    <a:pt x="1762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362450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5267325" y="2619375"/>
              <a:ext cx="2009775" cy="9525"/>
            </a:xfrm>
            <a:custGeom>
              <a:avLst/>
              <a:gdLst/>
              <a:ahLst/>
              <a:cxnLst/>
              <a:rect l="l" t="t" r="r" b="b"/>
              <a:pathLst>
                <a:path w="2009775" h="9525">
                  <a:moveTo>
                    <a:pt x="2009775" y="0"/>
                  </a:moveTo>
                  <a:lnTo>
                    <a:pt x="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5267325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66675" y="0"/>
                  </a:moveTo>
                  <a:lnTo>
                    <a:pt x="0" y="47625"/>
                  </a:lnTo>
                  <a:lnTo>
                    <a:pt x="66675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0580" y="3336925"/>
              <a:ext cx="39778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訓練庫只讀 · 查詢不重疊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· AI 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不看真實標籤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14051" y="2139950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77425" y="27813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訓練／查詢重疊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61694" y="4035425"/>
              <a:ext cx="494099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若支持錯誤判斷，如何避免直接誤封？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38200" y="4914900"/>
              <a:ext cx="14287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064324" y="5016500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30 筆誤判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2266950" y="4762500"/>
              <a:ext cx="704850" cy="381000"/>
            </a:xfrm>
            <a:custGeom>
              <a:avLst/>
              <a:gdLst/>
              <a:ahLst/>
              <a:cxnLst/>
              <a:rect l="l" t="t" r="r" b="b"/>
              <a:pathLst>
                <a:path w="704850" h="381000">
                  <a:moveTo>
                    <a:pt x="0" y="381000"/>
                  </a:moveTo>
                  <a:lnTo>
                    <a:pt x="342900" y="381000"/>
                  </a:lnTo>
                  <a:lnTo>
                    <a:pt x="342900" y="0"/>
                  </a:lnTo>
                  <a:lnTo>
                    <a:pt x="704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29051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2609850" y="5143500"/>
              <a:ext cx="361950" cy="209550"/>
            </a:xfrm>
            <a:custGeom>
              <a:avLst/>
              <a:gdLst/>
              <a:ahLst/>
              <a:cxnLst/>
              <a:rect l="l" t="t" r="r" b="b"/>
              <a:pathLst>
                <a:path w="361950" h="209550">
                  <a:moveTo>
                    <a:pt x="0" y="0"/>
                  </a:moveTo>
                  <a:lnTo>
                    <a:pt x="0" y="209550"/>
                  </a:lnTo>
                  <a:lnTo>
                    <a:pt x="361950" y="2095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29051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2971800" y="453390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293364" y="4635500"/>
              <a:ext cx="16428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18 複核／不確定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971800" y="512445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3626548" y="5226050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12 仍支持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5257800" y="47625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57626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5257800" y="5353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57626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5829300" y="453390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75311" y="463550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監測／蒐證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829300" y="512445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17996" y="5238750"/>
              <a:ext cx="184200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若觸發 → 策略檢查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0580" y="5661025"/>
              <a:ext cx="4320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12 筆為支持統計；處置與回復另以隔離情境驗證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2359" y="4464050"/>
              <a:ext cx="115503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18 / 30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783775" y="5105400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偵測誤判分流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56" name="Line 56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650541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答詢備用 2 / 3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答詢圖解｜效果與部署</a:t>
              </a:r>
            </a:p>
          </p:txBody>
        </p:sp>
      </p:grpSp>
      <p:grpSp>
        <p:nvGrpSpPr>
          <p:cNvPr id="90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Q5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1694" y="1711325"/>
              <a:ext cx="49062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6/6 是否代表各種真實攻擊都能完全防住？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38200" y="2238375"/>
              <a:ext cx="3143250" cy="1038225"/>
            </a:xfrm>
            <a:prstGeom prst="roundRect">
              <a:avLst>
                <a:gd name="adj" fmla="val 5505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513555" y="2282825"/>
              <a:ext cx="17925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隔離</a:t>
              </a:r>
              <a:r>
                <a:rPr lang="en-US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測試床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1234678" y="2632472"/>
              <a:ext cx="273844" cy="297656"/>
              <a:chOff x="1234678" y="2632472"/>
              <a:chExt cx="273844" cy="297656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1234678" y="263247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3" name="Ellipse 13"/>
              <p:cNvSpPr/>
              <p:nvPr/>
            </p:nvSpPr>
            <p:spPr>
              <a:xfrm>
                <a:off x="1448991" y="266223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4" name="Line 14"/>
              <p:cNvSpPr/>
              <p:nvPr/>
            </p:nvSpPr>
            <p:spPr>
              <a:xfrm>
                <a:off x="1270397" y="267414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A7C7E3"/>
                </a:solidFill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1234678" y="273962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6" name="Ellipse 16"/>
              <p:cNvSpPr/>
              <p:nvPr/>
            </p:nvSpPr>
            <p:spPr>
              <a:xfrm>
                <a:off x="1448991" y="276939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1270397" y="278130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A7C7E3"/>
                </a:solidFill>
              </a:ln>
            </p:spPr>
          </p:sp>
          <p:sp>
            <p:nvSpPr>
              <p:cNvPr id="18" name="Rectangle 18"/>
              <p:cNvSpPr/>
              <p:nvPr/>
            </p:nvSpPr>
            <p:spPr>
              <a:xfrm>
                <a:off x="1234678" y="284678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9" name="Ellipse 19"/>
              <p:cNvSpPr/>
              <p:nvPr/>
            </p:nvSpPr>
            <p:spPr>
              <a:xfrm>
                <a:off x="1448991" y="287655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1270397" y="288845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A7C7E3"/>
                </a:solidFill>
              </a:ln>
            </p:spPr>
          </p:sp>
        </p:grpSp>
        <p:grpSp>
          <p:nvGrpSpPr>
            <p:cNvPr id="31" name="Group 31"/>
            <p:cNvGrpSpPr/>
            <p:nvPr/>
          </p:nvGrpSpPr>
          <p:grpSpPr>
            <a:xfrm>
              <a:off x="2249091" y="2638425"/>
              <a:ext cx="321469" cy="285750"/>
              <a:chOff x="2249091" y="2638425"/>
              <a:chExt cx="321469" cy="2857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2249091" y="2638425"/>
                <a:ext cx="321469" cy="28575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2249091" y="273367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8DB5D9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2249091" y="282892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8DB5D9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2356247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DB5D9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2475309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DB5D9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2308622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DB5D9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2439591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DB5D9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2356247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DB5D9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2475309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DB5D9"/>
                </a:solidFill>
              </a:ln>
            </p:spPr>
          </p:sp>
        </p:grpSp>
        <p:grpSp>
          <p:nvGrpSpPr>
            <p:cNvPr id="41" name="Group 41"/>
            <p:cNvGrpSpPr/>
            <p:nvPr/>
          </p:nvGrpSpPr>
          <p:grpSpPr>
            <a:xfrm>
              <a:off x="3311128" y="2632472"/>
              <a:ext cx="273844" cy="297656"/>
              <a:chOff x="3311128" y="2632472"/>
              <a:chExt cx="273844" cy="297656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3311128" y="263247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3" name="Ellipse 33"/>
              <p:cNvSpPr/>
              <p:nvPr/>
            </p:nvSpPr>
            <p:spPr>
              <a:xfrm>
                <a:off x="3525441" y="266223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3346847" y="267414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A7C7E3"/>
                </a:solidFill>
              </a:ln>
            </p:spPr>
          </p:sp>
          <p:sp>
            <p:nvSpPr>
              <p:cNvPr id="35" name="Rectangle 35"/>
              <p:cNvSpPr/>
              <p:nvPr/>
            </p:nvSpPr>
            <p:spPr>
              <a:xfrm>
                <a:off x="3311128" y="273962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6" name="Ellipse 36"/>
              <p:cNvSpPr/>
              <p:nvPr/>
            </p:nvSpPr>
            <p:spPr>
              <a:xfrm>
                <a:off x="3525441" y="276939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3346847" y="278130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A7C7E3"/>
                </a:solidFill>
              </a:ln>
            </p:spPr>
          </p:sp>
          <p:sp>
            <p:nvSpPr>
              <p:cNvPr id="38" name="Rectangle 38"/>
              <p:cNvSpPr/>
              <p:nvPr/>
            </p:nvSpPr>
            <p:spPr>
              <a:xfrm>
                <a:off x="3311128" y="284678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9" name="Ellipse 39"/>
              <p:cNvSpPr/>
              <p:nvPr/>
            </p:nvSpPr>
            <p:spPr>
              <a:xfrm>
                <a:off x="3525441" y="287655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3346847" y="288845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A7C7E3"/>
                </a:solidFill>
              </a:ln>
            </p:spPr>
          </p:sp>
        </p:grpSp>
        <p:sp>
          <p:nvSpPr>
            <p:cNvPr id="42" name="Freeform 42"/>
            <p:cNvSpPr/>
            <p:nvPr/>
          </p:nvSpPr>
          <p:spPr>
            <a:xfrm>
              <a:off x="1581150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2152650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2619375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3190875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737360" y="3013075"/>
              <a:ext cx="1344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 規則＋2 監測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3981450" y="2486025"/>
              <a:ext cx="590550" cy="285750"/>
            </a:xfrm>
            <a:custGeom>
              <a:avLst/>
              <a:gdLst/>
              <a:ahLst/>
              <a:cxnLst/>
              <a:rect l="l" t="t" r="r" b="b"/>
              <a:pathLst>
                <a:path w="590550" h="285750">
                  <a:moveTo>
                    <a:pt x="0" y="285750"/>
                  </a:moveTo>
                  <a:lnTo>
                    <a:pt x="304800" y="285750"/>
                  </a:lnTo>
                  <a:lnTo>
                    <a:pt x="304800" y="0"/>
                  </a:lnTo>
                  <a:lnTo>
                    <a:pt x="5905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4505325" y="2438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4286250" y="2771775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0" y="247650"/>
                  </a:lnTo>
                  <a:lnTo>
                    <a:pt x="285750" y="2476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4505325" y="2971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4572000" y="22574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697641" y="2359025"/>
              <a:ext cx="182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背景服務保留 6 / 6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572000" y="27908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808702" y="2892425"/>
              <a:ext cx="160329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回復完整性 6 / 6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30580" y="3336925"/>
              <a:ext cx="43798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6/6 驗證服務保留與回復；不等同真實攻擊防禦率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055051" y="2139950"/>
              <a:ext cx="749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6 / 6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677425" y="27813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背景保留與回復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Q6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361694" y="4035425"/>
              <a:ext cx="4744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如何部署、保護資料，並接到既有環境？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38200" y="4600575"/>
              <a:ext cx="7810500" cy="981075"/>
            </a:xfrm>
            <a:prstGeom prst="roundRect">
              <a:avLst>
                <a:gd name="adj" fmla="val 6796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039368" y="4635500"/>
              <a:ext cx="33389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本機工作站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· GPU </a:t>
              </a:r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模型與案例庫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99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1090612" y="5049441"/>
              <a:ext cx="238126" cy="321468"/>
              <a:chOff x="1090612" y="5049441"/>
              <a:chExt cx="238126" cy="321468"/>
            </a:xfrm>
          </p:grpSpPr>
          <p:sp>
            <p:nvSpPr>
              <p:cNvPr id="65" name="Rectangle 65"/>
              <p:cNvSpPr/>
              <p:nvPr/>
            </p:nvSpPr>
            <p:spPr>
              <a:xfrm>
                <a:off x="1090612" y="5049441"/>
                <a:ext cx="238125" cy="32146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66" name="Line 66"/>
              <p:cNvSpPr/>
              <p:nvPr/>
            </p:nvSpPr>
            <p:spPr>
              <a:xfrm>
                <a:off x="1144191" y="5126831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95BADC"/>
                </a:solidFill>
              </a:ln>
            </p:spPr>
          </p:sp>
          <p:sp>
            <p:nvSpPr>
              <p:cNvPr id="67" name="Line 67"/>
              <p:cNvSpPr/>
              <p:nvPr/>
            </p:nvSpPr>
            <p:spPr>
              <a:xfrm>
                <a:off x="1144191" y="5192316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95BADC"/>
                </a:solidFill>
              </a:ln>
            </p:spPr>
          </p:sp>
          <p:sp>
            <p:nvSpPr>
              <p:cNvPr id="68" name="Line 68"/>
              <p:cNvSpPr/>
              <p:nvPr/>
            </p:nvSpPr>
            <p:spPr>
              <a:xfrm>
                <a:off x="1144191" y="5257800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95BADC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1144191" y="5323284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95BADC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607820" y="50990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欄位遮罩</a:t>
              </a:r>
            </a:p>
          </p:txBody>
        </p:sp>
        <p:sp>
          <p:nvSpPr>
            <p:cNvPr id="72" name="Freeform 72"/>
            <p:cNvSpPr/>
            <p:nvPr/>
          </p:nvSpPr>
          <p:spPr>
            <a:xfrm>
              <a:off x="260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282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289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pic>
          <p:nvPicPr>
            <p:cNvPr id="75" name="Image 7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24175" y="5019675"/>
              <a:ext cx="381000" cy="381000"/>
            </a:xfrm>
            <a:prstGeom prst="rect">
              <a:avLst/>
            </a:prstGeom>
          </p:spPr>
        </p:pic>
        <p:sp>
          <p:nvSpPr>
            <p:cNvPr id="76" name="TextBox 76"/>
            <p:cNvSpPr txBox="1"/>
            <p:nvPr/>
          </p:nvSpPr>
          <p:spPr>
            <a:xfrm>
              <a:off x="3480435" y="5099050"/>
              <a:ext cx="8877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類推論</a:t>
              </a:r>
            </a:p>
          </p:txBody>
        </p:sp>
        <p:sp>
          <p:nvSpPr>
            <p:cNvPr id="77" name="Freeform 77"/>
            <p:cNvSpPr/>
            <p:nvPr/>
          </p:nvSpPr>
          <p:spPr>
            <a:xfrm>
              <a:off x="4514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8" name="Freeform 78"/>
            <p:cNvSpPr/>
            <p:nvPr/>
          </p:nvSpPr>
          <p:spPr>
            <a:xfrm>
              <a:off x="4733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480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pic>
          <p:nvPicPr>
            <p:cNvPr id="80" name="Image 8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29175" y="5019675"/>
              <a:ext cx="381000" cy="381000"/>
            </a:xfrm>
            <a:prstGeom prst="rect">
              <a:avLst/>
            </a:prstGeom>
          </p:spPr>
        </p:pic>
        <p:sp>
          <p:nvSpPr>
            <p:cNvPr id="81" name="TextBox 81"/>
            <p:cNvSpPr txBox="1"/>
            <p:nvPr/>
          </p:nvSpPr>
          <p:spPr>
            <a:xfrm>
              <a:off x="5382094" y="5099050"/>
              <a:ext cx="8944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檢索＋</a:t>
              </a:r>
              <a:r>
                <a:rPr lang="en-US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</a:p>
          </p:txBody>
        </p:sp>
        <p:sp>
          <p:nvSpPr>
            <p:cNvPr id="82" name="Freeform 82"/>
            <p:cNvSpPr/>
            <p:nvPr/>
          </p:nvSpPr>
          <p:spPr>
            <a:xfrm>
              <a:off x="641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83" name="Freeform 83"/>
            <p:cNvSpPr/>
            <p:nvPr/>
          </p:nvSpPr>
          <p:spPr>
            <a:xfrm>
              <a:off x="663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84" name="Rectangle 84"/>
            <p:cNvSpPr/>
            <p:nvPr/>
          </p:nvSpPr>
          <p:spPr>
            <a:xfrm>
              <a:off x="670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pic>
          <p:nvPicPr>
            <p:cNvPr id="85" name="Image 8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34175" y="5019675"/>
              <a:ext cx="381000" cy="381000"/>
            </a:xfrm>
            <a:prstGeom prst="rect">
              <a:avLst/>
            </a:prstGeom>
          </p:spPr>
        </p:pic>
        <p:sp>
          <p:nvSpPr>
            <p:cNvPr id="86" name="TextBox 86"/>
            <p:cNvSpPr txBox="1"/>
            <p:nvPr/>
          </p:nvSpPr>
          <p:spPr>
            <a:xfrm>
              <a:off x="7322820" y="50990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策略回條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830580" y="5661025"/>
              <a:ext cx="44567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稽核；私有權重、輸入及逐筆回覆不公開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0314051" y="4464050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9708377" y="5105400"/>
              <a:ext cx="144299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外部</a:t>
              </a:r>
              <a:r>
                <a:rPr lang="en-US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 API </a:t>
              </a:r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呼叫</a:t>
              </a:r>
            </a:p>
          </p:txBody>
        </p:sp>
      </p:grpSp>
      <p:grpSp>
        <p:nvGrpSpPr>
          <p:cNvPr id="94" name="footer"/>
          <p:cNvGrpSpPr/>
          <p:nvPr/>
        </p:nvGrpSpPr>
        <p:grpSpPr>
          <a:xfrm>
            <a:off x="603885" y="6353175"/>
            <a:ext cx="10984230" cy="318453"/>
            <a:chOff x="603885" y="6353175"/>
            <a:chExt cx="10984230" cy="318453"/>
          </a:xfrm>
        </p:grpSpPr>
        <p:sp>
          <p:nvSpPr>
            <p:cNvPr id="91" name="Line 9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E3EAF2"/>
              </a:solidFill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0650541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答詢備用 3 / 3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F2F7FC"/>
      </a:lt2>
      <a:accent1>
        <a:srgbClr val="0070D1"/>
      </a:accent1>
      <a:accent2>
        <a:srgbClr val="0070D1"/>
      </a:accent2>
      <a:accent3>
        <a:srgbClr val="F5F7FA"/>
      </a:accent3>
      <a:accent4>
        <a:srgbClr val="0070D1"/>
      </a:accent4>
      <a:accent5>
        <a:srgbClr val="6B6B6B"/>
      </a:accent5>
      <a:accent6>
        <a:srgbClr val="CCCCCC"/>
      </a:accent6>
      <a:hlink>
        <a:srgbClr val="0070D1"/>
      </a:hlink>
      <a:folHlink>
        <a:srgbClr val="F5F7FA"/>
      </a:folHlink>
    </a:clrScheme>
    <a:fontScheme name="finals_editorial">
      <a:maj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F2F7FC"/>
      </a:lt2>
      <a:accent1>
        <a:srgbClr val="0070D1"/>
      </a:accent1>
      <a:accent2>
        <a:srgbClr val="0070D1"/>
      </a:accent2>
      <a:accent3>
        <a:srgbClr val="F5F7FA"/>
      </a:accent3>
      <a:accent4>
        <a:srgbClr val="0070D1"/>
      </a:accent4>
      <a:accent5>
        <a:srgbClr val="6B6B6B"/>
      </a:accent5>
      <a:accent6>
        <a:srgbClr val="CCCCCC"/>
      </a:accent6>
      <a:hlink>
        <a:srgbClr val="0070D1"/>
      </a:hlink>
      <a:folHlink>
        <a:srgbClr val="F5F7FA"/>
      </a:folHlink>
    </a:clrScheme>
    <a:fontScheme name="finals_editorial">
      <a:maj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2207</Words>
  <Application>Microsoft Office PowerPoint</Application>
  <PresentationFormat>寬螢幕</PresentationFormat>
  <Paragraphs>268</Paragraphs>
  <Slides>12</Slides>
  <Notes>12</Notes>
  <HiddenSlides>0</HiddenSlides>
  <MMClips>1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5" baseType="lpstr">
      <vt:lpstr>Arial</vt:lpstr>
      <vt:lpstr>Times New Roman</vt:lpstr>
      <vt:lpstr>finals_editorial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/>
  <cp:lastModifiedBy/>
  <cp:revision>2</cp:revision>
  <dcterms:created xsi:type="dcterms:W3CDTF">2026-10-28T08:38:22Z</dcterms:created>
  <dcterms:modified xsi:type="dcterms:W3CDTF">2026-10-28T08:38:37Z</dcterms:modified>
  <cp:category/>
  <cp:contentStatus/>
  <dc:language>zh-TW</dc:language>
</cp:coreProperties>
</file>