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theme/theme2.xml" ContentType="application/vnd.openxmlformats-officedocument.them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notesMasterIdLst>
    <p:notesMasterId r:id="rId1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2000" cy="6858000" type="screen16x9"/>
  <p:notesSz cx="6858000" cy="9144000"/>
  <p:defaultTextStyle>
    <a:defPPr>
      <a:defRPr lang="zh-TW"/>
    </a:defPPr>
    <a:lvl1pPr marL="0" algn="l" defTabSz="457200" rtl="0" eaLnBrk="1" latinLnBrk="0" hangingPunct="1">
      <a:defRPr sz="1800" kern="1200" lang="zh-TW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zh-TW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zh-TW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zh-TW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zh-TW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zh-TW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zh-TW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zh-TW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zh-TW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  <Relationship Id="rId16" Type="http://schemas.openxmlformats.org/officeDocument/2006/relationships/notesMaster" Target="notesMasters/notesMaster1.xml"/>
</Relationships>
</file>

<file path=ppt/notesMasters/_rels/notesMaster1.xml.rels><?xml version="1.0" encoding="UTF-8" standalone="yes"?>
<Relationships xmlns="http://schemas.openxmlformats.org/package/2006/relationships">
  <Relationship Id="rId1" Type="http://schemas.openxmlformats.org/officeDocument/2006/relationships/theme" Target="../theme/theme2.xml"/>
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TW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TW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pPr/>
            <a:endParaRPr lang="zh-TW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TW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TW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/>
  <p:notesStyle>
    <a:lvl1pPr marL="0" algn="l">
      <a:defRPr sz="1200" lang="zh-TW"/>
    </a:lvl1pPr>
  </p:notesStyle>
</p:notesMaster>
</file>

<file path=ppt/notesSlides/_rels/notesSlide1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.xml"/>
</Relationships>
</file>

<file path=ppt/notesSlides/_rels/notesSlide2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2.xml"/>
</Relationships>
</file>

<file path=ppt/notesSlides/_rels/notesSlide3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3.xml"/>
</Relationships>
</file>

<file path=ppt/notesSlides/_rels/notesSlide4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4.xml"/>
</Relationships>
</file>

<file path=ppt/notesSlides/_rels/notesSlide5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5.xml"/>
</Relationships>
</file>

<file path=ppt/notesSlides/_rels/notesSlide6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6.xml"/>
</Relationships>
</file>

<file path=ppt/notesSlides/_rels/notesSlide7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7.xml"/>
</Relationships>
</file>

<file path=ppt/notesSlides/_rels/notesSlide8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8.xml"/>
</Relationships>
</file>

<file path=ppt/notesSlides/_rels/notesSlide9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9.xml"/>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TW" dirty="0"/>
              <a:t>我們的作品將入侵偵測、案例檢索、AI稽核與受控處置，整合在同一條事件鏈。前段產生判定與模型表徵，後段依相似案例核對證據，最後留下可驗證、可回復的處置回條。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TW" dirty="0"/>
              <a:t>架構分為上下兩層的四個區域。流量表徵保留內容、時間差與方向，同一輸入平行送入兩個偵測模型，再融合為固定十七類、校準信心與流量表徵；後段以五百二十九維任務向量取得前五筆訓練案例，由本機AI給出支持、複核或不確定。策略閘門檢查範圍與期限，完成套用、讀回和到期撤銷。所有產物透過同一事件識別碼連結，AI不改寫正式分類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TW" dirty="0"/>
              <a:t>前段以兩種互補特徵平行判斷，並非先後串行。CTBM閱讀封包內容、時間差與方向；PBCNN補充短視窗位元組模式。校準後由OOF Gate依事件證據融合，輸出固定十七類，並保留信心與表徵交給後段。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TW" dirty="0"/>
              <a:t>後段不是只把類別名稱送進語言模型。我們結合五百一十二維流量表徵與十七維類別機率，建立任務向量，查詢只由訓練資料建立的案例庫。前五筆案例與類別共識交給本機AI核對，回傳支持、複核或不確定，連同正式分類留在同一事件紀錄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TW" dirty="0"/>
              <a:t>處置由政策閘門檢查範圍、白名單與有效期，通過後才套用並讀回規則，再於到期撤銷。六種隔離情境包含四種實際套用規則、兩種監測或蒐證；背景服務六種皆保留，回復完整性六種皆通過。這些結果量測隔離TCP交易與回條，不代表原始攻擊封包或正式場域的防禦率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TW" dirty="0"/>
              <a:t>本頁保留三十秒方法動畫位置，先不嵌入影片。正式播放時使用既有三十秒、兩倍速影片，並計入五分鐘流程。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TW" dirty="0"/>
              <a:t>偵測效果在相同一萬八千九百九十八筆封存測試比較。PBCNN的Macro-F1為百分之七十九點七五，CTBM為九十二點一零，融合後為九十三點零五；整體準確率百分之九十八點零八。比較採同一個測試集，讓互補融合的效果可以直接核對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TW" dirty="0"/>
              <a:t>在一千五百五十筆真實訓練案例和四百六十三筆測試查詢中，前五筆命中率為百分之九十七點六二，MRR為九十三點八九。相同四百六十三筆事件的本機稽核中，四百一十五筆支持、十三筆複核、三十五筆不確定；支持精確率九十七點一一。三十筆偵測誤判中，十八筆分流到複核或不確定，其餘十二筆仍獲支持，所以處置另受策略閘門控制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TW" dirty="0"/>
              <a:t>我們以十七類真實前處理張量重跑整合鏈，並以六種隔離情境確認處置回條與回復行為。作品把偵測、證據與處置放在同一個框架，讓判斷有依據、稽核有證據、處置可回復。前面播放的三十秒動畫以兩倍速說明流程，並可搭配本機執行紀錄展示。</a:t>
            </a:r>
          </a:p>
        </p:txBody>
      </p:sp>
    </p:spTree>
  </p:cSld>
  <p:clrMapOvr>
    <a:masterClrMapping/>
  </p:clrMapOvr>
</p:note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finals_editorial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TW" smtClean="0"/>
              <a:t>1/27/13</a:t>
            </a:fld>
            <a:endParaRPr lang="zh-TW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TW" smtClean="0"/>
              <a:t>‹#›</a:t>
            </a:fld>
            <a:endParaRPr lang="zh-TW"/>
          </a:p>
        </p:txBody>
      </p:sp>
    </p:spTree>
  </p:cSld>
  <p:clrMapOvr>
    <a:masterClrMapping/>
  </p:clrMapOvr>
</p:sldLayout>
</file>

<file path=ppt/slideMasters/_rels/slideMaster1.xml.rels><?xml version='1.0' encoding='UTF-8' standalone='yes'?>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finals_editorial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TW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TW" smtClean="0"/>
              <a:t>1/27/13</a:t>
            </a:fld>
            <a:endParaRPr lang="zh-TW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TW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TW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TW" smtClean="0"/>
              <a:t>‹#›</a:t>
            </a:fld>
            <a:endParaRPr lang="zh-TW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3300" kern="1200" lang="zh-TW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1800" kern="1200" lang="zh-TW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1700" kern="1200" lang="zh-TW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600" kern="1200" lang="zh-TW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1450" kern="1200" lang="zh-TW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1350" kern="1200" lang="zh-TW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1250" kern="1200" lang="zh-TW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1100" kern="1200" lang="zh-TW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1000" kern="1200" lang="zh-TW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900" kern="1200" lang="zh-TW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457200" rtl="0" eaLnBrk="1" latinLnBrk="0" hangingPunct="1">
        <a:defRPr sz="1800" kern="1200" lang="zh-TW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700" kern="1200" lang="zh-TW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600" kern="1200" lang="zh-TW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450" kern="1200" lang="zh-TW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350" kern="1200" lang="zh-TW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250" kern="1200" lang="zh-TW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100" kern="1200" lang="zh-TW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000" kern="1200" lang="zh-TW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900" kern="1200" lang="zh-TW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1143cf26b65394a5.png"/>
  <Relationship Id="rId3" Type="http://schemas.openxmlformats.org/officeDocument/2006/relationships/notesSlide" Target="../notesSlides/notesSlide1.xml"/>
</Relationships>
</file>

<file path=ppt/slides/_rels/slide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4dc347da870737c4.png"/>
  <Relationship Id="rId3" Type="http://schemas.openxmlformats.org/officeDocument/2006/relationships/image" Target="../media/image_62ff4032e3a157d7.png"/>
  <Relationship Id="rId4" Type="http://schemas.openxmlformats.org/officeDocument/2006/relationships/image" Target="../media/image_e0bb307f87d4970c.png"/>
  <Relationship Id="rId5" Type="http://schemas.openxmlformats.org/officeDocument/2006/relationships/image" Target="../media/image_1143cf26b65394a5.png"/>
  <Relationship Id="rId6" Type="http://schemas.openxmlformats.org/officeDocument/2006/relationships/notesSlide" Target="../notesSlides/notesSlide2.xml"/>
</Relationships>
</file>

<file path=ppt/slides/_rels/slide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3.xml"/>
</Relationships>
</file>

<file path=ppt/slides/_rels/slide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e0bb307f87d4970c.png"/>
  <Relationship Id="rId3" Type="http://schemas.openxmlformats.org/officeDocument/2006/relationships/notesSlide" Target="../notesSlides/notesSlide4.xml"/>
</Relationships>
</file>

<file path=ppt/slides/_rels/slide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5.xml"/>
</Relationships>
</file>

<file path=ppt/slides/_rels/slide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6.xml"/>
</Relationships>
</file>

<file path=ppt/slides/_rels/slide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7.xml"/>
</Relationships>
</file>

<file path=ppt/slides/_rels/slide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8.xml"/>
</Relationships>
</file>

<file path=ppt/slides/_rels/slide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9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headline"/>
          <p:cNvGrpSpPr/>
          <p:nvPr/>
        </p:nvGrpSpPr>
        <p:grpSpPr>
          <a:xfrm>
            <a:off x="603504" y="381000"/>
            <a:ext cx="1762117" cy="234696"/>
            <a:chOff x="603504" y="381000"/>
            <a:chExt cx="1762117" cy="234696"/>
          </a:xfrm>
        </p:grpSpPr>
        <p:sp>
          <p:nvSpPr>
            <p:cNvPr id="2" name="TextBox 2"/>
            <p:cNvSpPr txBox="1"/>
            <p:nvPr/>
          </p:nvSpPr>
          <p:spPr>
            <a:xfrm>
              <a:off x="603504" y="381000"/>
              <a:ext cx="176211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200" b="1" dirty="0">
                  <a:solidFill>
                    <a:schemeClr val="accent1"/>
                  </a:solidFill>
                  <a:latin typeface="Microsoft JhengHei"/>
                  <a:ea typeface="Microsoft JhengHei"/>
                  <a:cs typeface="Microsoft JhengHei"/>
                </a:rPr>
                <a:t>2026 資安技術組 · 決賽</a:t>
              </a:r>
            </a:p>
          </p:txBody>
        </p:sp>
      </p:grpSp>
      <p:grpSp>
        <p:nvGrpSpPr>
          <p:cNvPr id="23" name="page-content"/>
          <p:cNvGrpSpPr/>
          <p:nvPr/>
        </p:nvGrpSpPr>
        <p:grpSpPr>
          <a:xfrm>
            <a:off x="593217" y="1558925"/>
            <a:ext cx="10722483" cy="4518025"/>
            <a:chOff x="593217" y="1558925"/>
            <a:chExt cx="10722483" cy="4518025"/>
          </a:xfrm>
        </p:grpSpPr>
        <p:sp>
          <p:nvSpPr>
            <p:cNvPr id="4" name="TextBox 4"/>
            <p:cNvSpPr txBox="1"/>
            <p:nvPr/>
          </p:nvSpPr>
          <p:spPr>
            <a:xfrm>
              <a:off x="593217" y="1558925"/>
              <a:ext cx="6101436" cy="63074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220" dirty="0">
                  <a:solidFill>
                    <a:srgbClr val="121314"/>
                  </a:solidFill>
                  <a:latin typeface="Microsoft JhengHei"/>
                  <a:ea typeface="Microsoft JhengHei"/>
                  <a:cs typeface="Microsoft JhengHei"/>
                </a:rPr>
                <a:t>融合新型內容相依時序方向模型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593217" y="2178050"/>
              <a:ext cx="6534912" cy="63074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220" dirty="0">
                  <a:solidFill>
                    <a:srgbClr val="121314"/>
                  </a:solidFill>
                  <a:latin typeface="Microsoft JhengHei"/>
                  <a:ea typeface="Microsoft JhengHei"/>
                  <a:cs typeface="Microsoft JhengHei"/>
                </a:rPr>
                <a:t>入侵偵測與任務導向檢索增強稽核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593217" y="2797175"/>
              <a:ext cx="2864267" cy="63074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220" dirty="0">
                  <a:solidFill>
                    <a:srgbClr val="121314"/>
                  </a:solidFill>
                  <a:latin typeface="Microsoft JhengHei"/>
                  <a:ea typeface="Microsoft JhengHei"/>
                  <a:cs typeface="Microsoft JhengHei"/>
                </a:rPr>
                <a:t>之 AI 資安框架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598932" y="3841750"/>
              <a:ext cx="4261866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100" dirty="0">
                  <a:solidFill>
                    <a:schemeClr val="accent5"/>
                  </a:solidFill>
                  <a:latin typeface="Microsoft JhengHei"/>
                  <a:ea typeface="Microsoft JhengHei"/>
                  <a:cs typeface="Microsoft JhengHei"/>
                </a:rPr>
                <a:t>從流量判定，走到有證據的處置。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09600" y="4762500"/>
              <a:ext cx="1790700" cy="685800"/>
            </a:xfrm>
            <a:prstGeom prst="roundRect">
              <a:avLst>
                <a:gd name="adj" fmla="val 11111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211580" y="4946650"/>
              <a:ext cx="586740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2100" b="1" dirty="0">
                  <a:solidFill>
                    <a:schemeClr val="accent1"/>
                  </a:solidFill>
                  <a:latin typeface="Microsoft JhengHei"/>
                  <a:ea typeface="Microsoft JhengHei"/>
                  <a:cs typeface="Microsoft JhengHei"/>
                </a:rPr>
                <a:t>偵測</a:t>
              </a:r>
            </a:p>
          </p:txBody>
        </p:sp>
        <p:sp>
          <p:nvSpPr>
            <p:cNvPr id="10" name="Freeform 10"/>
            <p:cNvSpPr/>
            <p:nvPr/>
          </p:nvSpPr>
          <p:spPr>
            <a:xfrm>
              <a:off x="2400300" y="5105400"/>
              <a:ext cx="323850" cy="9525"/>
            </a:xfrm>
            <a:custGeom>
              <a:avLst/>
              <a:gdLst/>
              <a:ahLst/>
              <a:cxnLst/>
              <a:rect l="l" t="t" r="r" b="b"/>
              <a:pathLst>
                <a:path w="323850" h="9525">
                  <a:moveTo>
                    <a:pt x="0" y="0"/>
                  </a:moveTo>
                  <a:lnTo>
                    <a:pt x="3238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11" name="Freeform 11"/>
            <p:cNvSpPr/>
            <p:nvPr/>
          </p:nvSpPr>
          <p:spPr>
            <a:xfrm>
              <a:off x="2657475" y="5057775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12" name="Rectangle 12"/>
            <p:cNvSpPr/>
            <p:nvPr/>
          </p:nvSpPr>
          <p:spPr>
            <a:xfrm>
              <a:off x="2724150" y="4762500"/>
              <a:ext cx="1790700" cy="685800"/>
            </a:xfrm>
            <a:prstGeom prst="roundRect">
              <a:avLst>
                <a:gd name="adj" fmla="val 11111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3326130" y="4946650"/>
              <a:ext cx="586740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2100" b="1" dirty="0">
                  <a:solidFill>
                    <a:schemeClr val="accent1"/>
                  </a:solidFill>
                  <a:latin typeface="Microsoft JhengHei"/>
                  <a:ea typeface="Microsoft JhengHei"/>
                  <a:cs typeface="Microsoft JhengHei"/>
                </a:rPr>
                <a:t>檢索</a:t>
              </a:r>
            </a:p>
          </p:txBody>
        </p:sp>
        <p:sp>
          <p:nvSpPr>
            <p:cNvPr id="14" name="Freeform 14"/>
            <p:cNvSpPr/>
            <p:nvPr/>
          </p:nvSpPr>
          <p:spPr>
            <a:xfrm>
              <a:off x="4514850" y="5105400"/>
              <a:ext cx="323850" cy="9525"/>
            </a:xfrm>
            <a:custGeom>
              <a:avLst/>
              <a:gdLst/>
              <a:ahLst/>
              <a:cxnLst/>
              <a:rect l="l" t="t" r="r" b="b"/>
              <a:pathLst>
                <a:path w="323850" h="9525">
                  <a:moveTo>
                    <a:pt x="0" y="0"/>
                  </a:moveTo>
                  <a:lnTo>
                    <a:pt x="3238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15" name="Freeform 15"/>
            <p:cNvSpPr/>
            <p:nvPr/>
          </p:nvSpPr>
          <p:spPr>
            <a:xfrm>
              <a:off x="4772025" y="5057775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838700" y="4762500"/>
              <a:ext cx="1790700" cy="685800"/>
            </a:xfrm>
            <a:prstGeom prst="roundRect">
              <a:avLst>
                <a:gd name="adj" fmla="val 11111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5440680" y="4946650"/>
              <a:ext cx="586740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2100" b="1" dirty="0">
                  <a:solidFill>
                    <a:schemeClr val="accent1"/>
                  </a:solidFill>
                  <a:latin typeface="Microsoft JhengHei"/>
                  <a:ea typeface="Microsoft JhengHei"/>
                  <a:cs typeface="Microsoft JhengHei"/>
                </a:rPr>
                <a:t>稽核</a:t>
              </a:r>
            </a:p>
          </p:txBody>
        </p:sp>
        <p:sp>
          <p:nvSpPr>
            <p:cNvPr id="18" name="Freeform 18"/>
            <p:cNvSpPr/>
            <p:nvPr/>
          </p:nvSpPr>
          <p:spPr>
            <a:xfrm>
              <a:off x="6629400" y="5105400"/>
              <a:ext cx="323850" cy="9525"/>
            </a:xfrm>
            <a:custGeom>
              <a:avLst/>
              <a:gdLst/>
              <a:ahLst/>
              <a:cxnLst/>
              <a:rect l="l" t="t" r="r" b="b"/>
              <a:pathLst>
                <a:path w="323850" h="9525">
                  <a:moveTo>
                    <a:pt x="0" y="0"/>
                  </a:moveTo>
                  <a:lnTo>
                    <a:pt x="3238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19" name="Freeform 19"/>
            <p:cNvSpPr/>
            <p:nvPr/>
          </p:nvSpPr>
          <p:spPr>
            <a:xfrm>
              <a:off x="6886575" y="5057775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6953250" y="4762500"/>
              <a:ext cx="1790700" cy="685800"/>
            </a:xfrm>
            <a:prstGeom prst="roundRect">
              <a:avLst>
                <a:gd name="adj" fmla="val 11111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7555230" y="4946650"/>
              <a:ext cx="586740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2100" b="1" dirty="0">
                  <a:solidFill>
                    <a:schemeClr val="accent1"/>
                  </a:solidFill>
                  <a:latin typeface="Microsoft JhengHei"/>
                  <a:ea typeface="Microsoft JhengHei"/>
                  <a:cs typeface="Microsoft JhengHei"/>
                </a:rPr>
                <a:t>回復</a:t>
              </a:r>
            </a:p>
          </p:txBody>
        </p:sp>
        <p:pic>
          <p:nvPicPr>
            <p:cNvPr id="22" name="Image 22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334500" y="4095750"/>
              <a:ext cx="1981200" cy="1981200"/>
            </a:xfrm>
            <a:prstGeom prst="rect">
              <a:avLst/>
            </a:prstGeom>
          </p:spPr>
        </p:pic>
      </p:grpSp>
      <p:grpSp>
        <p:nvGrpSpPr>
          <p:cNvPr id="26" name="footer"/>
          <p:cNvGrpSpPr/>
          <p:nvPr/>
        </p:nvGrpSpPr>
        <p:grpSpPr>
          <a:xfrm>
            <a:off x="604266" y="6416675"/>
            <a:ext cx="10983468" cy="205359"/>
            <a:chOff x="604266" y="6416675"/>
            <a:chExt cx="10983468" cy="205359"/>
          </a:xfrm>
        </p:grpSpPr>
        <p:sp>
          <p:nvSpPr>
            <p:cNvPr id="24" name="TextBox 24"/>
            <p:cNvSpPr txBox="1"/>
            <p:nvPr/>
          </p:nvSpPr>
          <p:spPr>
            <a:xfrm>
              <a:off x="604266" y="6416675"/>
              <a:ext cx="161713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050" dirty="0">
                  <a:solidFill>
                    <a:schemeClr val="accent5"/>
                  </a:solidFill>
                  <a:latin typeface="Microsoft JhengHei"/>
                  <a:ea typeface="Microsoft JhengHei"/>
                  <a:cs typeface="Microsoft JhengHei"/>
                </a:rPr>
                <a:t>AI 資安框架 · 資安技術組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1103540" y="6416675"/>
              <a:ext cx="484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050" dirty="0">
                  <a:solidFill>
                    <a:schemeClr val="accent5"/>
                  </a:solidFill>
                  <a:latin typeface="Microsoft JhengHei"/>
                  <a:ea typeface="Microsoft JhengHei"/>
                  <a:cs typeface="Microsoft JhengHei"/>
                </a:rPr>
                <a:t>01 / 09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headline"/>
          <p:cNvGrpSpPr/>
          <p:nvPr/>
        </p:nvGrpSpPr>
        <p:grpSpPr>
          <a:xfrm>
            <a:off x="593598" y="381000"/>
            <a:ext cx="4696587" cy="946277"/>
            <a:chOff x="593598" y="381000"/>
            <a:chExt cx="4696587" cy="946277"/>
          </a:xfrm>
        </p:grpSpPr>
        <p:sp>
          <p:nvSpPr>
            <p:cNvPr id="2" name="TextBox 2"/>
            <p:cNvSpPr txBox="1"/>
            <p:nvPr/>
          </p:nvSpPr>
          <p:spPr>
            <a:xfrm>
              <a:off x="603504" y="381000"/>
              <a:ext cx="100687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chemeClr val="accent1"/>
                  </a:solidFill>
                  <a:latin typeface="Microsoft JhengHei"/>
                  <a:ea typeface="Microsoft JhengHei"/>
                  <a:cs typeface="Microsoft JhengHei"/>
                </a:rPr>
                <a:t>FRAMEWORK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3598" y="711200"/>
              <a:ext cx="4696587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150" dirty="0">
                  <a:solidFill>
                    <a:srgbClr val="121314"/>
                  </a:solidFill>
                  <a:latin typeface="Microsoft JhengHei"/>
                  <a:ea typeface="Microsoft JhengHei"/>
                  <a:cs typeface="Microsoft JhengHei"/>
                </a:rPr>
                <a:t>一個框架，四個連續階段</a:t>
              </a:r>
            </a:p>
          </p:txBody>
        </p:sp>
      </p:grpSp>
      <p:grpSp>
        <p:nvGrpSpPr>
          <p:cNvPr id="70" name="page-content"/>
          <p:cNvGrpSpPr/>
          <p:nvPr/>
        </p:nvGrpSpPr>
        <p:grpSpPr>
          <a:xfrm>
            <a:off x="47625" y="1504950"/>
            <a:ext cx="11991975" cy="4824857"/>
            <a:chOff x="47625" y="1504950"/>
            <a:chExt cx="11991975" cy="4824857"/>
          </a:xfrm>
        </p:grpSpPr>
        <p:sp>
          <p:nvSpPr>
            <p:cNvPr id="5" name="Rectangle 5"/>
            <p:cNvSpPr/>
            <p:nvPr/>
          </p:nvSpPr>
          <p:spPr>
            <a:xfrm>
              <a:off x="152400" y="1504950"/>
              <a:ext cx="2152650" cy="1952625"/>
            </a:xfrm>
            <a:prstGeom prst="roundRect">
              <a:avLst>
                <a:gd name="adj" fmla="val 3902"/>
              </a:avLst>
            </a:prstGeom>
            <a:solidFill>
              <a:schemeClr val="accent3"/>
            </a:solidFill>
            <a:ln w="9525">
              <a:solidFill>
                <a:schemeClr val="accent6"/>
              </a:solidFill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314706" y="1593850"/>
              <a:ext cx="120381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00" b="1" dirty="0">
                  <a:solidFill>
                    <a:schemeClr val="accent1"/>
                  </a:solidFill>
                  <a:latin typeface="Microsoft JhengHei"/>
                  <a:ea typeface="Microsoft JhengHei"/>
                  <a:cs typeface="Microsoft JhengHei"/>
                </a:rPr>
                <a:t>a 流量表徵</a:t>
              </a:r>
            </a:p>
          </p:txBody>
        </p:sp>
        <p:pic>
          <p:nvPicPr>
            <p:cNvPr id="7" name="Image 7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809750" y="1543050"/>
              <a:ext cx="323850" cy="323850"/>
            </a:xfrm>
            <a:prstGeom prst="rect">
              <a:avLst/>
            </a:prstGeom>
          </p:spPr>
        </p:pic>
        <p:sp>
          <p:nvSpPr>
            <p:cNvPr id="8" name="TextBox 8"/>
            <p:cNvSpPr txBox="1"/>
            <p:nvPr/>
          </p:nvSpPr>
          <p:spPr>
            <a:xfrm>
              <a:off x="315849" y="2085975"/>
              <a:ext cx="15048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80" dirty="0">
                  <a:solidFill>
                    <a:schemeClr val="dk1"/>
                  </a:solidFill>
                  <a:latin typeface="Microsoft JhengHei"/>
                  <a:ea typeface="Microsoft JhengHei"/>
                  <a:cs typeface="Microsoft JhengHei"/>
                </a:rPr>
                <a:t>真實前處理張量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315468" y="2501900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650" dirty="0">
                  <a:solidFill>
                    <a:schemeClr val="dk1"/>
                  </a:solidFill>
                  <a:latin typeface="Microsoft JhengHei"/>
                  <a:ea typeface="Microsoft JhengHei"/>
                  <a:cs typeface="Microsoft JhengHei"/>
                </a:rPr>
                <a:t>封包內容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15468" y="2806700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1650" dirty="0">
                  <a:solidFill>
                    <a:schemeClr val="dk1"/>
                  </a:solidFill>
                  <a:latin typeface="Microsoft JhengHei"/>
                  <a:ea typeface="Microsoft JhengHei"/>
                  <a:cs typeface="Microsoft JhengHei"/>
                </a:rPr>
                <a:t>時間差・方向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316230" y="3105150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1500" dirty="0">
                  <a:solidFill>
                    <a:schemeClr val="accent5"/>
                  </a:solidFill>
                  <a:latin typeface="Microsoft JhengHei"/>
                  <a:ea typeface="Microsoft JhengHei"/>
                  <a:cs typeface="Microsoft JhengHei"/>
                </a:rPr>
                <a:t>遮罩欄位・流量切窗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2533650" y="1504950"/>
              <a:ext cx="9505950" cy="1952625"/>
            </a:xfrm>
            <a:prstGeom prst="roundRect">
              <a:avLst>
                <a:gd name="adj" fmla="val 3902"/>
              </a:avLst>
            </a:prstGeom>
            <a:solidFill>
              <a:schemeClr val="accent3"/>
            </a:solidFill>
            <a:ln w="9525">
              <a:solidFill>
                <a:schemeClr val="accent6"/>
              </a:solidFill>
            </a:ln>
          </p:spPr>
        </p:sp>
        <p:pic>
          <p:nvPicPr>
            <p:cNvPr id="13" name="Image 13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686050" y="1562100"/>
              <a:ext cx="342900" cy="342900"/>
            </a:xfrm>
            <a:prstGeom prst="rect">
              <a:avLst/>
            </a:prstGeom>
          </p:spPr>
        </p:pic>
        <p:sp>
          <p:nvSpPr>
            <p:cNvPr id="14" name="TextBox 14"/>
            <p:cNvSpPr txBox="1"/>
            <p:nvPr/>
          </p:nvSpPr>
          <p:spPr>
            <a:xfrm>
              <a:off x="3115056" y="1593850"/>
              <a:ext cx="260561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00" b="1" dirty="0">
                  <a:solidFill>
                    <a:schemeClr val="accent1"/>
                  </a:solidFill>
                  <a:latin typeface="Microsoft JhengHei"/>
                  <a:ea typeface="Microsoft JhengHei"/>
                  <a:cs typeface="Microsoft JhengHei"/>
                </a:rPr>
                <a:t>b 互補模型與 17 類判定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2781300" y="2019300"/>
              <a:ext cx="2857500" cy="571500"/>
            </a:xfrm>
            <a:prstGeom prst="roundRect">
              <a:avLst>
                <a:gd name="adj" fmla="val 13333"/>
              </a:avLst>
            </a:prstGeom>
            <a:solidFill>
              <a:schemeClr val="lt1"/>
            </a:solidFill>
            <a:ln w="9525">
              <a:solidFill>
                <a:schemeClr val="accent6"/>
              </a:solidFill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2943606" y="2051050"/>
              <a:ext cx="66348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b="1" dirty="0">
                  <a:solidFill>
                    <a:schemeClr val="dk1"/>
                  </a:solidFill>
                  <a:latin typeface="Microsoft JhengHei"/>
                  <a:ea typeface="Microsoft JhengHei"/>
                  <a:cs typeface="Microsoft JhengHei"/>
                </a:rPr>
                <a:t>CTBM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2945130" y="2305050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1500" dirty="0">
                  <a:solidFill>
                    <a:schemeClr val="dk1"/>
                  </a:solidFill>
                  <a:latin typeface="Microsoft JhengHei"/>
                  <a:ea typeface="Microsoft JhengHei"/>
                  <a:cs typeface="Microsoft JhengHei"/>
                </a:rPr>
                <a:t>內容・時間差・方向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2781300" y="2762250"/>
              <a:ext cx="2857500" cy="571500"/>
            </a:xfrm>
            <a:prstGeom prst="roundRect">
              <a:avLst>
                <a:gd name="adj" fmla="val 13333"/>
              </a:avLst>
            </a:prstGeom>
            <a:solidFill>
              <a:schemeClr val="lt1"/>
            </a:solidFill>
            <a:ln w="9525">
              <a:solidFill>
                <a:schemeClr val="accent6"/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2943606" y="2794000"/>
              <a:ext cx="75758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b="1" dirty="0">
                  <a:solidFill>
                    <a:schemeClr val="dk1"/>
                  </a:solidFill>
                  <a:latin typeface="Microsoft JhengHei"/>
                  <a:ea typeface="Microsoft JhengHei"/>
                  <a:cs typeface="Microsoft JhengHei"/>
                </a:rPr>
                <a:t>PBCNN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2945130" y="3048000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dirty="0">
                  <a:solidFill>
                    <a:schemeClr val="dk1"/>
                  </a:solidFill>
                  <a:latin typeface="Microsoft JhengHei"/>
                  <a:ea typeface="Microsoft JhengHei"/>
                  <a:cs typeface="Microsoft JhengHei"/>
                </a:rPr>
                <a:t>短窗位元組模式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2209800"/>
              <a:ext cx="2647950" cy="857250"/>
            </a:xfrm>
            <a:prstGeom prst="roundRect">
              <a:avLst>
                <a:gd name="adj" fmla="val 8889"/>
              </a:avLst>
            </a:prstGeom>
            <a:solidFill>
              <a:schemeClr val="lt1"/>
            </a:solidFill>
            <a:ln w="9525">
              <a:solidFill>
                <a:schemeClr val="accent6"/>
              </a:solidFill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486906" y="2308225"/>
              <a:ext cx="194034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00" b="1" dirty="0">
                  <a:solidFill>
                    <a:schemeClr val="dk1"/>
                  </a:solidFill>
                  <a:latin typeface="Microsoft JhengHei"/>
                  <a:ea typeface="Microsoft JhengHei"/>
                  <a:cs typeface="Microsoft JhengHei"/>
                </a:rPr>
                <a:t>校準＋OOF Gate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487668" y="2673350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650" dirty="0">
                  <a:solidFill>
                    <a:schemeClr val="dk1"/>
                  </a:solidFill>
                  <a:latin typeface="Microsoft JhengHei"/>
                  <a:ea typeface="Microsoft JhengHei"/>
                  <a:cs typeface="Microsoft JhengHei"/>
                </a:rPr>
                <a:t>依事件證據融合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9201150" y="2209800"/>
              <a:ext cx="2628900" cy="857250"/>
            </a:xfrm>
            <a:prstGeom prst="roundRect">
              <a:avLst>
                <a:gd name="adj" fmla="val 8889"/>
              </a:avLst>
            </a:prstGeom>
            <a:solidFill>
              <a:schemeClr val="lt1"/>
            </a:solidFill>
            <a:ln w="9525">
              <a:solidFill>
                <a:schemeClr val="accent6"/>
              </a:solidFill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9382506" y="2308225"/>
              <a:ext cx="158607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00" b="1" dirty="0">
                  <a:solidFill>
                    <a:schemeClr val="dk1"/>
                  </a:solidFill>
                  <a:latin typeface="Microsoft JhengHei"/>
                  <a:ea typeface="Microsoft JhengHei"/>
                  <a:cs typeface="Microsoft JhengHei"/>
                </a:rPr>
                <a:t>17 類正式判定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384030" y="2686050"/>
              <a:ext cx="210521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dirty="0">
                  <a:solidFill>
                    <a:schemeClr val="dk1"/>
                  </a:solidFill>
                  <a:latin typeface="Microsoft JhengHei"/>
                  <a:ea typeface="Microsoft JhengHei"/>
                  <a:cs typeface="Microsoft JhengHei"/>
                </a:rPr>
                <a:t>512 維表徵＋17 維機率</a:t>
              </a:r>
            </a:p>
          </p:txBody>
        </p:sp>
        <p:sp>
          <p:nvSpPr>
            <p:cNvPr id="27" name="Freeform 27"/>
            <p:cNvSpPr/>
            <p:nvPr/>
          </p:nvSpPr>
          <p:spPr>
            <a:xfrm>
              <a:off x="2305050" y="2305050"/>
              <a:ext cx="476250" cy="171450"/>
            </a:xfrm>
            <a:custGeom>
              <a:avLst/>
              <a:gdLst/>
              <a:ahLst/>
              <a:cxnLst/>
              <a:rect l="l" t="t" r="r" b="b"/>
              <a:pathLst>
                <a:path w="476250" h="171450">
                  <a:moveTo>
                    <a:pt x="0" y="171450"/>
                  </a:moveTo>
                  <a:lnTo>
                    <a:pt x="361950" y="171450"/>
                  </a:lnTo>
                  <a:lnTo>
                    <a:pt x="361950" y="0"/>
                  </a:lnTo>
                  <a:lnTo>
                    <a:pt x="476250" y="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28" name="Freeform 28"/>
            <p:cNvSpPr/>
            <p:nvPr/>
          </p:nvSpPr>
          <p:spPr>
            <a:xfrm>
              <a:off x="2714625" y="2257425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29" name="Freeform 29"/>
            <p:cNvSpPr/>
            <p:nvPr/>
          </p:nvSpPr>
          <p:spPr>
            <a:xfrm>
              <a:off x="2667000" y="2476500"/>
              <a:ext cx="114300" cy="571500"/>
            </a:xfrm>
            <a:custGeom>
              <a:avLst/>
              <a:gdLst/>
              <a:ahLst/>
              <a:cxnLst/>
              <a:rect l="l" t="t" r="r" b="b"/>
              <a:pathLst>
                <a:path w="114300" h="571500">
                  <a:moveTo>
                    <a:pt x="0" y="0"/>
                  </a:moveTo>
                  <a:lnTo>
                    <a:pt x="0" y="571500"/>
                  </a:lnTo>
                  <a:lnTo>
                    <a:pt x="114300" y="57150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30" name="Freeform 30"/>
            <p:cNvSpPr/>
            <p:nvPr/>
          </p:nvSpPr>
          <p:spPr>
            <a:xfrm>
              <a:off x="2714625" y="3000375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31" name="Freeform 31"/>
            <p:cNvSpPr/>
            <p:nvPr/>
          </p:nvSpPr>
          <p:spPr>
            <a:xfrm>
              <a:off x="5638800" y="2305050"/>
              <a:ext cx="647700" cy="333375"/>
            </a:xfrm>
            <a:custGeom>
              <a:avLst/>
              <a:gdLst/>
              <a:ahLst/>
              <a:cxnLst/>
              <a:rect l="l" t="t" r="r" b="b"/>
              <a:pathLst>
                <a:path w="647700" h="333375">
                  <a:moveTo>
                    <a:pt x="0" y="0"/>
                  </a:moveTo>
                  <a:lnTo>
                    <a:pt x="314325" y="0"/>
                  </a:lnTo>
                  <a:lnTo>
                    <a:pt x="314325" y="333375"/>
                  </a:lnTo>
                  <a:lnTo>
                    <a:pt x="647700" y="333375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32" name="Freeform 32"/>
            <p:cNvSpPr/>
            <p:nvPr/>
          </p:nvSpPr>
          <p:spPr>
            <a:xfrm>
              <a:off x="6219825" y="25908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33" name="Freeform 33"/>
            <p:cNvSpPr/>
            <p:nvPr/>
          </p:nvSpPr>
          <p:spPr>
            <a:xfrm>
              <a:off x="5638800" y="2638425"/>
              <a:ext cx="647700" cy="409575"/>
            </a:xfrm>
            <a:custGeom>
              <a:avLst/>
              <a:gdLst/>
              <a:ahLst/>
              <a:cxnLst/>
              <a:rect l="l" t="t" r="r" b="b"/>
              <a:pathLst>
                <a:path w="647700" h="409575">
                  <a:moveTo>
                    <a:pt x="0" y="409575"/>
                  </a:moveTo>
                  <a:lnTo>
                    <a:pt x="314325" y="409575"/>
                  </a:lnTo>
                  <a:lnTo>
                    <a:pt x="314325" y="0"/>
                  </a:lnTo>
                  <a:lnTo>
                    <a:pt x="647700" y="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34" name="Freeform 34"/>
            <p:cNvSpPr/>
            <p:nvPr/>
          </p:nvSpPr>
          <p:spPr>
            <a:xfrm>
              <a:off x="6219825" y="25908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35" name="Freeform 35"/>
            <p:cNvSpPr/>
            <p:nvPr/>
          </p:nvSpPr>
          <p:spPr>
            <a:xfrm>
              <a:off x="8934450" y="2638425"/>
              <a:ext cx="266700" cy="9525"/>
            </a:xfrm>
            <a:custGeom>
              <a:avLst/>
              <a:gdLst/>
              <a:ahLst/>
              <a:cxnLst/>
              <a:rect l="l" t="t" r="r" b="b"/>
              <a:pathLst>
                <a:path w="266700" h="9525">
                  <a:moveTo>
                    <a:pt x="0" y="0"/>
                  </a:moveTo>
                  <a:lnTo>
                    <a:pt x="266700" y="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36" name="Freeform 36"/>
            <p:cNvSpPr/>
            <p:nvPr/>
          </p:nvSpPr>
          <p:spPr>
            <a:xfrm>
              <a:off x="9134475" y="25908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37" name="Rectangle 37"/>
            <p:cNvSpPr/>
            <p:nvPr/>
          </p:nvSpPr>
          <p:spPr>
            <a:xfrm>
              <a:off x="152400" y="4038600"/>
              <a:ext cx="8001000" cy="1771650"/>
            </a:xfrm>
            <a:prstGeom prst="roundRect">
              <a:avLst>
                <a:gd name="adj" fmla="val 4301"/>
              </a:avLst>
            </a:prstGeom>
            <a:solidFill>
              <a:schemeClr val="accent3"/>
            </a:solidFill>
            <a:ln w="9525">
              <a:solidFill>
                <a:schemeClr val="accent6"/>
              </a:solidFill>
            </a:ln>
          </p:spPr>
        </p:sp>
        <p:pic>
          <p:nvPicPr>
            <p:cNvPr id="38" name="Image 38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23850" y="4095750"/>
              <a:ext cx="342900" cy="342900"/>
            </a:xfrm>
            <a:prstGeom prst="rect">
              <a:avLst/>
            </a:prstGeom>
          </p:spPr>
        </p:pic>
        <p:sp>
          <p:nvSpPr>
            <p:cNvPr id="39" name="TextBox 39"/>
            <p:cNvSpPr txBox="1"/>
            <p:nvPr/>
          </p:nvSpPr>
          <p:spPr>
            <a:xfrm>
              <a:off x="752856" y="4127500"/>
              <a:ext cx="280520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00" b="1" dirty="0">
                  <a:solidFill>
                    <a:schemeClr val="accent1"/>
                  </a:solidFill>
                  <a:latin typeface="Microsoft JhengHei"/>
                  <a:ea typeface="Microsoft JhengHei"/>
                  <a:cs typeface="Microsoft JhengHei"/>
                </a:rPr>
                <a:t>c 任務導向檢索與 AI 稽核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381000" y="4591050"/>
              <a:ext cx="1809750" cy="781050"/>
            </a:xfrm>
            <a:prstGeom prst="roundRect">
              <a:avLst>
                <a:gd name="adj" fmla="val 9756"/>
              </a:avLst>
            </a:prstGeom>
            <a:solidFill>
              <a:schemeClr val="lt1"/>
            </a:solidFill>
            <a:ln w="9525">
              <a:solidFill>
                <a:schemeClr val="accent6"/>
              </a:solidFill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505968" y="4711700"/>
              <a:ext cx="158217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650" b="1" dirty="0">
                  <a:solidFill>
                    <a:schemeClr val="dk1"/>
                  </a:solidFill>
                  <a:latin typeface="Microsoft JhengHei"/>
                  <a:ea typeface="Microsoft JhengHei"/>
                  <a:cs typeface="Microsoft JhengHei"/>
                </a:rPr>
                <a:t>529 維任務向量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506730" y="5019675"/>
              <a:ext cx="91973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dirty="0">
                  <a:solidFill>
                    <a:schemeClr val="dk1"/>
                  </a:solidFill>
                  <a:latin typeface="Microsoft JhengHei"/>
                  <a:ea typeface="Microsoft JhengHei"/>
                  <a:cs typeface="Microsoft JhengHei"/>
                </a:rPr>
                <a:t>L2 正規化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2476500" y="4591050"/>
              <a:ext cx="2324100" cy="781050"/>
            </a:xfrm>
            <a:prstGeom prst="roundRect">
              <a:avLst>
                <a:gd name="adj" fmla="val 9756"/>
              </a:avLst>
            </a:prstGeom>
            <a:solidFill>
              <a:schemeClr val="lt1"/>
            </a:solidFill>
            <a:ln w="9525">
              <a:solidFill>
                <a:schemeClr val="accent6"/>
              </a:solidFill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2601468" y="4711700"/>
              <a:ext cx="163002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650" b="1" dirty="0">
                  <a:solidFill>
                    <a:schemeClr val="dk1"/>
                  </a:solidFill>
                  <a:latin typeface="Microsoft JhengHei"/>
                  <a:ea typeface="Microsoft JhengHei"/>
                  <a:cs typeface="Microsoft JhengHei"/>
                </a:rPr>
                <a:t>Top-5 相似案例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2602230" y="5019675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dirty="0">
                  <a:solidFill>
                    <a:schemeClr val="dk1"/>
                  </a:solidFill>
                  <a:latin typeface="Microsoft JhengHei"/>
                  <a:ea typeface="Microsoft JhengHei"/>
                  <a:cs typeface="Microsoft JhengHei"/>
                </a:rPr>
                <a:t>僅訓練資料案例庫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5143500" y="4591050"/>
              <a:ext cx="2781300" cy="781050"/>
            </a:xfrm>
            <a:prstGeom prst="roundRect">
              <a:avLst>
                <a:gd name="adj" fmla="val 9756"/>
              </a:avLst>
            </a:prstGeom>
            <a:solidFill>
              <a:schemeClr val="lt1"/>
            </a:solidFill>
            <a:ln w="9525">
              <a:solidFill>
                <a:schemeClr val="accent6"/>
              </a:solidFill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5268468" y="4711700"/>
              <a:ext cx="126258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650" b="1" dirty="0">
                  <a:solidFill>
                    <a:schemeClr val="dk1"/>
                  </a:solidFill>
                  <a:latin typeface="Microsoft JhengHei"/>
                  <a:ea typeface="Microsoft JhengHei"/>
                  <a:cs typeface="Microsoft JhengHei"/>
                </a:rPr>
                <a:t>本機 AI 稽核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5269230" y="501967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dirty="0">
                  <a:solidFill>
                    <a:schemeClr val="dk1"/>
                  </a:solidFill>
                  <a:latin typeface="Microsoft JhengHei"/>
                  <a:ea typeface="Microsoft JhengHei"/>
                  <a:cs typeface="Microsoft JhengHei"/>
                </a:rPr>
                <a:t>支持／複核／不確定</a:t>
              </a:r>
            </a:p>
          </p:txBody>
        </p:sp>
        <p:sp>
          <p:nvSpPr>
            <p:cNvPr id="49" name="Freeform 49"/>
            <p:cNvSpPr/>
            <p:nvPr/>
          </p:nvSpPr>
          <p:spPr>
            <a:xfrm>
              <a:off x="47625" y="3067050"/>
              <a:ext cx="10467975" cy="1914525"/>
            </a:xfrm>
            <a:custGeom>
              <a:avLst/>
              <a:gdLst/>
              <a:ahLst/>
              <a:cxnLst/>
              <a:rect l="l" t="t" r="r" b="b"/>
              <a:pathLst>
                <a:path w="10467975" h="1914525">
                  <a:moveTo>
                    <a:pt x="10467975" y="0"/>
                  </a:moveTo>
                  <a:lnTo>
                    <a:pt x="10467975" y="657225"/>
                  </a:lnTo>
                  <a:lnTo>
                    <a:pt x="0" y="657225"/>
                  </a:lnTo>
                  <a:lnTo>
                    <a:pt x="0" y="1914525"/>
                  </a:lnTo>
                  <a:lnTo>
                    <a:pt x="333375" y="1914525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50" name="Freeform 50"/>
            <p:cNvSpPr/>
            <p:nvPr/>
          </p:nvSpPr>
          <p:spPr>
            <a:xfrm>
              <a:off x="314325" y="493395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4564380" y="3435350"/>
              <a:ext cx="268224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ja-JP" sz="1650" dirty="0">
                  <a:solidFill>
                    <a:schemeClr val="dk1"/>
                  </a:solidFill>
                  <a:latin typeface="Microsoft JhengHei"/>
                  <a:ea typeface="Microsoft JhengHei"/>
                  <a:cs typeface="Microsoft JhengHei"/>
                </a:rPr>
                <a:t>正式類別・信心・模型表徵</a:t>
              </a:r>
            </a:p>
          </p:txBody>
        </p:sp>
        <p:sp>
          <p:nvSpPr>
            <p:cNvPr id="52" name="Freeform 52"/>
            <p:cNvSpPr/>
            <p:nvPr/>
          </p:nvSpPr>
          <p:spPr>
            <a:xfrm>
              <a:off x="2190750" y="4981575"/>
              <a:ext cx="285750" cy="9525"/>
            </a:xfrm>
            <a:custGeom>
              <a:avLst/>
              <a:gdLst/>
              <a:ahLst/>
              <a:cxnLst/>
              <a:rect l="l" t="t" r="r" b="b"/>
              <a:pathLst>
                <a:path w="285750" h="9525">
                  <a:moveTo>
                    <a:pt x="0" y="0"/>
                  </a:moveTo>
                  <a:lnTo>
                    <a:pt x="285750" y="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53" name="Freeform 53"/>
            <p:cNvSpPr/>
            <p:nvPr/>
          </p:nvSpPr>
          <p:spPr>
            <a:xfrm>
              <a:off x="2409825" y="493395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54" name="Freeform 54"/>
            <p:cNvSpPr/>
            <p:nvPr/>
          </p:nvSpPr>
          <p:spPr>
            <a:xfrm>
              <a:off x="4800600" y="4981575"/>
              <a:ext cx="342900" cy="9525"/>
            </a:xfrm>
            <a:custGeom>
              <a:avLst/>
              <a:gdLst/>
              <a:ahLst/>
              <a:cxnLst/>
              <a:rect l="l" t="t" r="r" b="b"/>
              <a:pathLst>
                <a:path w="342900" h="9525">
                  <a:moveTo>
                    <a:pt x="0" y="0"/>
                  </a:moveTo>
                  <a:lnTo>
                    <a:pt x="342900" y="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55" name="Freeform 55"/>
            <p:cNvSpPr/>
            <p:nvPr/>
          </p:nvSpPr>
          <p:spPr>
            <a:xfrm>
              <a:off x="5076825" y="493395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3107055" y="5486400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00" dirty="0">
                  <a:solidFill>
                    <a:schemeClr val="accent5"/>
                  </a:solidFill>
                  <a:latin typeface="Microsoft JhengHei"/>
                  <a:ea typeface="Microsoft JhengHei"/>
                  <a:cs typeface="Microsoft JhengHei"/>
                </a:rPr>
                <a:t>訓練案例庫</a:t>
              </a:r>
            </a:p>
          </p:txBody>
        </p:sp>
        <p:sp>
          <p:nvSpPr>
            <p:cNvPr id="57" name="Freeform 57"/>
            <p:cNvSpPr/>
            <p:nvPr/>
          </p:nvSpPr>
          <p:spPr>
            <a:xfrm>
              <a:off x="3619500" y="5372100"/>
              <a:ext cx="9525" cy="114300"/>
            </a:xfrm>
            <a:custGeom>
              <a:avLst/>
              <a:gdLst/>
              <a:ahLst/>
              <a:cxnLst/>
              <a:rect l="l" t="t" r="r" b="b"/>
              <a:pathLst>
                <a:path w="9525" h="114300">
                  <a:moveTo>
                    <a:pt x="0" y="114300"/>
                  </a:moveTo>
                  <a:lnTo>
                    <a:pt x="0" y="0"/>
                  </a:lnTo>
                </a:path>
              </a:pathLst>
            </a:custGeom>
            <a:noFill/>
            <a:ln w="19050">
              <a:solidFill>
                <a:srgbClr val="6B6B6B"/>
              </a:solidFill>
              <a:custDash>
                <a:ds d="250000" sp="200000"/>
              </a:custDash>
            </a:ln>
          </p:spPr>
        </p:sp>
        <p:sp>
          <p:nvSpPr>
            <p:cNvPr id="58" name="Freeform 58"/>
            <p:cNvSpPr/>
            <p:nvPr/>
          </p:nvSpPr>
          <p:spPr>
            <a:xfrm>
              <a:off x="3571875" y="5372100"/>
              <a:ext cx="95250" cy="66675"/>
            </a:xfrm>
            <a:custGeom>
              <a:avLst/>
              <a:gdLst/>
              <a:ahLst/>
              <a:cxnLst/>
              <a:rect l="l" t="t" r="r" b="b"/>
              <a:pathLst>
                <a:path w="95250" h="66675">
                  <a:moveTo>
                    <a:pt x="0" y="66675"/>
                  </a:moveTo>
                  <a:lnTo>
                    <a:pt x="47625" y="0"/>
                  </a:lnTo>
                  <a:lnTo>
                    <a:pt x="95250" y="66675"/>
                  </a:lnTo>
                </a:path>
              </a:pathLst>
            </a:custGeom>
            <a:noFill/>
            <a:ln w="19050">
              <a:solidFill>
                <a:srgbClr val="6B6B6B"/>
              </a:solidFill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5269230" y="5486400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dirty="0">
                  <a:solidFill>
                    <a:schemeClr val="accent5"/>
                  </a:solidFill>
                  <a:latin typeface="Microsoft JhengHei"/>
                  <a:ea typeface="Microsoft JhengHei"/>
                  <a:cs typeface="Microsoft JhengHei"/>
                </a:rPr>
                <a:t>稽核保留正式分類</a:t>
              </a:r>
            </a:p>
          </p:txBody>
        </p:sp>
        <p:sp>
          <p:nvSpPr>
            <p:cNvPr id="60" name="Rectangle 60"/>
            <p:cNvSpPr/>
            <p:nvPr/>
          </p:nvSpPr>
          <p:spPr>
            <a:xfrm>
              <a:off x="8382000" y="4038600"/>
              <a:ext cx="3657600" cy="1771650"/>
            </a:xfrm>
            <a:prstGeom prst="roundRect">
              <a:avLst>
                <a:gd name="adj" fmla="val 4301"/>
              </a:avLst>
            </a:prstGeom>
            <a:solidFill>
              <a:schemeClr val="accent3"/>
            </a:solidFill>
            <a:ln w="9525">
              <a:solidFill>
                <a:schemeClr val="accent6"/>
              </a:solidFill>
            </a:ln>
          </p:spPr>
        </p:sp>
        <p:pic>
          <p:nvPicPr>
            <p:cNvPr id="61" name="Image 61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553450" y="4086225"/>
              <a:ext cx="342900" cy="342900"/>
            </a:xfrm>
            <a:prstGeom prst="rect">
              <a:avLst/>
            </a:prstGeom>
          </p:spPr>
        </p:pic>
        <p:sp>
          <p:nvSpPr>
            <p:cNvPr id="62" name="TextBox 62"/>
            <p:cNvSpPr txBox="1"/>
            <p:nvPr/>
          </p:nvSpPr>
          <p:spPr>
            <a:xfrm>
              <a:off x="8982456" y="4127500"/>
              <a:ext cx="193076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00" b="1" dirty="0">
                  <a:solidFill>
                    <a:schemeClr val="accent1"/>
                  </a:solidFill>
                  <a:latin typeface="Microsoft JhengHei"/>
                  <a:ea typeface="Microsoft JhengHei"/>
                  <a:cs typeface="Microsoft JhengHei"/>
                </a:rPr>
                <a:t>d 受控處置與回復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8601456" y="4603750"/>
              <a:ext cx="175084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00" dirty="0">
                  <a:solidFill>
                    <a:schemeClr val="dk1"/>
                  </a:solidFill>
                  <a:latin typeface="Microsoft JhengHei"/>
                  <a:ea typeface="Microsoft JhengHei"/>
                  <a:cs typeface="Microsoft JhengHei"/>
                </a:rPr>
                <a:t>策略檢查 → 套用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8601456" y="4956175"/>
              <a:ext cx="175084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00" dirty="0">
                  <a:solidFill>
                    <a:schemeClr val="dk1"/>
                  </a:solidFill>
                  <a:latin typeface="Microsoft JhengHei"/>
                  <a:ea typeface="Microsoft JhengHei"/>
                  <a:cs typeface="Microsoft JhengHei"/>
                </a:rPr>
                <a:t>讀回 → 到期撤銷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8602980" y="5457825"/>
              <a:ext cx="18629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dirty="0">
                  <a:solidFill>
                    <a:schemeClr val="accent5"/>
                  </a:solidFill>
                  <a:latin typeface="Microsoft JhengHei"/>
                  <a:ea typeface="Microsoft JhengHei"/>
                  <a:cs typeface="Microsoft JhengHei"/>
                </a:rPr>
                <a:t>複核／不確定 → 蒐證</a:t>
              </a:r>
            </a:p>
          </p:txBody>
        </p:sp>
        <p:sp>
          <p:nvSpPr>
            <p:cNvPr id="66" name="Freeform 66"/>
            <p:cNvSpPr/>
            <p:nvPr/>
          </p:nvSpPr>
          <p:spPr>
            <a:xfrm>
              <a:off x="7924800" y="4981575"/>
              <a:ext cx="457200" cy="9525"/>
            </a:xfrm>
            <a:custGeom>
              <a:avLst/>
              <a:gdLst/>
              <a:ahLst/>
              <a:cxnLst/>
              <a:rect l="l" t="t" r="r" b="b"/>
              <a:pathLst>
                <a:path w="457200" h="9525">
                  <a:moveTo>
                    <a:pt x="0" y="0"/>
                  </a:moveTo>
                  <a:lnTo>
                    <a:pt x="457200" y="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67" name="Freeform 67"/>
            <p:cNvSpPr/>
            <p:nvPr/>
          </p:nvSpPr>
          <p:spPr>
            <a:xfrm>
              <a:off x="8315325" y="493395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68" name="Rectangle 68"/>
            <p:cNvSpPr/>
            <p:nvPr/>
          </p:nvSpPr>
          <p:spPr>
            <a:xfrm>
              <a:off x="152400" y="5962650"/>
              <a:ext cx="11887200" cy="361950"/>
            </a:xfrm>
            <a:prstGeom prst="roundRect">
              <a:avLst>
                <a:gd name="adj" fmla="val 21053"/>
              </a:avLst>
            </a:prstGeom>
            <a:solidFill>
              <a:schemeClr val="accent3"/>
            </a:solidFill>
            <a:ln w="9525">
              <a:solidFill>
                <a:schemeClr val="accent6"/>
              </a:solidFill>
            </a:ln>
          </p:spPr>
        </p:sp>
        <p:sp>
          <p:nvSpPr>
            <p:cNvPr id="69" name="TextBox 69"/>
            <p:cNvSpPr txBox="1"/>
            <p:nvPr/>
          </p:nvSpPr>
          <p:spPr>
            <a:xfrm>
              <a:off x="2918174" y="6007100"/>
              <a:ext cx="635565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650" dirty="0">
                  <a:solidFill>
                    <a:schemeClr val="dk1"/>
                  </a:solidFill>
                  <a:latin typeface="Microsoft JhengHei"/>
                  <a:ea typeface="Microsoft JhengHei"/>
                  <a:cs typeface="Microsoft JhengHei"/>
                </a:rPr>
                <a:t>共用事件 ID：正式判定｜Top-5 證據｜AI 稽核｜處置與回復回條</a:t>
              </a:r>
            </a:p>
          </p:txBody>
        </p:sp>
      </p:grpSp>
      <p:grpSp>
        <p:nvGrpSpPr>
          <p:cNvPr id="73" name="footer"/>
          <p:cNvGrpSpPr/>
          <p:nvPr/>
        </p:nvGrpSpPr>
        <p:grpSpPr>
          <a:xfrm>
            <a:off x="604266" y="6416675"/>
            <a:ext cx="10983468" cy="205359"/>
            <a:chOff x="604266" y="6416675"/>
            <a:chExt cx="10983468" cy="205359"/>
          </a:xfrm>
        </p:grpSpPr>
        <p:sp>
          <p:nvSpPr>
            <p:cNvPr id="71" name="TextBox 71"/>
            <p:cNvSpPr txBox="1"/>
            <p:nvPr/>
          </p:nvSpPr>
          <p:spPr>
            <a:xfrm>
              <a:off x="604266" y="6416675"/>
              <a:ext cx="161713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050" dirty="0">
                  <a:solidFill>
                    <a:schemeClr val="accent5"/>
                  </a:solidFill>
                  <a:latin typeface="Microsoft JhengHei"/>
                  <a:ea typeface="Microsoft JhengHei"/>
                  <a:cs typeface="Microsoft JhengHei"/>
                </a:rPr>
                <a:t>AI 資安框架 · 資安技術組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11103540" y="6416675"/>
              <a:ext cx="484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050" dirty="0">
                  <a:solidFill>
                    <a:schemeClr val="accent5"/>
                  </a:solidFill>
                  <a:latin typeface="Microsoft JhengHei"/>
                  <a:ea typeface="Microsoft JhengHei"/>
                  <a:cs typeface="Microsoft JhengHei"/>
                </a:rPr>
                <a:t>02 / 09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headline"/>
          <p:cNvGrpSpPr/>
          <p:nvPr/>
        </p:nvGrpSpPr>
        <p:grpSpPr>
          <a:xfrm>
            <a:off x="593598" y="381000"/>
            <a:ext cx="5120640" cy="946277"/>
            <a:chOff x="593598" y="381000"/>
            <a:chExt cx="5120640" cy="946277"/>
          </a:xfrm>
        </p:grpSpPr>
        <p:sp>
          <p:nvSpPr>
            <p:cNvPr id="2" name="TextBox 2"/>
            <p:cNvSpPr txBox="1"/>
            <p:nvPr/>
          </p:nvSpPr>
          <p:spPr>
            <a:xfrm>
              <a:off x="603504" y="381000"/>
              <a:ext cx="89038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chemeClr val="accent1"/>
                  </a:solidFill>
                  <a:latin typeface="Microsoft JhengHei"/>
                  <a:ea typeface="Microsoft JhengHei"/>
                  <a:cs typeface="Microsoft JhengHei"/>
                </a:rPr>
                <a:t>DETECTION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3598" y="711200"/>
              <a:ext cx="5120640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150" dirty="0">
                  <a:solidFill>
                    <a:srgbClr val="121314"/>
                  </a:solidFill>
                  <a:latin typeface="Microsoft JhengHei"/>
                  <a:ea typeface="Microsoft JhengHei"/>
                  <a:cs typeface="Microsoft JhengHei"/>
                </a:rPr>
                <a:t>互補模型，形成同一次判定</a:t>
              </a:r>
            </a:p>
          </p:txBody>
        </p:sp>
      </p:grpSp>
      <p:grpSp>
        <p:nvGrpSpPr>
          <p:cNvPr id="49" name="page-content"/>
          <p:cNvGrpSpPr/>
          <p:nvPr/>
        </p:nvGrpSpPr>
        <p:grpSpPr>
          <a:xfrm>
            <a:off x="609600" y="1809750"/>
            <a:ext cx="10972800" cy="4181475"/>
            <a:chOff x="609600" y="1809750"/>
            <a:chExt cx="10972800" cy="4181475"/>
          </a:xfrm>
        </p:grpSpPr>
        <p:sp>
          <p:nvSpPr>
            <p:cNvPr id="5" name="Rectangle 5"/>
            <p:cNvSpPr/>
            <p:nvPr/>
          </p:nvSpPr>
          <p:spPr>
            <a:xfrm>
              <a:off x="609600" y="1809750"/>
              <a:ext cx="2095500" cy="3333750"/>
            </a:xfrm>
            <a:prstGeom prst="roundRect">
              <a:avLst>
                <a:gd name="adj" fmla="val 3636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809244" y="1968500"/>
              <a:ext cx="1594866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950" b="1" dirty="0">
                  <a:solidFill>
                    <a:schemeClr val="accent1"/>
                  </a:solidFill>
                  <a:latin typeface="Microsoft JhengHei"/>
                  <a:ea typeface="Microsoft JhengHei"/>
                  <a:cs typeface="Microsoft JhengHei"/>
                </a:rPr>
                <a:t>同一流量輸入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810006" y="2565400"/>
              <a:ext cx="98755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00" dirty="0">
                  <a:solidFill>
                    <a:schemeClr val="dk1"/>
                  </a:solidFill>
                  <a:latin typeface="Microsoft JhengHei"/>
                  <a:ea typeface="Microsoft JhengHei"/>
                  <a:cs typeface="Microsoft JhengHei"/>
                </a:rPr>
                <a:t>封包內容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1866900" y="2552700"/>
              <a:ext cx="628650" cy="285750"/>
            </a:xfrm>
            <a:prstGeom prst="roundRect">
              <a:avLst>
                <a:gd name="adj" fmla="val 13333"/>
              </a:avLst>
            </a:prstGeom>
            <a:solidFill>
              <a:srgbClr val="E2EDF8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1924050" y="2609850"/>
              <a:ext cx="66675" cy="171450"/>
            </a:xfrm>
            <a:prstGeom prst="roundRect">
              <a:avLst>
                <a:gd name="adj" fmla="val 14286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0" name="Rectangle 10"/>
            <p:cNvSpPr/>
            <p:nvPr/>
          </p:nvSpPr>
          <p:spPr>
            <a:xfrm>
              <a:off x="2047875" y="2609850"/>
              <a:ext cx="66675" cy="171450"/>
            </a:xfrm>
            <a:prstGeom prst="roundRect">
              <a:avLst>
                <a:gd name="adj" fmla="val 14286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2171700" y="2609850"/>
              <a:ext cx="66675" cy="171450"/>
            </a:xfrm>
            <a:prstGeom prst="roundRect">
              <a:avLst>
                <a:gd name="adj" fmla="val 14286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2" name="Rectangle 12"/>
            <p:cNvSpPr/>
            <p:nvPr/>
          </p:nvSpPr>
          <p:spPr>
            <a:xfrm>
              <a:off x="2295525" y="2609850"/>
              <a:ext cx="66675" cy="171450"/>
            </a:xfrm>
            <a:prstGeom prst="roundRect">
              <a:avLst>
                <a:gd name="adj" fmla="val 14286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810006" y="3346450"/>
              <a:ext cx="74523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00" dirty="0">
                  <a:solidFill>
                    <a:schemeClr val="dk1"/>
                  </a:solidFill>
                  <a:latin typeface="Microsoft JhengHei"/>
                  <a:ea typeface="Microsoft JhengHei"/>
                  <a:cs typeface="Microsoft JhengHei"/>
                </a:rPr>
                <a:t>時間差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1866900" y="3333750"/>
              <a:ext cx="628650" cy="285750"/>
            </a:xfrm>
            <a:prstGeom prst="roundRect">
              <a:avLst>
                <a:gd name="adj" fmla="val 13333"/>
              </a:avLst>
            </a:prstGeom>
            <a:solidFill>
              <a:srgbClr val="E2EDF8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1924050" y="3390900"/>
              <a:ext cx="66675" cy="76200"/>
            </a:xfrm>
            <a:prstGeom prst="roundRect">
              <a:avLst>
                <a:gd name="adj" fmla="val 14286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6" name="Rectangle 16"/>
            <p:cNvSpPr/>
            <p:nvPr/>
          </p:nvSpPr>
          <p:spPr>
            <a:xfrm>
              <a:off x="2047875" y="3390900"/>
              <a:ext cx="66675" cy="104775"/>
            </a:xfrm>
            <a:prstGeom prst="roundRect">
              <a:avLst>
                <a:gd name="adj" fmla="val 14286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2171700" y="3390900"/>
              <a:ext cx="66675" cy="133350"/>
            </a:xfrm>
            <a:prstGeom prst="roundRect">
              <a:avLst>
                <a:gd name="adj" fmla="val 14286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2295525" y="3390900"/>
              <a:ext cx="66675" cy="161925"/>
            </a:xfrm>
            <a:prstGeom prst="roundRect">
              <a:avLst>
                <a:gd name="adj" fmla="val 14286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810006" y="4127500"/>
              <a:ext cx="50292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00" dirty="0">
                  <a:solidFill>
                    <a:schemeClr val="dk1"/>
                  </a:solidFill>
                  <a:latin typeface="Microsoft JhengHei"/>
                  <a:ea typeface="Microsoft JhengHei"/>
                  <a:cs typeface="Microsoft JhengHei"/>
                </a:rPr>
                <a:t>方向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1866900" y="4114800"/>
              <a:ext cx="628650" cy="285750"/>
            </a:xfrm>
            <a:prstGeom prst="roundRect">
              <a:avLst>
                <a:gd name="adj" fmla="val 13333"/>
              </a:avLst>
            </a:prstGeom>
            <a:solidFill>
              <a:srgbClr val="E2EDF8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1924050" y="4171950"/>
              <a:ext cx="66675" cy="171450"/>
            </a:xfrm>
            <a:prstGeom prst="roundRect">
              <a:avLst>
                <a:gd name="adj" fmla="val 14286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2047875" y="4171950"/>
              <a:ext cx="66675" cy="171450"/>
            </a:xfrm>
            <a:prstGeom prst="roundRect">
              <a:avLst>
                <a:gd name="adj" fmla="val 14286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2171700" y="4171950"/>
              <a:ext cx="66675" cy="171450"/>
            </a:xfrm>
            <a:prstGeom prst="roundRect">
              <a:avLst>
                <a:gd name="adj" fmla="val 14286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2295525" y="4171950"/>
              <a:ext cx="66675" cy="171450"/>
            </a:xfrm>
            <a:prstGeom prst="roundRect">
              <a:avLst>
                <a:gd name="adj" fmla="val 14286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5" name="Freeform 25"/>
            <p:cNvSpPr/>
            <p:nvPr/>
          </p:nvSpPr>
          <p:spPr>
            <a:xfrm>
              <a:off x="2705100" y="2571750"/>
              <a:ext cx="819150" cy="904875"/>
            </a:xfrm>
            <a:custGeom>
              <a:avLst/>
              <a:gdLst/>
              <a:ahLst/>
              <a:cxnLst/>
              <a:rect l="l" t="t" r="r" b="b"/>
              <a:pathLst>
                <a:path w="819150" h="904875">
                  <a:moveTo>
                    <a:pt x="0" y="904875"/>
                  </a:moveTo>
                  <a:lnTo>
                    <a:pt x="419100" y="904875"/>
                  </a:lnTo>
                  <a:lnTo>
                    <a:pt x="419100" y="0"/>
                  </a:lnTo>
                  <a:lnTo>
                    <a:pt x="8191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26" name="Freeform 26"/>
            <p:cNvSpPr/>
            <p:nvPr/>
          </p:nvSpPr>
          <p:spPr>
            <a:xfrm>
              <a:off x="3457575" y="2524125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27" name="Freeform 27"/>
            <p:cNvSpPr/>
            <p:nvPr/>
          </p:nvSpPr>
          <p:spPr>
            <a:xfrm>
              <a:off x="3124200" y="3476625"/>
              <a:ext cx="400050" cy="857250"/>
            </a:xfrm>
            <a:custGeom>
              <a:avLst/>
              <a:gdLst/>
              <a:ahLst/>
              <a:cxnLst/>
              <a:rect l="l" t="t" r="r" b="b"/>
              <a:pathLst>
                <a:path w="400050" h="857250">
                  <a:moveTo>
                    <a:pt x="0" y="0"/>
                  </a:moveTo>
                  <a:lnTo>
                    <a:pt x="0" y="857250"/>
                  </a:lnTo>
                  <a:lnTo>
                    <a:pt x="400050" y="857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28" name="Freeform 28"/>
            <p:cNvSpPr/>
            <p:nvPr/>
          </p:nvSpPr>
          <p:spPr>
            <a:xfrm>
              <a:off x="3457575" y="428625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3524250" y="1866900"/>
              <a:ext cx="3238500" cy="1409700"/>
            </a:xfrm>
            <a:prstGeom prst="roundRect">
              <a:avLst>
                <a:gd name="adj" fmla="val 5405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3740658" y="1993900"/>
              <a:ext cx="884652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400" b="1" dirty="0">
                  <a:solidFill>
                    <a:schemeClr val="accent1"/>
                  </a:solidFill>
                  <a:latin typeface="Microsoft JhengHei"/>
                  <a:ea typeface="Microsoft JhengHei"/>
                  <a:cs typeface="Microsoft JhengHei"/>
                </a:rPr>
                <a:t>CTBM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3743706" y="2508250"/>
              <a:ext cx="227182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00" dirty="0">
                  <a:solidFill>
                    <a:schemeClr val="dk1"/>
                  </a:solidFill>
                  <a:latin typeface="Microsoft JhengHei"/>
                  <a:ea typeface="Microsoft JhengHei"/>
                  <a:cs typeface="Microsoft JhengHei"/>
                </a:rPr>
                <a:t>內容 × 時間差 × 方向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3744849" y="2847975"/>
              <a:ext cx="19302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80" dirty="0">
                  <a:solidFill>
                    <a:schemeClr val="accent5"/>
                  </a:solidFill>
                  <a:latin typeface="Microsoft JhengHei"/>
                  <a:ea typeface="Microsoft JhengHei"/>
                  <a:cs typeface="Microsoft JhengHei"/>
                </a:rPr>
                <a:t>讀取流量的時序關係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3524250" y="3629025"/>
              <a:ext cx="3238500" cy="1409700"/>
            </a:xfrm>
            <a:prstGeom prst="roundRect">
              <a:avLst>
                <a:gd name="adj" fmla="val 5405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3740658" y="3756025"/>
              <a:ext cx="1010107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400" b="1" dirty="0">
                  <a:solidFill>
                    <a:schemeClr val="accent1"/>
                  </a:solidFill>
                  <a:latin typeface="Microsoft JhengHei"/>
                  <a:ea typeface="Microsoft JhengHei"/>
                  <a:cs typeface="Microsoft JhengHei"/>
                </a:rPr>
                <a:t>PBCNN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3743706" y="4270375"/>
              <a:ext cx="195681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00" dirty="0">
                  <a:solidFill>
                    <a:schemeClr val="dk1"/>
                  </a:solidFill>
                  <a:latin typeface="Microsoft JhengHei"/>
                  <a:ea typeface="Microsoft JhengHei"/>
                  <a:cs typeface="Microsoft JhengHei"/>
                </a:rPr>
                <a:t>短視窗位元組模式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3744849" y="4610100"/>
              <a:ext cx="17175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80" dirty="0">
                  <a:solidFill>
                    <a:schemeClr val="accent5"/>
                  </a:solidFill>
                  <a:latin typeface="Microsoft JhengHei"/>
                  <a:ea typeface="Microsoft JhengHei"/>
                  <a:cs typeface="Microsoft JhengHei"/>
                </a:rPr>
                <a:t>補充局部內容特徵</a:t>
              </a:r>
            </a:p>
          </p:txBody>
        </p:sp>
        <p:sp>
          <p:nvSpPr>
            <p:cNvPr id="37" name="Freeform 37"/>
            <p:cNvSpPr/>
            <p:nvPr/>
          </p:nvSpPr>
          <p:spPr>
            <a:xfrm>
              <a:off x="6762750" y="2571750"/>
              <a:ext cx="952500" cy="904875"/>
            </a:xfrm>
            <a:custGeom>
              <a:avLst/>
              <a:gdLst/>
              <a:ahLst/>
              <a:cxnLst/>
              <a:rect l="l" t="t" r="r" b="b"/>
              <a:pathLst>
                <a:path w="952500" h="904875">
                  <a:moveTo>
                    <a:pt x="0" y="0"/>
                  </a:moveTo>
                  <a:lnTo>
                    <a:pt x="476250" y="0"/>
                  </a:lnTo>
                  <a:lnTo>
                    <a:pt x="476250" y="904875"/>
                  </a:lnTo>
                  <a:lnTo>
                    <a:pt x="952500" y="904875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38" name="Freeform 38"/>
            <p:cNvSpPr/>
            <p:nvPr/>
          </p:nvSpPr>
          <p:spPr>
            <a:xfrm>
              <a:off x="7648575" y="34290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39" name="Freeform 39"/>
            <p:cNvSpPr/>
            <p:nvPr/>
          </p:nvSpPr>
          <p:spPr>
            <a:xfrm>
              <a:off x="6762750" y="3476625"/>
              <a:ext cx="476250" cy="857250"/>
            </a:xfrm>
            <a:custGeom>
              <a:avLst/>
              <a:gdLst/>
              <a:ahLst/>
              <a:cxnLst/>
              <a:rect l="l" t="t" r="r" b="b"/>
              <a:pathLst>
                <a:path w="476250" h="857250">
                  <a:moveTo>
                    <a:pt x="0" y="857250"/>
                  </a:moveTo>
                  <a:lnTo>
                    <a:pt x="476250" y="857250"/>
                  </a:lnTo>
                  <a:lnTo>
                    <a:pt x="4762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40" name="Freeform 40"/>
            <p:cNvSpPr/>
            <p:nvPr/>
          </p:nvSpPr>
          <p:spPr>
            <a:xfrm>
              <a:off x="7191375" y="3476625"/>
              <a:ext cx="95250" cy="66675"/>
            </a:xfrm>
            <a:custGeom>
              <a:avLst/>
              <a:gdLst/>
              <a:ahLst/>
              <a:cxnLst/>
              <a:rect l="l" t="t" r="r" b="b"/>
              <a:pathLst>
                <a:path w="95250" h="66675">
                  <a:moveTo>
                    <a:pt x="0" y="66675"/>
                  </a:moveTo>
                  <a:lnTo>
                    <a:pt x="47625" y="0"/>
                  </a:lnTo>
                  <a:lnTo>
                    <a:pt x="95250" y="66675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41" name="Rectangle 41"/>
            <p:cNvSpPr/>
            <p:nvPr/>
          </p:nvSpPr>
          <p:spPr>
            <a:xfrm>
              <a:off x="7715250" y="2600325"/>
              <a:ext cx="3867150" cy="1714500"/>
            </a:xfrm>
            <a:prstGeom prst="roundRect">
              <a:avLst>
                <a:gd name="adj" fmla="val 4444"/>
              </a:avLst>
            </a:prstGeom>
            <a:solidFill>
              <a:srgbClr val="EAF3FC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7941945" y="2768600"/>
              <a:ext cx="2425432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250" b="1" dirty="0">
                  <a:solidFill>
                    <a:schemeClr val="accent1"/>
                  </a:solidFill>
                  <a:latin typeface="Microsoft JhengHei"/>
                  <a:ea typeface="Microsoft JhengHei"/>
                  <a:cs typeface="Microsoft JhengHei"/>
                </a:rPr>
                <a:t>校準＋OOF Gate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7943850" y="3248025"/>
              <a:ext cx="1790649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80" dirty="0">
                  <a:solidFill>
                    <a:schemeClr val="dk1"/>
                  </a:solidFill>
                  <a:latin typeface="Microsoft JhengHei"/>
                  <a:ea typeface="Microsoft JhengHei"/>
                  <a:cs typeface="Microsoft JhengHei"/>
                </a:rPr>
                <a:t>依事件證據融合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7944612" y="3708400"/>
              <a:ext cx="210144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720" dirty="0">
                  <a:solidFill>
                    <a:schemeClr val="accent5"/>
                  </a:solidFill>
                  <a:latin typeface="Microsoft JhengHei"/>
                  <a:ea typeface="Microsoft JhengHei"/>
                  <a:cs typeface="Microsoft JhengHei"/>
                </a:rPr>
                <a:t>形成同一次正式判定</a:t>
              </a:r>
            </a:p>
          </p:txBody>
        </p:sp>
        <p:sp>
          <p:nvSpPr>
            <p:cNvPr id="45" name="Freeform 45"/>
            <p:cNvSpPr/>
            <p:nvPr/>
          </p:nvSpPr>
          <p:spPr>
            <a:xfrm>
              <a:off x="9648825" y="4314825"/>
              <a:ext cx="9525" cy="1066800"/>
            </a:xfrm>
            <a:custGeom>
              <a:avLst/>
              <a:gdLst/>
              <a:ahLst/>
              <a:cxnLst/>
              <a:rect l="l" t="t" r="r" b="b"/>
              <a:pathLst>
                <a:path w="9525" h="1066800">
                  <a:moveTo>
                    <a:pt x="0" y="0"/>
                  </a:moveTo>
                  <a:lnTo>
                    <a:pt x="0" y="106680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46" name="Freeform 46"/>
            <p:cNvSpPr/>
            <p:nvPr/>
          </p:nvSpPr>
          <p:spPr>
            <a:xfrm>
              <a:off x="9601200" y="5314950"/>
              <a:ext cx="95250" cy="66675"/>
            </a:xfrm>
            <a:custGeom>
              <a:avLst/>
              <a:gdLst/>
              <a:ahLst/>
              <a:cxnLst/>
              <a:rect l="l" t="t" r="r" b="b"/>
              <a:pathLst>
                <a:path w="95250" h="66675">
                  <a:moveTo>
                    <a:pt x="0" y="0"/>
                  </a:moveTo>
                  <a:lnTo>
                    <a:pt x="47625" y="66675"/>
                  </a:lnTo>
                  <a:lnTo>
                    <a:pt x="952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47" name="Rectangle 47"/>
            <p:cNvSpPr/>
            <p:nvPr/>
          </p:nvSpPr>
          <p:spPr>
            <a:xfrm>
              <a:off x="609600" y="5381625"/>
              <a:ext cx="10972800" cy="609600"/>
            </a:xfrm>
            <a:prstGeom prst="roundRect">
              <a:avLst>
                <a:gd name="adj" fmla="val 12500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828675" y="5534025"/>
              <a:ext cx="6029833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80" dirty="0">
                  <a:solidFill>
                    <a:schemeClr val="dk1"/>
                  </a:solidFill>
                  <a:latin typeface="Microsoft JhengHei"/>
                  <a:ea typeface="Microsoft JhengHei"/>
                  <a:cs typeface="Microsoft JhengHei"/>
                </a:rPr>
                <a:t>17 類判定 ＋ 校準信心 ＋ 模型表徵 → 後段檢索與稽核</a:t>
              </a:r>
            </a:p>
          </p:txBody>
        </p:sp>
      </p:grpSp>
      <p:grpSp>
        <p:nvGrpSpPr>
          <p:cNvPr id="52" name="footer"/>
          <p:cNvGrpSpPr/>
          <p:nvPr/>
        </p:nvGrpSpPr>
        <p:grpSpPr>
          <a:xfrm>
            <a:off x="604266" y="6416675"/>
            <a:ext cx="10983468" cy="205359"/>
            <a:chOff x="604266" y="6416675"/>
            <a:chExt cx="10983468" cy="205359"/>
          </a:xfrm>
        </p:grpSpPr>
        <p:sp>
          <p:nvSpPr>
            <p:cNvPr id="50" name="TextBox 50"/>
            <p:cNvSpPr txBox="1"/>
            <p:nvPr/>
          </p:nvSpPr>
          <p:spPr>
            <a:xfrm>
              <a:off x="604266" y="6416675"/>
              <a:ext cx="161713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050" dirty="0">
                  <a:solidFill>
                    <a:schemeClr val="accent5"/>
                  </a:solidFill>
                  <a:latin typeface="Microsoft JhengHei"/>
                  <a:ea typeface="Microsoft JhengHei"/>
                  <a:cs typeface="Microsoft JhengHei"/>
                </a:rPr>
                <a:t>AI 資安框架 · 資安技術組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11103540" y="6416675"/>
              <a:ext cx="484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050" dirty="0">
                  <a:solidFill>
                    <a:schemeClr val="accent5"/>
                  </a:solidFill>
                  <a:latin typeface="Microsoft JhengHei"/>
                  <a:ea typeface="Microsoft JhengHei"/>
                  <a:cs typeface="Microsoft JhengHei"/>
                </a:rPr>
                <a:t>03 / 09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headline"/>
          <p:cNvGrpSpPr/>
          <p:nvPr/>
        </p:nvGrpSpPr>
        <p:grpSpPr>
          <a:xfrm>
            <a:off x="593598" y="381000"/>
            <a:ext cx="5968746" cy="946277"/>
            <a:chOff x="593598" y="381000"/>
            <a:chExt cx="5968746" cy="946277"/>
          </a:xfrm>
        </p:grpSpPr>
        <p:sp>
          <p:nvSpPr>
            <p:cNvPr id="2" name="TextBox 2"/>
            <p:cNvSpPr txBox="1"/>
            <p:nvPr/>
          </p:nvSpPr>
          <p:spPr>
            <a:xfrm>
              <a:off x="603504" y="381000"/>
              <a:ext cx="75596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chemeClr val="accent1"/>
                  </a:solidFill>
                  <a:latin typeface="Microsoft JhengHei"/>
                  <a:ea typeface="Microsoft JhengHei"/>
                  <a:cs typeface="Microsoft JhengHei"/>
                </a:rPr>
                <a:t>EVIDENCE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3598" y="711200"/>
              <a:ext cx="5968746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150" dirty="0">
                  <a:solidFill>
                    <a:srgbClr val="121314"/>
                  </a:solidFill>
                  <a:latin typeface="Microsoft JhengHei"/>
                  <a:ea typeface="Microsoft JhengHei"/>
                  <a:cs typeface="Microsoft JhengHei"/>
                </a:rPr>
                <a:t>把偵測表徵，變成可核對的證據</a:t>
              </a:r>
            </a:p>
          </p:txBody>
        </p:sp>
      </p:grpSp>
      <p:grpSp>
        <p:nvGrpSpPr>
          <p:cNvPr id="57" name="page-content"/>
          <p:cNvGrpSpPr/>
          <p:nvPr/>
        </p:nvGrpSpPr>
        <p:grpSpPr>
          <a:xfrm>
            <a:off x="600456" y="1612900"/>
            <a:ext cx="10981944" cy="4504944"/>
            <a:chOff x="600456" y="1612900"/>
            <a:chExt cx="10981944" cy="4504944"/>
          </a:xfrm>
        </p:grpSpPr>
        <p:sp>
          <p:nvSpPr>
            <p:cNvPr id="5" name="TextBox 5"/>
            <p:cNvSpPr txBox="1"/>
            <p:nvPr/>
          </p:nvSpPr>
          <p:spPr>
            <a:xfrm>
              <a:off x="600837" y="1612900"/>
              <a:ext cx="174717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720" b="1" dirty="0">
                  <a:solidFill>
                    <a:schemeClr val="accent1"/>
                  </a:solidFill>
                  <a:latin typeface="Microsoft JhengHei"/>
                  <a:ea typeface="Microsoft JhengHei"/>
                  <a:cs typeface="Microsoft JhengHei"/>
                </a:rPr>
                <a:t>01 組合任務向量</a:t>
              </a:r>
            </a:p>
          </p:txBody>
        </p:sp>
        <p:sp>
          <p:nvSpPr>
            <p:cNvPr id="6" name="Rectangle 6"/>
            <p:cNvSpPr/>
            <p:nvPr/>
          </p:nvSpPr>
          <p:spPr>
            <a:xfrm>
              <a:off x="609600" y="2152650"/>
              <a:ext cx="2476500" cy="714375"/>
            </a:xfrm>
            <a:prstGeom prst="roundRect">
              <a:avLst>
                <a:gd name="adj" fmla="val 10667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996658" y="2374900"/>
              <a:ext cx="170238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800" dirty="0">
                  <a:solidFill>
                    <a:schemeClr val="dk1"/>
                  </a:solidFill>
                  <a:latin typeface="Microsoft JhengHei"/>
                  <a:ea typeface="Microsoft JhengHei"/>
                  <a:cs typeface="Microsoft JhengHei"/>
                </a:rPr>
                <a:t>512 維流量表徵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684972" y="2911475"/>
              <a:ext cx="325755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2250" b="1" dirty="0">
                  <a:solidFill>
                    <a:schemeClr val="accent1"/>
                  </a:solidFill>
                  <a:latin typeface="Microsoft JhengHei"/>
                  <a:ea typeface="Microsoft JhengHei"/>
                  <a:cs typeface="Microsoft JhengHei"/>
                </a:rPr>
                <a:t>＋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609600" y="3400425"/>
              <a:ext cx="2476500" cy="714375"/>
            </a:xfrm>
            <a:prstGeom prst="roundRect">
              <a:avLst>
                <a:gd name="adj" fmla="val 10667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063295" y="3622675"/>
              <a:ext cx="156911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800" dirty="0">
                  <a:solidFill>
                    <a:schemeClr val="dk1"/>
                  </a:solidFill>
                  <a:latin typeface="Microsoft JhengHei"/>
                  <a:ea typeface="Microsoft JhengHei"/>
                  <a:cs typeface="Microsoft JhengHei"/>
                </a:rPr>
                <a:t>17 維類別機率</a:t>
              </a:r>
            </a:p>
          </p:txBody>
        </p:sp>
        <p:sp>
          <p:nvSpPr>
            <p:cNvPr id="11" name="Freeform 11"/>
            <p:cNvSpPr/>
            <p:nvPr/>
          </p:nvSpPr>
          <p:spPr>
            <a:xfrm>
              <a:off x="1847850" y="2514600"/>
              <a:ext cx="1485900" cy="2038350"/>
            </a:xfrm>
            <a:custGeom>
              <a:avLst/>
              <a:gdLst/>
              <a:ahLst/>
              <a:cxnLst/>
              <a:rect l="l" t="t" r="r" b="b"/>
              <a:pathLst>
                <a:path w="1485900" h="2038350">
                  <a:moveTo>
                    <a:pt x="1238250" y="0"/>
                  </a:moveTo>
                  <a:lnTo>
                    <a:pt x="1485900" y="0"/>
                  </a:lnTo>
                  <a:lnTo>
                    <a:pt x="1485900" y="1866900"/>
                  </a:lnTo>
                  <a:lnTo>
                    <a:pt x="0" y="1866900"/>
                  </a:lnTo>
                  <a:lnTo>
                    <a:pt x="0" y="20383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1800225" y="4486275"/>
              <a:ext cx="95250" cy="66675"/>
            </a:xfrm>
            <a:custGeom>
              <a:avLst/>
              <a:gdLst/>
              <a:ahLst/>
              <a:cxnLst/>
              <a:rect l="l" t="t" r="r" b="b"/>
              <a:pathLst>
                <a:path w="95250" h="66675">
                  <a:moveTo>
                    <a:pt x="0" y="0"/>
                  </a:moveTo>
                  <a:lnTo>
                    <a:pt x="47625" y="66675"/>
                  </a:lnTo>
                  <a:lnTo>
                    <a:pt x="952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13" name="Freeform 13"/>
            <p:cNvSpPr/>
            <p:nvPr/>
          </p:nvSpPr>
          <p:spPr>
            <a:xfrm>
              <a:off x="1847850" y="4114800"/>
              <a:ext cx="9525" cy="438150"/>
            </a:xfrm>
            <a:custGeom>
              <a:avLst/>
              <a:gdLst/>
              <a:ahLst/>
              <a:cxnLst/>
              <a:rect l="l" t="t" r="r" b="b"/>
              <a:pathLst>
                <a:path w="9525" h="438150">
                  <a:moveTo>
                    <a:pt x="0" y="0"/>
                  </a:moveTo>
                  <a:lnTo>
                    <a:pt x="0" y="4381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1800225" y="4486275"/>
              <a:ext cx="95250" cy="66675"/>
            </a:xfrm>
            <a:custGeom>
              <a:avLst/>
              <a:gdLst/>
              <a:ahLst/>
              <a:cxnLst/>
              <a:rect l="l" t="t" r="r" b="b"/>
              <a:pathLst>
                <a:path w="95250" h="66675">
                  <a:moveTo>
                    <a:pt x="0" y="0"/>
                  </a:moveTo>
                  <a:lnTo>
                    <a:pt x="47625" y="66675"/>
                  </a:lnTo>
                  <a:lnTo>
                    <a:pt x="952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609600" y="4552950"/>
              <a:ext cx="2476500" cy="933450"/>
            </a:xfrm>
            <a:prstGeom prst="roundRect">
              <a:avLst>
                <a:gd name="adj" fmla="val 8163"/>
              </a:avLst>
            </a:prstGeom>
            <a:solidFill>
              <a:srgbClr val="EAF3FC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12928" y="4721225"/>
              <a:ext cx="1869844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950" b="1" dirty="0">
                  <a:solidFill>
                    <a:schemeClr val="accent1"/>
                  </a:solidFill>
                  <a:latin typeface="Microsoft JhengHei"/>
                  <a:ea typeface="Microsoft JhengHei"/>
                  <a:cs typeface="Microsoft JhengHei"/>
                </a:rPr>
                <a:t>529 維任務向量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63482" y="5105400"/>
              <a:ext cx="968736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80" dirty="0">
                  <a:solidFill>
                    <a:schemeClr val="accent5"/>
                  </a:solidFill>
                  <a:latin typeface="Microsoft JhengHei"/>
                  <a:ea typeface="Microsoft JhengHei"/>
                  <a:cs typeface="Microsoft JhengHei"/>
                </a:rPr>
                <a:t>L2 正規化</a:t>
              </a:r>
            </a:p>
          </p:txBody>
        </p:sp>
        <p:sp>
          <p:nvSpPr>
            <p:cNvPr id="18" name="Freeform 18"/>
            <p:cNvSpPr/>
            <p:nvPr/>
          </p:nvSpPr>
          <p:spPr>
            <a:xfrm>
              <a:off x="3086100" y="3076575"/>
              <a:ext cx="1009650" cy="1943100"/>
            </a:xfrm>
            <a:custGeom>
              <a:avLst/>
              <a:gdLst/>
              <a:ahLst/>
              <a:cxnLst/>
              <a:rect l="l" t="t" r="r" b="b"/>
              <a:pathLst>
                <a:path w="1009650" h="1943100">
                  <a:moveTo>
                    <a:pt x="0" y="1943100"/>
                  </a:moveTo>
                  <a:lnTo>
                    <a:pt x="628650" y="1943100"/>
                  </a:lnTo>
                  <a:lnTo>
                    <a:pt x="628650" y="0"/>
                  </a:lnTo>
                  <a:lnTo>
                    <a:pt x="10096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19" name="Freeform 19"/>
            <p:cNvSpPr/>
            <p:nvPr/>
          </p:nvSpPr>
          <p:spPr>
            <a:xfrm>
              <a:off x="4029075" y="302895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086987" y="1612900"/>
              <a:ext cx="174717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720" b="1" dirty="0">
                  <a:solidFill>
                    <a:schemeClr val="accent1"/>
                  </a:solidFill>
                  <a:latin typeface="Microsoft JhengHei"/>
                  <a:ea typeface="Microsoft JhengHei"/>
                  <a:cs typeface="Microsoft JhengHei"/>
                </a:rPr>
                <a:t>02 找出相似案例</a:t>
              </a:r>
            </a:p>
          </p:txBody>
        </p:sp>
        <p:pic>
          <p:nvPicPr>
            <p:cNvPr id="21" name="Image 21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229100" y="2028825"/>
              <a:ext cx="1285875" cy="1285875"/>
            </a:xfrm>
            <a:prstGeom prst="rect">
              <a:avLst/>
            </a:prstGeom>
          </p:spPr>
        </p:pic>
        <p:sp>
          <p:nvSpPr>
            <p:cNvPr id="22" name="TextBox 22"/>
            <p:cNvSpPr txBox="1"/>
            <p:nvPr/>
          </p:nvSpPr>
          <p:spPr>
            <a:xfrm>
              <a:off x="5762625" y="2143125"/>
              <a:ext cx="1284478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80" dirty="0">
                  <a:solidFill>
                    <a:schemeClr val="dk1"/>
                  </a:solidFill>
                  <a:latin typeface="Microsoft JhengHei"/>
                  <a:ea typeface="Microsoft JhengHei"/>
                  <a:cs typeface="Microsoft JhengHei"/>
                </a:rPr>
                <a:t>訓練案例庫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5763768" y="2520950"/>
              <a:ext cx="136060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650" dirty="0">
                  <a:solidFill>
                    <a:schemeClr val="accent5"/>
                  </a:solidFill>
                  <a:latin typeface="Microsoft JhengHei"/>
                  <a:ea typeface="Microsoft JhengHei"/>
                  <a:cs typeface="Microsoft JhengHei"/>
                </a:rPr>
                <a:t>1,550 筆案例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4095750" y="3714750"/>
              <a:ext cx="533400" cy="857250"/>
            </a:xfrm>
            <a:prstGeom prst="roundRect">
              <a:avLst>
                <a:gd name="adj" fmla="val 7143"/>
              </a:avLst>
            </a:prstGeom>
            <a:solidFill>
              <a:srgbClr val="EAF3FC"/>
            </a:solidFill>
            <a:ln w="9525">
              <a:solidFill>
                <a:schemeClr val="accent1"/>
              </a:solidFill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283337" y="4013200"/>
              <a:ext cx="15822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800" b="1" dirty="0">
                  <a:solidFill>
                    <a:schemeClr val="accent1"/>
                  </a:solidFill>
                  <a:latin typeface="Microsoft JhengHei"/>
                  <a:ea typeface="Microsoft JhengHei"/>
                  <a:cs typeface="Microsoft JhengHei"/>
                </a:rPr>
                <a:t>1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4724400" y="3714750"/>
              <a:ext cx="533400" cy="857250"/>
            </a:xfrm>
            <a:prstGeom prst="roundRect">
              <a:avLst>
                <a:gd name="adj" fmla="val 7143"/>
              </a:avLst>
            </a:prstGeom>
            <a:solidFill>
              <a:srgbClr val="EAF3FC"/>
            </a:solidFill>
            <a:ln w="9525">
              <a:solidFill>
                <a:schemeClr val="accent1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911987" y="4013200"/>
              <a:ext cx="15822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800" b="1" dirty="0">
                  <a:solidFill>
                    <a:schemeClr val="accent1"/>
                  </a:solidFill>
                  <a:latin typeface="Microsoft JhengHei"/>
                  <a:ea typeface="Microsoft JhengHei"/>
                  <a:cs typeface="Microsoft JhengHei"/>
                </a:rPr>
                <a:t>2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5353050" y="3714750"/>
              <a:ext cx="533400" cy="857250"/>
            </a:xfrm>
            <a:prstGeom prst="roundRect">
              <a:avLst>
                <a:gd name="adj" fmla="val 7143"/>
              </a:avLst>
            </a:prstGeom>
            <a:solidFill>
              <a:srgbClr val="EAF3FC"/>
            </a:solidFill>
            <a:ln w="9525">
              <a:solidFill>
                <a:schemeClr val="accent1"/>
              </a:solidFill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5540637" y="4013200"/>
              <a:ext cx="15822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800" b="1" dirty="0">
                  <a:solidFill>
                    <a:schemeClr val="accent1"/>
                  </a:solidFill>
                  <a:latin typeface="Microsoft JhengHei"/>
                  <a:ea typeface="Microsoft JhengHei"/>
                  <a:cs typeface="Microsoft JhengHei"/>
                </a:rPr>
                <a:t>3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5981700" y="3714750"/>
              <a:ext cx="533400" cy="857250"/>
            </a:xfrm>
            <a:prstGeom prst="roundRect">
              <a:avLst>
                <a:gd name="adj" fmla="val 7143"/>
              </a:avLst>
            </a:prstGeom>
            <a:solidFill>
              <a:srgbClr val="EAF3FC"/>
            </a:solidFill>
            <a:ln w="9525">
              <a:solidFill>
                <a:schemeClr val="accent1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169287" y="4013200"/>
              <a:ext cx="15822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800" b="1" dirty="0">
                  <a:solidFill>
                    <a:schemeClr val="accent1"/>
                  </a:solidFill>
                  <a:latin typeface="Microsoft JhengHei"/>
                  <a:ea typeface="Microsoft JhengHei"/>
                  <a:cs typeface="Microsoft JhengHei"/>
                </a:rPr>
                <a:t>4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6610350" y="3714750"/>
              <a:ext cx="533400" cy="857250"/>
            </a:xfrm>
            <a:prstGeom prst="roundRect">
              <a:avLst>
                <a:gd name="adj" fmla="val 7143"/>
              </a:avLst>
            </a:prstGeom>
            <a:solidFill>
              <a:srgbClr val="EAF3FC"/>
            </a:solidFill>
            <a:ln w="9525">
              <a:solidFill>
                <a:schemeClr val="accent1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797937" y="4013200"/>
              <a:ext cx="15822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800" b="1" dirty="0">
                  <a:solidFill>
                    <a:schemeClr val="accent1"/>
                  </a:solidFill>
                  <a:latin typeface="Microsoft JhengHei"/>
                  <a:ea typeface="Microsoft JhengHei"/>
                  <a:cs typeface="Microsoft JhengHei"/>
                </a:rPr>
                <a:t>5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4086225" y="4724400"/>
              <a:ext cx="1817868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80" dirty="0">
                  <a:solidFill>
                    <a:schemeClr val="dk1"/>
                  </a:solidFill>
                  <a:latin typeface="Microsoft JhengHei"/>
                  <a:ea typeface="Microsoft JhengHei"/>
                  <a:cs typeface="Microsoft JhengHei"/>
                </a:rPr>
                <a:t>Top-5 相似案例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4087749" y="5114925"/>
              <a:ext cx="15048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80" dirty="0">
                  <a:solidFill>
                    <a:schemeClr val="accent5"/>
                  </a:solidFill>
                  <a:latin typeface="Microsoft JhengHei"/>
                  <a:ea typeface="Microsoft JhengHei"/>
                  <a:cs typeface="Microsoft JhengHei"/>
                </a:rPr>
                <a:t>只檢索訓練資料</a:t>
              </a:r>
            </a:p>
          </p:txBody>
        </p:sp>
        <p:sp>
          <p:nvSpPr>
            <p:cNvPr id="36" name="Freeform 36"/>
            <p:cNvSpPr/>
            <p:nvPr/>
          </p:nvSpPr>
          <p:spPr>
            <a:xfrm>
              <a:off x="7200900" y="2819400"/>
              <a:ext cx="895350" cy="1323975"/>
            </a:xfrm>
            <a:custGeom>
              <a:avLst/>
              <a:gdLst/>
              <a:ahLst/>
              <a:cxnLst/>
              <a:rect l="l" t="t" r="r" b="b"/>
              <a:pathLst>
                <a:path w="895350" h="1323975">
                  <a:moveTo>
                    <a:pt x="0" y="1323975"/>
                  </a:moveTo>
                  <a:lnTo>
                    <a:pt x="419100" y="1323975"/>
                  </a:lnTo>
                  <a:lnTo>
                    <a:pt x="419100" y="0"/>
                  </a:lnTo>
                  <a:lnTo>
                    <a:pt x="8953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37" name="Freeform 37"/>
            <p:cNvSpPr/>
            <p:nvPr/>
          </p:nvSpPr>
          <p:spPr>
            <a:xfrm>
              <a:off x="8029575" y="2771775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087487" y="1612900"/>
              <a:ext cx="165656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720" b="1" dirty="0">
                  <a:solidFill>
                    <a:schemeClr val="accent1"/>
                  </a:solidFill>
                  <a:latin typeface="Microsoft JhengHei"/>
                  <a:ea typeface="Microsoft JhengHei"/>
                  <a:cs typeface="Microsoft JhengHei"/>
                </a:rPr>
                <a:t>03 本機 AI 稽核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8096250" y="2286000"/>
              <a:ext cx="3486150" cy="1066800"/>
            </a:xfrm>
            <a:prstGeom prst="roundRect">
              <a:avLst>
                <a:gd name="adj" fmla="val 7143"/>
              </a:avLst>
            </a:prstGeom>
            <a:solidFill>
              <a:srgbClr val="EAF3FC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8910638" y="2501900"/>
              <a:ext cx="1857375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950" b="1" dirty="0">
                  <a:solidFill>
                    <a:schemeClr val="accent1"/>
                  </a:solidFill>
                  <a:latin typeface="Microsoft JhengHei"/>
                  <a:ea typeface="Microsoft JhengHei"/>
                  <a:cs typeface="Microsoft JhengHei"/>
                </a:rPr>
                <a:t>判定＋案例證據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9164574" y="2892425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650" dirty="0">
                  <a:solidFill>
                    <a:schemeClr val="accent5"/>
                  </a:solidFill>
                  <a:latin typeface="Microsoft JhengHei"/>
                  <a:ea typeface="Microsoft JhengHei"/>
                  <a:cs typeface="Microsoft JhengHei"/>
                </a:rPr>
                <a:t>核對同一事件</a:t>
              </a:r>
            </a:p>
          </p:txBody>
        </p:sp>
        <p:sp>
          <p:nvSpPr>
            <p:cNvPr id="42" name="Freeform 42"/>
            <p:cNvSpPr/>
            <p:nvPr/>
          </p:nvSpPr>
          <p:spPr>
            <a:xfrm>
              <a:off x="8658225" y="3352800"/>
              <a:ext cx="1181100" cy="361950"/>
            </a:xfrm>
            <a:custGeom>
              <a:avLst/>
              <a:gdLst/>
              <a:ahLst/>
              <a:cxnLst/>
              <a:rect l="l" t="t" r="r" b="b"/>
              <a:pathLst>
                <a:path w="1181100" h="361950">
                  <a:moveTo>
                    <a:pt x="1181100" y="0"/>
                  </a:moveTo>
                  <a:lnTo>
                    <a:pt x="1181100" y="180975"/>
                  </a:lnTo>
                  <a:lnTo>
                    <a:pt x="0" y="180975"/>
                  </a:lnTo>
                  <a:lnTo>
                    <a:pt x="0" y="3619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43" name="Freeform 43"/>
            <p:cNvSpPr/>
            <p:nvPr/>
          </p:nvSpPr>
          <p:spPr>
            <a:xfrm>
              <a:off x="8610600" y="3648075"/>
              <a:ext cx="95250" cy="66675"/>
            </a:xfrm>
            <a:custGeom>
              <a:avLst/>
              <a:gdLst/>
              <a:ahLst/>
              <a:cxnLst/>
              <a:rect l="l" t="t" r="r" b="b"/>
              <a:pathLst>
                <a:path w="95250" h="66675">
                  <a:moveTo>
                    <a:pt x="0" y="0"/>
                  </a:moveTo>
                  <a:lnTo>
                    <a:pt x="47625" y="66675"/>
                  </a:lnTo>
                  <a:lnTo>
                    <a:pt x="952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44" name="Freeform 44"/>
            <p:cNvSpPr/>
            <p:nvPr/>
          </p:nvSpPr>
          <p:spPr>
            <a:xfrm>
              <a:off x="9839325" y="3533775"/>
              <a:ext cx="9525" cy="180975"/>
            </a:xfrm>
            <a:custGeom>
              <a:avLst/>
              <a:gdLst/>
              <a:ahLst/>
              <a:cxnLst/>
              <a:rect l="l" t="t" r="r" b="b"/>
              <a:pathLst>
                <a:path w="9525" h="180975">
                  <a:moveTo>
                    <a:pt x="0" y="0"/>
                  </a:moveTo>
                  <a:lnTo>
                    <a:pt x="0" y="180975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45" name="Freeform 45"/>
            <p:cNvSpPr/>
            <p:nvPr/>
          </p:nvSpPr>
          <p:spPr>
            <a:xfrm>
              <a:off x="9791700" y="3648075"/>
              <a:ext cx="95250" cy="66675"/>
            </a:xfrm>
            <a:custGeom>
              <a:avLst/>
              <a:gdLst/>
              <a:ahLst/>
              <a:cxnLst/>
              <a:rect l="l" t="t" r="r" b="b"/>
              <a:pathLst>
                <a:path w="95250" h="66675">
                  <a:moveTo>
                    <a:pt x="0" y="0"/>
                  </a:moveTo>
                  <a:lnTo>
                    <a:pt x="47625" y="66675"/>
                  </a:lnTo>
                  <a:lnTo>
                    <a:pt x="952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46" name="Freeform 46"/>
            <p:cNvSpPr/>
            <p:nvPr/>
          </p:nvSpPr>
          <p:spPr>
            <a:xfrm>
              <a:off x="9839325" y="3533775"/>
              <a:ext cx="1181100" cy="180975"/>
            </a:xfrm>
            <a:custGeom>
              <a:avLst/>
              <a:gdLst/>
              <a:ahLst/>
              <a:cxnLst/>
              <a:rect l="l" t="t" r="r" b="b"/>
              <a:pathLst>
                <a:path w="1181100" h="180975">
                  <a:moveTo>
                    <a:pt x="0" y="0"/>
                  </a:moveTo>
                  <a:lnTo>
                    <a:pt x="1181100" y="0"/>
                  </a:lnTo>
                  <a:lnTo>
                    <a:pt x="1181100" y="180975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47" name="Freeform 47"/>
            <p:cNvSpPr/>
            <p:nvPr/>
          </p:nvSpPr>
          <p:spPr>
            <a:xfrm>
              <a:off x="10972800" y="3648075"/>
              <a:ext cx="95250" cy="66675"/>
            </a:xfrm>
            <a:custGeom>
              <a:avLst/>
              <a:gdLst/>
              <a:ahLst/>
              <a:cxnLst/>
              <a:rect l="l" t="t" r="r" b="b"/>
              <a:pathLst>
                <a:path w="95250" h="66675">
                  <a:moveTo>
                    <a:pt x="0" y="0"/>
                  </a:moveTo>
                  <a:lnTo>
                    <a:pt x="47625" y="66675"/>
                  </a:lnTo>
                  <a:lnTo>
                    <a:pt x="952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48" name="Rectangle 48"/>
            <p:cNvSpPr/>
            <p:nvPr/>
          </p:nvSpPr>
          <p:spPr>
            <a:xfrm>
              <a:off x="8096250" y="3714750"/>
              <a:ext cx="1123950" cy="619125"/>
            </a:xfrm>
            <a:prstGeom prst="roundRect">
              <a:avLst>
                <a:gd name="adj" fmla="val 12308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8406765" y="3898900"/>
              <a:ext cx="50292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800" dirty="0">
                  <a:solidFill>
                    <a:schemeClr val="dk1"/>
                  </a:solidFill>
                  <a:latin typeface="Microsoft JhengHei"/>
                  <a:ea typeface="Microsoft JhengHei"/>
                  <a:cs typeface="Microsoft JhengHei"/>
                </a:rPr>
                <a:t>支持</a:t>
              </a:r>
            </a:p>
          </p:txBody>
        </p:sp>
        <p:sp>
          <p:nvSpPr>
            <p:cNvPr id="50" name="Rectangle 50"/>
            <p:cNvSpPr/>
            <p:nvPr/>
          </p:nvSpPr>
          <p:spPr>
            <a:xfrm>
              <a:off x="9277350" y="3714750"/>
              <a:ext cx="1123950" cy="619125"/>
            </a:xfrm>
            <a:prstGeom prst="roundRect">
              <a:avLst>
                <a:gd name="adj" fmla="val 12308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9587865" y="3898900"/>
              <a:ext cx="50292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800" dirty="0">
                  <a:solidFill>
                    <a:schemeClr val="dk1"/>
                  </a:solidFill>
                  <a:latin typeface="Microsoft JhengHei"/>
                  <a:ea typeface="Microsoft JhengHei"/>
                  <a:cs typeface="Microsoft JhengHei"/>
                </a:rPr>
                <a:t>複核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10458450" y="3714750"/>
              <a:ext cx="1123950" cy="619125"/>
            </a:xfrm>
            <a:prstGeom prst="roundRect">
              <a:avLst>
                <a:gd name="adj" fmla="val 12308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10647807" y="3898900"/>
              <a:ext cx="74523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800" dirty="0">
                  <a:solidFill>
                    <a:schemeClr val="dk1"/>
                  </a:solidFill>
                  <a:latin typeface="Microsoft JhengHei"/>
                  <a:ea typeface="Microsoft JhengHei"/>
                  <a:cs typeface="Microsoft JhengHei"/>
                </a:rPr>
                <a:t>不確定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8086725" y="4724400"/>
              <a:ext cx="1537564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80" dirty="0">
                  <a:solidFill>
                    <a:schemeClr val="dk1"/>
                  </a:solidFill>
                  <a:latin typeface="Microsoft JhengHei"/>
                  <a:ea typeface="Microsoft JhengHei"/>
                  <a:cs typeface="Microsoft JhengHei"/>
                </a:rPr>
                <a:t>保留正式分類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8088249" y="5114925"/>
              <a:ext cx="21429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80" dirty="0">
                  <a:solidFill>
                    <a:schemeClr val="accent5"/>
                  </a:solidFill>
                  <a:latin typeface="Microsoft JhengHei"/>
                  <a:ea typeface="Microsoft JhengHei"/>
                  <a:cs typeface="Microsoft JhengHei"/>
                </a:rPr>
                <a:t>稽核結論附回事件紀錄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600456" y="5765800"/>
              <a:ext cx="515904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00" dirty="0">
                  <a:solidFill>
                    <a:schemeClr val="dk1"/>
                  </a:solidFill>
                  <a:latin typeface="Microsoft JhengHei"/>
                  <a:ea typeface="Microsoft JhengHei"/>
                  <a:cs typeface="Microsoft JhengHei"/>
                </a:rPr>
                <a:t>同一事件 ID：分類結果與檢索證據一路可追溯。</a:t>
              </a:r>
            </a:p>
          </p:txBody>
        </p:sp>
      </p:grpSp>
      <p:grpSp>
        <p:nvGrpSpPr>
          <p:cNvPr id="60" name="footer"/>
          <p:cNvGrpSpPr/>
          <p:nvPr/>
        </p:nvGrpSpPr>
        <p:grpSpPr>
          <a:xfrm>
            <a:off x="604266" y="6416675"/>
            <a:ext cx="10983468" cy="205359"/>
            <a:chOff x="604266" y="6416675"/>
            <a:chExt cx="10983468" cy="205359"/>
          </a:xfrm>
        </p:grpSpPr>
        <p:sp>
          <p:nvSpPr>
            <p:cNvPr id="58" name="TextBox 58"/>
            <p:cNvSpPr txBox="1"/>
            <p:nvPr/>
          </p:nvSpPr>
          <p:spPr>
            <a:xfrm>
              <a:off x="604266" y="6416675"/>
              <a:ext cx="161713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050" dirty="0">
                  <a:solidFill>
                    <a:schemeClr val="accent5"/>
                  </a:solidFill>
                  <a:latin typeface="Microsoft JhengHei"/>
                  <a:ea typeface="Microsoft JhengHei"/>
                  <a:cs typeface="Microsoft JhengHei"/>
                </a:rPr>
                <a:t>AI 資安框架 · 資安技術組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11103540" y="6416675"/>
              <a:ext cx="484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050" dirty="0">
                  <a:solidFill>
                    <a:schemeClr val="accent5"/>
                  </a:solidFill>
                  <a:latin typeface="Microsoft JhengHei"/>
                  <a:ea typeface="Microsoft JhengHei"/>
                  <a:cs typeface="Microsoft JhengHei"/>
                </a:rPr>
                <a:t>04 / 09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headline"/>
          <p:cNvGrpSpPr/>
          <p:nvPr/>
        </p:nvGrpSpPr>
        <p:grpSpPr>
          <a:xfrm>
            <a:off x="593598" y="381000"/>
            <a:ext cx="6392799" cy="946277"/>
            <a:chOff x="593598" y="381000"/>
            <a:chExt cx="6392799" cy="946277"/>
          </a:xfrm>
        </p:grpSpPr>
        <p:sp>
          <p:nvSpPr>
            <p:cNvPr id="2" name="TextBox 2"/>
            <p:cNvSpPr txBox="1"/>
            <p:nvPr/>
          </p:nvSpPr>
          <p:spPr>
            <a:xfrm>
              <a:off x="603504" y="381000"/>
              <a:ext cx="77388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chemeClr val="accent1"/>
                  </a:solidFill>
                  <a:latin typeface="Microsoft JhengHei"/>
                  <a:ea typeface="Microsoft JhengHei"/>
                  <a:cs typeface="Microsoft JhengHei"/>
                </a:rPr>
                <a:t>CONTROL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3598" y="711200"/>
              <a:ext cx="6392799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150" dirty="0">
                  <a:solidFill>
                    <a:srgbClr val="121314"/>
                  </a:solidFill>
                  <a:latin typeface="Microsoft JhengHei"/>
                  <a:ea typeface="Microsoft JhengHei"/>
                  <a:cs typeface="Microsoft JhengHei"/>
                </a:rPr>
                <a:t>受控執行，留下可回復的處置紀錄</a:t>
              </a:r>
            </a:p>
          </p:txBody>
        </p:sp>
      </p:grpSp>
      <p:grpSp>
        <p:nvGrpSpPr>
          <p:cNvPr id="33" name="page-content"/>
          <p:cNvGrpSpPr/>
          <p:nvPr/>
        </p:nvGrpSpPr>
        <p:grpSpPr>
          <a:xfrm>
            <a:off x="609600" y="2190750"/>
            <a:ext cx="10972800" cy="3905250"/>
            <a:chOff x="609600" y="2190750"/>
            <a:chExt cx="10972800" cy="3905250"/>
          </a:xfrm>
        </p:grpSpPr>
        <p:sp>
          <p:nvSpPr>
            <p:cNvPr id="5" name="Rectangle 5"/>
            <p:cNvSpPr/>
            <p:nvPr/>
          </p:nvSpPr>
          <p:spPr>
            <a:xfrm>
              <a:off x="609600" y="2190750"/>
              <a:ext cx="2571750" cy="1905000"/>
            </a:xfrm>
            <a:prstGeom prst="roundRect">
              <a:avLst>
                <a:gd name="adj" fmla="val 4000"/>
              </a:avLst>
            </a:prstGeom>
            <a:solidFill>
              <a:srgbClr val="EAF3FC"/>
            </a:solidFill>
            <a:ln>
              <a:noFill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830580" y="2371725"/>
              <a:ext cx="24846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b="1" dirty="0">
                  <a:solidFill>
                    <a:schemeClr val="accent1"/>
                  </a:solidFill>
                  <a:latin typeface="Microsoft JhengHei"/>
                  <a:ea typeface="Microsoft JhengHei"/>
                  <a:cs typeface="Microsoft JhengHei"/>
                </a:rPr>
                <a:t>01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826770" y="2873375"/>
              <a:ext cx="1234440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250" dirty="0">
                  <a:solidFill>
                    <a:schemeClr val="dk1"/>
                  </a:solidFill>
                  <a:latin typeface="Microsoft JhengHei"/>
                  <a:ea typeface="Microsoft JhengHei"/>
                  <a:cs typeface="Microsoft JhengHei"/>
                </a:rPr>
                <a:t>政策檢查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830199" y="3457575"/>
              <a:ext cx="19302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1580" dirty="0">
                  <a:solidFill>
                    <a:schemeClr val="accent5"/>
                  </a:solidFill>
                  <a:latin typeface="Microsoft JhengHei"/>
                  <a:ea typeface="Microsoft JhengHei"/>
                  <a:cs typeface="Microsoft JhengHei"/>
                </a:rPr>
                <a:t>範圍・白名單・期限</a:t>
              </a:r>
            </a:p>
          </p:txBody>
        </p:sp>
        <p:sp>
          <p:nvSpPr>
            <p:cNvPr id="9" name="Freeform 9"/>
            <p:cNvSpPr/>
            <p:nvPr/>
          </p:nvSpPr>
          <p:spPr>
            <a:xfrm>
              <a:off x="3181350" y="3143250"/>
              <a:ext cx="228600" cy="9525"/>
            </a:xfrm>
            <a:custGeom>
              <a:avLst/>
              <a:gdLst/>
              <a:ahLst/>
              <a:cxnLst/>
              <a:rect l="l" t="t" r="r" b="b"/>
              <a:pathLst>
                <a:path w="228600" h="9525">
                  <a:moveTo>
                    <a:pt x="0" y="0"/>
                  </a:moveTo>
                  <a:lnTo>
                    <a:pt x="22860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3343275" y="3095625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11" name="Rectangle 11"/>
            <p:cNvSpPr/>
            <p:nvPr/>
          </p:nvSpPr>
          <p:spPr>
            <a:xfrm>
              <a:off x="3409950" y="2190750"/>
              <a:ext cx="2571750" cy="1905000"/>
            </a:xfrm>
            <a:prstGeom prst="roundRect">
              <a:avLst>
                <a:gd name="adj" fmla="val 4000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3630930" y="2371725"/>
              <a:ext cx="24846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b="1" dirty="0">
                  <a:solidFill>
                    <a:schemeClr val="accent1"/>
                  </a:solidFill>
                  <a:latin typeface="Microsoft JhengHei"/>
                  <a:ea typeface="Microsoft JhengHei"/>
                  <a:cs typeface="Microsoft JhengHei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627120" y="2873375"/>
              <a:ext cx="1234440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250" dirty="0">
                  <a:solidFill>
                    <a:schemeClr val="dk1"/>
                  </a:solidFill>
                  <a:latin typeface="Microsoft JhengHei"/>
                  <a:ea typeface="Microsoft JhengHei"/>
                  <a:cs typeface="Microsoft JhengHei"/>
                </a:rPr>
                <a:t>套用規則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630549" y="3457575"/>
              <a:ext cx="17175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80" dirty="0">
                  <a:solidFill>
                    <a:schemeClr val="accent5"/>
                  </a:solidFill>
                  <a:latin typeface="Microsoft JhengHei"/>
                  <a:ea typeface="Microsoft JhengHei"/>
                  <a:cs typeface="Microsoft JhengHei"/>
                </a:rPr>
                <a:t>受允許策略才執行</a:t>
              </a:r>
            </a:p>
          </p:txBody>
        </p:sp>
        <p:sp>
          <p:nvSpPr>
            <p:cNvPr id="15" name="Freeform 15"/>
            <p:cNvSpPr/>
            <p:nvPr/>
          </p:nvSpPr>
          <p:spPr>
            <a:xfrm>
              <a:off x="5981700" y="3143250"/>
              <a:ext cx="228600" cy="9525"/>
            </a:xfrm>
            <a:custGeom>
              <a:avLst/>
              <a:gdLst/>
              <a:ahLst/>
              <a:cxnLst/>
              <a:rect l="l" t="t" r="r" b="b"/>
              <a:pathLst>
                <a:path w="228600" h="9525">
                  <a:moveTo>
                    <a:pt x="0" y="0"/>
                  </a:moveTo>
                  <a:lnTo>
                    <a:pt x="22860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6143625" y="3095625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6210300" y="2190750"/>
              <a:ext cx="2571750" cy="1905000"/>
            </a:xfrm>
            <a:prstGeom prst="roundRect">
              <a:avLst>
                <a:gd name="adj" fmla="val 4000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431280" y="2371725"/>
              <a:ext cx="24846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b="1" dirty="0">
                  <a:solidFill>
                    <a:schemeClr val="accent1"/>
                  </a:solidFill>
                  <a:latin typeface="Microsoft JhengHei"/>
                  <a:ea typeface="Microsoft JhengHei"/>
                  <a:cs typeface="Microsoft JhengHei"/>
                </a:rPr>
                <a:t>03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427470" y="2873375"/>
              <a:ext cx="1234440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250" dirty="0">
                  <a:solidFill>
                    <a:schemeClr val="dk1"/>
                  </a:solidFill>
                  <a:latin typeface="Microsoft JhengHei"/>
                  <a:ea typeface="Microsoft JhengHei"/>
                  <a:cs typeface="Microsoft JhengHei"/>
                </a:rPr>
                <a:t>讀回驗證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430899" y="3457575"/>
              <a:ext cx="19302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80" dirty="0">
                  <a:solidFill>
                    <a:schemeClr val="accent5"/>
                  </a:solidFill>
                  <a:latin typeface="Microsoft JhengHei"/>
                  <a:ea typeface="Microsoft JhengHei"/>
                  <a:cs typeface="Microsoft JhengHei"/>
                </a:rPr>
                <a:t>確認規則及事件回條</a:t>
              </a:r>
            </a:p>
          </p:txBody>
        </p:sp>
        <p:sp>
          <p:nvSpPr>
            <p:cNvPr id="21" name="Freeform 21"/>
            <p:cNvSpPr/>
            <p:nvPr/>
          </p:nvSpPr>
          <p:spPr>
            <a:xfrm>
              <a:off x="8782050" y="3143250"/>
              <a:ext cx="228600" cy="9525"/>
            </a:xfrm>
            <a:custGeom>
              <a:avLst/>
              <a:gdLst/>
              <a:ahLst/>
              <a:cxnLst/>
              <a:rect l="l" t="t" r="r" b="b"/>
              <a:pathLst>
                <a:path w="228600" h="9525">
                  <a:moveTo>
                    <a:pt x="0" y="0"/>
                  </a:moveTo>
                  <a:lnTo>
                    <a:pt x="22860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22" name="Freeform 22"/>
            <p:cNvSpPr/>
            <p:nvPr/>
          </p:nvSpPr>
          <p:spPr>
            <a:xfrm>
              <a:off x="8943975" y="3095625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9010650" y="2190750"/>
              <a:ext cx="2571750" cy="1905000"/>
            </a:xfrm>
            <a:prstGeom prst="roundRect">
              <a:avLst>
                <a:gd name="adj" fmla="val 4000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231630" y="2371725"/>
              <a:ext cx="24846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b="1" dirty="0">
                  <a:solidFill>
                    <a:schemeClr val="accent1"/>
                  </a:solidFill>
                  <a:latin typeface="Microsoft JhengHei"/>
                  <a:ea typeface="Microsoft JhengHei"/>
                  <a:cs typeface="Microsoft JhengHei"/>
                </a:rPr>
                <a:t>04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227820" y="2873375"/>
              <a:ext cx="1234440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250" dirty="0">
                  <a:solidFill>
                    <a:schemeClr val="dk1"/>
                  </a:solidFill>
                  <a:latin typeface="Microsoft JhengHei"/>
                  <a:ea typeface="Microsoft JhengHei"/>
                  <a:cs typeface="Microsoft JhengHei"/>
                </a:rPr>
                <a:t>到期回復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231249" y="3457575"/>
              <a:ext cx="19302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80" dirty="0">
                  <a:solidFill>
                    <a:schemeClr val="accent5"/>
                  </a:solidFill>
                  <a:latin typeface="Microsoft JhengHei"/>
                  <a:ea typeface="Microsoft JhengHei"/>
                  <a:cs typeface="Microsoft JhengHei"/>
                </a:rPr>
                <a:t>撤銷並確認服務恢復</a:t>
              </a:r>
            </a:p>
          </p:txBody>
        </p:sp>
        <p:sp>
          <p:nvSpPr>
            <p:cNvPr id="27" name="Freeform 27"/>
            <p:cNvSpPr/>
            <p:nvPr/>
          </p:nvSpPr>
          <p:spPr>
            <a:xfrm>
              <a:off x="1895475" y="4095750"/>
              <a:ext cx="2143125" cy="714375"/>
            </a:xfrm>
            <a:custGeom>
              <a:avLst/>
              <a:gdLst/>
              <a:ahLst/>
              <a:cxnLst/>
              <a:rect l="l" t="t" r="r" b="b"/>
              <a:pathLst>
                <a:path w="2143125" h="714375">
                  <a:moveTo>
                    <a:pt x="0" y="0"/>
                  </a:moveTo>
                  <a:lnTo>
                    <a:pt x="0" y="714375"/>
                  </a:lnTo>
                  <a:lnTo>
                    <a:pt x="2143125" y="714375"/>
                  </a:lnTo>
                </a:path>
              </a:pathLst>
            </a:custGeom>
            <a:noFill/>
            <a:ln w="23812">
              <a:solidFill>
                <a:srgbClr val="6B6B6B"/>
              </a:solidFill>
              <a:custDash>
                <a:ds d="240000" sp="200000"/>
              </a:custDash>
            </a:ln>
          </p:spPr>
        </p:sp>
        <p:sp>
          <p:nvSpPr>
            <p:cNvPr id="28" name="Freeform 28"/>
            <p:cNvSpPr/>
            <p:nvPr/>
          </p:nvSpPr>
          <p:spPr>
            <a:xfrm>
              <a:off x="3971925" y="47625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rgbClr val="6B6B6B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4038600" y="4505325"/>
              <a:ext cx="7543800" cy="647700"/>
            </a:xfrm>
            <a:prstGeom prst="roundRect">
              <a:avLst>
                <a:gd name="adj" fmla="val 11765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4257675" y="4686300"/>
              <a:ext cx="4865639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80" dirty="0">
                  <a:solidFill>
                    <a:schemeClr val="dk1"/>
                  </a:solidFill>
                  <a:latin typeface="Microsoft JhengHei"/>
                  <a:ea typeface="Microsoft JhengHei"/>
                  <a:cs typeface="Microsoft JhengHei"/>
                </a:rPr>
                <a:t>複核／不確定 → 監測或蒐證，保留事件紀錄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09600" y="5467350"/>
              <a:ext cx="10972800" cy="628650"/>
            </a:xfrm>
            <a:prstGeom prst="roundRect">
              <a:avLst>
                <a:gd name="adj" fmla="val 12121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829818" y="5654675"/>
              <a:ext cx="776382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650" dirty="0">
                  <a:solidFill>
                    <a:schemeClr val="dk1"/>
                  </a:solidFill>
                  <a:latin typeface="Microsoft JhengHei"/>
                  <a:ea typeface="Microsoft JhengHei"/>
                  <a:cs typeface="Microsoft JhengHei"/>
                </a:rPr>
                <a:t>6 種隔離 TCP 情境：4 種套用規則、2 種監測或蒐證；背景保留與回復皆 6/6。</a:t>
              </a:r>
            </a:p>
          </p:txBody>
        </p:sp>
      </p:grpSp>
      <p:grpSp>
        <p:nvGrpSpPr>
          <p:cNvPr id="36" name="footer"/>
          <p:cNvGrpSpPr/>
          <p:nvPr/>
        </p:nvGrpSpPr>
        <p:grpSpPr>
          <a:xfrm>
            <a:off x="604266" y="6416675"/>
            <a:ext cx="10983468" cy="205359"/>
            <a:chOff x="604266" y="6416675"/>
            <a:chExt cx="10983468" cy="205359"/>
          </a:xfrm>
        </p:grpSpPr>
        <p:sp>
          <p:nvSpPr>
            <p:cNvPr id="34" name="TextBox 34"/>
            <p:cNvSpPr txBox="1"/>
            <p:nvPr/>
          </p:nvSpPr>
          <p:spPr>
            <a:xfrm>
              <a:off x="604266" y="6416675"/>
              <a:ext cx="161713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050" dirty="0">
                  <a:solidFill>
                    <a:schemeClr val="accent5"/>
                  </a:solidFill>
                  <a:latin typeface="Microsoft JhengHei"/>
                  <a:ea typeface="Microsoft JhengHei"/>
                  <a:cs typeface="Microsoft JhengHei"/>
                </a:rPr>
                <a:t>AI 資安框架 · 資安技術組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1103540" y="6416675"/>
              <a:ext cx="484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050" dirty="0">
                  <a:solidFill>
                    <a:schemeClr val="accent5"/>
                  </a:solidFill>
                  <a:latin typeface="Microsoft JhengHei"/>
                  <a:ea typeface="Microsoft JhengHei"/>
                  <a:cs typeface="Microsoft JhengHei"/>
                </a:rPr>
                <a:t>05 / 09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headline"/>
          <p:cNvGrpSpPr/>
          <p:nvPr/>
        </p:nvGrpSpPr>
        <p:grpSpPr>
          <a:xfrm>
            <a:off x="593598" y="381000"/>
            <a:ext cx="4696587" cy="946277"/>
            <a:chOff x="593598" y="381000"/>
            <a:chExt cx="4696587" cy="946277"/>
          </a:xfrm>
        </p:grpSpPr>
        <p:sp>
          <p:nvSpPr>
            <p:cNvPr id="2" name="TextBox 2"/>
            <p:cNvSpPr txBox="1"/>
            <p:nvPr/>
          </p:nvSpPr>
          <p:spPr>
            <a:xfrm>
              <a:off x="603504" y="381000"/>
              <a:ext cx="111441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chemeClr val="accent1"/>
                  </a:solidFill>
                  <a:latin typeface="Microsoft JhengHei"/>
                  <a:ea typeface="Microsoft JhengHei"/>
                  <a:cs typeface="Microsoft JhengHei"/>
                </a:rPr>
                <a:t>METHOD FILM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3598" y="711200"/>
              <a:ext cx="4696587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150" dirty="0">
                  <a:solidFill>
                    <a:srgbClr val="121314"/>
                  </a:solidFill>
                  <a:latin typeface="Microsoft JhengHei"/>
                  <a:ea typeface="Microsoft JhengHei"/>
                  <a:cs typeface="Microsoft JhengHei"/>
                </a:rPr>
                <a:t>一個事件，走完完整流程</a:t>
              </a:r>
            </a:p>
          </p:txBody>
        </p:sp>
      </p:grpSp>
      <p:grpSp>
        <p:nvGrpSpPr>
          <p:cNvPr id="11" name="page-content"/>
          <p:cNvGrpSpPr/>
          <p:nvPr/>
        </p:nvGrpSpPr>
        <p:grpSpPr>
          <a:xfrm>
            <a:off x="1828800" y="1438275"/>
            <a:ext cx="8534400" cy="4800600"/>
            <a:chOff x="1828800" y="1438275"/>
            <a:chExt cx="8534400" cy="4800600"/>
          </a:xfrm>
        </p:grpSpPr>
        <p:grpSp>
          <p:nvGrpSpPr>
            <p:cNvPr id="10" name="video-slot"/>
            <p:cNvGrpSpPr/>
            <p:nvPr/>
          </p:nvGrpSpPr>
          <p:grpSpPr>
            <a:xfrm>
              <a:off x="1828800" y="1438275"/>
              <a:ext cx="8534400" cy="4800600"/>
              <a:chOff x="1828800" y="1438275"/>
              <a:chExt cx="8534400" cy="4800600"/>
            </a:xfrm>
          </p:grpSpPr>
          <p:sp>
            <p:nvSpPr>
              <p:cNvPr id="5" name="Rectangle 5"/>
              <p:cNvSpPr/>
              <p:nvPr/>
            </p:nvSpPr>
            <p:spPr>
              <a:xfrm>
                <a:off x="1828800" y="1438275"/>
                <a:ext cx="8534400" cy="4800600"/>
              </a:xfrm>
              <a:prstGeom prst="roundRect">
                <a:avLst>
                  <a:gd name="adj" fmla="val 1587"/>
                </a:avLst>
              </a:prstGeom>
              <a:solidFill>
                <a:schemeClr val="accent3"/>
              </a:solidFill>
              <a:ln w="9525">
                <a:solidFill>
                  <a:srgbClr val="D6E1EC"/>
                </a:solidFill>
              </a:ln>
            </p:spPr>
          </p:sp>
          <p:sp>
            <p:nvSpPr>
              <p:cNvPr id="6" name="Ellipse 6"/>
              <p:cNvSpPr/>
              <p:nvPr/>
            </p:nvSpPr>
            <p:spPr>
              <a:xfrm>
                <a:off x="5715000" y="2952750"/>
                <a:ext cx="762000" cy="762000"/>
              </a:xfrm>
              <a:prstGeom prst="ellipse">
                <a:avLst/>
              </a:prstGeom>
              <a:solidFill>
                <a:srgbClr val="E2EDF8"/>
              </a:solidFill>
              <a:ln>
                <a:noFill/>
              </a:ln>
            </p:spPr>
          </p:sp>
          <p:sp>
            <p:nvSpPr>
              <p:cNvPr id="7" name="TextBox 7"/>
              <p:cNvSpPr txBox="1"/>
              <p:nvPr/>
            </p:nvSpPr>
            <p:spPr>
              <a:xfrm>
                <a:off x="5976014" y="3130550"/>
                <a:ext cx="239973" cy="55740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TW" sz="2850" dirty="0">
                    <a:solidFill>
                      <a:schemeClr val="accent1"/>
                    </a:solidFill>
                    <a:latin typeface="Microsoft JhengHei"/>
                    <a:ea typeface="Microsoft JhengHei"/>
                    <a:cs typeface="Microsoft JhengHei"/>
                  </a:rPr>
                  <a:t>▶</a:t>
                </a:r>
              </a:p>
            </p:txBody>
          </p:sp>
          <p:sp>
            <p:nvSpPr>
              <p:cNvPr id="8" name="TextBox 8"/>
              <p:cNvSpPr txBox="1"/>
              <p:nvPr/>
            </p:nvSpPr>
            <p:spPr>
              <a:xfrm>
                <a:off x="5114544" y="3803650"/>
                <a:ext cx="1962912" cy="46939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TW" sz="2400" dirty="0">
                    <a:solidFill>
                      <a:srgbClr val="121314"/>
                    </a:solidFill>
                    <a:latin typeface="Microsoft JhengHei"/>
                    <a:ea typeface="Microsoft JhengHei"/>
                    <a:cs typeface="Microsoft JhengHei"/>
                  </a:rPr>
                  <a:t>產品方法動畫</a:t>
                </a:r>
              </a:p>
            </p:txBody>
          </p:sp>
          <p:sp>
            <p:nvSpPr>
              <p:cNvPr id="9" name="TextBox 9"/>
              <p:cNvSpPr txBox="1"/>
              <p:nvPr/>
            </p:nvSpPr>
            <p:spPr>
              <a:xfrm>
                <a:off x="5346289" y="4318000"/>
                <a:ext cx="1499423" cy="33737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TW" sz="1720" dirty="0">
                    <a:solidFill>
                      <a:schemeClr val="accent5"/>
                    </a:solidFill>
                    <a:latin typeface="Microsoft JhengHei"/>
                    <a:ea typeface="Microsoft JhengHei"/>
                    <a:cs typeface="Microsoft JhengHei"/>
                  </a:rPr>
                  <a:t>30 秒 · 2 倍速</a:t>
                </a:r>
              </a:p>
            </p:txBody>
          </p:sp>
        </p:grpSp>
      </p:grpSp>
      <p:grpSp>
        <p:nvGrpSpPr>
          <p:cNvPr id="14" name="footer"/>
          <p:cNvGrpSpPr/>
          <p:nvPr/>
        </p:nvGrpSpPr>
        <p:grpSpPr>
          <a:xfrm>
            <a:off x="604266" y="6416675"/>
            <a:ext cx="10983468" cy="205359"/>
            <a:chOff x="604266" y="6416675"/>
            <a:chExt cx="10983468" cy="205359"/>
          </a:xfrm>
        </p:grpSpPr>
        <p:sp>
          <p:nvSpPr>
            <p:cNvPr id="12" name="TextBox 12"/>
            <p:cNvSpPr txBox="1"/>
            <p:nvPr/>
          </p:nvSpPr>
          <p:spPr>
            <a:xfrm>
              <a:off x="604266" y="6416675"/>
              <a:ext cx="161713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050" dirty="0">
                  <a:solidFill>
                    <a:schemeClr val="accent5"/>
                  </a:solidFill>
                  <a:latin typeface="Microsoft JhengHei"/>
                  <a:ea typeface="Microsoft JhengHei"/>
                  <a:cs typeface="Microsoft JhengHei"/>
                </a:rPr>
                <a:t>AI 資安框架 · 資安技術組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1103540" y="6416675"/>
              <a:ext cx="484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050" dirty="0">
                  <a:solidFill>
                    <a:schemeClr val="accent5"/>
                  </a:solidFill>
                  <a:latin typeface="Microsoft JhengHei"/>
                  <a:ea typeface="Microsoft JhengHei"/>
                  <a:cs typeface="Microsoft JhengHei"/>
                </a:rPr>
                <a:t>06 / 09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headline"/>
          <p:cNvGrpSpPr/>
          <p:nvPr/>
        </p:nvGrpSpPr>
        <p:grpSpPr>
          <a:xfrm>
            <a:off x="593598" y="381000"/>
            <a:ext cx="5544693" cy="946277"/>
            <a:chOff x="593598" y="381000"/>
            <a:chExt cx="5544693" cy="946277"/>
          </a:xfrm>
        </p:grpSpPr>
        <p:sp>
          <p:nvSpPr>
            <p:cNvPr id="2" name="TextBox 2"/>
            <p:cNvSpPr txBox="1"/>
            <p:nvPr/>
          </p:nvSpPr>
          <p:spPr>
            <a:xfrm>
              <a:off x="603504" y="381000"/>
              <a:ext cx="158038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chemeClr val="accent1"/>
                  </a:solidFill>
                  <a:latin typeface="Microsoft JhengHei"/>
                  <a:ea typeface="Microsoft JhengHei"/>
                  <a:cs typeface="Microsoft JhengHei"/>
                </a:rPr>
                <a:t>MEASURED RESULTS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3598" y="711200"/>
              <a:ext cx="5544693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150" dirty="0">
                  <a:solidFill>
                    <a:srgbClr val="121314"/>
                  </a:solidFill>
                  <a:latin typeface="Microsoft JhengHei"/>
                  <a:ea typeface="Microsoft JhengHei"/>
                  <a:cs typeface="Microsoft JhengHei"/>
                </a:rPr>
                <a:t>互補融合，提升整體辨識效果</a:t>
              </a:r>
            </a:p>
          </p:txBody>
        </p:sp>
      </p:grpSp>
      <p:grpSp>
        <p:nvGrpSpPr>
          <p:cNvPr id="28" name="page-content"/>
          <p:cNvGrpSpPr/>
          <p:nvPr/>
        </p:nvGrpSpPr>
        <p:grpSpPr>
          <a:xfrm>
            <a:off x="600837" y="1498600"/>
            <a:ext cx="10981563" cy="4642676"/>
            <a:chOff x="600837" y="1498600"/>
            <a:chExt cx="10981563" cy="4642676"/>
          </a:xfrm>
        </p:grpSpPr>
        <p:sp>
          <p:nvSpPr>
            <p:cNvPr id="5" name="TextBox 5"/>
            <p:cNvSpPr txBox="1"/>
            <p:nvPr/>
          </p:nvSpPr>
          <p:spPr>
            <a:xfrm>
              <a:off x="600837" y="1498600"/>
              <a:ext cx="389789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720" dirty="0">
                  <a:solidFill>
                    <a:schemeClr val="accent5"/>
                  </a:solidFill>
                  <a:latin typeface="Microsoft JhengHei"/>
                  <a:ea typeface="Microsoft JhengHei"/>
                  <a:cs typeface="Microsoft JhengHei"/>
                </a:rPr>
                <a:t>相同 18,998 筆封存測試 · Macro-F1</a:t>
              </a:r>
            </a:p>
          </p:txBody>
        </p:sp>
        <p:grpSp>
          <p:nvGrpSpPr>
            <p:cNvPr id="21" name="detector-comparison-chartArea"/>
            <p:cNvGrpSpPr/>
            <p:nvPr/>
          </p:nvGrpSpPr>
          <p:grpSpPr>
            <a:xfrm>
              <a:off x="600837" y="2095500"/>
              <a:ext cx="8039140" cy="3579495"/>
              <a:chOff x="600837" y="2095500"/>
              <a:chExt cx="8039140" cy="3579495"/>
            </a:xfrm>
          </p:grpSpPr>
          <p:sp>
            <p:nvSpPr>
              <p:cNvPr id="6" name="Line 6"/>
              <p:cNvSpPr/>
              <p:nvPr/>
            </p:nvSpPr>
            <p:spPr>
              <a:xfrm>
                <a:off x="1905000" y="2095500"/>
                <a:ext cx="9525" cy="31432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143250">
                    <a:moveTo>
                      <a:pt x="0" y="0"/>
                    </a:moveTo>
                    <a:lnTo>
                      <a:pt x="0" y="3143250"/>
                    </a:lnTo>
                  </a:path>
                </a:pathLst>
              </a:custGeom>
              <a:noFill/>
              <a:ln w="9525">
                <a:solidFill>
                  <a:srgbClr val="DDE5ED"/>
                </a:solidFill>
              </a:ln>
            </p:spPr>
          </p:sp>
          <p:sp>
            <p:nvSpPr>
              <p:cNvPr id="7" name="TextBox 7"/>
              <p:cNvSpPr txBox="1"/>
              <p:nvPr/>
            </p:nvSpPr>
            <p:spPr>
              <a:xfrm>
                <a:off x="1766125" y="5381625"/>
                <a:ext cx="277749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TW" sz="1500" dirty="0">
                    <a:solidFill>
                      <a:schemeClr val="accent5"/>
                    </a:solidFill>
                    <a:latin typeface="Microsoft JhengHei"/>
                    <a:ea typeface="Microsoft JhengHei"/>
                    <a:cs typeface="Microsoft JhengHei"/>
                  </a:rPr>
                  <a:t>0%</a:t>
                </a:r>
              </a:p>
            </p:txBody>
          </p:sp>
          <p:sp>
            <p:nvSpPr>
              <p:cNvPr id="8" name="Line 8"/>
              <p:cNvSpPr/>
              <p:nvPr/>
            </p:nvSpPr>
            <p:spPr>
              <a:xfrm>
                <a:off x="5000625" y="2095500"/>
                <a:ext cx="9525" cy="31432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143250">
                    <a:moveTo>
                      <a:pt x="0" y="0"/>
                    </a:moveTo>
                    <a:lnTo>
                      <a:pt x="0" y="3143250"/>
                    </a:lnTo>
                  </a:path>
                </a:pathLst>
              </a:custGeom>
              <a:noFill/>
              <a:ln w="9525">
                <a:solidFill>
                  <a:srgbClr val="DDE5ED"/>
                </a:solidFill>
              </a:ln>
            </p:spPr>
          </p:sp>
          <p:sp>
            <p:nvSpPr>
              <p:cNvPr id="9" name="TextBox 9"/>
              <p:cNvSpPr txBox="1"/>
              <p:nvPr/>
            </p:nvSpPr>
            <p:spPr>
              <a:xfrm>
                <a:off x="4806220" y="5381625"/>
                <a:ext cx="388810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TW" sz="1500" dirty="0">
                    <a:solidFill>
                      <a:schemeClr val="accent5"/>
                    </a:solidFill>
                    <a:latin typeface="Microsoft JhengHei"/>
                    <a:ea typeface="Microsoft JhengHei"/>
                    <a:cs typeface="Microsoft JhengHei"/>
                  </a:rPr>
                  <a:t>50%</a:t>
                </a:r>
              </a:p>
            </p:txBody>
          </p:sp>
          <p:sp>
            <p:nvSpPr>
              <p:cNvPr id="10" name="Line 10"/>
              <p:cNvSpPr/>
              <p:nvPr/>
            </p:nvSpPr>
            <p:spPr>
              <a:xfrm>
                <a:off x="8096250" y="2095500"/>
                <a:ext cx="9525" cy="31432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143250">
                    <a:moveTo>
                      <a:pt x="0" y="0"/>
                    </a:moveTo>
                    <a:lnTo>
                      <a:pt x="0" y="3143250"/>
                    </a:lnTo>
                  </a:path>
                </a:pathLst>
              </a:custGeom>
              <a:noFill/>
              <a:ln w="9525">
                <a:solidFill>
                  <a:srgbClr val="DDE5ED"/>
                </a:solidFill>
              </a:ln>
            </p:spPr>
          </p:sp>
          <p:sp>
            <p:nvSpPr>
              <p:cNvPr id="11" name="TextBox 11"/>
              <p:cNvSpPr txBox="1"/>
              <p:nvPr/>
            </p:nvSpPr>
            <p:spPr>
              <a:xfrm>
                <a:off x="7846314" y="5381625"/>
                <a:ext cx="499872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TW" sz="1500" dirty="0">
                    <a:solidFill>
                      <a:schemeClr val="accent5"/>
                    </a:solidFill>
                    <a:latin typeface="Microsoft JhengHei"/>
                    <a:ea typeface="Microsoft JhengHei"/>
                    <a:cs typeface="Microsoft JhengHei"/>
                  </a:rPr>
                  <a:t>100%</a:t>
                </a:r>
              </a:p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600837" y="2479675"/>
                <a:ext cx="690321" cy="33737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720" dirty="0">
                    <a:solidFill>
                      <a:srgbClr val="121314"/>
                    </a:solidFill>
                    <a:latin typeface="Microsoft JhengHei"/>
                    <a:ea typeface="Microsoft JhengHei"/>
                    <a:cs typeface="Microsoft JhengHei"/>
                  </a:rPr>
                  <a:t>PBCNN</a:t>
                </a:r>
              </a:p>
            </p:txBody>
          </p:sp>
          <p:sp>
            <p:nvSpPr>
              <p:cNvPr id="13" name="Rectangle 13"/>
              <p:cNvSpPr/>
              <p:nvPr/>
            </p:nvSpPr>
            <p:spPr>
              <a:xfrm>
                <a:off x="1905000" y="2419350"/>
                <a:ext cx="4937396" cy="400050"/>
              </a:xfrm>
              <a:prstGeom prst="rect">
                <a:avLst/>
              </a:prstGeom>
              <a:solidFill>
                <a:srgbClr val="9ABDE0"/>
              </a:solidFill>
              <a:ln>
                <a:noFill/>
              </a:ln>
            </p:spPr>
          </p:sp>
          <p:sp>
            <p:nvSpPr>
              <p:cNvPr id="14" name="TextBox 14"/>
              <p:cNvSpPr txBox="1"/>
              <p:nvPr/>
            </p:nvSpPr>
            <p:spPr>
              <a:xfrm>
                <a:off x="6947933" y="2479675"/>
                <a:ext cx="868459" cy="33737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TW" sz="1720" b="1" dirty="0">
                    <a:solidFill>
                      <a:srgbClr val="121314"/>
                    </a:solidFill>
                    <a:latin typeface="Microsoft JhengHei"/>
                    <a:ea typeface="Microsoft JhengHei"/>
                    <a:cs typeface="Microsoft JhengHei"/>
                  </a:rPr>
                  <a:t>79.75%</a:t>
                </a:r>
              </a:p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600837" y="3527425"/>
                <a:ext cx="604693" cy="33737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720" dirty="0">
                    <a:solidFill>
                      <a:srgbClr val="121314"/>
                    </a:solidFill>
                    <a:latin typeface="Microsoft JhengHei"/>
                    <a:ea typeface="Microsoft JhengHei"/>
                    <a:cs typeface="Microsoft JhengHei"/>
                  </a:rPr>
                  <a:t>CTBM</a:t>
                </a:r>
              </a:p>
            </p:txBody>
          </p:sp>
          <p:sp>
            <p:nvSpPr>
              <p:cNvPr id="16" name="Rectangle 16"/>
              <p:cNvSpPr/>
              <p:nvPr/>
            </p:nvSpPr>
            <p:spPr>
              <a:xfrm>
                <a:off x="1905000" y="3467100"/>
                <a:ext cx="5702313" cy="400050"/>
              </a:xfrm>
              <a:prstGeom prst="rect">
                <a:avLst/>
              </a:prstGeom>
              <a:solidFill>
                <a:srgbClr val="9ABDE0"/>
              </a:solidFill>
              <a:ln>
                <a:noFill/>
              </a:ln>
            </p:spPr>
          </p:sp>
          <p:sp>
            <p:nvSpPr>
              <p:cNvPr id="17" name="TextBox 17"/>
              <p:cNvSpPr txBox="1"/>
              <p:nvPr/>
            </p:nvSpPr>
            <p:spPr>
              <a:xfrm>
                <a:off x="7712850" y="3527425"/>
                <a:ext cx="868459" cy="33737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TW" sz="1720" b="1" dirty="0">
                    <a:solidFill>
                      <a:srgbClr val="121314"/>
                    </a:solidFill>
                    <a:latin typeface="Microsoft JhengHei"/>
                    <a:ea typeface="Microsoft JhengHei"/>
                    <a:cs typeface="Microsoft JhengHei"/>
                  </a:rPr>
                  <a:t>92.10%</a:t>
                </a:r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600837" y="4575175"/>
                <a:ext cx="1159519" cy="33737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720" b="1" dirty="0">
                    <a:solidFill>
                      <a:schemeClr val="accent1"/>
                    </a:solidFill>
                    <a:latin typeface="Microsoft JhengHei"/>
                    <a:ea typeface="Microsoft JhengHei"/>
                    <a:cs typeface="Microsoft JhengHei"/>
                  </a:rPr>
                  <a:t>OOF Gate</a:t>
                </a:r>
              </a:p>
            </p:txBody>
          </p:sp>
          <p:sp>
            <p:nvSpPr>
              <p:cNvPr id="19" name="Rectangle 19"/>
              <p:cNvSpPr/>
              <p:nvPr/>
            </p:nvSpPr>
            <p:spPr>
              <a:xfrm>
                <a:off x="1905000" y="4514850"/>
                <a:ext cx="5760981" cy="40005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</p:sp>
          <p:sp>
            <p:nvSpPr>
              <p:cNvPr id="20" name="TextBox 20"/>
              <p:cNvSpPr txBox="1"/>
              <p:nvPr/>
            </p:nvSpPr>
            <p:spPr>
              <a:xfrm>
                <a:off x="7771518" y="4575175"/>
                <a:ext cx="868459" cy="33737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TW" sz="1720" b="1" dirty="0">
                    <a:solidFill>
                      <a:schemeClr val="accent1"/>
                    </a:solidFill>
                    <a:latin typeface="Microsoft JhengHei"/>
                    <a:ea typeface="Microsoft JhengHei"/>
                    <a:cs typeface="Microsoft JhengHei"/>
                  </a:rPr>
                  <a:t>93.05%</a:t>
                </a:r>
              </a:p>
            </p:txBody>
          </p:sp>
        </p:grpSp>
        <p:sp>
          <p:nvSpPr>
            <p:cNvPr id="22" name="Rectangle 22"/>
            <p:cNvSpPr/>
            <p:nvPr/>
          </p:nvSpPr>
          <p:spPr>
            <a:xfrm>
              <a:off x="9077325" y="2105025"/>
              <a:ext cx="2505075" cy="3133725"/>
            </a:xfrm>
            <a:prstGeom prst="roundRect">
              <a:avLst>
                <a:gd name="adj" fmla="val 3042"/>
              </a:avLst>
            </a:prstGeom>
            <a:solidFill>
              <a:srgbClr val="EAF3FC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9305544" y="2387600"/>
              <a:ext cx="133235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950" dirty="0">
                  <a:solidFill>
                    <a:schemeClr val="dk1"/>
                  </a:solidFill>
                  <a:latin typeface="Microsoft JhengHei"/>
                  <a:ea typeface="Microsoft JhengHei"/>
                  <a:cs typeface="Microsoft JhengHei"/>
                </a:rPr>
                <a:t>整體準確率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9297162" y="3041650"/>
              <a:ext cx="1732788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600" dirty="0">
                  <a:solidFill>
                    <a:schemeClr val="accent1"/>
                  </a:solidFill>
                  <a:latin typeface="Microsoft JhengHei"/>
                  <a:ea typeface="Microsoft JhengHei"/>
                  <a:cs typeface="Microsoft JhengHei"/>
                </a:rPr>
                <a:t>98.08%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305925" y="3819525"/>
              <a:ext cx="1132627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80" dirty="0">
                  <a:solidFill>
                    <a:schemeClr val="dk1"/>
                  </a:solidFill>
                  <a:latin typeface="Microsoft JhengHei"/>
                  <a:ea typeface="Microsoft JhengHei"/>
                  <a:cs typeface="Microsoft JhengHei"/>
                </a:rPr>
                <a:t>17 類分類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307449" y="4371975"/>
              <a:ext cx="15048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80" dirty="0">
                  <a:solidFill>
                    <a:schemeClr val="accent5"/>
                  </a:solidFill>
                  <a:latin typeface="Microsoft JhengHei"/>
                  <a:ea typeface="Microsoft JhengHei"/>
                  <a:cs typeface="Microsoft JhengHei"/>
                </a:rPr>
                <a:t>同一封存測試集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00837" y="5803900"/>
              <a:ext cx="762601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720" dirty="0">
                  <a:solidFill>
                    <a:schemeClr val="dk1"/>
                  </a:solidFill>
                  <a:latin typeface="Microsoft JhengHei"/>
                  <a:ea typeface="Microsoft JhengHei"/>
                  <a:cs typeface="Microsoft JhengHei"/>
                </a:rPr>
                <a:t>融合相較 PBCNN 提升 13.30 個百分點；相較 CTBM 提升 0.95 個百分點。</a:t>
              </a:r>
            </a:p>
          </p:txBody>
        </p:sp>
      </p:grpSp>
      <p:grpSp>
        <p:nvGrpSpPr>
          <p:cNvPr id="31" name="footer"/>
          <p:cNvGrpSpPr/>
          <p:nvPr/>
        </p:nvGrpSpPr>
        <p:grpSpPr>
          <a:xfrm>
            <a:off x="604266" y="6416675"/>
            <a:ext cx="10983468" cy="205359"/>
            <a:chOff x="604266" y="6416675"/>
            <a:chExt cx="10983468" cy="205359"/>
          </a:xfrm>
        </p:grpSpPr>
        <p:sp>
          <p:nvSpPr>
            <p:cNvPr id="29" name="TextBox 29"/>
            <p:cNvSpPr txBox="1"/>
            <p:nvPr/>
          </p:nvSpPr>
          <p:spPr>
            <a:xfrm>
              <a:off x="604266" y="6416675"/>
              <a:ext cx="161713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050" dirty="0">
                  <a:solidFill>
                    <a:schemeClr val="accent5"/>
                  </a:solidFill>
                  <a:latin typeface="Microsoft JhengHei"/>
                  <a:ea typeface="Microsoft JhengHei"/>
                  <a:cs typeface="Microsoft JhengHei"/>
                </a:rPr>
                <a:t>AI 資安框架 · 資安技術組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1103540" y="6416675"/>
              <a:ext cx="484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050" dirty="0">
                  <a:solidFill>
                    <a:schemeClr val="accent5"/>
                  </a:solidFill>
                  <a:latin typeface="Microsoft JhengHei"/>
                  <a:ea typeface="Microsoft JhengHei"/>
                  <a:cs typeface="Microsoft JhengHei"/>
                </a:rPr>
                <a:t>07 / 09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headline"/>
          <p:cNvGrpSpPr/>
          <p:nvPr/>
        </p:nvGrpSpPr>
        <p:grpSpPr>
          <a:xfrm>
            <a:off x="593598" y="381000"/>
            <a:ext cx="5077435" cy="946277"/>
            <a:chOff x="593598" y="381000"/>
            <a:chExt cx="5077435" cy="946277"/>
          </a:xfrm>
        </p:grpSpPr>
        <p:sp>
          <p:nvSpPr>
            <p:cNvPr id="2" name="TextBox 2"/>
            <p:cNvSpPr txBox="1"/>
            <p:nvPr/>
          </p:nvSpPr>
          <p:spPr>
            <a:xfrm>
              <a:off x="603504" y="381000"/>
              <a:ext cx="158038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chemeClr val="accent1"/>
                  </a:solidFill>
                  <a:latin typeface="Microsoft JhengHei"/>
                  <a:ea typeface="Microsoft JhengHei"/>
                  <a:cs typeface="Microsoft JhengHei"/>
                </a:rPr>
                <a:t>MEASURED RESULTS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3598" y="711200"/>
              <a:ext cx="5077435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150" dirty="0">
                  <a:solidFill>
                    <a:srgbClr val="121314"/>
                  </a:solidFill>
                  <a:latin typeface="Microsoft JhengHei"/>
                  <a:ea typeface="Microsoft JhengHei"/>
                  <a:cs typeface="Microsoft JhengHei"/>
                </a:rPr>
                <a:t>案例提供證據，AI完成分流</a:t>
              </a:r>
            </a:p>
          </p:txBody>
        </p:sp>
      </p:grpSp>
      <p:grpSp>
        <p:nvGrpSpPr>
          <p:cNvPr id="32" name="page-content"/>
          <p:cNvGrpSpPr/>
          <p:nvPr/>
        </p:nvGrpSpPr>
        <p:grpSpPr>
          <a:xfrm>
            <a:off x="609600" y="1809750"/>
            <a:ext cx="10972800" cy="4333875"/>
            <a:chOff x="609600" y="1809750"/>
            <a:chExt cx="10972800" cy="4333875"/>
          </a:xfrm>
        </p:grpSpPr>
        <p:sp>
          <p:nvSpPr>
            <p:cNvPr id="5" name="Rectangle 5"/>
            <p:cNvSpPr/>
            <p:nvPr/>
          </p:nvSpPr>
          <p:spPr>
            <a:xfrm>
              <a:off x="609600" y="1809750"/>
              <a:ext cx="3448050" cy="3514725"/>
            </a:xfrm>
            <a:prstGeom prst="roundRect">
              <a:avLst>
                <a:gd name="adj" fmla="val 2210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828675" y="19812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80" b="1" dirty="0">
                  <a:solidFill>
                    <a:schemeClr val="accent1"/>
                  </a:solidFill>
                  <a:latin typeface="Microsoft JhengHei"/>
                  <a:ea typeface="Microsoft JhengHei"/>
                  <a:cs typeface="Microsoft JhengHei"/>
                </a:rPr>
                <a:t>檢索效果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819912" y="2498725"/>
              <a:ext cx="1732788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600" dirty="0">
                  <a:solidFill>
                    <a:schemeClr val="accent1"/>
                  </a:solidFill>
                  <a:latin typeface="Microsoft JhengHei"/>
                  <a:ea typeface="Microsoft JhengHei"/>
                  <a:cs typeface="Microsoft JhengHei"/>
                </a:rPr>
                <a:t>97.62%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829056" y="3089275"/>
              <a:ext cx="149824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00" dirty="0">
                  <a:solidFill>
                    <a:schemeClr val="dk1"/>
                  </a:solidFill>
                  <a:latin typeface="Microsoft JhengHei"/>
                  <a:ea typeface="Microsoft JhengHei"/>
                  <a:cs typeface="Microsoft JhengHei"/>
                </a:rPr>
                <a:t>Top-5 命中率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821436" y="3651250"/>
              <a:ext cx="1588389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300" dirty="0">
                  <a:solidFill>
                    <a:schemeClr val="accent1"/>
                  </a:solidFill>
                  <a:latin typeface="Microsoft JhengHei"/>
                  <a:ea typeface="Microsoft JhengHei"/>
                  <a:cs typeface="Microsoft JhengHei"/>
                </a:rPr>
                <a:t>93.89%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829056" y="4194175"/>
              <a:ext cx="181965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00" dirty="0">
                  <a:solidFill>
                    <a:schemeClr val="dk1"/>
                  </a:solidFill>
                  <a:latin typeface="Microsoft JhengHei"/>
                  <a:ea typeface="Microsoft JhengHei"/>
                  <a:cs typeface="Microsoft JhengHei"/>
                </a:rPr>
                <a:t>MRR@5 排序品質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830199" y="4829175"/>
              <a:ext cx="21429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80" dirty="0">
                  <a:solidFill>
                    <a:schemeClr val="accent5"/>
                  </a:solidFill>
                  <a:latin typeface="Microsoft JhengHei"/>
                  <a:ea typeface="Microsoft JhengHei"/>
                  <a:cs typeface="Microsoft JhengHei"/>
                </a:rPr>
                <a:t>1,550 案例／463 查詢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4905375" y="1809750"/>
              <a:ext cx="5867400" cy="666750"/>
            </a:xfrm>
            <a:prstGeom prst="roundRect">
              <a:avLst>
                <a:gd name="adj" fmla="val 11429"/>
              </a:avLst>
            </a:prstGeom>
            <a:solidFill>
              <a:srgbClr val="EAF3FC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215729" y="1974850"/>
              <a:ext cx="3246693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2020" b="1" dirty="0">
                  <a:solidFill>
                    <a:schemeClr val="accent1"/>
                  </a:solidFill>
                  <a:latin typeface="Microsoft JhengHei"/>
                  <a:ea typeface="Microsoft JhengHei"/>
                  <a:cs typeface="Microsoft JhengHei"/>
                </a:rPr>
                <a:t>463 筆事件 → 本機 AI 稽核</a:t>
              </a:r>
            </a:p>
          </p:txBody>
        </p:sp>
        <p:sp>
          <p:nvSpPr>
            <p:cNvPr id="14" name="Freeform 14"/>
            <p:cNvSpPr/>
            <p:nvPr/>
          </p:nvSpPr>
          <p:spPr>
            <a:xfrm>
              <a:off x="5486400" y="2476500"/>
              <a:ext cx="2352675" cy="723900"/>
            </a:xfrm>
            <a:custGeom>
              <a:avLst/>
              <a:gdLst/>
              <a:ahLst/>
              <a:cxnLst/>
              <a:rect l="l" t="t" r="r" b="b"/>
              <a:pathLst>
                <a:path w="2352675" h="723900">
                  <a:moveTo>
                    <a:pt x="2352675" y="0"/>
                  </a:moveTo>
                  <a:lnTo>
                    <a:pt x="2352675" y="361950"/>
                  </a:lnTo>
                  <a:lnTo>
                    <a:pt x="0" y="361950"/>
                  </a:lnTo>
                  <a:lnTo>
                    <a:pt x="0" y="72390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15" name="Freeform 15"/>
            <p:cNvSpPr/>
            <p:nvPr/>
          </p:nvSpPr>
          <p:spPr>
            <a:xfrm>
              <a:off x="5438775" y="3133725"/>
              <a:ext cx="95250" cy="66675"/>
            </a:xfrm>
            <a:custGeom>
              <a:avLst/>
              <a:gdLst/>
              <a:ahLst/>
              <a:cxnLst/>
              <a:rect l="l" t="t" r="r" b="b"/>
              <a:pathLst>
                <a:path w="95250" h="66675">
                  <a:moveTo>
                    <a:pt x="0" y="0"/>
                  </a:moveTo>
                  <a:lnTo>
                    <a:pt x="47625" y="66675"/>
                  </a:lnTo>
                  <a:lnTo>
                    <a:pt x="952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7839075" y="2838450"/>
              <a:ext cx="9525" cy="361950"/>
            </a:xfrm>
            <a:custGeom>
              <a:avLst/>
              <a:gdLst/>
              <a:ahLst/>
              <a:cxnLst/>
              <a:rect l="l" t="t" r="r" b="b"/>
              <a:pathLst>
                <a:path w="9525" h="361950">
                  <a:moveTo>
                    <a:pt x="0" y="0"/>
                  </a:moveTo>
                  <a:lnTo>
                    <a:pt x="0" y="3619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17" name="Freeform 17"/>
            <p:cNvSpPr/>
            <p:nvPr/>
          </p:nvSpPr>
          <p:spPr>
            <a:xfrm>
              <a:off x="7791450" y="3133725"/>
              <a:ext cx="95250" cy="66675"/>
            </a:xfrm>
            <a:custGeom>
              <a:avLst/>
              <a:gdLst/>
              <a:ahLst/>
              <a:cxnLst/>
              <a:rect l="l" t="t" r="r" b="b"/>
              <a:pathLst>
                <a:path w="95250" h="66675">
                  <a:moveTo>
                    <a:pt x="0" y="0"/>
                  </a:moveTo>
                  <a:lnTo>
                    <a:pt x="47625" y="66675"/>
                  </a:lnTo>
                  <a:lnTo>
                    <a:pt x="952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18" name="Freeform 18"/>
            <p:cNvSpPr/>
            <p:nvPr/>
          </p:nvSpPr>
          <p:spPr>
            <a:xfrm>
              <a:off x="7839075" y="2838450"/>
              <a:ext cx="2352675" cy="361950"/>
            </a:xfrm>
            <a:custGeom>
              <a:avLst/>
              <a:gdLst/>
              <a:ahLst/>
              <a:cxnLst/>
              <a:rect l="l" t="t" r="r" b="b"/>
              <a:pathLst>
                <a:path w="2352675" h="361950">
                  <a:moveTo>
                    <a:pt x="0" y="0"/>
                  </a:moveTo>
                  <a:lnTo>
                    <a:pt x="2352675" y="0"/>
                  </a:lnTo>
                  <a:lnTo>
                    <a:pt x="2352675" y="3619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19" name="Freeform 19"/>
            <p:cNvSpPr/>
            <p:nvPr/>
          </p:nvSpPr>
          <p:spPr>
            <a:xfrm>
              <a:off x="10144125" y="3133725"/>
              <a:ext cx="95250" cy="66675"/>
            </a:xfrm>
            <a:custGeom>
              <a:avLst/>
              <a:gdLst/>
              <a:ahLst/>
              <a:cxnLst/>
              <a:rect l="l" t="t" r="r" b="b"/>
              <a:pathLst>
                <a:path w="95250" h="66675">
                  <a:moveTo>
                    <a:pt x="0" y="0"/>
                  </a:moveTo>
                  <a:lnTo>
                    <a:pt x="47625" y="66675"/>
                  </a:lnTo>
                  <a:lnTo>
                    <a:pt x="952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4476750" y="3200400"/>
              <a:ext cx="2019300" cy="1438275"/>
            </a:xfrm>
            <a:prstGeom prst="roundRect">
              <a:avLst>
                <a:gd name="adj" fmla="val 5298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5120554" y="3368675"/>
              <a:ext cx="731691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3150" dirty="0">
                  <a:solidFill>
                    <a:schemeClr val="accent1"/>
                  </a:solidFill>
                  <a:latin typeface="Microsoft JhengHei"/>
                  <a:ea typeface="Microsoft JhengHei"/>
                  <a:cs typeface="Microsoft JhengHei"/>
                </a:rPr>
                <a:t>415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5223789" y="4029075"/>
              <a:ext cx="525221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880" dirty="0">
                  <a:solidFill>
                    <a:schemeClr val="dk1"/>
                  </a:solidFill>
                  <a:latin typeface="Microsoft JhengHei"/>
                  <a:ea typeface="Microsoft JhengHei"/>
                  <a:cs typeface="Microsoft JhengHei"/>
                </a:rPr>
                <a:t>支持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829425" y="3200400"/>
              <a:ext cx="2019300" cy="1438275"/>
            </a:xfrm>
            <a:prstGeom prst="roundRect">
              <a:avLst>
                <a:gd name="adj" fmla="val 5298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589844" y="3368675"/>
              <a:ext cx="498462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3150" dirty="0">
                  <a:solidFill>
                    <a:schemeClr val="accent1"/>
                  </a:solidFill>
                  <a:latin typeface="Microsoft JhengHei"/>
                  <a:ea typeface="Microsoft JhengHei"/>
                  <a:cs typeface="Microsoft JhengHei"/>
                </a:rPr>
                <a:t>13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576464" y="4029075"/>
              <a:ext cx="525221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880" dirty="0">
                  <a:solidFill>
                    <a:schemeClr val="dk1"/>
                  </a:solidFill>
                  <a:latin typeface="Microsoft JhengHei"/>
                  <a:ea typeface="Microsoft JhengHei"/>
                  <a:cs typeface="Microsoft JhengHei"/>
                </a:rPr>
                <a:t>複核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9182100" y="3200400"/>
              <a:ext cx="2019300" cy="1438275"/>
            </a:xfrm>
            <a:prstGeom prst="roundRect">
              <a:avLst>
                <a:gd name="adj" fmla="val 5298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9942519" y="3368675"/>
              <a:ext cx="498462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3150" dirty="0">
                  <a:solidFill>
                    <a:schemeClr val="accent1"/>
                  </a:solidFill>
                  <a:latin typeface="Microsoft JhengHei"/>
                  <a:ea typeface="Microsoft JhengHei"/>
                  <a:cs typeface="Microsoft JhengHei"/>
                </a:rPr>
                <a:t>35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9802597" y="4029075"/>
              <a:ext cx="778307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880" dirty="0">
                  <a:solidFill>
                    <a:schemeClr val="dk1"/>
                  </a:solidFill>
                  <a:latin typeface="Microsoft JhengHei"/>
                  <a:ea typeface="Microsoft JhengHei"/>
                  <a:cs typeface="Microsoft JhengHei"/>
                </a:rPr>
                <a:t>不確定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467987" y="4908550"/>
              <a:ext cx="440533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720" dirty="0">
                  <a:solidFill>
                    <a:schemeClr val="dk1"/>
                  </a:solidFill>
                  <a:latin typeface="Microsoft JhengHei"/>
                  <a:ea typeface="Microsoft JhengHei"/>
                  <a:cs typeface="Microsoft JhengHei"/>
                </a:rPr>
                <a:t>支持精確率 97.11% · 正式分類保持可追溯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09600" y="5562600"/>
              <a:ext cx="10972800" cy="581025"/>
            </a:xfrm>
            <a:prstGeom prst="roundRect">
              <a:avLst>
                <a:gd name="adj" fmla="val 13115"/>
              </a:avLst>
            </a:prstGeom>
            <a:solidFill>
              <a:srgbClr val="EAF3F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28675" y="5715000"/>
              <a:ext cx="6940941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80" dirty="0">
                  <a:solidFill>
                    <a:schemeClr val="dk1"/>
                  </a:solidFill>
                  <a:latin typeface="Microsoft JhengHei"/>
                  <a:ea typeface="Microsoft JhengHei"/>
                  <a:cs typeface="Microsoft JhengHei"/>
                </a:rPr>
                <a:t>18 / 30 偵測誤判分流至複核或不確定；其餘 12 筆仍獲支持。</a:t>
              </a:r>
            </a:p>
          </p:txBody>
        </p:sp>
      </p:grpSp>
      <p:grpSp>
        <p:nvGrpSpPr>
          <p:cNvPr id="35" name="footer"/>
          <p:cNvGrpSpPr/>
          <p:nvPr/>
        </p:nvGrpSpPr>
        <p:grpSpPr>
          <a:xfrm>
            <a:off x="604266" y="6416675"/>
            <a:ext cx="10983468" cy="205359"/>
            <a:chOff x="604266" y="6416675"/>
            <a:chExt cx="10983468" cy="205359"/>
          </a:xfrm>
        </p:grpSpPr>
        <p:sp>
          <p:nvSpPr>
            <p:cNvPr id="33" name="TextBox 33"/>
            <p:cNvSpPr txBox="1"/>
            <p:nvPr/>
          </p:nvSpPr>
          <p:spPr>
            <a:xfrm>
              <a:off x="604266" y="6416675"/>
              <a:ext cx="161713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050" dirty="0">
                  <a:solidFill>
                    <a:schemeClr val="accent5"/>
                  </a:solidFill>
                  <a:latin typeface="Microsoft JhengHei"/>
                  <a:ea typeface="Microsoft JhengHei"/>
                  <a:cs typeface="Microsoft JhengHei"/>
                </a:rPr>
                <a:t>AI 資安框架 · 資安技術組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11103540" y="6416675"/>
              <a:ext cx="484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050" dirty="0">
                  <a:solidFill>
                    <a:schemeClr val="accent5"/>
                  </a:solidFill>
                  <a:latin typeface="Microsoft JhengHei"/>
                  <a:ea typeface="Microsoft JhengHei"/>
                  <a:cs typeface="Microsoft JhengHei"/>
                </a:rPr>
                <a:t>08 / 09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headline"/>
          <p:cNvGrpSpPr/>
          <p:nvPr/>
        </p:nvGrpSpPr>
        <p:grpSpPr>
          <a:xfrm>
            <a:off x="593598" y="381000"/>
            <a:ext cx="5968746" cy="946277"/>
            <a:chOff x="593598" y="381000"/>
            <a:chExt cx="5968746" cy="946277"/>
          </a:xfrm>
        </p:grpSpPr>
        <p:sp>
          <p:nvSpPr>
            <p:cNvPr id="2" name="TextBox 2"/>
            <p:cNvSpPr txBox="1"/>
            <p:nvPr/>
          </p:nvSpPr>
          <p:spPr>
            <a:xfrm>
              <a:off x="603504" y="381000"/>
              <a:ext cx="201052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chemeClr val="accent1"/>
                  </a:solidFill>
                  <a:latin typeface="Microsoft JhengHei"/>
                  <a:ea typeface="Microsoft JhengHei"/>
                  <a:cs typeface="Microsoft JhengHei"/>
                </a:rPr>
                <a:t>AI SECURITY FRAMEWORK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3598" y="711200"/>
              <a:ext cx="5968746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150" dirty="0">
                  <a:solidFill>
                    <a:srgbClr val="121314"/>
                  </a:solidFill>
                  <a:latin typeface="Microsoft JhengHei"/>
                  <a:ea typeface="Microsoft JhengHei"/>
                  <a:cs typeface="Microsoft JhengHei"/>
                </a:rPr>
                <a:t>一套可展示、可查核的資安框架</a:t>
              </a:r>
            </a:p>
          </p:txBody>
        </p:sp>
      </p:grpSp>
      <p:grpSp>
        <p:nvGrpSpPr>
          <p:cNvPr id="27" name="page-content"/>
          <p:cNvGrpSpPr/>
          <p:nvPr/>
        </p:nvGrpSpPr>
        <p:grpSpPr>
          <a:xfrm>
            <a:off x="595884" y="1527175"/>
            <a:ext cx="10986516" cy="4527931"/>
            <a:chOff x="595884" y="1527175"/>
            <a:chExt cx="10986516" cy="4527931"/>
          </a:xfrm>
        </p:grpSpPr>
        <p:sp>
          <p:nvSpPr>
            <p:cNvPr id="5" name="TextBox 5"/>
            <p:cNvSpPr txBox="1"/>
            <p:nvPr/>
          </p:nvSpPr>
          <p:spPr>
            <a:xfrm>
              <a:off x="595884" y="1527175"/>
              <a:ext cx="6569964" cy="528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700" dirty="0">
                  <a:solidFill>
                    <a:srgbClr val="121314"/>
                  </a:solidFill>
                  <a:latin typeface="Microsoft JhengHei"/>
                  <a:ea typeface="Microsoft JhengHei"/>
                  <a:cs typeface="Microsoft JhengHei"/>
                </a:rPr>
                <a:t>偵測有依據，稽核有證據，處置可回復。</a:t>
              </a:r>
            </a:p>
          </p:txBody>
        </p:sp>
        <p:sp>
          <p:nvSpPr>
            <p:cNvPr id="6" name="Rectangle 6"/>
            <p:cNvSpPr/>
            <p:nvPr/>
          </p:nvSpPr>
          <p:spPr>
            <a:xfrm>
              <a:off x="609600" y="2781300"/>
              <a:ext cx="2571750" cy="1657350"/>
            </a:xfrm>
            <a:prstGeom prst="roundRect">
              <a:avLst>
                <a:gd name="adj" fmla="val 4598"/>
              </a:avLst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826770" y="3025775"/>
              <a:ext cx="1234440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250" b="1" dirty="0">
                  <a:solidFill>
                    <a:schemeClr val="accent1"/>
                  </a:solidFill>
                  <a:latin typeface="Microsoft JhengHei"/>
                  <a:ea typeface="Microsoft JhengHei"/>
                  <a:cs typeface="Microsoft JhengHei"/>
                </a:rPr>
                <a:t>正式判定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830199" y="3705225"/>
              <a:ext cx="116458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80" dirty="0">
                  <a:solidFill>
                    <a:schemeClr val="accent5"/>
                  </a:solidFill>
                  <a:latin typeface="Microsoft JhengHei"/>
                  <a:ea typeface="Microsoft JhengHei"/>
                  <a:cs typeface="Microsoft JhengHei"/>
                </a:rPr>
                <a:t>17 類＋信心</a:t>
              </a:r>
            </a:p>
          </p:txBody>
        </p:sp>
        <p:sp>
          <p:nvSpPr>
            <p:cNvPr id="9" name="Freeform 9"/>
            <p:cNvSpPr/>
            <p:nvPr/>
          </p:nvSpPr>
          <p:spPr>
            <a:xfrm>
              <a:off x="3181350" y="3609975"/>
              <a:ext cx="228600" cy="9525"/>
            </a:xfrm>
            <a:custGeom>
              <a:avLst/>
              <a:gdLst/>
              <a:ahLst/>
              <a:cxnLst/>
              <a:rect l="l" t="t" r="r" b="b"/>
              <a:pathLst>
                <a:path w="228600" h="9525">
                  <a:moveTo>
                    <a:pt x="0" y="0"/>
                  </a:moveTo>
                  <a:lnTo>
                    <a:pt x="22860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3343275" y="356235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11" name="Rectangle 11"/>
            <p:cNvSpPr/>
            <p:nvPr/>
          </p:nvSpPr>
          <p:spPr>
            <a:xfrm>
              <a:off x="3409950" y="2781300"/>
              <a:ext cx="2571750" cy="1657350"/>
            </a:xfrm>
            <a:prstGeom prst="roundRect">
              <a:avLst>
                <a:gd name="adj" fmla="val 4598"/>
              </a:avLst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3627120" y="3025775"/>
              <a:ext cx="1234440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250" b="1" dirty="0">
                  <a:solidFill>
                    <a:schemeClr val="accent1"/>
                  </a:solidFill>
                  <a:latin typeface="Microsoft JhengHei"/>
                  <a:ea typeface="Microsoft JhengHei"/>
                  <a:cs typeface="Microsoft JhengHei"/>
                </a:rPr>
                <a:t>檢索證據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630549" y="3705225"/>
              <a:ext cx="1527774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80" dirty="0">
                  <a:solidFill>
                    <a:schemeClr val="accent5"/>
                  </a:solidFill>
                  <a:latin typeface="Microsoft JhengHei"/>
                  <a:ea typeface="Microsoft JhengHei"/>
                  <a:cs typeface="Microsoft JhengHei"/>
                </a:rPr>
                <a:t>Top-5 訓練案例</a:t>
              </a:r>
            </a:p>
          </p:txBody>
        </p:sp>
        <p:sp>
          <p:nvSpPr>
            <p:cNvPr id="14" name="Freeform 14"/>
            <p:cNvSpPr/>
            <p:nvPr/>
          </p:nvSpPr>
          <p:spPr>
            <a:xfrm>
              <a:off x="5981700" y="3609975"/>
              <a:ext cx="228600" cy="9525"/>
            </a:xfrm>
            <a:custGeom>
              <a:avLst/>
              <a:gdLst/>
              <a:ahLst/>
              <a:cxnLst/>
              <a:rect l="l" t="t" r="r" b="b"/>
              <a:pathLst>
                <a:path w="228600" h="9525">
                  <a:moveTo>
                    <a:pt x="0" y="0"/>
                  </a:moveTo>
                  <a:lnTo>
                    <a:pt x="22860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15" name="Freeform 15"/>
            <p:cNvSpPr/>
            <p:nvPr/>
          </p:nvSpPr>
          <p:spPr>
            <a:xfrm>
              <a:off x="6143625" y="356235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6210300" y="2781300"/>
              <a:ext cx="2571750" cy="1657350"/>
            </a:xfrm>
            <a:prstGeom prst="roundRect">
              <a:avLst>
                <a:gd name="adj" fmla="val 4598"/>
              </a:avLst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427470" y="3025775"/>
              <a:ext cx="1234440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250" b="1" dirty="0">
                  <a:solidFill>
                    <a:schemeClr val="accent1"/>
                  </a:solidFill>
                  <a:latin typeface="Microsoft JhengHei"/>
                  <a:ea typeface="Microsoft JhengHei"/>
                  <a:cs typeface="Microsoft JhengHei"/>
                </a:rPr>
                <a:t>稽核結論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430899" y="3705225"/>
              <a:ext cx="19302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80" dirty="0">
                  <a:solidFill>
                    <a:schemeClr val="accent5"/>
                  </a:solidFill>
                  <a:latin typeface="Microsoft JhengHei"/>
                  <a:ea typeface="Microsoft JhengHei"/>
                  <a:cs typeface="Microsoft JhengHei"/>
                </a:rPr>
                <a:t>支持／複核／不確定</a:t>
              </a:r>
            </a:p>
          </p:txBody>
        </p:sp>
        <p:sp>
          <p:nvSpPr>
            <p:cNvPr id="19" name="Freeform 19"/>
            <p:cNvSpPr/>
            <p:nvPr/>
          </p:nvSpPr>
          <p:spPr>
            <a:xfrm>
              <a:off x="8782050" y="3609975"/>
              <a:ext cx="228600" cy="9525"/>
            </a:xfrm>
            <a:custGeom>
              <a:avLst/>
              <a:gdLst/>
              <a:ahLst/>
              <a:cxnLst/>
              <a:rect l="l" t="t" r="r" b="b"/>
              <a:pathLst>
                <a:path w="228600" h="9525">
                  <a:moveTo>
                    <a:pt x="0" y="0"/>
                  </a:moveTo>
                  <a:lnTo>
                    <a:pt x="22860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20" name="Freeform 20"/>
            <p:cNvSpPr/>
            <p:nvPr/>
          </p:nvSpPr>
          <p:spPr>
            <a:xfrm>
              <a:off x="8943975" y="356235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21" name="Rectangle 21"/>
            <p:cNvSpPr/>
            <p:nvPr/>
          </p:nvSpPr>
          <p:spPr>
            <a:xfrm>
              <a:off x="9010650" y="2781300"/>
              <a:ext cx="2571750" cy="1657350"/>
            </a:xfrm>
            <a:prstGeom prst="roundRect">
              <a:avLst>
                <a:gd name="adj" fmla="val 4598"/>
              </a:avLst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9227820" y="3025775"/>
              <a:ext cx="1234440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250" b="1" dirty="0">
                  <a:solidFill>
                    <a:schemeClr val="accent1"/>
                  </a:solidFill>
                  <a:latin typeface="Microsoft JhengHei"/>
                  <a:ea typeface="Microsoft JhengHei"/>
                  <a:cs typeface="Microsoft JhengHei"/>
                </a:rPr>
                <a:t>處置回條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231249" y="3705225"/>
              <a:ext cx="15048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80" dirty="0">
                  <a:solidFill>
                    <a:schemeClr val="accent5"/>
                  </a:solidFill>
                  <a:latin typeface="Microsoft JhengHei"/>
                  <a:ea typeface="Microsoft JhengHei"/>
                  <a:cs typeface="Microsoft JhengHei"/>
                </a:rPr>
                <a:t>讀回＋到期回復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09600" y="4781550"/>
              <a:ext cx="10972800" cy="533400"/>
            </a:xfrm>
            <a:prstGeom prst="roundRect">
              <a:avLst>
                <a:gd name="adj" fmla="val 14286"/>
              </a:avLst>
            </a:prstGeom>
            <a:solidFill>
              <a:srgbClr val="E2EDF8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3170263" y="4902200"/>
              <a:ext cx="5851474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950" dirty="0">
                  <a:solidFill>
                    <a:schemeClr val="dk1"/>
                  </a:solidFill>
                  <a:latin typeface="Microsoft JhengHei"/>
                  <a:ea typeface="Microsoft JhengHei"/>
                  <a:cs typeface="Microsoft JhengHei"/>
                </a:rPr>
                <a:t>同一事件 ID，串起分類、證據、判斷與回復紀錄。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99694" y="5673725"/>
              <a:ext cx="521154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950" dirty="0">
                  <a:solidFill>
                    <a:schemeClr val="dk1"/>
                  </a:solidFill>
                  <a:latin typeface="Microsoft JhengHei"/>
                  <a:ea typeface="Microsoft JhengHei"/>
                  <a:cs typeface="Microsoft JhengHei"/>
                </a:rPr>
                <a:t>17 類真實張量重跑 · 6 種隔離 TCP 情境驗證</a:t>
              </a:r>
            </a:p>
          </p:txBody>
        </p:sp>
      </p:grpSp>
      <p:grpSp>
        <p:nvGrpSpPr>
          <p:cNvPr id="30" name="footer"/>
          <p:cNvGrpSpPr/>
          <p:nvPr/>
        </p:nvGrpSpPr>
        <p:grpSpPr>
          <a:xfrm>
            <a:off x="604266" y="6416675"/>
            <a:ext cx="10983468" cy="205359"/>
            <a:chOff x="604266" y="6416675"/>
            <a:chExt cx="10983468" cy="205359"/>
          </a:xfrm>
        </p:grpSpPr>
        <p:sp>
          <p:nvSpPr>
            <p:cNvPr id="28" name="TextBox 28"/>
            <p:cNvSpPr txBox="1"/>
            <p:nvPr/>
          </p:nvSpPr>
          <p:spPr>
            <a:xfrm>
              <a:off x="604266" y="6416675"/>
              <a:ext cx="161713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050" dirty="0">
                  <a:solidFill>
                    <a:schemeClr val="accent5"/>
                  </a:solidFill>
                  <a:latin typeface="Microsoft JhengHei"/>
                  <a:ea typeface="Microsoft JhengHei"/>
                  <a:cs typeface="Microsoft JhengHei"/>
                </a:rPr>
                <a:t>AI 資安框架 · 資安技術組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1103540" y="6416675"/>
              <a:ext cx="484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050" dirty="0">
                  <a:solidFill>
                    <a:schemeClr val="accent5"/>
                  </a:solidFill>
                  <a:latin typeface="Microsoft JhengHei"/>
                  <a:ea typeface="Microsoft JhengHei"/>
                  <a:cs typeface="Microsoft JhengHei"/>
                </a:rPr>
                <a:t>09 / 09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finals_editorial">
  <a:themeElements>
    <a:clrScheme name="finals_editorial">
      <a:dk1>
        <a:srgbClr val="000000"/>
      </a:dk1>
      <a:lt1>
        <a:srgbClr val="FFFFFF"/>
      </a:lt1>
      <a:dk2>
        <a:srgbClr val="1F497D"/>
      </a:dk2>
      <a:lt2>
        <a:srgbClr val="F2F7FC"/>
      </a:lt2>
      <a:accent1>
        <a:srgbClr val="0070D1"/>
      </a:accent1>
      <a:accent2>
        <a:srgbClr val="0070D1"/>
      </a:accent2>
      <a:accent3>
        <a:srgbClr val="F5F7FA"/>
      </a:accent3>
      <a:accent4>
        <a:srgbClr val="0070D1"/>
      </a:accent4>
      <a:accent5>
        <a:srgbClr val="6B6B6B"/>
      </a:accent5>
      <a:accent6>
        <a:srgbClr val="CCCCCC"/>
      </a:accent6>
      <a:hlink>
        <a:srgbClr val="0070D1"/>
      </a:hlink>
      <a:folHlink>
        <a:srgbClr val="F5F7FA"/>
      </a:folHlink>
    </a:clrScheme>
    <a:fontScheme name="finals_editorial">
      <a:majorFont>
        <a:latin typeface="Arial"/>
        <a:ea typeface="Microsoft JhengHei"/>
        <a:cs typeface="Arial"/>
        <a:font script="Jpan" typeface="Microsoft JhengHei"/>
        <a:font script="Hang" typeface="Microsoft JhengHei"/>
        <a:font script="Hans" typeface="Microsoft JhengHei"/>
        <a:font script="Hant" typeface="Microsoft Jheng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JhengHei"/>
        <a:cs typeface="Arial"/>
        <a:font script="Jpan" typeface="Microsoft JhengHei"/>
        <a:font script="Hang" typeface="Microsoft JhengHei"/>
        <a:font script="Hans" typeface="Microsoft JhengHei"/>
        <a:font script="Hant" typeface="Microsoft Jheng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inals_editorial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finals_editorial">
  <a:themeElements>
    <a:clrScheme name="finals_editorial">
      <a:dk1>
        <a:srgbClr val="000000"/>
      </a:dk1>
      <a:lt1>
        <a:srgbClr val="FFFFFF"/>
      </a:lt1>
      <a:dk2>
        <a:srgbClr val="1F497D"/>
      </a:dk2>
      <a:lt2>
        <a:srgbClr val="F2F7FC"/>
      </a:lt2>
      <a:accent1>
        <a:srgbClr val="0070D1"/>
      </a:accent1>
      <a:accent2>
        <a:srgbClr val="0070D1"/>
      </a:accent2>
      <a:accent3>
        <a:srgbClr val="F5F7FA"/>
      </a:accent3>
      <a:accent4>
        <a:srgbClr val="0070D1"/>
      </a:accent4>
      <a:accent5>
        <a:srgbClr val="6B6B6B"/>
      </a:accent5>
      <a:accent6>
        <a:srgbClr val="CCCCCC"/>
      </a:accent6>
      <a:hlink>
        <a:srgbClr val="0070D1"/>
      </a:hlink>
      <a:folHlink>
        <a:srgbClr val="F5F7FA"/>
      </a:folHlink>
    </a:clrScheme>
    <a:fontScheme name="finals_editorial">
      <a:majorFont>
        <a:latin typeface="Arial"/>
        <a:ea typeface="Microsoft JhengHei"/>
        <a:cs typeface="Arial"/>
        <a:font script="Jpan" typeface="Microsoft JhengHei"/>
        <a:font script="Hang" typeface="Microsoft JhengHei"/>
        <a:font script="Hans" typeface="Microsoft JhengHei"/>
        <a:font script="Hant" typeface="Microsoft Jheng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JhengHei"/>
        <a:cs typeface="Arial"/>
        <a:font script="Jpan" typeface="Microsoft JhengHei"/>
        <a:font script="Hang" typeface="Microsoft JhengHei"/>
        <a:font script="Hans" typeface="Microsoft JhengHei"/>
        <a:font script="Hant" typeface="Microsoft Jheng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inals_editorial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zh-TW</dc:language>
  <cp:lastModifiedBy/>
  <cp:revision>1</cp:revision>
  <dcterms:created xsi:type="dcterms:W3CDTF">2026-10-28T01:51:07Z</dcterms:created>
  <dcterms:modified xsi:type="dcterms:W3CDTF">2026-10-28T01:51:07Z</dcterms:modified>
  <cp:category/>
  <cp:contentStatus/>
</cp:coreProperties>
</file>